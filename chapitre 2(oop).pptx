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4"/>
  </p:notesMasterIdLst>
  <p:sldIdLst>
    <p:sldId id="260" r:id="rId2"/>
    <p:sldId id="275" r:id="rId3"/>
    <p:sldId id="257" r:id="rId4"/>
    <p:sldId id="259" r:id="rId5"/>
    <p:sldId id="28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82" r:id="rId14"/>
    <p:sldId id="270" r:id="rId15"/>
    <p:sldId id="271" r:id="rId16"/>
    <p:sldId id="272" r:id="rId17"/>
    <p:sldId id="273" r:id="rId18"/>
    <p:sldId id="274" r:id="rId19"/>
    <p:sldId id="283" r:id="rId20"/>
    <p:sldId id="276" r:id="rId21"/>
    <p:sldId id="284" r:id="rId22"/>
    <p:sldId id="278" r:id="rId23"/>
    <p:sldId id="279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54" r:id="rId94"/>
    <p:sldId id="355" r:id="rId95"/>
    <p:sldId id="356" r:id="rId96"/>
    <p:sldId id="357" r:id="rId97"/>
    <p:sldId id="358" r:id="rId98"/>
    <p:sldId id="359" r:id="rId99"/>
    <p:sldId id="360" r:id="rId100"/>
    <p:sldId id="361" r:id="rId101"/>
    <p:sldId id="362" r:id="rId102"/>
    <p:sldId id="363" r:id="rId103"/>
    <p:sldId id="364" r:id="rId104"/>
    <p:sldId id="365" r:id="rId105"/>
    <p:sldId id="366" r:id="rId106"/>
    <p:sldId id="367" r:id="rId107"/>
    <p:sldId id="368" r:id="rId108"/>
    <p:sldId id="369" r:id="rId109"/>
    <p:sldId id="370" r:id="rId110"/>
    <p:sldId id="371" r:id="rId111"/>
    <p:sldId id="372" r:id="rId112"/>
    <p:sldId id="373" r:id="rId113"/>
    <p:sldId id="374" r:id="rId114"/>
    <p:sldId id="375" r:id="rId115"/>
    <p:sldId id="376" r:id="rId116"/>
    <p:sldId id="377" r:id="rId117"/>
    <p:sldId id="378" r:id="rId118"/>
    <p:sldId id="379" r:id="rId119"/>
    <p:sldId id="380" r:id="rId120"/>
    <p:sldId id="381" r:id="rId121"/>
    <p:sldId id="382" r:id="rId122"/>
    <p:sldId id="383" r:id="rId123"/>
    <p:sldId id="384" r:id="rId124"/>
    <p:sldId id="385" r:id="rId125"/>
    <p:sldId id="386" r:id="rId126"/>
    <p:sldId id="387" r:id="rId127"/>
    <p:sldId id="388" r:id="rId128"/>
    <p:sldId id="389" r:id="rId129"/>
    <p:sldId id="390" r:id="rId130"/>
    <p:sldId id="391" r:id="rId131"/>
    <p:sldId id="392" r:id="rId132"/>
    <p:sldId id="393" r:id="rId133"/>
    <p:sldId id="394" r:id="rId134"/>
    <p:sldId id="395" r:id="rId135"/>
    <p:sldId id="396" r:id="rId136"/>
    <p:sldId id="397" r:id="rId137"/>
    <p:sldId id="398" r:id="rId138"/>
    <p:sldId id="399" r:id="rId139"/>
    <p:sldId id="400" r:id="rId140"/>
    <p:sldId id="401" r:id="rId141"/>
    <p:sldId id="402" r:id="rId142"/>
    <p:sldId id="403" r:id="rId143"/>
    <p:sldId id="404" r:id="rId144"/>
    <p:sldId id="405" r:id="rId145"/>
    <p:sldId id="406" r:id="rId146"/>
    <p:sldId id="407" r:id="rId147"/>
    <p:sldId id="408" r:id="rId148"/>
    <p:sldId id="409" r:id="rId149"/>
    <p:sldId id="410" r:id="rId150"/>
    <p:sldId id="411" r:id="rId151"/>
    <p:sldId id="412" r:id="rId152"/>
    <p:sldId id="413" r:id="rId153"/>
    <p:sldId id="414" r:id="rId154"/>
    <p:sldId id="415" r:id="rId155"/>
    <p:sldId id="416" r:id="rId156"/>
    <p:sldId id="417" r:id="rId157"/>
    <p:sldId id="418" r:id="rId158"/>
    <p:sldId id="419" r:id="rId159"/>
    <p:sldId id="420" r:id="rId160"/>
    <p:sldId id="421" r:id="rId161"/>
    <p:sldId id="422" r:id="rId162"/>
    <p:sldId id="423" r:id="rId163"/>
    <p:sldId id="424" r:id="rId164"/>
    <p:sldId id="425" r:id="rId165"/>
    <p:sldId id="426" r:id="rId166"/>
    <p:sldId id="427" r:id="rId167"/>
    <p:sldId id="428" r:id="rId168"/>
    <p:sldId id="429" r:id="rId169"/>
    <p:sldId id="430" r:id="rId170"/>
    <p:sldId id="431" r:id="rId171"/>
    <p:sldId id="432" r:id="rId172"/>
    <p:sldId id="433" r:id="rId173"/>
    <p:sldId id="434" r:id="rId174"/>
    <p:sldId id="435" r:id="rId175"/>
    <p:sldId id="436" r:id="rId176"/>
    <p:sldId id="437" r:id="rId177"/>
    <p:sldId id="438" r:id="rId178"/>
    <p:sldId id="439" r:id="rId179"/>
    <p:sldId id="440" r:id="rId180"/>
    <p:sldId id="441" r:id="rId181"/>
    <p:sldId id="442" r:id="rId182"/>
    <p:sldId id="443" r:id="rId183"/>
    <p:sldId id="444" r:id="rId184"/>
    <p:sldId id="445" r:id="rId185"/>
    <p:sldId id="446" r:id="rId186"/>
    <p:sldId id="447" r:id="rId187"/>
    <p:sldId id="448" r:id="rId188"/>
    <p:sldId id="449" r:id="rId189"/>
    <p:sldId id="450" r:id="rId190"/>
    <p:sldId id="451" r:id="rId191"/>
    <p:sldId id="452" r:id="rId192"/>
    <p:sldId id="453" r:id="rId193"/>
    <p:sldId id="454" r:id="rId194"/>
    <p:sldId id="455" r:id="rId195"/>
    <p:sldId id="456" r:id="rId196"/>
    <p:sldId id="457" r:id="rId197"/>
    <p:sldId id="458" r:id="rId198"/>
    <p:sldId id="459" r:id="rId199"/>
    <p:sldId id="460" r:id="rId200"/>
    <p:sldId id="461" r:id="rId201"/>
    <p:sldId id="462" r:id="rId202"/>
    <p:sldId id="280" r:id="rId20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E6"/>
    <a:srgbClr val="F4F4F6"/>
    <a:srgbClr val="767676"/>
    <a:srgbClr val="44445A"/>
    <a:srgbClr val="71D2E3"/>
    <a:srgbClr val="5B5B79"/>
    <a:srgbClr val="A7A7BD"/>
    <a:srgbClr val="A9A9BF"/>
    <a:srgbClr val="D9F2F7"/>
    <a:srgbClr val="B8E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C54027-CA62-8805-048A-F255C049FC51}" v="20" dt="2025-04-26T18:17:28.7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809" y="4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theme" Target="theme/theme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microsoft.com/office/2015/10/relationships/revisionInfo" Target="revisionInfo.xml"/><Relationship Id="rId190" Type="http://schemas.openxmlformats.org/officeDocument/2006/relationships/slide" Target="slides/slide189.xml"/><Relationship Id="rId204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46C5A-B07F-497F-BA06-1FE8B79985D8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1EFD1-E4C2-4260-9525-DF4514A94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174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solidFill>
          <a:srgbClr val="DEDEE6">
            <a:alpha val="3411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C07DB7-8A35-FCC0-11EB-8AD35454E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402451"/>
            <a:ext cx="9144000" cy="2387600"/>
          </a:xfrm>
          <a:ln>
            <a:noFill/>
          </a:ln>
        </p:spPr>
        <p:txBody>
          <a:bodyPr anchor="ctr"/>
          <a:lstStyle>
            <a:lvl1pPr algn="ctr">
              <a:defRPr sz="6000" b="1">
                <a:solidFill>
                  <a:srgbClr val="5B5B79"/>
                </a:solidFill>
                <a:latin typeface="Georgia" panose="02040502050405020303" pitchFamily="18" charset="0"/>
              </a:defRPr>
            </a:lvl1pPr>
          </a:lstStyle>
          <a:p>
            <a:r>
              <a:rPr lang="fr-FR" dirty="0"/>
              <a:t>Titre du cours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C2C5BDB-E87E-599C-FEEF-8D51B82D62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150210"/>
            <a:ext cx="9144000" cy="593509"/>
          </a:xfrm>
        </p:spPr>
        <p:txBody>
          <a:bodyPr>
            <a:normAutofit/>
          </a:bodyPr>
          <a:lstStyle>
            <a:lvl1pPr marL="0" indent="0" algn="ctr">
              <a:buNone/>
              <a:defRPr sz="1600" i="1">
                <a:solidFill>
                  <a:srgbClr val="4A4A62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Nom de la filière ou du programme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726BBE-417D-E7FB-C197-25F19536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2660"/>
            <a:ext cx="545757" cy="365125"/>
          </a:xfrm>
        </p:spPr>
        <p:txBody>
          <a:bodyPr/>
          <a:lstStyle/>
          <a:p>
            <a:fld id="{8CD3FB23-3DE5-4888-A54C-CBA35DA6E3FD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7722BE2-3949-5CFB-57B6-785D2A8C22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pic>
        <p:nvPicPr>
          <p:cNvPr id="23" name="Picture 2" descr="Home | Caplogy">
            <a:extLst>
              <a:ext uri="{FF2B5EF4-FFF2-40B4-BE49-F238E27FC236}">
                <a16:creationId xmlns:a16="http://schemas.microsoft.com/office/drawing/2014/main" id="{E0C58849-0644-8FFD-65B4-D6F0C4EDFA8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882"/>
          <a:stretch/>
        </p:blipFill>
        <p:spPr bwMode="auto">
          <a:xfrm>
            <a:off x="132315" y="6153876"/>
            <a:ext cx="525163" cy="76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F543A45B-EB8A-D307-0FF0-D3B8CA05FB6D}"/>
              </a:ext>
            </a:extLst>
          </p:cNvPr>
          <p:cNvGrpSpPr/>
          <p:nvPr userDrawn="1"/>
        </p:nvGrpSpPr>
        <p:grpSpPr>
          <a:xfrm>
            <a:off x="4116000" y="5577022"/>
            <a:ext cx="3960000" cy="304800"/>
            <a:chOff x="4240975" y="4901516"/>
            <a:chExt cx="3960000" cy="304800"/>
          </a:xfrm>
        </p:grpSpPr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0B8C3F59-F182-C83C-0A21-2A7A66BD3C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40975" y="4901516"/>
              <a:ext cx="3960000" cy="0"/>
            </a:xfrm>
            <a:prstGeom prst="line">
              <a:avLst/>
            </a:prstGeom>
            <a:ln w="19050">
              <a:solidFill>
                <a:srgbClr val="5B5B79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A1D64CFB-4F05-EDCF-D386-019D8CD42E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80975" y="5053916"/>
              <a:ext cx="2880000" cy="0"/>
            </a:xfrm>
            <a:prstGeom prst="line">
              <a:avLst/>
            </a:prstGeom>
            <a:ln w="19050">
              <a:solidFill>
                <a:srgbClr val="71D2E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61508929-1503-544B-6B5A-1B11BD9B54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320975" y="5206316"/>
              <a:ext cx="1800000" cy="0"/>
            </a:xfrm>
            <a:prstGeom prst="line">
              <a:avLst/>
            </a:prstGeom>
            <a:ln w="19050">
              <a:solidFill>
                <a:srgbClr val="5B5B79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C3D3E438-193B-EB8D-70AD-3058E2FA4E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4773448"/>
            <a:ext cx="9144000" cy="441108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i="1">
                <a:solidFill>
                  <a:srgbClr val="4A4A62"/>
                </a:solidFill>
                <a:latin typeface="Georgia" panose="02040502050405020303" pitchFamily="18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Année (optionnel)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3A2326-9237-19DB-B1FD-BF7F4BF22FF6}"/>
              </a:ext>
            </a:extLst>
          </p:cNvPr>
          <p:cNvSpPr/>
          <p:nvPr userDrawn="1"/>
        </p:nvSpPr>
        <p:spPr>
          <a:xfrm>
            <a:off x="1524000" y="1402451"/>
            <a:ext cx="9144000" cy="2387600"/>
          </a:xfrm>
          <a:prstGeom prst="rect">
            <a:avLst/>
          </a:prstGeom>
          <a:noFill/>
          <a:ln w="9525">
            <a:solidFill>
              <a:srgbClr val="A9A9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08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de la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c 17">
            <a:extLst>
              <a:ext uri="{FF2B5EF4-FFF2-40B4-BE49-F238E27FC236}">
                <a16:creationId xmlns:a16="http://schemas.microsoft.com/office/drawing/2014/main" id="{544B982F-F764-74B2-32B1-FB2CBBD00D4C}"/>
              </a:ext>
            </a:extLst>
          </p:cNvPr>
          <p:cNvSpPr/>
          <p:nvPr userDrawn="1"/>
        </p:nvSpPr>
        <p:spPr>
          <a:xfrm>
            <a:off x="2539417" y="1496588"/>
            <a:ext cx="4359101" cy="4359101"/>
          </a:xfrm>
          <a:prstGeom prst="arc">
            <a:avLst>
              <a:gd name="adj1" fmla="val 17328513"/>
              <a:gd name="adj2" fmla="val 4317935"/>
            </a:avLst>
          </a:prstGeom>
          <a:ln w="38100">
            <a:solidFill>
              <a:srgbClr val="4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BA0265F5-EAA7-BC41-09D2-62D519FD30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3219" y="1672720"/>
            <a:ext cx="3744000" cy="461963"/>
          </a:xfrm>
          <a:prstGeom prst="roundRect">
            <a:avLst/>
          </a:prstGeom>
          <a:solidFill>
            <a:srgbClr val="5B5B79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   Introduction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0735FF-B14F-4268-3DC9-9E45F8A907E5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4484DE-D9CB-C1DE-B1AD-478984B3B5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63821"/>
            <a:ext cx="3932237" cy="1207865"/>
          </a:xfrm>
        </p:spPr>
        <p:txBody>
          <a:bodyPr anchor="b"/>
          <a:lstStyle>
            <a:lvl1pPr>
              <a:defRPr sz="3200">
                <a:solidFill>
                  <a:srgbClr val="5B5B79"/>
                </a:solidFill>
                <a:latin typeface="Georgia" panose="02040502050405020303" pitchFamily="18" charset="0"/>
              </a:defRPr>
            </a:lvl1pPr>
          </a:lstStyle>
          <a:p>
            <a:r>
              <a:rPr lang="fr-FR" dirty="0"/>
              <a:t>Plan du cours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651431-4F25-EF3C-4DFF-1F50CE6D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5071-0BFD-4152-85CA-FEA422DAC900}" type="datetimeyyyy">
              <a:rPr lang="fr-FR" smtClean="0"/>
              <a:t>2025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B0ABA8-5DE6-4278-AC51-13A66F54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ABF0DF1-DA2B-1430-EB38-6C88508FE0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3F679C6-E59A-416B-7171-099C779C7ED0}"/>
              </a:ext>
            </a:extLst>
          </p:cNvPr>
          <p:cNvCxnSpPr>
            <a:cxnSpLocks/>
          </p:cNvCxnSpPr>
          <p:nvPr userDrawn="1"/>
        </p:nvCxnSpPr>
        <p:spPr>
          <a:xfrm>
            <a:off x="836612" y="2196401"/>
            <a:ext cx="3710050" cy="0"/>
          </a:xfrm>
          <a:prstGeom prst="line">
            <a:avLst/>
          </a:prstGeom>
          <a:ln w="19050">
            <a:solidFill>
              <a:srgbClr val="5B5B7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9FB030-F3E0-AFF0-9664-8C70B9B6A0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48275" y="1721139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rgbClr val="4A4A6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1</a:t>
            </a:r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A8331E30-9104-6A75-7BAD-29301FC9D6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14118" y="2310815"/>
            <a:ext cx="3744000" cy="461963"/>
          </a:xfrm>
          <a:prstGeom prst="roundRect">
            <a:avLst/>
          </a:prstGeom>
          <a:solidFill>
            <a:srgbClr val="5B5B79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   </a:t>
            </a:r>
            <a:r>
              <a:rPr lang="fr-FR" dirty="0" err="1"/>
              <a:t>Element</a:t>
            </a:r>
            <a:endParaRPr lang="fr-FR" dirty="0"/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E4A8D6C2-1DA4-3696-E315-D4CC933B18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5257" y="2359234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rgbClr val="4A4A6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2</a:t>
            </a:r>
          </a:p>
        </p:txBody>
      </p:sp>
      <p:sp>
        <p:nvSpPr>
          <p:cNvPr id="22" name="Espace réservé du texte 16">
            <a:extLst>
              <a:ext uri="{FF2B5EF4-FFF2-40B4-BE49-F238E27FC236}">
                <a16:creationId xmlns:a16="http://schemas.microsoft.com/office/drawing/2014/main" id="{15EE53C3-C648-BC53-2D6C-8AFBD357B4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16486" y="3047881"/>
            <a:ext cx="3744000" cy="461963"/>
          </a:xfrm>
          <a:prstGeom prst="roundRect">
            <a:avLst/>
          </a:prstGeom>
          <a:solidFill>
            <a:srgbClr val="5B5B79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   </a:t>
            </a:r>
            <a:r>
              <a:rPr lang="fr-FR" dirty="0" err="1"/>
              <a:t>Element</a:t>
            </a:r>
            <a:endParaRPr lang="fr-FR" dirty="0"/>
          </a:p>
        </p:txBody>
      </p:sp>
      <p:sp>
        <p:nvSpPr>
          <p:cNvPr id="23" name="Espace réservé du texte 9">
            <a:extLst>
              <a:ext uri="{FF2B5EF4-FFF2-40B4-BE49-F238E27FC236}">
                <a16:creationId xmlns:a16="http://schemas.microsoft.com/office/drawing/2014/main" id="{6E3D68D5-DBB0-A99A-593E-E386484F1B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97482" y="3096300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rgbClr val="4A4A6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3</a:t>
            </a:r>
          </a:p>
        </p:txBody>
      </p:sp>
      <p:sp>
        <p:nvSpPr>
          <p:cNvPr id="24" name="Espace réservé du texte 16">
            <a:extLst>
              <a:ext uri="{FF2B5EF4-FFF2-40B4-BE49-F238E27FC236}">
                <a16:creationId xmlns:a16="http://schemas.microsoft.com/office/drawing/2014/main" id="{5CE0A7F6-5D19-5858-A3BE-D9A5528BBD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2426" y="3694823"/>
            <a:ext cx="3744000" cy="461963"/>
          </a:xfrm>
          <a:prstGeom prst="roundRect">
            <a:avLst/>
          </a:prstGeom>
          <a:solidFill>
            <a:srgbClr val="5B5B79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   </a:t>
            </a:r>
            <a:r>
              <a:rPr lang="fr-FR" dirty="0" err="1"/>
              <a:t>Element</a:t>
            </a:r>
            <a:endParaRPr lang="fr-FR" dirty="0"/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675ED3FF-9D35-EF19-250D-F4DA9E3A66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99564" y="3743242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rgbClr val="4A4A6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4</a:t>
            </a:r>
          </a:p>
        </p:txBody>
      </p:sp>
      <p:sp>
        <p:nvSpPr>
          <p:cNvPr id="26" name="Espace réservé du texte 16">
            <a:extLst>
              <a:ext uri="{FF2B5EF4-FFF2-40B4-BE49-F238E27FC236}">
                <a16:creationId xmlns:a16="http://schemas.microsoft.com/office/drawing/2014/main" id="{5310F4F9-16FD-C66F-8C6B-9BEF5134DB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8341" y="4433415"/>
            <a:ext cx="3744000" cy="461963"/>
          </a:xfrm>
          <a:prstGeom prst="roundRect">
            <a:avLst/>
          </a:prstGeom>
          <a:solidFill>
            <a:srgbClr val="5B5B79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   </a:t>
            </a:r>
            <a:r>
              <a:rPr lang="fr-FR" dirty="0" err="1"/>
              <a:t>Element</a:t>
            </a:r>
            <a:endParaRPr lang="fr-FR" dirty="0"/>
          </a:p>
        </p:txBody>
      </p:sp>
      <p:sp>
        <p:nvSpPr>
          <p:cNvPr id="27" name="Espace réservé du texte 9">
            <a:extLst>
              <a:ext uri="{FF2B5EF4-FFF2-40B4-BE49-F238E27FC236}">
                <a16:creationId xmlns:a16="http://schemas.microsoft.com/office/drawing/2014/main" id="{816AE6FF-D79D-C5A7-0BE9-ED0A603B55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23397" y="4481834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rgbClr val="4A4A6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5</a:t>
            </a:r>
          </a:p>
        </p:txBody>
      </p:sp>
      <p:sp>
        <p:nvSpPr>
          <p:cNvPr id="30" name="Espace réservé du texte 16">
            <a:extLst>
              <a:ext uri="{FF2B5EF4-FFF2-40B4-BE49-F238E27FC236}">
                <a16:creationId xmlns:a16="http://schemas.microsoft.com/office/drawing/2014/main" id="{9C75228B-04D0-E924-0326-88D4629F93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33219" y="5123589"/>
            <a:ext cx="3744000" cy="461963"/>
          </a:xfrm>
          <a:prstGeom prst="roundRect">
            <a:avLst/>
          </a:prstGeom>
          <a:solidFill>
            <a:srgbClr val="5B5B79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   </a:t>
            </a:r>
            <a:r>
              <a:rPr lang="fr-FR" dirty="0" err="1"/>
              <a:t>Element</a:t>
            </a:r>
            <a:endParaRPr lang="fr-FR" dirty="0"/>
          </a:p>
        </p:txBody>
      </p:sp>
      <p:sp>
        <p:nvSpPr>
          <p:cNvPr id="31" name="Espace réservé du texte 9">
            <a:extLst>
              <a:ext uri="{FF2B5EF4-FFF2-40B4-BE49-F238E27FC236}">
                <a16:creationId xmlns:a16="http://schemas.microsoft.com/office/drawing/2014/main" id="{A43C1B98-A5C8-30E6-60E0-5B76DD8366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48275" y="5172008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rgbClr val="4A4A6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24155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f du co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86DD8B8-42E0-EE50-52E5-ABF93DAB75D0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823793E-6996-9061-A611-3F3A8F5C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7A63F-C241-4404-9972-321D22827E34}" type="datetimeyyyy">
              <a:rPr lang="fr-FR" smtClean="0"/>
              <a:t>2025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8C8C43-47DE-6455-9E6E-5C364A0D62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7693E6C-B585-CC51-4FA5-7D9B9C2AD8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63821"/>
            <a:ext cx="3932237" cy="1207865"/>
          </a:xfrm>
        </p:spPr>
        <p:txBody>
          <a:bodyPr anchor="b"/>
          <a:lstStyle>
            <a:lvl1pPr>
              <a:defRPr sz="3200">
                <a:solidFill>
                  <a:srgbClr val="5B5B79"/>
                </a:solidFill>
                <a:latin typeface="Georgia" panose="02040502050405020303" pitchFamily="18" charset="0"/>
              </a:defRPr>
            </a:lvl1pPr>
          </a:lstStyle>
          <a:p>
            <a:r>
              <a:rPr lang="fr-FR" dirty="0"/>
              <a:t>Objectifs du cours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3551730-B373-814C-2A90-06F87F056AA3}"/>
              </a:ext>
            </a:extLst>
          </p:cNvPr>
          <p:cNvCxnSpPr>
            <a:cxnSpLocks/>
          </p:cNvCxnSpPr>
          <p:nvPr userDrawn="1"/>
        </p:nvCxnSpPr>
        <p:spPr>
          <a:xfrm>
            <a:off x="836612" y="2196401"/>
            <a:ext cx="3710050" cy="0"/>
          </a:xfrm>
          <a:prstGeom prst="line">
            <a:avLst/>
          </a:prstGeom>
          <a:ln w="19050">
            <a:solidFill>
              <a:srgbClr val="5B5B7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D71FACA-E88B-9533-D1DF-F1585077AD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613" y="2405063"/>
            <a:ext cx="8118475" cy="3698875"/>
          </a:xfrm>
        </p:spPr>
        <p:txBody>
          <a:bodyPr/>
          <a:lstStyle>
            <a:lvl1pPr marL="228600" indent="-228600">
              <a:buClr>
                <a:srgbClr val="25A7BD"/>
              </a:buClr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fr-FR" dirty="0"/>
              <a:t> Objectif 1</a:t>
            </a:r>
          </a:p>
          <a:p>
            <a:pPr lvl="0"/>
            <a:r>
              <a:rPr lang="fr-FR" dirty="0"/>
              <a:t> Objectif 2</a:t>
            </a:r>
          </a:p>
          <a:p>
            <a:pPr lvl="0"/>
            <a:r>
              <a:rPr lang="fr-FR" dirty="0"/>
              <a:t> Objectif 3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3658BA10-B4B9-41FE-4E67-12838D4EE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228635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ment du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86DD8B8-42E0-EE50-52E5-ABF93DAB75D0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823793E-6996-9061-A611-3F3A8F5C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7A63F-C241-4404-9972-321D22827E34}" type="datetimeyyyy">
              <a:rPr lang="fr-FR" smtClean="0"/>
              <a:t>2025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8C8C43-47DE-6455-9E6E-5C364A0D62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7693E6C-B585-CC51-4FA5-7D9B9C2AD8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30874"/>
            <a:ext cx="5966254" cy="861869"/>
          </a:xfrm>
        </p:spPr>
        <p:txBody>
          <a:bodyPr anchor="b"/>
          <a:lstStyle>
            <a:lvl1pPr>
              <a:defRPr sz="3200">
                <a:solidFill>
                  <a:srgbClr val="5B5B79"/>
                </a:solidFill>
                <a:latin typeface="Georgia" panose="02040502050405020303" pitchFamily="18" charset="0"/>
              </a:defRPr>
            </a:lvl1pPr>
          </a:lstStyle>
          <a:p>
            <a:r>
              <a:rPr lang="fr-FR" dirty="0"/>
              <a:t>Séquencement du chapitre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3551730-B373-814C-2A90-06F87F056AA3}"/>
              </a:ext>
            </a:extLst>
          </p:cNvPr>
          <p:cNvCxnSpPr>
            <a:cxnSpLocks/>
          </p:cNvCxnSpPr>
          <p:nvPr userDrawn="1"/>
        </p:nvCxnSpPr>
        <p:spPr>
          <a:xfrm>
            <a:off x="836612" y="1817458"/>
            <a:ext cx="5382956" cy="0"/>
          </a:xfrm>
          <a:prstGeom prst="line">
            <a:avLst/>
          </a:prstGeom>
          <a:ln w="19050">
            <a:solidFill>
              <a:srgbClr val="5B5B7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3658BA10-B4B9-41FE-4E67-12838D4EE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243910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bg>
      <p:bgPr>
        <a:solidFill>
          <a:srgbClr val="DEDEE6">
            <a:alpha val="3372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93A061-7A75-6FE0-9120-DED756E4F0B8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8934C3-4BA2-FFCC-0639-6A6D5EC30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550" y="1619128"/>
            <a:ext cx="10502900" cy="2808823"/>
          </a:xfrm>
          <a:prstGeom prst="homePlate">
            <a:avLst/>
          </a:prstGeom>
          <a:noFill/>
          <a:ln w="38100">
            <a:noFill/>
          </a:ln>
        </p:spPr>
        <p:txBody>
          <a:bodyPr anchor="ctr">
            <a:normAutofit/>
          </a:bodyPr>
          <a:lstStyle>
            <a:lvl1pPr algn="l">
              <a:defRPr sz="4800">
                <a:solidFill>
                  <a:srgbClr val="44445A"/>
                </a:solidFill>
              </a:defRPr>
            </a:lvl1pPr>
          </a:lstStyle>
          <a:p>
            <a:r>
              <a:rPr lang="fr-FR" dirty="0"/>
              <a:t>Nouvelle section (sous-titre)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3D4EC0-FAF0-DBA5-05F3-D57855A7AC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49" y="4498853"/>
            <a:ext cx="10521951" cy="1500187"/>
          </a:xfrm>
          <a:solidFill>
            <a:srgbClr val="F4F4F6"/>
          </a:solidFill>
          <a:ln>
            <a:noFill/>
          </a:ln>
        </p:spPr>
        <p:txBody>
          <a:bodyPr/>
          <a:lstStyle>
            <a:lvl1pPr marL="0" indent="0">
              <a:buNone/>
              <a:defRPr sz="24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dirty="0"/>
              <a:t>Objectif de la section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AE3AB2-72C9-5CE4-5CA6-DBA513F9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ABE1B-60A4-48AC-A9CB-287974B2B5F2}" type="datetimeyyyy">
              <a:rPr lang="fr-FR" smtClean="0"/>
              <a:t>2025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D04652-4F58-4C4F-2F7D-0D8A8647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07A013EC-F459-2AA1-DD33-4A9E687474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sp>
        <p:nvSpPr>
          <p:cNvPr id="7" name="Flèche : pentagone 6">
            <a:extLst>
              <a:ext uri="{FF2B5EF4-FFF2-40B4-BE49-F238E27FC236}">
                <a16:creationId xmlns:a16="http://schemas.microsoft.com/office/drawing/2014/main" id="{08C58FFA-7CA4-B54F-0EB0-EA2E08FBBC5B}"/>
              </a:ext>
            </a:extLst>
          </p:cNvPr>
          <p:cNvSpPr/>
          <p:nvPr userDrawn="1"/>
        </p:nvSpPr>
        <p:spPr>
          <a:xfrm>
            <a:off x="849000" y="1619128"/>
            <a:ext cx="10504800" cy="2808823"/>
          </a:xfrm>
          <a:prstGeom prst="homePlate">
            <a:avLst/>
          </a:prstGeom>
          <a:noFill/>
          <a:ln w="38100">
            <a:solidFill>
              <a:srgbClr val="71D2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55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E2A3A3-5D81-A44C-8CF5-7FC802E968EF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8551E04-F707-FA3D-C551-875AED5554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654"/>
            <a:ext cx="10515600" cy="103806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 de la section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0A6EDD-6208-3193-52EA-BA15A9B48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2AD53C-090C-6CF4-23DE-7F47ECA87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2025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97FB7C-46F8-20BE-AF64-0FAEB82A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91A65E0-77B9-A4D4-4E48-B27691D381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3396663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citation">
    <p:bg>
      <p:bgPr>
        <a:solidFill>
          <a:srgbClr val="DEDEE6">
            <a:alpha val="4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F81CF-8BB9-C38D-C7CE-E73EBA5AF27C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145B3E-3E19-29D9-1753-D229D9C9B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151170"/>
            <a:ext cx="10515600" cy="2555660"/>
          </a:xfrm>
        </p:spPr>
        <p:txBody>
          <a:bodyPr/>
          <a:lstStyle>
            <a:lvl1pPr algn="ctr">
              <a:defRPr i="1">
                <a:solidFill>
                  <a:srgbClr val="4A4A62"/>
                </a:solidFill>
              </a:defRPr>
            </a:lvl1pPr>
          </a:lstStyle>
          <a:p>
            <a:r>
              <a:rPr lang="fr-FR" dirty="0"/>
              <a:t>« Ajouter une citation »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DB8875C-4376-ABBB-2C21-B57321E7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73B-7856-40F1-9D3D-FF5BDB39C76A}" type="datetimeyyyy">
              <a:rPr lang="fr-FR" smtClean="0"/>
              <a:t>2025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21BBBB-79BA-E69A-0C83-5E144D89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E9B6F674-204A-8985-6826-6EB7178B6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429348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s graph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DDF4AB-0CEB-0B10-4262-C615D46B5F0F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145B3E-3E19-29D9-1753-D229D9C9B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654"/>
            <a:ext cx="10515600" cy="103806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 de la section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DB8875C-4376-ABBB-2C21-B57321E7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73B-7856-40F1-9D3D-FF5BDB39C76A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21BBBB-79BA-E69A-0C83-5E144D89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E9B6F674-204A-8985-6826-6EB7178B6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2272026-C183-F130-A83C-DEC0A72B7A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567116"/>
            <a:ext cx="10515600" cy="508815"/>
          </a:xfrm>
        </p:spPr>
        <p:txBody>
          <a:bodyPr/>
          <a:lstStyle>
            <a:lvl1pPr marL="0" indent="0" algn="ctr">
              <a:buNone/>
              <a:defRPr>
                <a:solidFill>
                  <a:srgbClr val="4A4A62"/>
                </a:solidFill>
              </a:defRPr>
            </a:lvl1pPr>
          </a:lstStyle>
          <a:p>
            <a:pPr lvl="0"/>
            <a:r>
              <a:rPr lang="fr-FR" dirty="0"/>
              <a:t>Titre du graphique / illustration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32C05F15-E655-E71A-FE62-A79662C8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1483" y="5920474"/>
            <a:ext cx="6549035" cy="365125"/>
          </a:xfrm>
        </p:spPr>
        <p:txBody>
          <a:bodyPr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fr-FR" dirty="0"/>
              <a:t>Légende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E9DBC81C-593B-6262-CC8F-B98BB39E8BC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44701" y="2094333"/>
            <a:ext cx="7502599" cy="37883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10298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- 2 concep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A2C47A-A6DB-833F-D562-AC20A30E0EB1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145B3E-3E19-29D9-1753-D229D9C9B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Titre de la section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DB8875C-4376-ABBB-2C21-B57321E7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73B-7856-40F1-9D3D-FF5BDB39C76A}" type="datetimeyyyy">
              <a:rPr lang="fr-FR" smtClean="0"/>
              <a:t>2025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21BBBB-79BA-E69A-0C83-5E144D89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E9B6F674-204A-8985-6826-6EB7178B6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A97F83F5-D610-BDE4-8554-40DD5E2287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65191" y="2545364"/>
            <a:ext cx="3633229" cy="3352800"/>
          </a:xfrm>
          <a:prstGeom prst="roundRect">
            <a:avLst/>
          </a:prstGeom>
          <a:ln w="3175">
            <a:solidFill>
              <a:srgbClr val="A7A7BD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31951B69-5AFA-FE73-4E72-3CCE25405B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97872" y="2545364"/>
            <a:ext cx="3633229" cy="3352800"/>
          </a:xfrm>
          <a:prstGeom prst="roundRect">
            <a:avLst/>
          </a:prstGeom>
          <a:ln w="3175">
            <a:solidFill>
              <a:srgbClr val="A7A7BD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2E287E3-4685-7418-2838-A7DA200DE5EB}"/>
              </a:ext>
            </a:extLst>
          </p:cNvPr>
          <p:cNvGrpSpPr/>
          <p:nvPr userDrawn="1"/>
        </p:nvGrpSpPr>
        <p:grpSpPr>
          <a:xfrm>
            <a:off x="5362831" y="2384897"/>
            <a:ext cx="1466339" cy="1235804"/>
            <a:chOff x="5362831" y="2384897"/>
            <a:chExt cx="1466339" cy="1235804"/>
          </a:xfrm>
        </p:grpSpPr>
        <p:sp>
          <p:nvSpPr>
            <p:cNvPr id="13" name="Flèche : courbe vers la gauche 12">
              <a:extLst>
                <a:ext uri="{FF2B5EF4-FFF2-40B4-BE49-F238E27FC236}">
                  <a16:creationId xmlns:a16="http://schemas.microsoft.com/office/drawing/2014/main" id="{2BA23E16-400D-77C6-B1E1-CF333E96E327}"/>
                </a:ext>
              </a:extLst>
            </p:cNvPr>
            <p:cNvSpPr/>
            <p:nvPr userDrawn="1"/>
          </p:nvSpPr>
          <p:spPr>
            <a:xfrm rot="1568183">
              <a:off x="5362831" y="2384897"/>
              <a:ext cx="387179" cy="1235804"/>
            </a:xfrm>
            <a:prstGeom prst="curvedLeftArrow">
              <a:avLst>
                <a:gd name="adj1" fmla="val 25000"/>
                <a:gd name="adj2" fmla="val 62979"/>
                <a:gd name="adj3" fmla="val 35638"/>
              </a:avLst>
            </a:prstGeom>
            <a:solidFill>
              <a:srgbClr val="5B5B79"/>
            </a:solidFill>
            <a:ln>
              <a:solidFill>
                <a:srgbClr val="71D2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4" name="Flèche : courbe vers la gauche 13">
              <a:extLst>
                <a:ext uri="{FF2B5EF4-FFF2-40B4-BE49-F238E27FC236}">
                  <a16:creationId xmlns:a16="http://schemas.microsoft.com/office/drawing/2014/main" id="{6D20FF0B-320E-4158-BE78-D87D2E4DB965}"/>
                </a:ext>
              </a:extLst>
            </p:cNvPr>
            <p:cNvSpPr/>
            <p:nvPr userDrawn="1"/>
          </p:nvSpPr>
          <p:spPr>
            <a:xfrm rot="20031817" flipH="1">
              <a:off x="6441991" y="2384897"/>
              <a:ext cx="387179" cy="1235804"/>
            </a:xfrm>
            <a:prstGeom prst="curvedLeftArrow">
              <a:avLst>
                <a:gd name="adj1" fmla="val 25000"/>
                <a:gd name="adj2" fmla="val 62979"/>
                <a:gd name="adj3" fmla="val 35638"/>
              </a:avLst>
            </a:prstGeom>
            <a:solidFill>
              <a:srgbClr val="5B5B79"/>
            </a:solidFill>
            <a:ln>
              <a:solidFill>
                <a:srgbClr val="71D2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663C9A6-46DF-81A3-A48F-45698654A1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3361" y="1702272"/>
            <a:ext cx="3105279" cy="772772"/>
          </a:xfrm>
          <a:prstGeom prst="roundRect">
            <a:avLst/>
          </a:prstGeom>
          <a:solidFill>
            <a:srgbClr val="71D2E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4A4A62"/>
                </a:solidFill>
              </a:defRPr>
            </a:lvl1pPr>
          </a:lstStyle>
          <a:p>
            <a:pPr lvl="0"/>
            <a:r>
              <a:rPr lang="fr-FR" dirty="0"/>
              <a:t>Concept en 2 parties</a:t>
            </a:r>
          </a:p>
        </p:txBody>
      </p:sp>
    </p:spTree>
    <p:extLst>
      <p:ext uri="{BB962C8B-B14F-4D97-AF65-F5344CB8AC3E}">
        <p14:creationId xmlns:p14="http://schemas.microsoft.com/office/powerpoint/2010/main" val="318220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- plusieurs concep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E5ABDEF-01FD-8CCA-19AA-111C00997CA3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3BA4E8-ED0E-F2CD-BB96-1DD4C9038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Titre de la section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17FD28-A841-7958-29F2-07974F42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7A63F-C241-4404-9972-321D22827E34}" type="datetimeyyyy">
              <a:rPr lang="fr-FR" smtClean="0"/>
              <a:t>2025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16B1AA-FD11-8AE2-1BD6-73E6162AEB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7578F135-D8F7-47F7-0CFD-C3A97721B18C}"/>
              </a:ext>
            </a:extLst>
          </p:cNvPr>
          <p:cNvGrpSpPr/>
          <p:nvPr userDrawn="1"/>
        </p:nvGrpSpPr>
        <p:grpSpPr>
          <a:xfrm>
            <a:off x="838200" y="1842072"/>
            <a:ext cx="2543433" cy="4222608"/>
            <a:chOff x="838200" y="1842072"/>
            <a:chExt cx="2543433" cy="4222608"/>
          </a:xfrm>
        </p:grpSpPr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5748C156-C4C4-1F0C-D953-A911F7863188}"/>
                </a:ext>
              </a:extLst>
            </p:cNvPr>
            <p:cNvSpPr/>
            <p:nvPr userDrawn="1"/>
          </p:nvSpPr>
          <p:spPr>
            <a:xfrm>
              <a:off x="838200" y="2456507"/>
              <a:ext cx="2543433" cy="36081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A7A7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" name="Organigramme : Connecteur page suivante 14">
              <a:extLst>
                <a:ext uri="{FF2B5EF4-FFF2-40B4-BE49-F238E27FC236}">
                  <a16:creationId xmlns:a16="http://schemas.microsoft.com/office/drawing/2014/main" id="{A2F626C5-4395-1DC9-40DF-8EE82174662A}"/>
                </a:ext>
              </a:extLst>
            </p:cNvPr>
            <p:cNvSpPr/>
            <p:nvPr userDrawn="1"/>
          </p:nvSpPr>
          <p:spPr>
            <a:xfrm>
              <a:off x="1335560" y="1842072"/>
              <a:ext cx="1548713" cy="1057647"/>
            </a:xfrm>
            <a:prstGeom prst="flowChartOffpageConnector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13BF0349-74EB-1400-A51D-D52A74D1998E}"/>
              </a:ext>
            </a:extLst>
          </p:cNvPr>
          <p:cNvGrpSpPr/>
          <p:nvPr userDrawn="1"/>
        </p:nvGrpSpPr>
        <p:grpSpPr>
          <a:xfrm>
            <a:off x="3552567" y="1842072"/>
            <a:ext cx="2543433" cy="4222608"/>
            <a:chOff x="3552567" y="1842072"/>
            <a:chExt cx="2543433" cy="4222608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9C2EFB3C-C6DA-F9A3-F1D9-471DD4D1DF46}"/>
                </a:ext>
              </a:extLst>
            </p:cNvPr>
            <p:cNvSpPr/>
            <p:nvPr userDrawn="1"/>
          </p:nvSpPr>
          <p:spPr>
            <a:xfrm>
              <a:off x="3552567" y="2456507"/>
              <a:ext cx="2543433" cy="36081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A7A7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Organigramme : Connecteur page suivante 26">
              <a:extLst>
                <a:ext uri="{FF2B5EF4-FFF2-40B4-BE49-F238E27FC236}">
                  <a16:creationId xmlns:a16="http://schemas.microsoft.com/office/drawing/2014/main" id="{D8238C5D-3C83-DCA4-B3B1-5D13C734A19B}"/>
                </a:ext>
              </a:extLst>
            </p:cNvPr>
            <p:cNvSpPr/>
            <p:nvPr userDrawn="1"/>
          </p:nvSpPr>
          <p:spPr>
            <a:xfrm>
              <a:off x="4049927" y="1842072"/>
              <a:ext cx="1548713" cy="1057647"/>
            </a:xfrm>
            <a:prstGeom prst="flowChartOffpageConnector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BB8CE9E9-C1A8-EA80-020E-F74BCAC88328}"/>
              </a:ext>
            </a:extLst>
          </p:cNvPr>
          <p:cNvGrpSpPr/>
          <p:nvPr userDrawn="1"/>
        </p:nvGrpSpPr>
        <p:grpSpPr>
          <a:xfrm>
            <a:off x="6266934" y="1842072"/>
            <a:ext cx="2543433" cy="4222608"/>
            <a:chOff x="6266934" y="1842072"/>
            <a:chExt cx="2543433" cy="4222608"/>
          </a:xfrm>
        </p:grpSpPr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3E92322E-DC5F-AD76-71FC-171705E9E391}"/>
                </a:ext>
              </a:extLst>
            </p:cNvPr>
            <p:cNvSpPr/>
            <p:nvPr userDrawn="1"/>
          </p:nvSpPr>
          <p:spPr>
            <a:xfrm>
              <a:off x="6266934" y="2456507"/>
              <a:ext cx="2543433" cy="36081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A7A7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Organigramme : Connecteur page suivante 28">
              <a:extLst>
                <a:ext uri="{FF2B5EF4-FFF2-40B4-BE49-F238E27FC236}">
                  <a16:creationId xmlns:a16="http://schemas.microsoft.com/office/drawing/2014/main" id="{E1860555-7C75-3E31-49E1-FCCA0A3A4FA3}"/>
                </a:ext>
              </a:extLst>
            </p:cNvPr>
            <p:cNvSpPr/>
            <p:nvPr userDrawn="1"/>
          </p:nvSpPr>
          <p:spPr>
            <a:xfrm>
              <a:off x="6764294" y="1842072"/>
              <a:ext cx="1548713" cy="1057647"/>
            </a:xfrm>
            <a:prstGeom prst="flowChartOffpageConnector">
              <a:avLst/>
            </a:prstGeom>
            <a:solidFill>
              <a:srgbClr val="206B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A54D8A91-F637-200B-FBB0-95A833FB32D4}"/>
              </a:ext>
            </a:extLst>
          </p:cNvPr>
          <p:cNvGrpSpPr/>
          <p:nvPr userDrawn="1"/>
        </p:nvGrpSpPr>
        <p:grpSpPr>
          <a:xfrm>
            <a:off x="8981301" y="1842072"/>
            <a:ext cx="2543433" cy="4222608"/>
            <a:chOff x="8981301" y="1842072"/>
            <a:chExt cx="2543433" cy="4222608"/>
          </a:xfrm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EA8394B1-FE91-FDEF-24FB-DFF31AEB93D6}"/>
                </a:ext>
              </a:extLst>
            </p:cNvPr>
            <p:cNvSpPr/>
            <p:nvPr userDrawn="1"/>
          </p:nvSpPr>
          <p:spPr>
            <a:xfrm>
              <a:off x="8981301" y="2456507"/>
              <a:ext cx="2543433" cy="36081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A7A7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Organigramme : Connecteur page suivante 30">
              <a:extLst>
                <a:ext uri="{FF2B5EF4-FFF2-40B4-BE49-F238E27FC236}">
                  <a16:creationId xmlns:a16="http://schemas.microsoft.com/office/drawing/2014/main" id="{7856D4DD-8D00-BEE8-D986-0726A062AED4}"/>
                </a:ext>
              </a:extLst>
            </p:cNvPr>
            <p:cNvSpPr/>
            <p:nvPr userDrawn="1"/>
          </p:nvSpPr>
          <p:spPr>
            <a:xfrm>
              <a:off x="9478661" y="1842072"/>
              <a:ext cx="1548713" cy="1057647"/>
            </a:xfrm>
            <a:prstGeom prst="flowChartOffpageConnector">
              <a:avLst/>
            </a:prstGeom>
            <a:solidFill>
              <a:srgbClr val="25A7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7" name="Espace réservé du contenu 36">
            <a:extLst>
              <a:ext uri="{FF2B5EF4-FFF2-40B4-BE49-F238E27FC236}">
                <a16:creationId xmlns:a16="http://schemas.microsoft.com/office/drawing/2014/main" id="{A2CF76E2-E7E1-6D7B-D060-40A7942CB7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42438" y="1944686"/>
            <a:ext cx="1327150" cy="6746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4A4A62"/>
                </a:solidFill>
              </a:defRPr>
            </a:lvl1pPr>
          </a:lstStyle>
          <a:p>
            <a:pPr lvl="0"/>
            <a:r>
              <a:rPr lang="fr-FR" dirty="0"/>
              <a:t>Titre ou illustration</a:t>
            </a:r>
          </a:p>
        </p:txBody>
      </p:sp>
      <p:sp>
        <p:nvSpPr>
          <p:cNvPr id="38" name="Espace réservé du contenu 36">
            <a:extLst>
              <a:ext uri="{FF2B5EF4-FFF2-40B4-BE49-F238E27FC236}">
                <a16:creationId xmlns:a16="http://schemas.microsoft.com/office/drawing/2014/main" id="{ADBAF218-A853-980C-30C9-2E3B99763D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50754" y="1944685"/>
            <a:ext cx="1327150" cy="6746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ou illustration</a:t>
            </a:r>
          </a:p>
        </p:txBody>
      </p:sp>
      <p:sp>
        <p:nvSpPr>
          <p:cNvPr id="39" name="Espace réservé du contenu 36">
            <a:extLst>
              <a:ext uri="{FF2B5EF4-FFF2-40B4-BE49-F238E27FC236}">
                <a16:creationId xmlns:a16="http://schemas.microsoft.com/office/drawing/2014/main" id="{600E4F79-5373-B97E-329E-B98355A91A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75075" y="1936187"/>
            <a:ext cx="1327150" cy="6746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ou illustration</a:t>
            </a:r>
          </a:p>
        </p:txBody>
      </p:sp>
      <p:sp>
        <p:nvSpPr>
          <p:cNvPr id="40" name="Espace réservé du contenu 36">
            <a:extLst>
              <a:ext uri="{FF2B5EF4-FFF2-40B4-BE49-F238E27FC236}">
                <a16:creationId xmlns:a16="http://schemas.microsoft.com/office/drawing/2014/main" id="{488E07EE-E9BB-A5A1-C76E-95D1513658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89442" y="1947007"/>
            <a:ext cx="1327150" cy="6746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424258"/>
                </a:solidFill>
              </a:defRPr>
            </a:lvl1pPr>
          </a:lstStyle>
          <a:p>
            <a:pPr lvl="0"/>
            <a:r>
              <a:rPr lang="fr-FR" dirty="0"/>
              <a:t>Titre ou illustration</a:t>
            </a:r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56E7FBB0-DF09-0921-222E-DD3D589F1E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69363" y="2999415"/>
            <a:ext cx="2273300" cy="2760662"/>
          </a:xfrm>
        </p:spPr>
        <p:txBody>
          <a:bodyPr>
            <a:normAutofit/>
          </a:bodyPr>
          <a:lstStyle>
            <a:lvl1pPr marL="285750" indent="-285750" algn="l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DF26E0C9-FBE9-E740-E49F-2F7257673B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7633" y="2999415"/>
            <a:ext cx="2273300" cy="2760662"/>
          </a:xfrm>
        </p:spPr>
        <p:txBody>
          <a:bodyPr>
            <a:normAutofit/>
          </a:bodyPr>
          <a:lstStyle>
            <a:lvl1pPr marL="285750" indent="-285750" algn="l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4" name="Espace réservé du texte 41">
            <a:extLst>
              <a:ext uri="{FF2B5EF4-FFF2-40B4-BE49-F238E27FC236}">
                <a16:creationId xmlns:a16="http://schemas.microsoft.com/office/drawing/2014/main" id="{5C7C923B-C1C0-EF54-D8B4-65C5AF414D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02000" y="2999415"/>
            <a:ext cx="2273300" cy="2760662"/>
          </a:xfrm>
        </p:spPr>
        <p:txBody>
          <a:bodyPr>
            <a:normAutofit/>
          </a:bodyPr>
          <a:lstStyle>
            <a:lvl1pPr marL="285750" indent="-285750" algn="l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5" name="Espace réservé du texte 41">
            <a:extLst>
              <a:ext uri="{FF2B5EF4-FFF2-40B4-BE49-F238E27FC236}">
                <a16:creationId xmlns:a16="http://schemas.microsoft.com/office/drawing/2014/main" id="{D4E8BB42-79C9-4C5A-77A0-9029AAD2F5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6367" y="2999415"/>
            <a:ext cx="2273300" cy="2760662"/>
          </a:xfrm>
        </p:spPr>
        <p:txBody>
          <a:bodyPr>
            <a:normAutofit/>
          </a:bodyPr>
          <a:lstStyle>
            <a:lvl1pPr marL="285750" indent="-285750" algn="l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6" name="Espace réservé du texte 11">
            <a:extLst>
              <a:ext uri="{FF2B5EF4-FFF2-40B4-BE49-F238E27FC236}">
                <a16:creationId xmlns:a16="http://schemas.microsoft.com/office/drawing/2014/main" id="{AFF93534-C1AB-0141-49B8-27EC434420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591083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461891-1E8B-3D01-DCBF-C4CD8C6DB331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4C31531-CC31-1E49-1881-7BFD4ECE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0D57D2-EF54-6E25-A7DB-3F13BEB31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6C98F2-3150-88BA-C74E-BB2E07D17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E8975F-07BA-E08B-91BE-B463457E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FC0D-29F7-4777-896F-A8E4CEFE1F67}" type="datetimeyyyy">
              <a:rPr lang="fr-FR" smtClean="0"/>
              <a:t>2025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FBCF90-3309-AB5A-F3D2-762A4301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EBF19F8-139E-68AC-A240-173B1ADDD1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258546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4CF42BD-9BF7-B045-6617-A33BFE44A3A8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CE30D4E-D5B7-9ED8-D08F-C8352668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10746"/>
            <a:ext cx="10515600" cy="117994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EA7AAB-F2F6-8084-B7F4-9F088F840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7FEC4D8-5020-EB6A-F0CA-69CE00959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17D4A7A-C302-36FC-7D74-860ADC359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F0661E3-D84F-AFB2-7449-BE0128B1B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07A98C2-8903-EAAD-A47E-D99AFF21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6BEAC-7943-498B-9EF2-580D93DEA112}" type="datetimeyyyy">
              <a:rPr lang="fr-FR" smtClean="0"/>
              <a:t>2025</a:t>
            </a:fld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B683AA8-8277-D19E-C9C6-E25D7194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F28BD7F1-EB1F-D02F-3732-D79EAD44D9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1784326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A2C47A-A6DB-833F-D562-AC20A30E0EB1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145B3E-3E19-29D9-1753-D229D9C9B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DB8875C-4376-ABBB-2C21-B57321E7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73B-7856-40F1-9D3D-FF5BDB39C76A}" type="datetimeyyyy">
              <a:rPr lang="fr-FR" smtClean="0"/>
              <a:t>2025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21BBBB-79BA-E69A-0C83-5E144D89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E9B6F674-204A-8985-6826-6EB7178B6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343792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A103B9-62A5-FC98-A193-8C1D5DF66781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DE6C719-F042-5E7E-EDA9-EAE4790C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9032-9EB4-4B00-B74D-BCCB3024EC82}" type="datetimeyyyy">
              <a:rPr lang="fr-FR" smtClean="0"/>
              <a:t>2025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7BEBF4-57BA-D273-E3F4-76EFE932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510A00C4-60CB-B965-4A56-B060642410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3133079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873772-C5BD-EF30-B64D-60E8F0A04127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FE891B-6564-6F32-F3DD-C46194F6C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44EE98E-CCD3-C769-A2C0-C3E2CB859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651431-4F25-EF3C-4DFF-1F50CE6D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5071-0BFD-4152-85CA-FEA422DAC900}" type="datetimeyyyy">
              <a:rPr lang="fr-FR" smtClean="0"/>
              <a:t>2025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B0ABA8-5DE6-4278-AC51-13A66F54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ABF0DF1-DA2B-1430-EB38-6C88508FE0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9BA6FEA-663B-CCBA-1870-92664246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798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3B78E31-49B4-4C98-35F7-4A9B26A42C2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864824"/>
            <a:ext cx="3710050" cy="0"/>
          </a:xfrm>
          <a:prstGeom prst="line">
            <a:avLst/>
          </a:prstGeom>
          <a:ln w="19050">
            <a:solidFill>
              <a:srgbClr val="5B5B7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746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56F02A-CF0A-07AD-5960-D20A84A9EAC7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7AB0E8-F798-0CEB-525F-35951605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798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C8930AE-EF85-43DB-CF82-E4AA2DF29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21B9E7B-E289-56AF-CE69-C4D2C50C8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06FB5F-CA13-67A5-328D-A01CD55F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94B8A-C714-4626-B6C0-3E84D6D6DE95}" type="datetimeyyyy">
              <a:rPr lang="fr-FR" smtClean="0"/>
              <a:t>2025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B413F9-8B0C-F7D0-C3E0-BE8AE068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EA2250C0-3893-05FF-F504-4C0518E526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0C0BF3B-4B56-57F0-9454-E36615D2E985}"/>
              </a:ext>
            </a:extLst>
          </p:cNvPr>
          <p:cNvCxnSpPr>
            <a:cxnSpLocks/>
          </p:cNvCxnSpPr>
          <p:nvPr userDrawn="1"/>
        </p:nvCxnSpPr>
        <p:spPr>
          <a:xfrm>
            <a:off x="838200" y="1864824"/>
            <a:ext cx="3710050" cy="0"/>
          </a:xfrm>
          <a:prstGeom prst="line">
            <a:avLst/>
          </a:prstGeom>
          <a:ln w="19050">
            <a:solidFill>
              <a:srgbClr val="5B5B7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902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F0718D-9C04-8D7D-D540-4CCEC90C5C62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4E8327-616B-F79F-443A-4AE72FC4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5A6EAB-57FE-DA2D-68B0-7891CCF71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619196-F478-CABB-EF81-54E25112B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8CE34-6387-4921-B3A1-E249F36821DE}" type="datetimeyyyy">
              <a:rPr lang="fr-FR" smtClean="0"/>
              <a:t>2025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131513-73B6-6AE4-BB65-E4BA8B9C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305E9670-B68B-C976-D9D3-49DFA10B80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4088956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A8A32C-ACF0-D9E3-EC70-696005017F48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FFEF69-2F73-F876-8971-59820927D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2634104-E63E-90E1-B5A1-DC55CF271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B36427-4724-260B-8EC8-961BA4C95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2FB00-082A-4260-887A-8C9B87625693}" type="datetimeyyyy">
              <a:rPr lang="fr-FR" smtClean="0"/>
              <a:t>2025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5783CD-8A2A-4B3A-609D-E89E9657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0A6E1AE5-CB5F-8202-A627-3817EADFF6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3658370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des 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E5D439B-41BD-EB97-889C-BE18F254A3FA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1A23F04-DF34-6B3B-3037-F668966C36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Références ou bibliographie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6B7C293-8CE0-1A85-9CE0-64E316328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7A63F-C241-4404-9972-321D22827E34}" type="datetimeyyyy">
              <a:rPr lang="fr-FR" smtClean="0"/>
              <a:t>2025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133313-2EC6-6E4E-8013-190DAD357A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57BA116-23C6-1952-15A8-0B721DD01F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844675"/>
            <a:ext cx="10515600" cy="4168775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</a:lstStyle>
          <a:p>
            <a:pPr lvl="0"/>
            <a:r>
              <a:rPr lang="fr-FR" dirty="0"/>
              <a:t>Ajouter une référence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fr-FR" dirty="0"/>
              <a:t>Ajouter une référence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fr-FR" dirty="0"/>
              <a:t>Ajouter une référence</a:t>
            </a:r>
          </a:p>
          <a:p>
            <a:pPr lvl="0"/>
            <a:endParaRPr lang="fr-FR" dirty="0"/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4482D385-9979-2085-FC65-A5159B3FAA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174023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des questions"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A4EE99A-F5B1-BBD4-97A3-DD7B2F54D7DC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84FAAF2-B642-EB5D-4A97-66009369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FC7A63F-C241-4404-9972-321D22827E34}" type="datetimeyyyy">
              <a:rPr lang="fr-FR" smtClean="0"/>
              <a:t>2025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4A2024-F4FD-6758-402B-4471DA6D3B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8ECBAD1-7E72-DDDD-D8B6-3EC4B272A93D}"/>
              </a:ext>
            </a:extLst>
          </p:cNvPr>
          <p:cNvGrpSpPr/>
          <p:nvPr userDrawn="1"/>
        </p:nvGrpSpPr>
        <p:grpSpPr>
          <a:xfrm>
            <a:off x="2760767" y="954757"/>
            <a:ext cx="6670467" cy="3980936"/>
            <a:chOff x="2760767" y="954757"/>
            <a:chExt cx="6670467" cy="3980936"/>
          </a:xfrm>
        </p:grpSpPr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C96A5F74-4EDA-8340-4711-FBE8133840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51234" y="4335359"/>
              <a:ext cx="4680000" cy="0"/>
            </a:xfrm>
            <a:prstGeom prst="line">
              <a:avLst/>
            </a:prstGeom>
            <a:ln w="57150">
              <a:solidFill>
                <a:srgbClr val="2987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Graphique 5" descr="Point d’interrogation avec un remplissage uni">
              <a:extLst>
                <a:ext uri="{FF2B5EF4-FFF2-40B4-BE49-F238E27FC236}">
                  <a16:creationId xmlns:a16="http://schemas.microsoft.com/office/drawing/2014/main" id="{232B2E10-4EE6-0672-10A8-97AD1A123C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60767" y="954757"/>
              <a:ext cx="3980936" cy="3980936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68DBEF87-E07A-0228-8ADE-476D96AE65E1}"/>
                </a:ext>
              </a:extLst>
            </p:cNvPr>
            <p:cNvSpPr txBox="1"/>
            <p:nvPr userDrawn="1"/>
          </p:nvSpPr>
          <p:spPr>
            <a:xfrm>
              <a:off x="5325825" y="3653561"/>
              <a:ext cx="41054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b="1" dirty="0">
                  <a:solidFill>
                    <a:srgbClr val="424258"/>
                  </a:solidFill>
                  <a:latin typeface="Georgia" panose="02040502050405020303" pitchFamily="18" charset="0"/>
                </a:rPr>
                <a:t>Des questions</a:t>
              </a:r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667B14DD-3870-156A-63AF-3CCA4D27A203}"/>
                </a:ext>
              </a:extLst>
            </p:cNvPr>
            <p:cNvSpPr/>
            <p:nvPr userDrawn="1"/>
          </p:nvSpPr>
          <p:spPr>
            <a:xfrm>
              <a:off x="4434078" y="4018202"/>
              <a:ext cx="634314" cy="634314"/>
            </a:xfrm>
            <a:prstGeom prst="ellipse">
              <a:avLst/>
            </a:prstGeom>
            <a:solidFill>
              <a:srgbClr val="42425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14655CF6-E63D-9163-737C-D83572CF548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sp>
        <p:nvSpPr>
          <p:cNvPr id="21" name="Espace réservé du texte 19">
            <a:extLst>
              <a:ext uri="{FF2B5EF4-FFF2-40B4-BE49-F238E27FC236}">
                <a16:creationId xmlns:a16="http://schemas.microsoft.com/office/drawing/2014/main" id="{EA24B588-3DBF-A726-967D-AB8ADD29CF2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527504" y="4414076"/>
            <a:ext cx="3702050" cy="588963"/>
          </a:xfrm>
        </p:spPr>
        <p:txBody>
          <a:bodyPr>
            <a:normAutofit/>
          </a:bodyPr>
          <a:lstStyle>
            <a:lvl1pPr marL="0" indent="0" algn="ctr">
              <a:buNone/>
              <a:defRPr sz="1400" u="sng">
                <a:solidFill>
                  <a:srgbClr val="2987B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pedagogie@caplogy.com</a:t>
            </a:r>
          </a:p>
        </p:txBody>
      </p:sp>
    </p:spTree>
    <p:extLst>
      <p:ext uri="{BB962C8B-B14F-4D97-AF65-F5344CB8AC3E}">
        <p14:creationId xmlns:p14="http://schemas.microsoft.com/office/powerpoint/2010/main" val="13082711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5555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5"/>
              </a:lnSpc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720109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5555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98982" y="1476758"/>
            <a:ext cx="4504690" cy="4299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5"/>
              </a:lnSpc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613623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2069C91-A4D4-8CA5-6199-7A20881E6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654"/>
            <a:ext cx="10515600" cy="1180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BCEF7D-6751-F5E5-AF84-287663674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0C72FC-4917-989C-A94A-6295B855D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7A63F-C241-4404-9972-321D22827E34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8C0975-BF95-82D7-43F5-E7841C258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13F4F7-518B-459F-9B80-EE04630AFE87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6AA69FA7-EEC4-E87B-DAFD-E44C23653769}"/>
              </a:ext>
            </a:extLst>
          </p:cNvPr>
          <p:cNvSpPr txBox="1">
            <a:spLocks/>
          </p:cNvSpPr>
          <p:nvPr userDrawn="1"/>
        </p:nvSpPr>
        <p:spPr>
          <a:xfrm>
            <a:off x="1238763" y="6352660"/>
            <a:ext cx="22602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Caplogy</a:t>
            </a:r>
            <a:r>
              <a:rPr lang="en-US" dirty="0"/>
              <a:t>. All rights reserved.</a:t>
            </a: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4FCBDBCF-5A12-C29D-2610-03BE24A7437D}"/>
              </a:ext>
            </a:extLst>
          </p:cNvPr>
          <p:cNvSpPr txBox="1">
            <a:spLocks/>
          </p:cNvSpPr>
          <p:nvPr userDrawn="1"/>
        </p:nvSpPr>
        <p:spPr>
          <a:xfrm>
            <a:off x="616808" y="6352660"/>
            <a:ext cx="254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</a:t>
            </a:r>
            <a:endParaRPr lang="fr-FR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DD82E456-4F5B-ED13-049E-0F4CA0F75433}"/>
              </a:ext>
            </a:extLst>
          </p:cNvPr>
          <p:cNvGrpSpPr/>
          <p:nvPr userDrawn="1"/>
        </p:nvGrpSpPr>
        <p:grpSpPr>
          <a:xfrm>
            <a:off x="871662" y="203150"/>
            <a:ext cx="10448676" cy="263611"/>
            <a:chOff x="453006" y="203150"/>
            <a:chExt cx="10448676" cy="263611"/>
          </a:xfrm>
        </p:grpSpPr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E7706A3F-8943-3CB5-9E28-108FD79C1D37}"/>
                </a:ext>
              </a:extLst>
            </p:cNvPr>
            <p:cNvCxnSpPr/>
            <p:nvPr userDrawn="1"/>
          </p:nvCxnSpPr>
          <p:spPr>
            <a:xfrm>
              <a:off x="453006" y="334956"/>
              <a:ext cx="1518407" cy="0"/>
            </a:xfrm>
            <a:prstGeom prst="line">
              <a:avLst/>
            </a:prstGeom>
            <a:ln w="127000">
              <a:solidFill>
                <a:srgbClr val="71D2E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AFACB53A-96F9-3BF7-FFCC-2CC0660F97A8}"/>
                </a:ext>
              </a:extLst>
            </p:cNvPr>
            <p:cNvCxnSpPr/>
            <p:nvPr userDrawn="1"/>
          </p:nvCxnSpPr>
          <p:spPr>
            <a:xfrm>
              <a:off x="1971413" y="336279"/>
              <a:ext cx="1518407" cy="0"/>
            </a:xfrm>
            <a:prstGeom prst="line">
              <a:avLst/>
            </a:prstGeom>
            <a:ln w="127000">
              <a:solidFill>
                <a:srgbClr val="5B5B79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9CDC8A8D-8B79-0342-7E8A-F21DA9AF44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81582" y="334956"/>
              <a:ext cx="3710050" cy="0"/>
            </a:xfrm>
            <a:prstGeom prst="line">
              <a:avLst/>
            </a:prstGeom>
            <a:ln w="127000">
              <a:solidFill>
                <a:srgbClr val="71D2E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B8D5A887-E1E7-F907-EEC9-6501157DF8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191632" y="334956"/>
              <a:ext cx="3710050" cy="0"/>
            </a:xfrm>
            <a:prstGeom prst="line">
              <a:avLst/>
            </a:prstGeom>
            <a:ln w="127000">
              <a:solidFill>
                <a:srgbClr val="5B5B79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E02290E2-4476-37F5-433A-33FF82E174EB}"/>
                </a:ext>
              </a:extLst>
            </p:cNvPr>
            <p:cNvSpPr/>
            <p:nvPr userDrawn="1"/>
          </p:nvSpPr>
          <p:spPr>
            <a:xfrm>
              <a:off x="1839607" y="203150"/>
              <a:ext cx="263611" cy="263611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14A72BC-4345-EDD5-1D37-B9E3B148B27D}"/>
                </a:ext>
              </a:extLst>
            </p:cNvPr>
            <p:cNvSpPr/>
            <p:nvPr userDrawn="1"/>
          </p:nvSpPr>
          <p:spPr>
            <a:xfrm>
              <a:off x="3349777" y="203150"/>
              <a:ext cx="263611" cy="263611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40A5F1D4-E0F3-239E-C3FA-17D9A337D25D}"/>
                </a:ext>
              </a:extLst>
            </p:cNvPr>
            <p:cNvSpPr/>
            <p:nvPr userDrawn="1"/>
          </p:nvSpPr>
          <p:spPr>
            <a:xfrm>
              <a:off x="7059826" y="203150"/>
              <a:ext cx="263611" cy="263611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76737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5" r:id="rId3"/>
    <p:sldLayoutId id="2147483668" r:id="rId4"/>
    <p:sldLayoutId id="2147483651" r:id="rId5"/>
    <p:sldLayoutId id="2147483650" r:id="rId6"/>
    <p:sldLayoutId id="2147483661" r:id="rId7"/>
    <p:sldLayoutId id="2147483662" r:id="rId8"/>
    <p:sldLayoutId id="2147483663" r:id="rId9"/>
    <p:sldLayoutId id="2147483664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6" r:id="rId19"/>
    <p:sldLayoutId id="2147483667" r:id="rId20"/>
    <p:sldLayoutId id="2147483670" r:id="rId21"/>
    <p:sldLayoutId id="2147483671" r:id="rId2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5B5B79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7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5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5.jp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1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1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1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99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2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5.png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2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1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1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1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1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1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21.png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1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1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1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2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1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48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5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54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jpg"/><Relationship Id="rId1" Type="http://schemas.openxmlformats.org/officeDocument/2006/relationships/slideLayout" Target="../slideLayouts/slideLayout2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1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60.png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2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1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1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70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BCB028-D7A6-BB7D-CD5D-FE2E99581D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Georgia"/>
              </a:rPr>
              <a:t>Chapitre 2</a:t>
            </a:r>
            <a:br>
              <a:rPr lang="fr-FR" dirty="0">
                <a:latin typeface="Georgia"/>
              </a:rPr>
            </a:br>
            <a:r>
              <a:rPr lang="fr-FR">
                <a:latin typeface="Georgia"/>
              </a:rPr>
              <a:t>Poo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794968B-00EC-E7CA-0134-8BB937F54A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rgbClr val="4A4A62"/>
                </a:solidFill>
              </a:rPr>
              <a:t>Nom de filière ou programme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9576FE-4E86-6B8D-4789-B74F4E0D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FB23-3DE5-4888-A54C-CBA35DA6E3FD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EAC9A29-8BEF-8CD5-F83F-413DFA94CF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Titre du cours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35E6B99-764E-E18C-2763-CCF163F5CB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>
                <a:latin typeface="Georgia"/>
                <a:ea typeface="Calibri"/>
                <a:cs typeface="Calibri"/>
              </a:rPr>
              <a:t>Master 1</a:t>
            </a:r>
            <a:endParaRPr lang="fr-FR" dirty="0">
              <a:solidFill>
                <a:srgbClr val="4A4A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459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CFFFB6-F838-1617-9248-5F0C13ECC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Objectif de la section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2C285C-A789-EDEA-8759-9DBBD97E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ABE1B-60A4-48AC-A9CB-287974B2B5F2}" type="datetimeyyyy">
              <a:rPr lang="fr-FR" smtClean="0"/>
              <a:t>2025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E01CBD-57A5-C31A-B782-5727EC1A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2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5B2633E-B224-F70B-4483-7D50528BC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Titre du cours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819B0B69-EB01-7623-DCA2-1DC2D8BD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690030"/>
            <a:ext cx="10502900" cy="2808823"/>
          </a:xfrm>
        </p:spPr>
        <p:txBody>
          <a:bodyPr/>
          <a:lstStyle/>
          <a:p>
            <a:r>
              <a:rPr lang="fr-FR" dirty="0"/>
              <a:t>Nouvelle section</a:t>
            </a:r>
          </a:p>
        </p:txBody>
      </p:sp>
    </p:spTree>
    <p:extLst>
      <p:ext uri="{BB962C8B-B14F-4D97-AF65-F5344CB8AC3E}">
        <p14:creationId xmlns:p14="http://schemas.microsoft.com/office/powerpoint/2010/main" val="3009758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628" y="3047"/>
            <a:ext cx="11598959" cy="60693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6358" y="575892"/>
            <a:ext cx="22269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1C3051"/>
                </a:solidFill>
              </a:rPr>
              <a:t>SOMMAIRE</a:t>
            </a:r>
            <a:endParaRPr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7321677" y="785621"/>
            <a:ext cx="4417695" cy="4878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912B"/>
                </a:solidFill>
                <a:latin typeface="Calibri"/>
                <a:cs typeface="Calibri"/>
              </a:rPr>
              <a:t>01</a:t>
            </a:r>
            <a:r>
              <a:rPr sz="1800" b="1" spc="-25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912B"/>
                </a:solidFill>
                <a:latin typeface="Calibri"/>
                <a:cs typeface="Calibri"/>
              </a:rPr>
              <a:t>-</a:t>
            </a:r>
            <a:r>
              <a:rPr sz="1800" b="1" spc="-25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APPRÉHENDER</a:t>
            </a:r>
            <a:r>
              <a:rPr sz="1800" b="1" spc="-5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LE</a:t>
            </a:r>
            <a:r>
              <a:rPr sz="1800" b="1" spc="-30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C3051"/>
                </a:solidFill>
                <a:latin typeface="Calibri"/>
                <a:cs typeface="Calibri"/>
              </a:rPr>
              <a:t>PARADIGME</a:t>
            </a:r>
            <a:r>
              <a:rPr sz="1800" b="1" spc="5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DE</a:t>
            </a:r>
            <a:r>
              <a:rPr sz="1800" b="1" spc="-15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LA</a:t>
            </a:r>
            <a:r>
              <a:rPr sz="1800" b="1" spc="-35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1C3051"/>
                </a:solidFill>
                <a:latin typeface="Calibri"/>
                <a:cs typeface="Calibri"/>
              </a:rPr>
              <a:t>POO</a:t>
            </a:r>
            <a:endParaRPr sz="1800">
              <a:latin typeface="Calibri"/>
              <a:cs typeface="Calibri"/>
            </a:endParaRPr>
          </a:p>
          <a:p>
            <a:pPr marL="1567180" marR="1565910" indent="5080" algn="ctr">
              <a:lnSpc>
                <a:spcPct val="100000"/>
              </a:lnSpc>
              <a:spcBef>
                <a:spcPts val="4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Introduire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POO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Connaître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l’encapsulation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ts val="1660"/>
              </a:lnSpc>
              <a:spcBef>
                <a:spcPts val="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endParaRPr sz="1400">
              <a:latin typeface="Calibri"/>
              <a:cs typeface="Calibri"/>
            </a:endParaRPr>
          </a:p>
          <a:p>
            <a:pPr marL="652780" marR="647700" algn="ctr">
              <a:lnSpc>
                <a:spcPts val="2160"/>
              </a:lnSpc>
              <a:spcBef>
                <a:spcPts val="50"/>
              </a:spcBef>
            </a:pPr>
            <a:r>
              <a:rPr sz="1800" b="1" dirty="0">
                <a:solidFill>
                  <a:srgbClr val="FF912B"/>
                </a:solidFill>
                <a:latin typeface="Calibri"/>
                <a:cs typeface="Calibri"/>
              </a:rPr>
              <a:t>02</a:t>
            </a:r>
            <a:r>
              <a:rPr sz="1800" b="1" spc="-35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912B"/>
                </a:solidFill>
                <a:latin typeface="Calibri"/>
                <a:cs typeface="Calibri"/>
              </a:rPr>
              <a:t>-</a:t>
            </a:r>
            <a:r>
              <a:rPr sz="1800" b="1" spc="-35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CONNAÎTRE</a:t>
            </a:r>
            <a:r>
              <a:rPr sz="1800" b="1" spc="-10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LES</a:t>
            </a:r>
            <a:r>
              <a:rPr sz="1800" b="1" spc="-45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C3051"/>
                </a:solidFill>
                <a:latin typeface="Calibri"/>
                <a:cs typeface="Calibri"/>
              </a:rPr>
              <a:t>PRINCIPAUX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PILIERS</a:t>
            </a:r>
            <a:r>
              <a:rPr sz="1800" b="1" spc="-30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DE</a:t>
            </a:r>
            <a:r>
              <a:rPr sz="1800" b="1" spc="-15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LA</a:t>
            </a:r>
            <a:r>
              <a:rPr sz="1800" b="1" spc="-30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1C3051"/>
                </a:solidFill>
                <a:latin typeface="Calibri"/>
                <a:cs typeface="Calibri"/>
              </a:rPr>
              <a:t>POO</a:t>
            </a:r>
            <a:endParaRPr sz="1800">
              <a:latin typeface="Calibri"/>
              <a:cs typeface="Calibri"/>
            </a:endParaRPr>
          </a:p>
          <a:p>
            <a:pPr marL="1624965" algn="just">
              <a:lnSpc>
                <a:spcPts val="165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l’héritage</a:t>
            </a:r>
            <a:endParaRPr sz="1400">
              <a:latin typeface="Calibri"/>
              <a:cs typeface="Calibri"/>
            </a:endParaRPr>
          </a:p>
          <a:p>
            <a:pPr marL="1320165" marR="1278255" indent="-24765" algn="just">
              <a:lnSpc>
                <a:spcPct val="10000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polymorphisme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Caractériser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l’abstraction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interfaces</a:t>
            </a:r>
            <a:endParaRPr sz="1400">
              <a:latin typeface="Calibri"/>
              <a:cs typeface="Calibri"/>
            </a:endParaRPr>
          </a:p>
          <a:p>
            <a:pPr marL="4445" algn="ctr">
              <a:lnSpc>
                <a:spcPts val="2120"/>
              </a:lnSpc>
            </a:pPr>
            <a:r>
              <a:rPr sz="1800" b="1" dirty="0">
                <a:solidFill>
                  <a:srgbClr val="FF912B"/>
                </a:solidFill>
                <a:latin typeface="Calibri"/>
                <a:cs typeface="Calibri"/>
              </a:rPr>
              <a:t>03</a:t>
            </a:r>
            <a:r>
              <a:rPr sz="1800" b="1" spc="-20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912B"/>
                </a:solidFill>
                <a:latin typeface="Calibri"/>
                <a:cs typeface="Calibri"/>
              </a:rPr>
              <a:t>-</a:t>
            </a:r>
            <a:r>
              <a:rPr sz="1800" b="1" spc="-15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CODER</a:t>
            </a:r>
            <a:r>
              <a:rPr sz="1800" b="1" spc="-15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DES </a:t>
            </a:r>
            <a:r>
              <a:rPr sz="1800" b="1" spc="-10" dirty="0">
                <a:solidFill>
                  <a:srgbClr val="1C3051"/>
                </a:solidFill>
                <a:latin typeface="Calibri"/>
                <a:cs typeface="Calibri"/>
              </a:rPr>
              <a:t>SOLUTIONS</a:t>
            </a:r>
            <a:r>
              <a:rPr sz="1800" b="1" spc="-20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ORIENTÉES</a:t>
            </a:r>
            <a:r>
              <a:rPr sz="1800" b="1" spc="-50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C3051"/>
                </a:solidFill>
                <a:latin typeface="Calibri"/>
                <a:cs typeface="Calibri"/>
              </a:rPr>
              <a:t>OBJET</a:t>
            </a:r>
            <a:endParaRPr sz="1800">
              <a:latin typeface="Calibri"/>
              <a:cs typeface="Calibri"/>
            </a:endParaRPr>
          </a:p>
          <a:p>
            <a:pPr marL="984885" marR="981075" algn="ctr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Coder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solution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orientée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objet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endParaRPr sz="1400">
              <a:latin typeface="Calibri"/>
              <a:cs typeface="Calibri"/>
            </a:endParaRPr>
          </a:p>
          <a:p>
            <a:pPr marL="1006475" marR="1007110" algn="ctr">
              <a:lnSpc>
                <a:spcPct val="10000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Utiliser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expressions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régulières Administrer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endParaRPr sz="1400">
              <a:latin typeface="Calibri"/>
              <a:cs typeface="Calibri"/>
            </a:endParaRPr>
          </a:p>
          <a:p>
            <a:pPr marL="48895" algn="ctr">
              <a:lnSpc>
                <a:spcPts val="2120"/>
              </a:lnSpc>
            </a:pPr>
            <a:r>
              <a:rPr sz="1800" b="1" dirty="0">
                <a:solidFill>
                  <a:srgbClr val="FF912B"/>
                </a:solidFill>
                <a:latin typeface="Calibri"/>
                <a:cs typeface="Calibri"/>
              </a:rPr>
              <a:t>04</a:t>
            </a:r>
            <a:r>
              <a:rPr sz="1800" b="1" spc="-10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912B"/>
                </a:solidFill>
                <a:latin typeface="Calibri"/>
                <a:cs typeface="Calibri"/>
              </a:rPr>
              <a:t>-</a:t>
            </a:r>
            <a:r>
              <a:rPr sz="1800" b="1" spc="20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C3051"/>
                </a:solidFill>
                <a:latin typeface="Calibri"/>
                <a:cs typeface="Calibri"/>
              </a:rPr>
              <a:t>MANIPULER</a:t>
            </a:r>
            <a:r>
              <a:rPr sz="1800" b="1" spc="-40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LES</a:t>
            </a:r>
            <a:r>
              <a:rPr sz="1800" b="1" spc="5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C3051"/>
                </a:solidFill>
                <a:latin typeface="Calibri"/>
                <a:cs typeface="Calibri"/>
              </a:rPr>
              <a:t>MODULES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ET</a:t>
            </a:r>
            <a:r>
              <a:rPr sz="1800" b="1" spc="-10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3051"/>
                </a:solidFill>
                <a:latin typeface="Calibri"/>
                <a:cs typeface="Calibri"/>
              </a:rPr>
              <a:t>LES</a:t>
            </a:r>
            <a:r>
              <a:rPr sz="1800" b="1" spc="-15" dirty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C3051"/>
                </a:solidFill>
                <a:latin typeface="Calibri"/>
                <a:cs typeface="Calibri"/>
              </a:rPr>
              <a:t>BIBLIOTHÈQUES</a:t>
            </a:r>
            <a:endParaRPr sz="1800">
              <a:latin typeface="Calibri"/>
              <a:cs typeface="Calibri"/>
            </a:endParaRPr>
          </a:p>
          <a:p>
            <a:pPr marL="1201420" marR="1199515" indent="-3175" algn="ctr">
              <a:lnSpc>
                <a:spcPct val="100000"/>
              </a:lnSpc>
              <a:spcBef>
                <a:spcPts val="4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modules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bibliothèques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380479" y="2358897"/>
            <a:ext cx="3619500" cy="2091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module,</a:t>
            </a:r>
            <a:r>
              <a:rPr sz="18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Comprendre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concept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d’objet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Connaitre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l’encapsulation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Savoir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50523" y="641290"/>
            <a:ext cx="10515600" cy="540788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8188959">
              <a:lnSpc>
                <a:spcPct val="100000"/>
              </a:lnSpc>
              <a:spcBef>
                <a:spcPts val="105"/>
              </a:spcBef>
            </a:pPr>
            <a:r>
              <a:rPr sz="2800" spc="-20" dirty="0">
                <a:solidFill>
                  <a:srgbClr val="007842"/>
                </a:solidFill>
              </a:rPr>
              <a:t>PARTIE</a:t>
            </a:r>
            <a:r>
              <a:rPr sz="2800" spc="-12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1</a:t>
            </a:r>
            <a:endParaRPr sz="2800" dirty="0"/>
          </a:p>
        </p:txBody>
      </p:sp>
      <p:sp>
        <p:nvSpPr>
          <p:cNvPr id="9" name="object 9"/>
          <p:cNvSpPr txBox="1"/>
          <p:nvPr/>
        </p:nvSpPr>
        <p:spPr>
          <a:xfrm>
            <a:off x="6719443" y="1105280"/>
            <a:ext cx="4739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Appréhender</a:t>
            </a:r>
            <a:r>
              <a:rPr sz="2400" b="1" spc="-9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</a:t>
            </a:r>
            <a:r>
              <a:rPr sz="24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paradigme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de la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7842"/>
                </a:solidFill>
                <a:latin typeface="Calibri"/>
                <a:cs typeface="Calibri"/>
              </a:rPr>
              <a:t>POO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96325" y="6263436"/>
            <a:ext cx="1264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05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0479" y="2358897"/>
            <a:ext cx="5168265" cy="1939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que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apprendre</a:t>
            </a:r>
            <a:r>
              <a:rPr sz="18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chapitre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marR="909955" indent="-344805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Acquérir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compréhension</a:t>
            </a:r>
            <a:r>
              <a:rPr sz="16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de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programmation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Connaitre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Citer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ses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avantages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rapports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 aux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autres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paradigmes</a:t>
            </a:r>
            <a:r>
              <a:rPr sz="16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6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programmation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38200" y="830277"/>
            <a:ext cx="10515600" cy="540788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endParaRPr sz="2800" dirty="0"/>
          </a:p>
        </p:txBody>
      </p:sp>
      <p:sp>
        <p:nvSpPr>
          <p:cNvPr id="10" name="object 10"/>
          <p:cNvSpPr txBox="1"/>
          <p:nvPr/>
        </p:nvSpPr>
        <p:spPr>
          <a:xfrm>
            <a:off x="7966329" y="1105280"/>
            <a:ext cx="2250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Introduire</a:t>
            </a:r>
            <a:r>
              <a:rPr sz="2400" b="1" spc="-8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la</a:t>
            </a:r>
            <a:r>
              <a:rPr sz="2400" b="1" spc="1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7842"/>
                </a:solidFill>
                <a:latin typeface="Calibri"/>
                <a:cs typeface="Calibri"/>
              </a:rPr>
              <a:t>POO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57666" y="6263436"/>
            <a:ext cx="11417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heure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2511" y="2587752"/>
            <a:ext cx="4660392" cy="308457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01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Introduire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</a:t>
            </a:r>
            <a:r>
              <a:rPr spc="-25" dirty="0">
                <a:solidFill>
                  <a:srgbClr val="007842"/>
                </a:solidFill>
              </a:rPr>
              <a:t> POO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Introduction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à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la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programmation</a:t>
            </a:r>
            <a:r>
              <a:rPr sz="1600" spc="-7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Orientée</a:t>
            </a:r>
            <a:r>
              <a:rPr sz="1600" spc="-5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Objet</a:t>
            </a:r>
            <a:endParaRPr sz="160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2" name="object 12"/>
          <p:cNvSpPr txBox="1"/>
          <p:nvPr/>
        </p:nvSpPr>
        <p:spPr>
          <a:xfrm>
            <a:off x="798982" y="1955673"/>
            <a:ext cx="45027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programmation</a:t>
            </a:r>
            <a:r>
              <a:rPr sz="1400" b="1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procédurale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programme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5494" y="2159584"/>
            <a:ext cx="421767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9755" algn="l"/>
                <a:tab pos="918210" algn="l"/>
                <a:tab pos="1573530" algn="l"/>
                <a:tab pos="2228850" algn="l"/>
                <a:tab pos="3034030" algn="l"/>
                <a:tab pos="4015104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divisé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petites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parties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appelées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procédures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8982" y="2299258"/>
            <a:ext cx="4500245" cy="126619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60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Ensuite,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résoudre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partie,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procédures/fonctions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utilisées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580"/>
              </a:lnSpc>
              <a:spcBef>
                <a:spcPts val="66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programmation</a:t>
            </a:r>
            <a:r>
              <a:rPr sz="1400" b="1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procédurale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notions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traitement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séparées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982" y="1602105"/>
            <a:ext cx="24098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Programmation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procédurale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24471" y="1923288"/>
            <a:ext cx="3773804" cy="570230"/>
          </a:xfrm>
          <a:prstGeom prst="rect">
            <a:avLst/>
          </a:prstGeom>
          <a:ln w="25400">
            <a:solidFill>
              <a:srgbClr val="FF7800"/>
            </a:solidFill>
          </a:ln>
        </p:spPr>
        <p:txBody>
          <a:bodyPr vert="horz" wrap="square" lIns="0" tIns="15875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5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Programmes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Procédures/Fonctions</a:t>
            </a:r>
            <a:r>
              <a:rPr sz="1400" b="1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+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9080" y="4565904"/>
            <a:ext cx="1542287" cy="154228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98982" y="2168194"/>
            <a:ext cx="4547235" cy="5867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constituent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partie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passive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programme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procédures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constituent</a:t>
            </a:r>
            <a:r>
              <a:rPr sz="140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partie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active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12" name="object 12"/>
          <p:cNvSpPr txBox="1"/>
          <p:nvPr/>
        </p:nvSpPr>
        <p:spPr>
          <a:xfrm>
            <a:off x="798982" y="2793949"/>
            <a:ext cx="268097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Programmer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cas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revenait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3074924"/>
            <a:ext cx="4618990" cy="7194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9085" marR="5080" indent="-287020">
              <a:lnSpc>
                <a:spcPts val="1610"/>
              </a:lnSpc>
              <a:spcBef>
                <a:spcPts val="20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certain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variables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(entier,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chaine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caractères,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structures,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tableaux,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etc.)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écrire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procédures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8982" y="3837177"/>
            <a:ext cx="11449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Inconvénients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982" y="4051629"/>
            <a:ext cx="4076065" cy="58166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Difficulté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réutilisation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Difficulté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maintenance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grandes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applications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8982" y="1476758"/>
            <a:ext cx="277241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Programmation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procédurale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programmation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procédurale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11211" y="1781555"/>
            <a:ext cx="2478405" cy="2682240"/>
          </a:xfrm>
          <a:prstGeom prst="rect">
            <a:avLst/>
          </a:prstGeom>
          <a:ln w="28575">
            <a:solidFill>
              <a:srgbClr val="FF7800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109220" marR="254000">
              <a:lnSpc>
                <a:spcPct val="70000"/>
              </a:lnSpc>
              <a:spcBef>
                <a:spcPts val="819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CalculSomme100PremierNombre </a:t>
            </a:r>
            <a:r>
              <a:rPr sz="1200" b="1" u="sng" spc="-25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Var</a:t>
            </a:r>
            <a:endParaRPr sz="1200">
              <a:latin typeface="Calibri"/>
              <a:cs typeface="Calibri"/>
            </a:endParaRPr>
          </a:p>
          <a:p>
            <a:pPr marL="530225">
              <a:lnSpc>
                <a:spcPts val="780"/>
              </a:lnSpc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I,S:</a:t>
            </a:r>
            <a:r>
              <a:rPr sz="12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entier</a:t>
            </a:r>
            <a:endParaRPr sz="1200">
              <a:latin typeface="Calibri"/>
              <a:cs typeface="Calibri"/>
            </a:endParaRPr>
          </a:p>
          <a:p>
            <a:pPr marL="109220">
              <a:lnSpc>
                <a:spcPts val="994"/>
              </a:lnSpc>
            </a:pP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Somme</a:t>
            </a:r>
            <a:endParaRPr sz="1200">
              <a:latin typeface="Calibri"/>
              <a:cs typeface="Calibri"/>
            </a:endParaRPr>
          </a:p>
          <a:p>
            <a:pPr marL="109220">
              <a:lnSpc>
                <a:spcPts val="1010"/>
              </a:lnSpc>
            </a:pPr>
            <a:r>
              <a:rPr sz="12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Début</a:t>
            </a:r>
            <a:r>
              <a:rPr sz="1200" b="1" u="sng" spc="-25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/*début</a:t>
            </a:r>
            <a:r>
              <a:rPr sz="12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la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procédure*/</a:t>
            </a:r>
            <a:endParaRPr sz="1200">
              <a:latin typeface="Calibri"/>
              <a:cs typeface="Calibri"/>
            </a:endParaRPr>
          </a:p>
          <a:p>
            <a:pPr marL="109220">
              <a:lnSpc>
                <a:spcPts val="994"/>
              </a:lnSpc>
            </a:pPr>
            <a:r>
              <a:rPr sz="1200" spc="-20" dirty="0">
                <a:solidFill>
                  <a:srgbClr val="555555"/>
                </a:solidFill>
                <a:latin typeface="Calibri"/>
                <a:cs typeface="Calibri"/>
              </a:rPr>
              <a:t>S:=0</a:t>
            </a:r>
            <a:endParaRPr sz="1200">
              <a:latin typeface="Calibri"/>
              <a:cs typeface="Calibri"/>
            </a:endParaRPr>
          </a:p>
          <a:p>
            <a:pPr marL="250190" marR="1096010" indent="-140970">
              <a:lnSpc>
                <a:spcPct val="70000"/>
              </a:lnSpc>
              <a:spcBef>
                <a:spcPts val="204"/>
              </a:spcBef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2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i:=1</a:t>
            </a:r>
            <a:r>
              <a:rPr sz="12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2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100</a:t>
            </a:r>
            <a:r>
              <a:rPr sz="12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555555"/>
                </a:solidFill>
                <a:latin typeface="Calibri"/>
                <a:cs typeface="Calibri"/>
              </a:rPr>
              <a:t>Faire </a:t>
            </a: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S:=S+1</a:t>
            </a:r>
            <a:endParaRPr sz="1200">
              <a:latin typeface="Calibri"/>
              <a:cs typeface="Calibri"/>
            </a:endParaRPr>
          </a:p>
          <a:p>
            <a:pPr marL="109220">
              <a:lnSpc>
                <a:spcPts val="1010"/>
              </a:lnSpc>
            </a:pPr>
            <a:r>
              <a:rPr sz="1200" b="1" u="sng" spc="-1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FinPour</a:t>
            </a:r>
            <a:endParaRPr sz="1200">
              <a:latin typeface="Calibri"/>
              <a:cs typeface="Calibri"/>
            </a:endParaRPr>
          </a:p>
          <a:p>
            <a:pPr marL="109220" marR="137160">
              <a:lnSpc>
                <a:spcPct val="70000"/>
              </a:lnSpc>
              <a:spcBef>
                <a:spcPts val="985"/>
              </a:spcBef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Ecrire("</a:t>
            </a:r>
            <a:r>
              <a:rPr sz="12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2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somme</a:t>
            </a:r>
            <a:r>
              <a:rPr sz="12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2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100</a:t>
            </a:r>
            <a:r>
              <a:rPr sz="12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premiers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nombres</a:t>
            </a:r>
            <a:r>
              <a:rPr sz="12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2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555555"/>
                </a:solidFill>
                <a:latin typeface="Calibri"/>
                <a:cs typeface="Calibri"/>
              </a:rPr>
              <a:t>",S);</a:t>
            </a:r>
            <a:endParaRPr sz="1200">
              <a:latin typeface="Calibri"/>
              <a:cs typeface="Calibri"/>
            </a:endParaRPr>
          </a:p>
          <a:p>
            <a:pPr marL="109220">
              <a:lnSpc>
                <a:spcPts val="985"/>
              </a:lnSpc>
            </a:pPr>
            <a:r>
              <a:rPr sz="12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Fin</a:t>
            </a:r>
            <a:r>
              <a:rPr sz="12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/*Fin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2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2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procédure*/</a:t>
            </a:r>
            <a:endParaRPr sz="1200">
              <a:latin typeface="Calibri"/>
              <a:cs typeface="Calibri"/>
            </a:endParaRPr>
          </a:p>
          <a:p>
            <a:pPr marL="109220">
              <a:lnSpc>
                <a:spcPct val="100000"/>
              </a:lnSpc>
              <a:spcBef>
                <a:spcPts val="575"/>
              </a:spcBef>
            </a:pPr>
            <a:r>
              <a:rPr sz="12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Début</a:t>
            </a:r>
            <a:r>
              <a:rPr sz="1200" b="1" u="sng" spc="-45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/*début</a:t>
            </a:r>
            <a:r>
              <a:rPr sz="12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algorithme*/</a:t>
            </a:r>
            <a:endParaRPr sz="1200">
              <a:latin typeface="Calibri"/>
              <a:cs typeface="Calibri"/>
            </a:endParaRPr>
          </a:p>
          <a:p>
            <a:pPr marL="109220">
              <a:lnSpc>
                <a:spcPct val="100000"/>
              </a:lnSpc>
              <a:spcBef>
                <a:spcPts val="555"/>
              </a:spcBef>
            </a:pP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Somme</a:t>
            </a:r>
            <a:endParaRPr sz="1200">
              <a:latin typeface="Calibri"/>
              <a:cs typeface="Calibri"/>
            </a:endParaRPr>
          </a:p>
          <a:p>
            <a:pPr marL="109220">
              <a:lnSpc>
                <a:spcPct val="100000"/>
              </a:lnSpc>
              <a:spcBef>
                <a:spcPts val="550"/>
              </a:spcBef>
            </a:pPr>
            <a:r>
              <a:rPr sz="12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Fin</a:t>
            </a:r>
            <a:r>
              <a:rPr sz="1200" b="1" u="sng" spc="-3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/*fin</a:t>
            </a:r>
            <a:r>
              <a:rPr sz="12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algorithme*/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01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Introduire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</a:t>
            </a:r>
            <a:r>
              <a:rPr spc="-25" dirty="0">
                <a:solidFill>
                  <a:srgbClr val="007842"/>
                </a:solidFill>
              </a:rPr>
              <a:t> POO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Introduction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à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la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programmation</a:t>
            </a:r>
            <a:r>
              <a:rPr sz="1600" spc="-7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Orientée</a:t>
            </a:r>
            <a:r>
              <a:rPr sz="1600" spc="-5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Objet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/>
          <p:cNvGrpSpPr/>
          <p:nvPr/>
        </p:nvGrpSpPr>
        <p:grpSpPr>
          <a:xfrm>
            <a:off x="2270760" y="2167127"/>
            <a:ext cx="7833359" cy="1033780"/>
            <a:chOff x="2270760" y="2167127"/>
            <a:chExt cx="7833359" cy="1033780"/>
          </a:xfrm>
        </p:grpSpPr>
        <p:sp>
          <p:nvSpPr>
            <p:cNvPr id="10" name="object 10"/>
            <p:cNvSpPr/>
            <p:nvPr/>
          </p:nvSpPr>
          <p:spPr>
            <a:xfrm>
              <a:off x="2270760" y="2167127"/>
              <a:ext cx="7833359" cy="1033780"/>
            </a:xfrm>
            <a:custGeom>
              <a:avLst/>
              <a:gdLst/>
              <a:ahLst/>
              <a:cxnLst/>
              <a:rect l="l" t="t" r="r" b="b"/>
              <a:pathLst>
                <a:path w="7833359" h="1033780">
                  <a:moveTo>
                    <a:pt x="7661148" y="0"/>
                  </a:moveTo>
                  <a:lnTo>
                    <a:pt x="172212" y="0"/>
                  </a:lnTo>
                  <a:lnTo>
                    <a:pt x="126426" y="6150"/>
                  </a:lnTo>
                  <a:lnTo>
                    <a:pt x="85287" y="23509"/>
                  </a:lnTo>
                  <a:lnTo>
                    <a:pt x="50434" y="50434"/>
                  </a:lnTo>
                  <a:lnTo>
                    <a:pt x="23509" y="85287"/>
                  </a:lnTo>
                  <a:lnTo>
                    <a:pt x="6150" y="126426"/>
                  </a:lnTo>
                  <a:lnTo>
                    <a:pt x="0" y="172212"/>
                  </a:lnTo>
                  <a:lnTo>
                    <a:pt x="0" y="861060"/>
                  </a:lnTo>
                  <a:lnTo>
                    <a:pt x="6150" y="906845"/>
                  </a:lnTo>
                  <a:lnTo>
                    <a:pt x="23509" y="947984"/>
                  </a:lnTo>
                  <a:lnTo>
                    <a:pt x="50434" y="982837"/>
                  </a:lnTo>
                  <a:lnTo>
                    <a:pt x="85287" y="1009762"/>
                  </a:lnTo>
                  <a:lnTo>
                    <a:pt x="126426" y="1027121"/>
                  </a:lnTo>
                  <a:lnTo>
                    <a:pt x="172212" y="1033272"/>
                  </a:lnTo>
                  <a:lnTo>
                    <a:pt x="7661148" y="1033272"/>
                  </a:lnTo>
                  <a:lnTo>
                    <a:pt x="7706933" y="1027121"/>
                  </a:lnTo>
                  <a:lnTo>
                    <a:pt x="7748072" y="1009762"/>
                  </a:lnTo>
                  <a:lnTo>
                    <a:pt x="7782925" y="982837"/>
                  </a:lnTo>
                  <a:lnTo>
                    <a:pt x="7809850" y="947984"/>
                  </a:lnTo>
                  <a:lnTo>
                    <a:pt x="7827209" y="906845"/>
                  </a:lnTo>
                  <a:lnTo>
                    <a:pt x="7833359" y="861060"/>
                  </a:lnTo>
                  <a:lnTo>
                    <a:pt x="7833359" y="172212"/>
                  </a:lnTo>
                  <a:lnTo>
                    <a:pt x="7827209" y="126426"/>
                  </a:lnTo>
                  <a:lnTo>
                    <a:pt x="7809850" y="85287"/>
                  </a:lnTo>
                  <a:lnTo>
                    <a:pt x="7782925" y="50434"/>
                  </a:lnTo>
                  <a:lnTo>
                    <a:pt x="7748072" y="23509"/>
                  </a:lnTo>
                  <a:lnTo>
                    <a:pt x="7706933" y="6150"/>
                  </a:lnTo>
                  <a:lnTo>
                    <a:pt x="766114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70760" y="2167127"/>
              <a:ext cx="7833359" cy="1033780"/>
            </a:xfrm>
            <a:custGeom>
              <a:avLst/>
              <a:gdLst/>
              <a:ahLst/>
              <a:cxnLst/>
              <a:rect l="l" t="t" r="r" b="b"/>
              <a:pathLst>
                <a:path w="7833359" h="1033780">
                  <a:moveTo>
                    <a:pt x="0" y="172212"/>
                  </a:moveTo>
                  <a:lnTo>
                    <a:pt x="6150" y="126426"/>
                  </a:lnTo>
                  <a:lnTo>
                    <a:pt x="23509" y="85287"/>
                  </a:lnTo>
                  <a:lnTo>
                    <a:pt x="50434" y="50434"/>
                  </a:lnTo>
                  <a:lnTo>
                    <a:pt x="85287" y="23509"/>
                  </a:lnTo>
                  <a:lnTo>
                    <a:pt x="126426" y="6150"/>
                  </a:lnTo>
                  <a:lnTo>
                    <a:pt x="172212" y="0"/>
                  </a:lnTo>
                  <a:lnTo>
                    <a:pt x="7661148" y="0"/>
                  </a:lnTo>
                  <a:lnTo>
                    <a:pt x="7706933" y="6150"/>
                  </a:lnTo>
                  <a:lnTo>
                    <a:pt x="7748072" y="23509"/>
                  </a:lnTo>
                  <a:lnTo>
                    <a:pt x="7782925" y="50434"/>
                  </a:lnTo>
                  <a:lnTo>
                    <a:pt x="7809850" y="85287"/>
                  </a:lnTo>
                  <a:lnTo>
                    <a:pt x="7827209" y="126426"/>
                  </a:lnTo>
                  <a:lnTo>
                    <a:pt x="7833359" y="172212"/>
                  </a:lnTo>
                  <a:lnTo>
                    <a:pt x="7833359" y="861060"/>
                  </a:lnTo>
                  <a:lnTo>
                    <a:pt x="7827209" y="906845"/>
                  </a:lnTo>
                  <a:lnTo>
                    <a:pt x="7809850" y="947984"/>
                  </a:lnTo>
                  <a:lnTo>
                    <a:pt x="7782925" y="982837"/>
                  </a:lnTo>
                  <a:lnTo>
                    <a:pt x="7748072" y="1009762"/>
                  </a:lnTo>
                  <a:lnTo>
                    <a:pt x="7706933" y="1027121"/>
                  </a:lnTo>
                  <a:lnTo>
                    <a:pt x="7661148" y="1033272"/>
                  </a:lnTo>
                  <a:lnTo>
                    <a:pt x="172212" y="1033272"/>
                  </a:lnTo>
                  <a:lnTo>
                    <a:pt x="126426" y="1027121"/>
                  </a:lnTo>
                  <a:lnTo>
                    <a:pt x="85287" y="1009762"/>
                  </a:lnTo>
                  <a:lnTo>
                    <a:pt x="50434" y="982837"/>
                  </a:lnTo>
                  <a:lnTo>
                    <a:pt x="23509" y="947984"/>
                  </a:lnTo>
                  <a:lnTo>
                    <a:pt x="6150" y="906845"/>
                  </a:lnTo>
                  <a:lnTo>
                    <a:pt x="0" y="861060"/>
                  </a:lnTo>
                  <a:lnTo>
                    <a:pt x="0" y="17221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98982" y="3638655"/>
            <a:ext cx="9902825" cy="110871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langages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orientés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nés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répondre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questions.</a:t>
            </a:r>
            <a:endParaRPr sz="1400">
              <a:latin typeface="Calibri"/>
              <a:cs typeface="Calibri"/>
            </a:endParaRPr>
          </a:p>
          <a:p>
            <a:pPr marL="329565">
              <a:lnSpc>
                <a:spcPct val="100000"/>
              </a:lnSpc>
              <a:spcBef>
                <a:spcPts val="30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Ils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fondés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connaissance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seule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catégorie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d’entités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informatiques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les</a:t>
            </a:r>
            <a:r>
              <a:rPr sz="1600" b="1" u="sng" spc="-8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1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objets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incorpore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aspects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statiques</a:t>
            </a:r>
            <a:r>
              <a:rPr sz="14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dynamiques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sein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notion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programme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constitué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ensemble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d’objets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chacun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disposant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procédures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(traitement)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données.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13" name="object 13"/>
          <p:cNvSpPr txBox="1"/>
          <p:nvPr/>
        </p:nvSpPr>
        <p:spPr>
          <a:xfrm>
            <a:off x="798982" y="1602105"/>
            <a:ext cx="259334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Programmation</a:t>
            </a:r>
            <a:r>
              <a:rPr sz="1600" b="1" spc="-8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orientée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33871" y="2663697"/>
            <a:ext cx="36404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200" b="1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avant</a:t>
            </a:r>
            <a:r>
              <a:rPr sz="1200" b="1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tout</a:t>
            </a:r>
            <a:r>
              <a:rPr sz="1200" b="1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200" b="1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ensembles</a:t>
            </a:r>
            <a:r>
              <a:rPr sz="1200" b="1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200" b="1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informatiques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01061" y="2297684"/>
            <a:ext cx="386905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Séparation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(données,</a:t>
            </a:r>
            <a:r>
              <a:rPr sz="12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procédures)</a:t>
            </a:r>
            <a:r>
              <a:rPr sz="12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est elle</a:t>
            </a:r>
            <a:r>
              <a:rPr sz="12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utile?</a:t>
            </a:r>
            <a:endParaRPr sz="12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Pourquoi</a:t>
            </a:r>
            <a:r>
              <a:rPr sz="12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privilégier</a:t>
            </a:r>
            <a:r>
              <a:rPr sz="12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2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procédures</a:t>
            </a:r>
            <a:r>
              <a:rPr sz="12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2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555555"/>
                </a:solidFill>
                <a:latin typeface="Calibri"/>
                <a:cs typeface="Calibri"/>
              </a:rPr>
              <a:t>?</a:t>
            </a:r>
            <a:endParaRPr sz="12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Pourquoi</a:t>
            </a:r>
            <a:r>
              <a:rPr sz="1200" b="1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200" b="1" spc="3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200" b="1" spc="4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considérer</a:t>
            </a:r>
            <a:r>
              <a:rPr sz="1200" b="1" spc="4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200" b="1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200" b="1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programmes caractérisés</a:t>
            </a:r>
            <a:r>
              <a:rPr sz="12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par les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opérations</a:t>
            </a:r>
            <a:r>
              <a:rPr sz="12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qu’ils</a:t>
            </a:r>
            <a:r>
              <a:rPr sz="1200" b="1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connaissent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555555"/>
                </a:solidFill>
                <a:latin typeface="Calibri"/>
                <a:cs typeface="Calibri"/>
              </a:rPr>
              <a:t>?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01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Introduire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</a:t>
            </a:r>
            <a:r>
              <a:rPr spc="-25" dirty="0">
                <a:solidFill>
                  <a:srgbClr val="007842"/>
                </a:solidFill>
              </a:rPr>
              <a:t> POO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Introduction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à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la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programmation</a:t>
            </a:r>
            <a:r>
              <a:rPr sz="1600" spc="-7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Orientée</a:t>
            </a:r>
            <a:r>
              <a:rPr sz="1600" spc="-5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Objet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64563"/>
            <a:ext cx="11657457" cy="5154295"/>
            <a:chOff x="0" y="1464563"/>
            <a:chExt cx="11657457" cy="5154295"/>
          </a:xfrm>
        </p:grpSpPr>
        <p:sp>
          <p:nvSpPr>
            <p:cNvPr id="4" name="object 4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11119104" y="0"/>
                  </a:moveTo>
                  <a:lnTo>
                    <a:pt x="0" y="0"/>
                  </a:lnTo>
                  <a:lnTo>
                    <a:pt x="0" y="5154168"/>
                  </a:lnTo>
                  <a:lnTo>
                    <a:pt x="11119104" y="5154168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0" y="5154168"/>
                  </a:moveTo>
                  <a:lnTo>
                    <a:pt x="11119104" y="5154168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54168"/>
                  </a:lnTo>
                  <a:close/>
                </a:path>
              </a:pathLst>
            </a:custGeom>
            <a:ln w="9524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870448"/>
              <a:ext cx="536575" cy="536575"/>
            </a:xfrm>
            <a:custGeom>
              <a:avLst/>
              <a:gdLst/>
              <a:ahLst/>
              <a:cxnLst/>
              <a:rect l="l" t="t" r="r" b="b"/>
              <a:pathLst>
                <a:path w="536575" h="536575">
                  <a:moveTo>
                    <a:pt x="268224" y="0"/>
                  </a:moveTo>
                  <a:lnTo>
                    <a:pt x="220010" y="4321"/>
                  </a:lnTo>
                  <a:lnTo>
                    <a:pt x="174631" y="16781"/>
                  </a:lnTo>
                  <a:lnTo>
                    <a:pt x="132845" y="36621"/>
                  </a:lnTo>
                  <a:lnTo>
                    <a:pt x="95410" y="63083"/>
                  </a:lnTo>
                  <a:lnTo>
                    <a:pt x="63082" y="95412"/>
                  </a:lnTo>
                  <a:lnTo>
                    <a:pt x="36620" y="132847"/>
                  </a:lnTo>
                  <a:lnTo>
                    <a:pt x="16780" y="174633"/>
                  </a:lnTo>
                  <a:lnTo>
                    <a:pt x="4321" y="220011"/>
                  </a:lnTo>
                  <a:lnTo>
                    <a:pt x="0" y="268223"/>
                  </a:lnTo>
                  <a:lnTo>
                    <a:pt x="4321" y="316436"/>
                  </a:lnTo>
                  <a:lnTo>
                    <a:pt x="16780" y="361814"/>
                  </a:lnTo>
                  <a:lnTo>
                    <a:pt x="36620" y="403600"/>
                  </a:lnTo>
                  <a:lnTo>
                    <a:pt x="63082" y="441035"/>
                  </a:lnTo>
                  <a:lnTo>
                    <a:pt x="95410" y="473364"/>
                  </a:lnTo>
                  <a:lnTo>
                    <a:pt x="132845" y="499826"/>
                  </a:lnTo>
                  <a:lnTo>
                    <a:pt x="174631" y="519666"/>
                  </a:lnTo>
                  <a:lnTo>
                    <a:pt x="220010" y="532126"/>
                  </a:lnTo>
                  <a:lnTo>
                    <a:pt x="268224" y="536447"/>
                  </a:lnTo>
                  <a:lnTo>
                    <a:pt x="536448" y="536447"/>
                  </a:lnTo>
                  <a:lnTo>
                    <a:pt x="536448" y="268223"/>
                  </a:lnTo>
                  <a:lnTo>
                    <a:pt x="532126" y="220011"/>
                  </a:lnTo>
                  <a:lnTo>
                    <a:pt x="519666" y="174633"/>
                  </a:lnTo>
                  <a:lnTo>
                    <a:pt x="499826" y="132847"/>
                  </a:lnTo>
                  <a:lnTo>
                    <a:pt x="473364" y="95412"/>
                  </a:lnTo>
                  <a:lnTo>
                    <a:pt x="441036" y="63083"/>
                  </a:lnTo>
                  <a:lnTo>
                    <a:pt x="403600" y="36621"/>
                  </a:lnTo>
                  <a:lnTo>
                    <a:pt x="361814" y="16781"/>
                  </a:lnTo>
                  <a:lnTo>
                    <a:pt x="316436" y="4321"/>
                  </a:lnTo>
                  <a:lnTo>
                    <a:pt x="26822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740407" y="1753095"/>
            <a:ext cx="8261984" cy="4376431"/>
            <a:chOff x="1740407" y="1753095"/>
            <a:chExt cx="8261984" cy="4376431"/>
          </a:xfrm>
        </p:grpSpPr>
        <p:sp>
          <p:nvSpPr>
            <p:cNvPr id="10" name="object 10"/>
            <p:cNvSpPr/>
            <p:nvPr/>
          </p:nvSpPr>
          <p:spPr>
            <a:xfrm>
              <a:off x="1740407" y="3989832"/>
              <a:ext cx="8261984" cy="0"/>
            </a:xfrm>
            <a:custGeom>
              <a:avLst/>
              <a:gdLst/>
              <a:ahLst/>
              <a:cxnLst/>
              <a:rect l="l" t="t" r="r" b="b"/>
              <a:pathLst>
                <a:path w="8261984">
                  <a:moveTo>
                    <a:pt x="0" y="0"/>
                  </a:moveTo>
                  <a:lnTo>
                    <a:pt x="8261985" y="0"/>
                  </a:lnTo>
                </a:path>
              </a:pathLst>
            </a:custGeom>
            <a:ln w="7302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0007" y="1847087"/>
              <a:ext cx="2289047" cy="13502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7335" y="4632959"/>
              <a:ext cx="2292095" cy="14965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24425" y="1753095"/>
              <a:ext cx="4403725" cy="1082675"/>
            </a:xfrm>
            <a:custGeom>
              <a:avLst/>
              <a:gdLst/>
              <a:ahLst/>
              <a:cxnLst/>
              <a:rect l="l" t="t" r="r" b="b"/>
              <a:pathLst>
                <a:path w="4403725" h="1082675">
                  <a:moveTo>
                    <a:pt x="60071" y="780300"/>
                  </a:moveTo>
                  <a:lnTo>
                    <a:pt x="57708" y="768591"/>
                  </a:lnTo>
                  <a:lnTo>
                    <a:pt x="51269" y="759015"/>
                  </a:lnTo>
                  <a:lnTo>
                    <a:pt x="41744" y="752576"/>
                  </a:lnTo>
                  <a:lnTo>
                    <a:pt x="30099" y="750201"/>
                  </a:lnTo>
                  <a:lnTo>
                    <a:pt x="18376" y="752576"/>
                  </a:lnTo>
                  <a:lnTo>
                    <a:pt x="8801" y="759015"/>
                  </a:lnTo>
                  <a:lnTo>
                    <a:pt x="2362" y="768591"/>
                  </a:lnTo>
                  <a:lnTo>
                    <a:pt x="0" y="780300"/>
                  </a:lnTo>
                  <a:lnTo>
                    <a:pt x="2362" y="792022"/>
                  </a:lnTo>
                  <a:lnTo>
                    <a:pt x="8801" y="801598"/>
                  </a:lnTo>
                  <a:lnTo>
                    <a:pt x="18376" y="808037"/>
                  </a:lnTo>
                  <a:lnTo>
                    <a:pt x="30099" y="810399"/>
                  </a:lnTo>
                  <a:lnTo>
                    <a:pt x="41744" y="808037"/>
                  </a:lnTo>
                  <a:lnTo>
                    <a:pt x="51269" y="801598"/>
                  </a:lnTo>
                  <a:lnTo>
                    <a:pt x="57708" y="792022"/>
                  </a:lnTo>
                  <a:lnTo>
                    <a:pt x="60071" y="780300"/>
                  </a:lnTo>
                  <a:close/>
                </a:path>
                <a:path w="4403725" h="1082675">
                  <a:moveTo>
                    <a:pt x="4403598" y="513499"/>
                  </a:moveTo>
                  <a:lnTo>
                    <a:pt x="4380789" y="459320"/>
                  </a:lnTo>
                  <a:lnTo>
                    <a:pt x="4324515" y="407746"/>
                  </a:lnTo>
                  <a:lnTo>
                    <a:pt x="4283583" y="383679"/>
                  </a:lnTo>
                  <a:lnTo>
                    <a:pt x="4289603" y="377825"/>
                  </a:lnTo>
                  <a:lnTo>
                    <a:pt x="4317568" y="333298"/>
                  </a:lnTo>
                  <a:lnTo>
                    <a:pt x="4320629" y="306984"/>
                  </a:lnTo>
                  <a:lnTo>
                    <a:pt x="4314228" y="281216"/>
                  </a:lnTo>
                  <a:lnTo>
                    <a:pt x="4275036" y="232702"/>
                  </a:lnTo>
                  <a:lnTo>
                    <a:pt x="4243235" y="210654"/>
                  </a:lnTo>
                  <a:lnTo>
                    <a:pt x="4203966" y="190512"/>
                  </a:lnTo>
                  <a:lnTo>
                    <a:pt x="4157726" y="172656"/>
                  </a:lnTo>
                  <a:lnTo>
                    <a:pt x="4105021" y="157416"/>
                  </a:lnTo>
                  <a:lnTo>
                    <a:pt x="4046347" y="145135"/>
                  </a:lnTo>
                  <a:lnTo>
                    <a:pt x="3982212" y="136156"/>
                  </a:lnTo>
                  <a:lnTo>
                    <a:pt x="3963339" y="108610"/>
                  </a:lnTo>
                  <a:lnTo>
                    <a:pt x="3932999" y="82918"/>
                  </a:lnTo>
                  <a:lnTo>
                    <a:pt x="3891978" y="59651"/>
                  </a:lnTo>
                  <a:lnTo>
                    <a:pt x="3841115" y="39382"/>
                  </a:lnTo>
                  <a:lnTo>
                    <a:pt x="3795357" y="26060"/>
                  </a:lnTo>
                  <a:lnTo>
                    <a:pt x="3746665" y="15519"/>
                  </a:lnTo>
                  <a:lnTo>
                    <a:pt x="3695725" y="7734"/>
                  </a:lnTo>
                  <a:lnTo>
                    <a:pt x="3643236" y="2705"/>
                  </a:lnTo>
                  <a:lnTo>
                    <a:pt x="3589896" y="393"/>
                  </a:lnTo>
                  <a:lnTo>
                    <a:pt x="3536416" y="774"/>
                  </a:lnTo>
                  <a:lnTo>
                    <a:pt x="3483495" y="3848"/>
                  </a:lnTo>
                  <a:lnTo>
                    <a:pt x="3431844" y="9563"/>
                  </a:lnTo>
                  <a:lnTo>
                    <a:pt x="3382137" y="17919"/>
                  </a:lnTo>
                  <a:lnTo>
                    <a:pt x="3335109" y="28892"/>
                  </a:lnTo>
                  <a:lnTo>
                    <a:pt x="3291433" y="42443"/>
                  </a:lnTo>
                  <a:lnTo>
                    <a:pt x="3251835" y="58559"/>
                  </a:lnTo>
                  <a:lnTo>
                    <a:pt x="3223907" y="45681"/>
                  </a:lnTo>
                  <a:lnTo>
                    <a:pt x="3158045" y="24091"/>
                  </a:lnTo>
                  <a:lnTo>
                    <a:pt x="3120771" y="15633"/>
                  </a:lnTo>
                  <a:lnTo>
                    <a:pt x="3069272" y="7264"/>
                  </a:lnTo>
                  <a:lnTo>
                    <a:pt x="3016567" y="2082"/>
                  </a:lnTo>
                  <a:lnTo>
                    <a:pt x="2963456" y="0"/>
                  </a:lnTo>
                  <a:lnTo>
                    <a:pt x="2910700" y="901"/>
                  </a:lnTo>
                  <a:lnTo>
                    <a:pt x="2859074" y="4699"/>
                  </a:lnTo>
                  <a:lnTo>
                    <a:pt x="2809367" y="11290"/>
                  </a:lnTo>
                  <a:lnTo>
                    <a:pt x="2762364" y="20561"/>
                  </a:lnTo>
                  <a:lnTo>
                    <a:pt x="2718816" y="32410"/>
                  </a:lnTo>
                  <a:lnTo>
                    <a:pt x="2679535" y="46748"/>
                  </a:lnTo>
                  <a:lnTo>
                    <a:pt x="2645283" y="63461"/>
                  </a:lnTo>
                  <a:lnTo>
                    <a:pt x="2616835" y="82435"/>
                  </a:lnTo>
                  <a:lnTo>
                    <a:pt x="2592324" y="73545"/>
                  </a:lnTo>
                  <a:lnTo>
                    <a:pt x="2538869" y="57988"/>
                  </a:lnTo>
                  <a:lnTo>
                    <a:pt x="2457615" y="41973"/>
                  </a:lnTo>
                  <a:lnTo>
                    <a:pt x="2403754" y="35306"/>
                  </a:lnTo>
                  <a:lnTo>
                    <a:pt x="2349131" y="31369"/>
                  </a:lnTo>
                  <a:lnTo>
                    <a:pt x="2294344" y="30099"/>
                  </a:lnTo>
                  <a:lnTo>
                    <a:pt x="2239962" y="31419"/>
                  </a:lnTo>
                  <a:lnTo>
                    <a:pt x="2186571" y="35255"/>
                  </a:lnTo>
                  <a:lnTo>
                    <a:pt x="2134743" y="41554"/>
                  </a:lnTo>
                  <a:lnTo>
                    <a:pt x="2085073" y="50215"/>
                  </a:lnTo>
                  <a:lnTo>
                    <a:pt x="2038146" y="61201"/>
                  </a:lnTo>
                  <a:lnTo>
                    <a:pt x="1994522" y="74409"/>
                  </a:lnTo>
                  <a:lnTo>
                    <a:pt x="1954796" y="89789"/>
                  </a:lnTo>
                  <a:lnTo>
                    <a:pt x="1919554" y="107264"/>
                  </a:lnTo>
                  <a:lnTo>
                    <a:pt x="1889379" y="126758"/>
                  </a:lnTo>
                  <a:lnTo>
                    <a:pt x="1840217" y="116573"/>
                  </a:lnTo>
                  <a:lnTo>
                    <a:pt x="1789112" y="108318"/>
                  </a:lnTo>
                  <a:lnTo>
                    <a:pt x="1736420" y="102044"/>
                  </a:lnTo>
                  <a:lnTo>
                    <a:pt x="1682534" y="97764"/>
                  </a:lnTo>
                  <a:lnTo>
                    <a:pt x="1627784" y="95529"/>
                  </a:lnTo>
                  <a:lnTo>
                    <a:pt x="1572577" y="95364"/>
                  </a:lnTo>
                  <a:lnTo>
                    <a:pt x="1517269" y="97294"/>
                  </a:lnTo>
                  <a:lnTo>
                    <a:pt x="1450606" y="102450"/>
                  </a:lnTo>
                  <a:lnTo>
                    <a:pt x="1387259" y="110439"/>
                  </a:lnTo>
                  <a:lnTo>
                    <a:pt x="1327569" y="121056"/>
                  </a:lnTo>
                  <a:lnTo>
                    <a:pt x="1271905" y="134124"/>
                  </a:lnTo>
                  <a:lnTo>
                    <a:pt x="1220673" y="149440"/>
                  </a:lnTo>
                  <a:lnTo>
                    <a:pt x="1174216" y="166801"/>
                  </a:lnTo>
                  <a:lnTo>
                    <a:pt x="1132916" y="186029"/>
                  </a:lnTo>
                  <a:lnTo>
                    <a:pt x="1097140" y="206921"/>
                  </a:lnTo>
                  <a:lnTo>
                    <a:pt x="1043686" y="252920"/>
                  </a:lnTo>
                  <a:lnTo>
                    <a:pt x="1016825" y="303263"/>
                  </a:lnTo>
                  <a:lnTo>
                    <a:pt x="1014310" y="329565"/>
                  </a:lnTo>
                  <a:lnTo>
                    <a:pt x="1019556" y="356374"/>
                  </a:lnTo>
                  <a:lnTo>
                    <a:pt x="1016508" y="359803"/>
                  </a:lnTo>
                  <a:lnTo>
                    <a:pt x="958430" y="364032"/>
                  </a:lnTo>
                  <a:lnTo>
                    <a:pt x="903439" y="371729"/>
                  </a:lnTo>
                  <a:lnTo>
                    <a:pt x="852398" y="382663"/>
                  </a:lnTo>
                  <a:lnTo>
                    <a:pt x="806221" y="396608"/>
                  </a:lnTo>
                  <a:lnTo>
                    <a:pt x="765797" y="413321"/>
                  </a:lnTo>
                  <a:lnTo>
                    <a:pt x="732028" y="432574"/>
                  </a:lnTo>
                  <a:lnTo>
                    <a:pt x="700519" y="460019"/>
                  </a:lnTo>
                  <a:lnTo>
                    <a:pt x="681545" y="517296"/>
                  </a:lnTo>
                  <a:lnTo>
                    <a:pt x="692988" y="545503"/>
                  </a:lnTo>
                  <a:lnTo>
                    <a:pt x="717677" y="572338"/>
                  </a:lnTo>
                  <a:lnTo>
                    <a:pt x="755078" y="596976"/>
                  </a:lnTo>
                  <a:lnTo>
                    <a:pt x="804659" y="618604"/>
                  </a:lnTo>
                  <a:lnTo>
                    <a:pt x="865886" y="636409"/>
                  </a:lnTo>
                  <a:lnTo>
                    <a:pt x="816762" y="662292"/>
                  </a:lnTo>
                  <a:lnTo>
                    <a:pt x="783336" y="691375"/>
                  </a:lnTo>
                  <a:lnTo>
                    <a:pt x="766470" y="722604"/>
                  </a:lnTo>
                  <a:lnTo>
                    <a:pt x="767080" y="754900"/>
                  </a:lnTo>
                  <a:lnTo>
                    <a:pt x="799896" y="800608"/>
                  </a:lnTo>
                  <a:lnTo>
                    <a:pt x="864831" y="838581"/>
                  </a:lnTo>
                  <a:lnTo>
                    <a:pt x="907186" y="854011"/>
                  </a:lnTo>
                  <a:lnTo>
                    <a:pt x="954989" y="866711"/>
                  </a:lnTo>
                  <a:lnTo>
                    <a:pt x="1007389" y="876401"/>
                  </a:lnTo>
                  <a:lnTo>
                    <a:pt x="1063510" y="882840"/>
                  </a:lnTo>
                  <a:lnTo>
                    <a:pt x="1122502" y="885736"/>
                  </a:lnTo>
                  <a:lnTo>
                    <a:pt x="1183513" y="884821"/>
                  </a:lnTo>
                  <a:lnTo>
                    <a:pt x="1188212" y="888123"/>
                  </a:lnTo>
                  <a:lnTo>
                    <a:pt x="1222248" y="908672"/>
                  </a:lnTo>
                  <a:lnTo>
                    <a:pt x="1257249" y="926274"/>
                  </a:lnTo>
                  <a:lnTo>
                    <a:pt x="1295349" y="942403"/>
                  </a:lnTo>
                  <a:lnTo>
                    <a:pt x="1336268" y="957046"/>
                  </a:lnTo>
                  <a:lnTo>
                    <a:pt x="1379728" y="970178"/>
                  </a:lnTo>
                  <a:lnTo>
                    <a:pt x="1425460" y="981773"/>
                  </a:lnTo>
                  <a:lnTo>
                    <a:pt x="1473200" y="991793"/>
                  </a:lnTo>
                  <a:lnTo>
                    <a:pt x="1522666" y="1000213"/>
                  </a:lnTo>
                  <a:lnTo>
                    <a:pt x="1573580" y="1007021"/>
                  </a:lnTo>
                  <a:lnTo>
                    <a:pt x="1625676" y="1012177"/>
                  </a:lnTo>
                  <a:lnTo>
                    <a:pt x="1678673" y="1015669"/>
                  </a:lnTo>
                  <a:lnTo>
                    <a:pt x="1732305" y="1017447"/>
                  </a:lnTo>
                  <a:lnTo>
                    <a:pt x="1786305" y="1017498"/>
                  </a:lnTo>
                  <a:lnTo>
                    <a:pt x="1840382" y="1015784"/>
                  </a:lnTo>
                  <a:lnTo>
                    <a:pt x="1894268" y="1012291"/>
                  </a:lnTo>
                  <a:lnTo>
                    <a:pt x="1947697" y="1006995"/>
                  </a:lnTo>
                  <a:lnTo>
                    <a:pt x="2000389" y="999845"/>
                  </a:lnTo>
                  <a:lnTo>
                    <a:pt x="2052078" y="990841"/>
                  </a:lnTo>
                  <a:lnTo>
                    <a:pt x="2102485" y="979944"/>
                  </a:lnTo>
                  <a:lnTo>
                    <a:pt x="2136711" y="998220"/>
                  </a:lnTo>
                  <a:lnTo>
                    <a:pt x="2175078" y="1014984"/>
                  </a:lnTo>
                  <a:lnTo>
                    <a:pt x="2217242" y="1030122"/>
                  </a:lnTo>
                  <a:lnTo>
                    <a:pt x="2262860" y="1043546"/>
                  </a:lnTo>
                  <a:lnTo>
                    <a:pt x="2311616" y="1055154"/>
                  </a:lnTo>
                  <a:lnTo>
                    <a:pt x="2363165" y="1064856"/>
                  </a:lnTo>
                  <a:lnTo>
                    <a:pt x="2417191" y="1072527"/>
                  </a:lnTo>
                  <a:lnTo>
                    <a:pt x="2474925" y="1078230"/>
                  </a:lnTo>
                  <a:lnTo>
                    <a:pt x="2532710" y="1081532"/>
                  </a:lnTo>
                  <a:lnTo>
                    <a:pt x="2590177" y="1082497"/>
                  </a:lnTo>
                  <a:lnTo>
                    <a:pt x="2646946" y="1081214"/>
                  </a:lnTo>
                  <a:lnTo>
                    <a:pt x="2702674" y="1077760"/>
                  </a:lnTo>
                  <a:lnTo>
                    <a:pt x="2756966" y="1072210"/>
                  </a:lnTo>
                  <a:lnTo>
                    <a:pt x="2809494" y="1064641"/>
                  </a:lnTo>
                  <a:lnTo>
                    <a:pt x="2859875" y="1055128"/>
                  </a:lnTo>
                  <a:lnTo>
                    <a:pt x="2907741" y="1043762"/>
                  </a:lnTo>
                  <a:lnTo>
                    <a:pt x="2952737" y="1030605"/>
                  </a:lnTo>
                  <a:lnTo>
                    <a:pt x="2994495" y="1015733"/>
                  </a:lnTo>
                  <a:lnTo>
                    <a:pt x="3032658" y="999236"/>
                  </a:lnTo>
                  <a:lnTo>
                    <a:pt x="3066846" y="981189"/>
                  </a:lnTo>
                  <a:lnTo>
                    <a:pt x="3121863" y="940727"/>
                  </a:lnTo>
                  <a:lnTo>
                    <a:pt x="3141980" y="918476"/>
                  </a:lnTo>
                  <a:lnTo>
                    <a:pt x="3190049" y="928979"/>
                  </a:lnTo>
                  <a:lnTo>
                    <a:pt x="3240544" y="937260"/>
                  </a:lnTo>
                  <a:lnTo>
                    <a:pt x="3292970" y="943305"/>
                  </a:lnTo>
                  <a:lnTo>
                    <a:pt x="3346843" y="947039"/>
                  </a:lnTo>
                  <a:lnTo>
                    <a:pt x="3401695" y="948448"/>
                  </a:lnTo>
                  <a:lnTo>
                    <a:pt x="3469284" y="946873"/>
                  </a:lnTo>
                  <a:lnTo>
                    <a:pt x="3534181" y="941844"/>
                  </a:lnTo>
                  <a:lnTo>
                    <a:pt x="3595789" y="933589"/>
                  </a:lnTo>
                  <a:lnTo>
                    <a:pt x="3653510" y="922362"/>
                  </a:lnTo>
                  <a:lnTo>
                    <a:pt x="3706736" y="908380"/>
                  </a:lnTo>
                  <a:lnTo>
                    <a:pt x="3754894" y="891870"/>
                  </a:lnTo>
                  <a:lnTo>
                    <a:pt x="3797363" y="873086"/>
                  </a:lnTo>
                  <a:lnTo>
                    <a:pt x="3833558" y="852246"/>
                  </a:lnTo>
                  <a:lnTo>
                    <a:pt x="3884714" y="805332"/>
                  </a:lnTo>
                  <a:lnTo>
                    <a:pt x="3903599" y="752995"/>
                  </a:lnTo>
                  <a:lnTo>
                    <a:pt x="3962400" y="748398"/>
                  </a:lnTo>
                  <a:lnTo>
                    <a:pt x="4019524" y="741476"/>
                  </a:lnTo>
                  <a:lnTo>
                    <a:pt x="4074503" y="732320"/>
                  </a:lnTo>
                  <a:lnTo>
                    <a:pt x="4126903" y="720979"/>
                  </a:lnTo>
                  <a:lnTo>
                    <a:pt x="4176268" y="707529"/>
                  </a:lnTo>
                  <a:lnTo>
                    <a:pt x="4231500" y="688454"/>
                  </a:lnTo>
                  <a:lnTo>
                    <a:pt x="4279277" y="667283"/>
                  </a:lnTo>
                  <a:lnTo>
                    <a:pt x="4319486" y="644334"/>
                  </a:lnTo>
                  <a:lnTo>
                    <a:pt x="4352036" y="619912"/>
                  </a:lnTo>
                  <a:lnTo>
                    <a:pt x="4393743" y="567842"/>
                  </a:lnTo>
                  <a:lnTo>
                    <a:pt x="4402696" y="540804"/>
                  </a:lnTo>
                  <a:lnTo>
                    <a:pt x="4403598" y="513499"/>
                  </a:lnTo>
                  <a:close/>
                </a:path>
              </a:pathLst>
            </a:custGeom>
            <a:solidFill>
              <a:srgbClr val="5B9BD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3942" y="2451099"/>
              <a:ext cx="120269" cy="12026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3275" y="2393061"/>
              <a:ext cx="180339" cy="18033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388235" y="3342259"/>
            <a:ext cx="24098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Programmation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procédurale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06997" y="2116581"/>
            <a:ext cx="226631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6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doit faire</a:t>
            </a:r>
            <a:r>
              <a:rPr sz="16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système</a:t>
            </a:r>
            <a:r>
              <a:rPr sz="1600" b="1" spc="-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555555"/>
                </a:solidFill>
                <a:latin typeface="Calibri"/>
                <a:cs typeface="Calibri"/>
              </a:rPr>
              <a:t>?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80405" y="4175211"/>
            <a:ext cx="4236720" cy="774700"/>
            <a:chOff x="5280405" y="4175211"/>
            <a:chExt cx="4236720" cy="774700"/>
          </a:xfrm>
        </p:grpSpPr>
        <p:sp>
          <p:nvSpPr>
            <p:cNvPr id="19" name="object 19"/>
            <p:cNvSpPr/>
            <p:nvPr/>
          </p:nvSpPr>
          <p:spPr>
            <a:xfrm>
              <a:off x="5280406" y="4175213"/>
              <a:ext cx="4236720" cy="774700"/>
            </a:xfrm>
            <a:custGeom>
              <a:avLst/>
              <a:gdLst/>
              <a:ahLst/>
              <a:cxnLst/>
              <a:rect l="l" t="t" r="r" b="b"/>
              <a:pathLst>
                <a:path w="4236720" h="774700">
                  <a:moveTo>
                    <a:pt x="43053" y="744258"/>
                  </a:moveTo>
                  <a:lnTo>
                    <a:pt x="41351" y="735850"/>
                  </a:lnTo>
                  <a:lnTo>
                    <a:pt x="36741" y="728992"/>
                  </a:lnTo>
                  <a:lnTo>
                    <a:pt x="29921" y="724369"/>
                  </a:lnTo>
                  <a:lnTo>
                    <a:pt x="21590" y="722668"/>
                  </a:lnTo>
                  <a:lnTo>
                    <a:pt x="13169" y="724369"/>
                  </a:lnTo>
                  <a:lnTo>
                    <a:pt x="6311" y="728992"/>
                  </a:lnTo>
                  <a:lnTo>
                    <a:pt x="1689" y="735850"/>
                  </a:lnTo>
                  <a:lnTo>
                    <a:pt x="0" y="744258"/>
                  </a:lnTo>
                  <a:lnTo>
                    <a:pt x="1689" y="752602"/>
                  </a:lnTo>
                  <a:lnTo>
                    <a:pt x="6311" y="759421"/>
                  </a:lnTo>
                  <a:lnTo>
                    <a:pt x="13169" y="764032"/>
                  </a:lnTo>
                  <a:lnTo>
                    <a:pt x="21590" y="765721"/>
                  </a:lnTo>
                  <a:lnTo>
                    <a:pt x="29921" y="764032"/>
                  </a:lnTo>
                  <a:lnTo>
                    <a:pt x="36741" y="759421"/>
                  </a:lnTo>
                  <a:lnTo>
                    <a:pt x="41351" y="752602"/>
                  </a:lnTo>
                  <a:lnTo>
                    <a:pt x="43053" y="744258"/>
                  </a:lnTo>
                  <a:close/>
                </a:path>
                <a:path w="4236720" h="774700">
                  <a:moveTo>
                    <a:pt x="4236097" y="385203"/>
                  </a:moveTo>
                  <a:lnTo>
                    <a:pt x="4224109" y="339153"/>
                  </a:lnTo>
                  <a:lnTo>
                    <a:pt x="4168825" y="295046"/>
                  </a:lnTo>
                  <a:lnTo>
                    <a:pt x="4124579" y="274612"/>
                  </a:lnTo>
                  <a:lnTo>
                    <a:pt x="4130217" y="270408"/>
                  </a:lnTo>
                  <a:lnTo>
                    <a:pt x="4135374" y="266141"/>
                  </a:lnTo>
                  <a:lnTo>
                    <a:pt x="4140035" y="261835"/>
                  </a:lnTo>
                  <a:lnTo>
                    <a:pt x="4144264" y="257467"/>
                  </a:lnTo>
                  <a:lnTo>
                    <a:pt x="4157776" y="234315"/>
                  </a:lnTo>
                  <a:lnTo>
                    <a:pt x="4157599" y="211442"/>
                  </a:lnTo>
                  <a:lnTo>
                    <a:pt x="4119511" y="168389"/>
                  </a:lnTo>
                  <a:lnTo>
                    <a:pt x="4083291" y="149098"/>
                  </a:lnTo>
                  <a:lnTo>
                    <a:pt x="4036771" y="131914"/>
                  </a:lnTo>
                  <a:lnTo>
                    <a:pt x="3980777" y="117271"/>
                  </a:lnTo>
                  <a:lnTo>
                    <a:pt x="3916159" y="105638"/>
                  </a:lnTo>
                  <a:lnTo>
                    <a:pt x="3843782" y="97447"/>
                  </a:lnTo>
                  <a:lnTo>
                    <a:pt x="3826179" y="77724"/>
                  </a:lnTo>
                  <a:lnTo>
                    <a:pt x="3759708" y="42748"/>
                  </a:lnTo>
                  <a:lnTo>
                    <a:pt x="3712337" y="28232"/>
                  </a:lnTo>
                  <a:lnTo>
                    <a:pt x="3665664" y="17932"/>
                  </a:lnTo>
                  <a:lnTo>
                    <a:pt x="3615791" y="9994"/>
                  </a:lnTo>
                  <a:lnTo>
                    <a:pt x="3563569" y="4419"/>
                  </a:lnTo>
                  <a:lnTo>
                    <a:pt x="3509848" y="1168"/>
                  </a:lnTo>
                  <a:lnTo>
                    <a:pt x="3455479" y="228"/>
                  </a:lnTo>
                  <a:lnTo>
                    <a:pt x="3401301" y="1574"/>
                  </a:lnTo>
                  <a:lnTo>
                    <a:pt x="3348164" y="5194"/>
                  </a:lnTo>
                  <a:lnTo>
                    <a:pt x="3296920" y="11061"/>
                  </a:lnTo>
                  <a:lnTo>
                    <a:pt x="3248431" y="19164"/>
                  </a:lnTo>
                  <a:lnTo>
                    <a:pt x="3203524" y="29464"/>
                  </a:lnTo>
                  <a:lnTo>
                    <a:pt x="3163062" y="41948"/>
                  </a:lnTo>
                  <a:lnTo>
                    <a:pt x="3137052" y="32702"/>
                  </a:lnTo>
                  <a:lnTo>
                    <a:pt x="3075724" y="17259"/>
                  </a:lnTo>
                  <a:lnTo>
                    <a:pt x="2988119" y="4749"/>
                  </a:lnTo>
                  <a:lnTo>
                    <a:pt x="2933979" y="1041"/>
                  </a:lnTo>
                  <a:lnTo>
                    <a:pt x="2879521" y="0"/>
                  </a:lnTo>
                  <a:lnTo>
                    <a:pt x="2825750" y="1524"/>
                  </a:lnTo>
                  <a:lnTo>
                    <a:pt x="2773616" y="5524"/>
                  </a:lnTo>
                  <a:lnTo>
                    <a:pt x="2724073" y="11874"/>
                  </a:lnTo>
                  <a:lnTo>
                    <a:pt x="2678125" y="20497"/>
                  </a:lnTo>
                  <a:lnTo>
                    <a:pt x="2636697" y="31292"/>
                  </a:lnTo>
                  <a:lnTo>
                    <a:pt x="2600795" y="44145"/>
                  </a:lnTo>
                  <a:lnTo>
                    <a:pt x="2571369" y="58966"/>
                  </a:lnTo>
                  <a:lnTo>
                    <a:pt x="2548521" y="52641"/>
                  </a:lnTo>
                  <a:lnTo>
                    <a:pt x="2498687" y="41503"/>
                  </a:lnTo>
                  <a:lnTo>
                    <a:pt x="2418816" y="29527"/>
                  </a:lnTo>
                  <a:lnTo>
                    <a:pt x="2364308" y="24650"/>
                  </a:lnTo>
                  <a:lnTo>
                    <a:pt x="2309076" y="22047"/>
                  </a:lnTo>
                  <a:lnTo>
                    <a:pt x="2253818" y="21666"/>
                  </a:lnTo>
                  <a:lnTo>
                    <a:pt x="2199208" y="23444"/>
                  </a:lnTo>
                  <a:lnTo>
                    <a:pt x="2145957" y="27305"/>
                  </a:lnTo>
                  <a:lnTo>
                    <a:pt x="2094750" y="33185"/>
                  </a:lnTo>
                  <a:lnTo>
                    <a:pt x="2046262" y="41033"/>
                  </a:lnTo>
                  <a:lnTo>
                    <a:pt x="2001202" y="50761"/>
                  </a:lnTo>
                  <a:lnTo>
                    <a:pt x="1960245" y="62344"/>
                  </a:lnTo>
                  <a:lnTo>
                    <a:pt x="1924100" y="75679"/>
                  </a:lnTo>
                  <a:lnTo>
                    <a:pt x="1893443" y="90716"/>
                  </a:lnTo>
                  <a:lnTo>
                    <a:pt x="1847570" y="83413"/>
                  </a:lnTo>
                  <a:lnTo>
                    <a:pt x="1799907" y="77508"/>
                  </a:lnTo>
                  <a:lnTo>
                    <a:pt x="1750771" y="73025"/>
                  </a:lnTo>
                  <a:lnTo>
                    <a:pt x="1700517" y="69977"/>
                  </a:lnTo>
                  <a:lnTo>
                    <a:pt x="1649488" y="68389"/>
                  </a:lnTo>
                  <a:lnTo>
                    <a:pt x="1598028" y="68275"/>
                  </a:lnTo>
                  <a:lnTo>
                    <a:pt x="1546479" y="69634"/>
                  </a:lnTo>
                  <a:lnTo>
                    <a:pt x="1474304" y="74155"/>
                  </a:lnTo>
                  <a:lnTo>
                    <a:pt x="1406398" y="81394"/>
                  </a:lnTo>
                  <a:lnTo>
                    <a:pt x="1343291" y="91135"/>
                  </a:lnTo>
                  <a:lnTo>
                    <a:pt x="1285544" y="103149"/>
                  </a:lnTo>
                  <a:lnTo>
                    <a:pt x="1233703" y="117233"/>
                  </a:lnTo>
                  <a:lnTo>
                    <a:pt x="1188313" y="133159"/>
                  </a:lnTo>
                  <a:lnTo>
                    <a:pt x="1149946" y="150698"/>
                  </a:lnTo>
                  <a:lnTo>
                    <a:pt x="1096467" y="189776"/>
                  </a:lnTo>
                  <a:lnTo>
                    <a:pt x="1077671" y="232702"/>
                  </a:lnTo>
                  <a:lnTo>
                    <a:pt x="1082675" y="255054"/>
                  </a:lnTo>
                  <a:lnTo>
                    <a:pt x="1079881" y="257467"/>
                  </a:lnTo>
                  <a:lnTo>
                    <a:pt x="1015276" y="261404"/>
                  </a:lnTo>
                  <a:lnTo>
                    <a:pt x="955014" y="268871"/>
                  </a:lnTo>
                  <a:lnTo>
                    <a:pt x="900557" y="279577"/>
                  </a:lnTo>
                  <a:lnTo>
                    <a:pt x="853338" y="293243"/>
                  </a:lnTo>
                  <a:lnTo>
                    <a:pt x="814832" y="309537"/>
                  </a:lnTo>
                  <a:lnTo>
                    <a:pt x="782383" y="332054"/>
                  </a:lnTo>
                  <a:lnTo>
                    <a:pt x="767918" y="355460"/>
                  </a:lnTo>
                  <a:lnTo>
                    <a:pt x="770712" y="378891"/>
                  </a:lnTo>
                  <a:lnTo>
                    <a:pt x="790003" y="401472"/>
                  </a:lnTo>
                  <a:lnTo>
                    <a:pt x="825055" y="422325"/>
                  </a:lnTo>
                  <a:lnTo>
                    <a:pt x="875106" y="440575"/>
                  </a:lnTo>
                  <a:lnTo>
                    <a:pt x="939419" y="455333"/>
                  </a:lnTo>
                  <a:lnTo>
                    <a:pt x="893660" y="473887"/>
                  </a:lnTo>
                  <a:lnTo>
                    <a:pt x="862520" y="494703"/>
                  </a:lnTo>
                  <a:lnTo>
                    <a:pt x="846797" y="517055"/>
                  </a:lnTo>
                  <a:lnTo>
                    <a:pt x="847344" y="540169"/>
                  </a:lnTo>
                  <a:lnTo>
                    <a:pt x="883335" y="576160"/>
                  </a:lnTo>
                  <a:lnTo>
                    <a:pt x="955370" y="605142"/>
                  </a:lnTo>
                  <a:lnTo>
                    <a:pt x="1002144" y="616343"/>
                  </a:lnTo>
                  <a:lnTo>
                    <a:pt x="1054658" y="625017"/>
                  </a:lnTo>
                  <a:lnTo>
                    <a:pt x="1111796" y="630872"/>
                  </a:lnTo>
                  <a:lnTo>
                    <a:pt x="1172464" y="633666"/>
                  </a:lnTo>
                  <a:lnTo>
                    <a:pt x="1235583" y="633133"/>
                  </a:lnTo>
                  <a:lnTo>
                    <a:pt x="1242060" y="636562"/>
                  </a:lnTo>
                  <a:lnTo>
                    <a:pt x="1312278" y="665581"/>
                  </a:lnTo>
                  <a:lnTo>
                    <a:pt x="1352854" y="678129"/>
                  </a:lnTo>
                  <a:lnTo>
                    <a:pt x="1396606" y="689356"/>
                  </a:lnTo>
                  <a:lnTo>
                    <a:pt x="1443164" y="699198"/>
                  </a:lnTo>
                  <a:lnTo>
                    <a:pt x="1492199" y="707669"/>
                  </a:lnTo>
                  <a:lnTo>
                    <a:pt x="1543329" y="714717"/>
                  </a:lnTo>
                  <a:lnTo>
                    <a:pt x="1596199" y="720318"/>
                  </a:lnTo>
                  <a:lnTo>
                    <a:pt x="1650466" y="724446"/>
                  </a:lnTo>
                  <a:lnTo>
                    <a:pt x="1705762" y="727075"/>
                  </a:lnTo>
                  <a:lnTo>
                    <a:pt x="1761744" y="728167"/>
                  </a:lnTo>
                  <a:lnTo>
                    <a:pt x="1818043" y="727722"/>
                  </a:lnTo>
                  <a:lnTo>
                    <a:pt x="1874316" y="725690"/>
                  </a:lnTo>
                  <a:lnTo>
                    <a:pt x="1930196" y="722045"/>
                  </a:lnTo>
                  <a:lnTo>
                    <a:pt x="1985327" y="716775"/>
                  </a:lnTo>
                  <a:lnTo>
                    <a:pt x="2039366" y="709841"/>
                  </a:lnTo>
                  <a:lnTo>
                    <a:pt x="2091944" y="701205"/>
                  </a:lnTo>
                  <a:lnTo>
                    <a:pt x="2129548" y="716368"/>
                  </a:lnTo>
                  <a:lnTo>
                    <a:pt x="2172309" y="730021"/>
                  </a:lnTo>
                  <a:lnTo>
                    <a:pt x="2219769" y="742061"/>
                  </a:lnTo>
                  <a:lnTo>
                    <a:pt x="2271407" y="752373"/>
                  </a:lnTo>
                  <a:lnTo>
                    <a:pt x="2326741" y="760844"/>
                  </a:lnTo>
                  <a:lnTo>
                    <a:pt x="2385314" y="767372"/>
                  </a:lnTo>
                  <a:lnTo>
                    <a:pt x="2446807" y="771918"/>
                  </a:lnTo>
                  <a:lnTo>
                    <a:pt x="2508300" y="774217"/>
                  </a:lnTo>
                  <a:lnTo>
                    <a:pt x="2569273" y="774357"/>
                  </a:lnTo>
                  <a:lnTo>
                    <a:pt x="2629217" y="772414"/>
                  </a:lnTo>
                  <a:lnTo>
                    <a:pt x="2687624" y="768489"/>
                  </a:lnTo>
                  <a:lnTo>
                    <a:pt x="2744000" y="762660"/>
                  </a:lnTo>
                  <a:lnTo>
                    <a:pt x="2797822" y="754989"/>
                  </a:lnTo>
                  <a:lnTo>
                    <a:pt x="2848584" y="745591"/>
                  </a:lnTo>
                  <a:lnTo>
                    <a:pt x="2895803" y="734529"/>
                  </a:lnTo>
                  <a:lnTo>
                    <a:pt x="2938945" y="721893"/>
                  </a:lnTo>
                  <a:lnTo>
                    <a:pt x="2977502" y="707771"/>
                  </a:lnTo>
                  <a:lnTo>
                    <a:pt x="3038894" y="675373"/>
                  </a:lnTo>
                  <a:lnTo>
                    <a:pt x="3060700" y="657263"/>
                  </a:lnTo>
                  <a:lnTo>
                    <a:pt x="3105531" y="664743"/>
                  </a:lnTo>
                  <a:lnTo>
                    <a:pt x="3152597" y="670674"/>
                  </a:lnTo>
                  <a:lnTo>
                    <a:pt x="3201441" y="674992"/>
                  </a:lnTo>
                  <a:lnTo>
                    <a:pt x="3251631" y="677659"/>
                  </a:lnTo>
                  <a:lnTo>
                    <a:pt x="3302762" y="678599"/>
                  </a:lnTo>
                  <a:lnTo>
                    <a:pt x="3371367" y="677252"/>
                  </a:lnTo>
                  <a:lnTo>
                    <a:pt x="3436937" y="672973"/>
                  </a:lnTo>
                  <a:lnTo>
                    <a:pt x="3498735" y="665988"/>
                  </a:lnTo>
                  <a:lnTo>
                    <a:pt x="3556025" y="656513"/>
                  </a:lnTo>
                  <a:lnTo>
                    <a:pt x="3608108" y="644779"/>
                  </a:lnTo>
                  <a:lnTo>
                    <a:pt x="3654247" y="630986"/>
                  </a:lnTo>
                  <a:lnTo>
                    <a:pt x="3693731" y="615353"/>
                  </a:lnTo>
                  <a:lnTo>
                    <a:pt x="3749789" y="579437"/>
                  </a:lnTo>
                  <a:lnTo>
                    <a:pt x="3770503" y="538772"/>
                  </a:lnTo>
                  <a:lnTo>
                    <a:pt x="3825316" y="535495"/>
                  </a:lnTo>
                  <a:lnTo>
                    <a:pt x="3878567" y="530555"/>
                  </a:lnTo>
                  <a:lnTo>
                    <a:pt x="3929811" y="524002"/>
                  </a:lnTo>
                  <a:lnTo>
                    <a:pt x="3978643" y="515886"/>
                  </a:lnTo>
                  <a:lnTo>
                    <a:pt x="4024630" y="506260"/>
                  </a:lnTo>
                  <a:lnTo>
                    <a:pt x="4084751" y="489966"/>
                  </a:lnTo>
                  <a:lnTo>
                    <a:pt x="4135120" y="471627"/>
                  </a:lnTo>
                  <a:lnTo>
                    <a:pt x="4175595" y="451624"/>
                  </a:lnTo>
                  <a:lnTo>
                    <a:pt x="4226242" y="408051"/>
                  </a:lnTo>
                  <a:lnTo>
                    <a:pt x="4236097" y="385203"/>
                  </a:lnTo>
                  <a:close/>
                </a:path>
              </a:pathLst>
            </a:custGeom>
            <a:solidFill>
              <a:srgbClr val="5B9BD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7237" y="4828794"/>
              <a:ext cx="85978" cy="8610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36614" y="4753610"/>
              <a:ext cx="129032" cy="12903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663943" y="4394961"/>
            <a:ext cx="19945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6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quoi</a:t>
            </a:r>
            <a:r>
              <a:rPr sz="16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doit-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6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faire?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09565" y="5206543"/>
            <a:ext cx="4608195" cy="1021715"/>
            <a:chOff x="4909565" y="5206543"/>
            <a:chExt cx="4608195" cy="1021715"/>
          </a:xfrm>
        </p:grpSpPr>
        <p:sp>
          <p:nvSpPr>
            <p:cNvPr id="24" name="object 24"/>
            <p:cNvSpPr/>
            <p:nvPr/>
          </p:nvSpPr>
          <p:spPr>
            <a:xfrm>
              <a:off x="4909566" y="5206555"/>
              <a:ext cx="4608195" cy="1021715"/>
            </a:xfrm>
            <a:custGeom>
              <a:avLst/>
              <a:gdLst/>
              <a:ahLst/>
              <a:cxnLst/>
              <a:rect l="l" t="t" r="r" b="b"/>
              <a:pathLst>
                <a:path w="4608195" h="1021714">
                  <a:moveTo>
                    <a:pt x="56769" y="29527"/>
                  </a:moveTo>
                  <a:lnTo>
                    <a:pt x="54533" y="18516"/>
                  </a:lnTo>
                  <a:lnTo>
                    <a:pt x="48450" y="9512"/>
                  </a:lnTo>
                  <a:lnTo>
                    <a:pt x="39408" y="3441"/>
                  </a:lnTo>
                  <a:lnTo>
                    <a:pt x="28321" y="1206"/>
                  </a:lnTo>
                  <a:lnTo>
                    <a:pt x="17297" y="3441"/>
                  </a:lnTo>
                  <a:lnTo>
                    <a:pt x="8293" y="9512"/>
                  </a:lnTo>
                  <a:lnTo>
                    <a:pt x="2222" y="18516"/>
                  </a:lnTo>
                  <a:lnTo>
                    <a:pt x="0" y="29527"/>
                  </a:lnTo>
                  <a:lnTo>
                    <a:pt x="2222" y="40551"/>
                  </a:lnTo>
                  <a:lnTo>
                    <a:pt x="8293" y="49555"/>
                  </a:lnTo>
                  <a:lnTo>
                    <a:pt x="17297" y="55626"/>
                  </a:lnTo>
                  <a:lnTo>
                    <a:pt x="28321" y="57848"/>
                  </a:lnTo>
                  <a:lnTo>
                    <a:pt x="39408" y="55626"/>
                  </a:lnTo>
                  <a:lnTo>
                    <a:pt x="48450" y="49555"/>
                  </a:lnTo>
                  <a:lnTo>
                    <a:pt x="54533" y="40551"/>
                  </a:lnTo>
                  <a:lnTo>
                    <a:pt x="56769" y="29527"/>
                  </a:lnTo>
                  <a:close/>
                </a:path>
                <a:path w="4608195" h="1021714">
                  <a:moveTo>
                    <a:pt x="4607611" y="484314"/>
                  </a:moveTo>
                  <a:lnTo>
                    <a:pt x="4581906" y="433184"/>
                  </a:lnTo>
                  <a:lnTo>
                    <a:pt x="4518533" y="384479"/>
                  </a:lnTo>
                  <a:lnTo>
                    <a:pt x="4472432" y="361759"/>
                  </a:lnTo>
                  <a:lnTo>
                    <a:pt x="4479264" y="356209"/>
                  </a:lnTo>
                  <a:lnTo>
                    <a:pt x="4510722" y="314172"/>
                  </a:lnTo>
                  <a:lnTo>
                    <a:pt x="4514189" y="289356"/>
                  </a:lnTo>
                  <a:lnTo>
                    <a:pt x="4506988" y="265061"/>
                  </a:lnTo>
                  <a:lnTo>
                    <a:pt x="4462894" y="219290"/>
                  </a:lnTo>
                  <a:lnTo>
                    <a:pt x="4427118" y="198488"/>
                  </a:lnTo>
                  <a:lnTo>
                    <a:pt x="4382922" y="179489"/>
                  </a:lnTo>
                  <a:lnTo>
                    <a:pt x="4330890" y="162636"/>
                  </a:lnTo>
                  <a:lnTo>
                    <a:pt x="4271569" y="148259"/>
                  </a:lnTo>
                  <a:lnTo>
                    <a:pt x="4205528" y="136677"/>
                  </a:lnTo>
                  <a:lnTo>
                    <a:pt x="4133342" y="128206"/>
                  </a:lnTo>
                  <a:lnTo>
                    <a:pt x="4112107" y="102171"/>
                  </a:lnTo>
                  <a:lnTo>
                    <a:pt x="4077970" y="77939"/>
                  </a:lnTo>
                  <a:lnTo>
                    <a:pt x="4031818" y="56007"/>
                  </a:lnTo>
                  <a:lnTo>
                    <a:pt x="3974592" y="36893"/>
                  </a:lnTo>
                  <a:lnTo>
                    <a:pt x="3927183" y="25196"/>
                  </a:lnTo>
                  <a:lnTo>
                    <a:pt x="3876903" y="15735"/>
                  </a:lnTo>
                  <a:lnTo>
                    <a:pt x="3824363" y="8496"/>
                  </a:lnTo>
                  <a:lnTo>
                    <a:pt x="3770185" y="3479"/>
                  </a:lnTo>
                  <a:lnTo>
                    <a:pt x="3714991" y="660"/>
                  </a:lnTo>
                  <a:lnTo>
                    <a:pt x="3659403" y="12"/>
                  </a:lnTo>
                  <a:lnTo>
                    <a:pt x="3604044" y="1524"/>
                  </a:lnTo>
                  <a:lnTo>
                    <a:pt x="3549523" y="5181"/>
                  </a:lnTo>
                  <a:lnTo>
                    <a:pt x="3496475" y="10972"/>
                  </a:lnTo>
                  <a:lnTo>
                    <a:pt x="3445510" y="18872"/>
                  </a:lnTo>
                  <a:lnTo>
                    <a:pt x="3397262" y="28867"/>
                  </a:lnTo>
                  <a:lnTo>
                    <a:pt x="3352355" y="40932"/>
                  </a:lnTo>
                  <a:lnTo>
                    <a:pt x="3311398" y="55054"/>
                  </a:lnTo>
                  <a:lnTo>
                    <a:pt x="3279927" y="42837"/>
                  </a:lnTo>
                  <a:lnTo>
                    <a:pt x="3205848" y="22491"/>
                  </a:lnTo>
                  <a:lnTo>
                    <a:pt x="3163951" y="14554"/>
                  </a:lnTo>
                  <a:lnTo>
                    <a:pt x="3110865" y="7175"/>
                  </a:lnTo>
                  <a:lnTo>
                    <a:pt x="3056585" y="2349"/>
                  </a:lnTo>
                  <a:lnTo>
                    <a:pt x="3001797" y="0"/>
                  </a:lnTo>
                  <a:lnTo>
                    <a:pt x="2947162" y="38"/>
                  </a:lnTo>
                  <a:lnTo>
                    <a:pt x="2893352" y="2387"/>
                  </a:lnTo>
                  <a:lnTo>
                    <a:pt x="2841066" y="6985"/>
                  </a:lnTo>
                  <a:lnTo>
                    <a:pt x="2790952" y="13766"/>
                  </a:lnTo>
                  <a:lnTo>
                    <a:pt x="2743695" y="22631"/>
                  </a:lnTo>
                  <a:lnTo>
                    <a:pt x="2699982" y="33515"/>
                  </a:lnTo>
                  <a:lnTo>
                    <a:pt x="2660459" y="46342"/>
                  </a:lnTo>
                  <a:lnTo>
                    <a:pt x="2596769" y="77533"/>
                  </a:lnTo>
                  <a:lnTo>
                    <a:pt x="2569210" y="69113"/>
                  </a:lnTo>
                  <a:lnTo>
                    <a:pt x="2509088" y="54406"/>
                  </a:lnTo>
                  <a:lnTo>
                    <a:pt x="2421915" y="39839"/>
                  </a:lnTo>
                  <a:lnTo>
                    <a:pt x="2365730" y="33743"/>
                  </a:lnTo>
                  <a:lnTo>
                    <a:pt x="2308745" y="29883"/>
                  </a:lnTo>
                  <a:lnTo>
                    <a:pt x="2251468" y="28206"/>
                  </a:lnTo>
                  <a:lnTo>
                    <a:pt x="2194433" y="28638"/>
                  </a:lnTo>
                  <a:lnTo>
                    <a:pt x="2138146" y="31140"/>
                  </a:lnTo>
                  <a:lnTo>
                    <a:pt x="2083142" y="35661"/>
                  </a:lnTo>
                  <a:lnTo>
                    <a:pt x="2029955" y="42151"/>
                  </a:lnTo>
                  <a:lnTo>
                    <a:pt x="1979091" y="50546"/>
                  </a:lnTo>
                  <a:lnTo>
                    <a:pt x="1931085" y="60794"/>
                  </a:lnTo>
                  <a:lnTo>
                    <a:pt x="1886458" y="72847"/>
                  </a:lnTo>
                  <a:lnTo>
                    <a:pt x="1845741" y="86652"/>
                  </a:lnTo>
                  <a:lnTo>
                    <a:pt x="1809457" y="102171"/>
                  </a:lnTo>
                  <a:lnTo>
                    <a:pt x="1778127" y="119316"/>
                  </a:lnTo>
                  <a:lnTo>
                    <a:pt x="1729790" y="110820"/>
                  </a:lnTo>
                  <a:lnTo>
                    <a:pt x="1679765" y="103720"/>
                  </a:lnTo>
                  <a:lnTo>
                    <a:pt x="1628305" y="98044"/>
                  </a:lnTo>
                  <a:lnTo>
                    <a:pt x="1575701" y="93802"/>
                  </a:lnTo>
                  <a:lnTo>
                    <a:pt x="1522222" y="90995"/>
                  </a:lnTo>
                  <a:lnTo>
                    <a:pt x="1468132" y="89674"/>
                  </a:lnTo>
                  <a:lnTo>
                    <a:pt x="1413725" y="89839"/>
                  </a:lnTo>
                  <a:lnTo>
                    <a:pt x="1359281" y="91503"/>
                  </a:lnTo>
                  <a:lnTo>
                    <a:pt x="1289164" y="95961"/>
                  </a:lnTo>
                  <a:lnTo>
                    <a:pt x="1222248" y="102743"/>
                  </a:lnTo>
                  <a:lnTo>
                    <a:pt x="1158875" y="111721"/>
                  </a:lnTo>
                  <a:lnTo>
                    <a:pt x="1099375" y="122732"/>
                  </a:lnTo>
                  <a:lnTo>
                    <a:pt x="1044117" y="135648"/>
                  </a:lnTo>
                  <a:lnTo>
                    <a:pt x="993419" y="150291"/>
                  </a:lnTo>
                  <a:lnTo>
                    <a:pt x="947635" y="166547"/>
                  </a:lnTo>
                  <a:lnTo>
                    <a:pt x="907110" y="184238"/>
                  </a:lnTo>
                  <a:lnTo>
                    <a:pt x="872172" y="203225"/>
                  </a:lnTo>
                  <a:lnTo>
                    <a:pt x="820458" y="244487"/>
                  </a:lnTo>
                  <a:lnTo>
                    <a:pt x="795223" y="289140"/>
                  </a:lnTo>
                  <a:lnTo>
                    <a:pt x="793394" y="312356"/>
                  </a:lnTo>
                  <a:lnTo>
                    <a:pt x="799211" y="335978"/>
                  </a:lnTo>
                  <a:lnTo>
                    <a:pt x="795655" y="339153"/>
                  </a:lnTo>
                  <a:lnTo>
                    <a:pt x="739495" y="342430"/>
                  </a:lnTo>
                  <a:lnTo>
                    <a:pt x="685749" y="348107"/>
                  </a:lnTo>
                  <a:lnTo>
                    <a:pt x="635050" y="356069"/>
                  </a:lnTo>
                  <a:lnTo>
                    <a:pt x="588060" y="366166"/>
                  </a:lnTo>
                  <a:lnTo>
                    <a:pt x="545388" y="378282"/>
                  </a:lnTo>
                  <a:lnTo>
                    <a:pt x="507695" y="392264"/>
                  </a:lnTo>
                  <a:lnTo>
                    <a:pt x="443230" y="430923"/>
                  </a:lnTo>
                  <a:lnTo>
                    <a:pt x="417855" y="478878"/>
                  </a:lnTo>
                  <a:lnTo>
                    <a:pt x="424002" y="502805"/>
                  </a:lnTo>
                  <a:lnTo>
                    <a:pt x="471855" y="547852"/>
                  </a:lnTo>
                  <a:lnTo>
                    <a:pt x="512699" y="567880"/>
                  </a:lnTo>
                  <a:lnTo>
                    <a:pt x="564261" y="585533"/>
                  </a:lnTo>
                  <a:lnTo>
                    <a:pt x="626110" y="600240"/>
                  </a:lnTo>
                  <a:lnTo>
                    <a:pt x="570865" y="624662"/>
                  </a:lnTo>
                  <a:lnTo>
                    <a:pt x="533247" y="652132"/>
                  </a:lnTo>
                  <a:lnTo>
                    <a:pt x="514286" y="681634"/>
                  </a:lnTo>
                  <a:lnTo>
                    <a:pt x="514985" y="712139"/>
                  </a:lnTo>
                  <a:lnTo>
                    <a:pt x="551929" y="755218"/>
                  </a:lnTo>
                  <a:lnTo>
                    <a:pt x="625005" y="791044"/>
                  </a:lnTo>
                  <a:lnTo>
                    <a:pt x="672680" y="805599"/>
                  </a:lnTo>
                  <a:lnTo>
                    <a:pt x="726490" y="817587"/>
                  </a:lnTo>
                  <a:lnTo>
                    <a:pt x="785469" y="826744"/>
                  </a:lnTo>
                  <a:lnTo>
                    <a:pt x="848639" y="832840"/>
                  </a:lnTo>
                  <a:lnTo>
                    <a:pt x="915047" y="835596"/>
                  </a:lnTo>
                  <a:lnTo>
                    <a:pt x="983742" y="834758"/>
                  </a:lnTo>
                  <a:lnTo>
                    <a:pt x="986282" y="836256"/>
                  </a:lnTo>
                  <a:lnTo>
                    <a:pt x="1023658" y="855548"/>
                  </a:lnTo>
                  <a:lnTo>
                    <a:pt x="1058837" y="870750"/>
                  </a:lnTo>
                  <a:lnTo>
                    <a:pt x="1096899" y="884834"/>
                  </a:lnTo>
                  <a:lnTo>
                    <a:pt x="1137653" y="897763"/>
                  </a:lnTo>
                  <a:lnTo>
                    <a:pt x="1180833" y="909535"/>
                  </a:lnTo>
                  <a:lnTo>
                    <a:pt x="1226235" y="920127"/>
                  </a:lnTo>
                  <a:lnTo>
                    <a:pt x="1273632" y="929513"/>
                  </a:lnTo>
                  <a:lnTo>
                    <a:pt x="1322781" y="937691"/>
                  </a:lnTo>
                  <a:lnTo>
                    <a:pt x="1373454" y="944626"/>
                  </a:lnTo>
                  <a:lnTo>
                    <a:pt x="1425435" y="950302"/>
                  </a:lnTo>
                  <a:lnTo>
                    <a:pt x="1478483" y="954709"/>
                  </a:lnTo>
                  <a:lnTo>
                    <a:pt x="1532382" y="957821"/>
                  </a:lnTo>
                  <a:lnTo>
                    <a:pt x="1586903" y="959612"/>
                  </a:lnTo>
                  <a:lnTo>
                    <a:pt x="1641817" y="960081"/>
                  </a:lnTo>
                  <a:lnTo>
                    <a:pt x="1696885" y="959192"/>
                  </a:lnTo>
                  <a:lnTo>
                    <a:pt x="1751876" y="956932"/>
                  </a:lnTo>
                  <a:lnTo>
                    <a:pt x="1806587" y="953287"/>
                  </a:lnTo>
                  <a:lnTo>
                    <a:pt x="1860765" y="948232"/>
                  </a:lnTo>
                  <a:lnTo>
                    <a:pt x="1914194" y="941755"/>
                  </a:lnTo>
                  <a:lnTo>
                    <a:pt x="1966658" y="933831"/>
                  </a:lnTo>
                  <a:lnTo>
                    <a:pt x="2017903" y="924433"/>
                  </a:lnTo>
                  <a:lnTo>
                    <a:pt x="2056384" y="941705"/>
                  </a:lnTo>
                  <a:lnTo>
                    <a:pt x="2099538" y="957541"/>
                  </a:lnTo>
                  <a:lnTo>
                    <a:pt x="2146973" y="971842"/>
                  </a:lnTo>
                  <a:lnTo>
                    <a:pt x="2198332" y="984516"/>
                  </a:lnTo>
                  <a:lnTo>
                    <a:pt x="2253221" y="995464"/>
                  </a:lnTo>
                  <a:lnTo>
                    <a:pt x="2311260" y="1004608"/>
                  </a:lnTo>
                  <a:lnTo>
                    <a:pt x="2372106" y="1011847"/>
                  </a:lnTo>
                  <a:lnTo>
                    <a:pt x="2433256" y="1016977"/>
                  </a:lnTo>
                  <a:lnTo>
                    <a:pt x="2494470" y="1020089"/>
                  </a:lnTo>
                  <a:lnTo>
                    <a:pt x="2555405" y="1021245"/>
                  </a:lnTo>
                  <a:lnTo>
                    <a:pt x="2615717" y="1020508"/>
                  </a:lnTo>
                  <a:lnTo>
                    <a:pt x="2675077" y="1017943"/>
                  </a:lnTo>
                  <a:lnTo>
                    <a:pt x="2733116" y="1013612"/>
                  </a:lnTo>
                  <a:lnTo>
                    <a:pt x="2789517" y="1007567"/>
                  </a:lnTo>
                  <a:lnTo>
                    <a:pt x="2843936" y="999871"/>
                  </a:lnTo>
                  <a:lnTo>
                    <a:pt x="2896019" y="990600"/>
                  </a:lnTo>
                  <a:lnTo>
                    <a:pt x="2945422" y="979792"/>
                  </a:lnTo>
                  <a:lnTo>
                    <a:pt x="2991815" y="967511"/>
                  </a:lnTo>
                  <a:lnTo>
                    <a:pt x="3034855" y="953833"/>
                  </a:lnTo>
                  <a:lnTo>
                    <a:pt x="3074187" y="938822"/>
                  </a:lnTo>
                  <a:lnTo>
                    <a:pt x="3109480" y="922515"/>
                  </a:lnTo>
                  <a:lnTo>
                    <a:pt x="3166580" y="886294"/>
                  </a:lnTo>
                  <a:lnTo>
                    <a:pt x="3187700" y="866508"/>
                  </a:lnTo>
                  <a:lnTo>
                    <a:pt x="3232632" y="874890"/>
                  </a:lnTo>
                  <a:lnTo>
                    <a:pt x="3279483" y="881837"/>
                  </a:lnTo>
                  <a:lnTo>
                    <a:pt x="3327946" y="887323"/>
                  </a:lnTo>
                  <a:lnTo>
                    <a:pt x="3377717" y="891324"/>
                  </a:lnTo>
                  <a:lnTo>
                    <a:pt x="3428479" y="893800"/>
                  </a:lnTo>
                  <a:lnTo>
                    <a:pt x="3479927" y="894715"/>
                  </a:lnTo>
                  <a:lnTo>
                    <a:pt x="3550247" y="893457"/>
                  </a:lnTo>
                  <a:lnTo>
                    <a:pt x="3618052" y="889406"/>
                  </a:lnTo>
                  <a:lnTo>
                    <a:pt x="3682771" y="882738"/>
                  </a:lnTo>
                  <a:lnTo>
                    <a:pt x="3743909" y="873633"/>
                  </a:lnTo>
                  <a:lnTo>
                    <a:pt x="3800919" y="862253"/>
                  </a:lnTo>
                  <a:lnTo>
                    <a:pt x="3853269" y="848779"/>
                  </a:lnTo>
                  <a:lnTo>
                    <a:pt x="3900424" y="833374"/>
                  </a:lnTo>
                  <a:lnTo>
                    <a:pt x="3941876" y="816229"/>
                  </a:lnTo>
                  <a:lnTo>
                    <a:pt x="3977068" y="797496"/>
                  </a:lnTo>
                  <a:lnTo>
                    <a:pt x="4026624" y="756005"/>
                  </a:lnTo>
                  <a:lnTo>
                    <a:pt x="4044823" y="710260"/>
                  </a:lnTo>
                  <a:lnTo>
                    <a:pt x="4100144" y="706831"/>
                  </a:lnTo>
                  <a:lnTo>
                    <a:pt x="4154170" y="701865"/>
                  </a:lnTo>
                  <a:lnTo>
                    <a:pt x="4206633" y="695388"/>
                  </a:lnTo>
                  <a:lnTo>
                    <a:pt x="4257230" y="687451"/>
                  </a:lnTo>
                  <a:lnTo>
                    <a:pt x="4305706" y="678103"/>
                  </a:lnTo>
                  <a:lnTo>
                    <a:pt x="4351782" y="667359"/>
                  </a:lnTo>
                  <a:lnTo>
                    <a:pt x="4413936" y="649363"/>
                  </a:lnTo>
                  <a:lnTo>
                    <a:pt x="4467707" y="629399"/>
                  </a:lnTo>
                  <a:lnTo>
                    <a:pt x="4512957" y="607758"/>
                  </a:lnTo>
                  <a:lnTo>
                    <a:pt x="4549597" y="584720"/>
                  </a:lnTo>
                  <a:lnTo>
                    <a:pt x="4596523" y="535584"/>
                  </a:lnTo>
                  <a:lnTo>
                    <a:pt x="4606607" y="510070"/>
                  </a:lnTo>
                  <a:lnTo>
                    <a:pt x="4607611" y="484314"/>
                  </a:lnTo>
                  <a:close/>
                </a:path>
              </a:pathLst>
            </a:custGeom>
            <a:solidFill>
              <a:srgbClr val="5B9BD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3118" y="5229605"/>
              <a:ext cx="113410" cy="11353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32297" y="5262244"/>
              <a:ext cx="170179" cy="17018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141465" y="5419750"/>
            <a:ext cx="2263775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quoi</a:t>
            </a:r>
            <a:r>
              <a:rPr sz="16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doit</a:t>
            </a:r>
            <a:r>
              <a:rPr sz="16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6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composé</a:t>
            </a:r>
            <a:endParaRPr sz="16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mon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 programme</a:t>
            </a:r>
            <a:r>
              <a:rPr sz="16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555555"/>
                </a:solidFill>
                <a:latin typeface="Calibri"/>
                <a:cs typeface="Calibri"/>
              </a:rPr>
              <a:t>?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63572" y="6174587"/>
            <a:ext cx="264795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Programmation</a:t>
            </a:r>
            <a:r>
              <a:rPr sz="1600" b="1" spc="-8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Orientée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01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Introduire</a:t>
            </a:r>
            <a:r>
              <a:rPr spc="-4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spc="-25" dirty="0">
                <a:solidFill>
                  <a:srgbClr val="007842"/>
                </a:solidFill>
              </a:rPr>
              <a:t>POO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Introduction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à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la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programmation</a:t>
            </a:r>
            <a:r>
              <a:rPr sz="1600" spc="-7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Orientée</a:t>
            </a:r>
            <a:r>
              <a:rPr sz="1600" spc="-5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Objet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69007" y="1581912"/>
            <a:ext cx="7862858" cy="4373880"/>
            <a:chOff x="1969007" y="1581912"/>
            <a:chExt cx="7862858" cy="43738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9007" y="1581912"/>
              <a:ext cx="2535936" cy="14935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9007" y="4297680"/>
              <a:ext cx="2535936" cy="165811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30400" y="1690925"/>
              <a:ext cx="4101465" cy="1530350"/>
            </a:xfrm>
            <a:custGeom>
              <a:avLst/>
              <a:gdLst/>
              <a:ahLst/>
              <a:cxnLst/>
              <a:rect l="l" t="t" r="r" b="b"/>
              <a:pathLst>
                <a:path w="4101465" h="1530350">
                  <a:moveTo>
                    <a:pt x="3195826" y="0"/>
                  </a:moveTo>
                  <a:lnTo>
                    <a:pt x="3145328" y="714"/>
                  </a:lnTo>
                  <a:lnTo>
                    <a:pt x="3095282" y="4211"/>
                  </a:lnTo>
                  <a:lnTo>
                    <a:pt x="3046177" y="10472"/>
                  </a:lnTo>
                  <a:lnTo>
                    <a:pt x="2998499" y="19475"/>
                  </a:lnTo>
                  <a:lnTo>
                    <a:pt x="2952737" y="31200"/>
                  </a:lnTo>
                  <a:lnTo>
                    <a:pt x="2909376" y="45627"/>
                  </a:lnTo>
                  <a:lnTo>
                    <a:pt x="2868906" y="62734"/>
                  </a:lnTo>
                  <a:lnTo>
                    <a:pt x="2831812" y="82502"/>
                  </a:lnTo>
                  <a:lnTo>
                    <a:pt x="2801035" y="64212"/>
                  </a:lnTo>
                  <a:lnTo>
                    <a:pt x="2766471" y="47910"/>
                  </a:lnTo>
                  <a:lnTo>
                    <a:pt x="2728478" y="33728"/>
                  </a:lnTo>
                  <a:lnTo>
                    <a:pt x="2687413" y="21796"/>
                  </a:lnTo>
                  <a:lnTo>
                    <a:pt x="2635488" y="10755"/>
                  </a:lnTo>
                  <a:lnTo>
                    <a:pt x="2582388" y="3527"/>
                  </a:lnTo>
                  <a:lnTo>
                    <a:pt x="2528774" y="0"/>
                  </a:lnTo>
                  <a:lnTo>
                    <a:pt x="2475309" y="60"/>
                  </a:lnTo>
                  <a:lnTo>
                    <a:pt x="2422654" y="3595"/>
                  </a:lnTo>
                  <a:lnTo>
                    <a:pt x="2371469" y="10493"/>
                  </a:lnTo>
                  <a:lnTo>
                    <a:pt x="2322417" y="20639"/>
                  </a:lnTo>
                  <a:lnTo>
                    <a:pt x="2276159" y="33922"/>
                  </a:lnTo>
                  <a:lnTo>
                    <a:pt x="2233357" y="50228"/>
                  </a:lnTo>
                  <a:lnTo>
                    <a:pt x="2194671" y="69444"/>
                  </a:lnTo>
                  <a:lnTo>
                    <a:pt x="2160764" y="91458"/>
                  </a:lnTo>
                  <a:lnTo>
                    <a:pt x="2132296" y="116157"/>
                  </a:lnTo>
                  <a:lnTo>
                    <a:pt x="2105315" y="103596"/>
                  </a:lnTo>
                  <a:lnTo>
                    <a:pt x="2046446" y="81617"/>
                  </a:lnTo>
                  <a:lnTo>
                    <a:pt x="1964770" y="60520"/>
                  </a:lnTo>
                  <a:lnTo>
                    <a:pt x="1913547" y="51682"/>
                  </a:lnTo>
                  <a:lnTo>
                    <a:pt x="1861571" y="45762"/>
                  </a:lnTo>
                  <a:lnTo>
                    <a:pt x="1809258" y="42697"/>
                  </a:lnTo>
                  <a:lnTo>
                    <a:pt x="1757025" y="42422"/>
                  </a:lnTo>
                  <a:lnTo>
                    <a:pt x="1705291" y="44871"/>
                  </a:lnTo>
                  <a:lnTo>
                    <a:pt x="1654471" y="49981"/>
                  </a:lnTo>
                  <a:lnTo>
                    <a:pt x="1604984" y="57688"/>
                  </a:lnTo>
                  <a:lnTo>
                    <a:pt x="1557246" y="67925"/>
                  </a:lnTo>
                  <a:lnTo>
                    <a:pt x="1511676" y="80630"/>
                  </a:lnTo>
                  <a:lnTo>
                    <a:pt x="1468689" y="95737"/>
                  </a:lnTo>
                  <a:lnTo>
                    <a:pt x="1428703" y="113181"/>
                  </a:lnTo>
                  <a:lnTo>
                    <a:pt x="1392136" y="132899"/>
                  </a:lnTo>
                  <a:lnTo>
                    <a:pt x="1359405" y="154825"/>
                  </a:lnTo>
                  <a:lnTo>
                    <a:pt x="1330926" y="178895"/>
                  </a:lnTo>
                  <a:lnTo>
                    <a:pt x="1283656" y="166124"/>
                  </a:lnTo>
                  <a:lnTo>
                    <a:pt x="1234706" y="155455"/>
                  </a:lnTo>
                  <a:lnTo>
                    <a:pt x="1184348" y="146918"/>
                  </a:lnTo>
                  <a:lnTo>
                    <a:pt x="1132854" y="140541"/>
                  </a:lnTo>
                  <a:lnTo>
                    <a:pt x="1080497" y="136355"/>
                  </a:lnTo>
                  <a:lnTo>
                    <a:pt x="1027549" y="134389"/>
                  </a:lnTo>
                  <a:lnTo>
                    <a:pt x="974283" y="134674"/>
                  </a:lnTo>
                  <a:lnTo>
                    <a:pt x="920970" y="137239"/>
                  </a:lnTo>
                  <a:lnTo>
                    <a:pt x="856526" y="143373"/>
                  </a:lnTo>
                  <a:lnTo>
                    <a:pt x="794821" y="152602"/>
                  </a:lnTo>
                  <a:lnTo>
                    <a:pt x="736132" y="164743"/>
                  </a:lnTo>
                  <a:lnTo>
                    <a:pt x="680732" y="179611"/>
                  </a:lnTo>
                  <a:lnTo>
                    <a:pt x="628897" y="197022"/>
                  </a:lnTo>
                  <a:lnTo>
                    <a:pt x="580903" y="216791"/>
                  </a:lnTo>
                  <a:lnTo>
                    <a:pt x="537025" y="238734"/>
                  </a:lnTo>
                  <a:lnTo>
                    <a:pt x="497536" y="262667"/>
                  </a:lnTo>
                  <a:lnTo>
                    <a:pt x="462714" y="288405"/>
                  </a:lnTo>
                  <a:lnTo>
                    <a:pt x="432833" y="315764"/>
                  </a:lnTo>
                  <a:lnTo>
                    <a:pt x="388993" y="374608"/>
                  </a:lnTo>
                  <a:lnTo>
                    <a:pt x="368219" y="437723"/>
                  </a:lnTo>
                  <a:lnTo>
                    <a:pt x="367169" y="470421"/>
                  </a:lnTo>
                  <a:lnTo>
                    <a:pt x="372711" y="503634"/>
                  </a:lnTo>
                  <a:lnTo>
                    <a:pt x="369282" y="508333"/>
                  </a:lnTo>
                  <a:lnTo>
                    <a:pt x="314298" y="513166"/>
                  </a:lnTo>
                  <a:lnTo>
                    <a:pt x="261671" y="521646"/>
                  </a:lnTo>
                  <a:lnTo>
                    <a:pt x="212032" y="533566"/>
                  </a:lnTo>
                  <a:lnTo>
                    <a:pt x="166011" y="548715"/>
                  </a:lnTo>
                  <a:lnTo>
                    <a:pt x="124241" y="566886"/>
                  </a:lnTo>
                  <a:lnTo>
                    <a:pt x="87351" y="587870"/>
                  </a:lnTo>
                  <a:lnTo>
                    <a:pt x="55973" y="611457"/>
                  </a:lnTo>
                  <a:lnTo>
                    <a:pt x="26868" y="642314"/>
                  </a:lnTo>
                  <a:lnTo>
                    <a:pt x="0" y="706805"/>
                  </a:lnTo>
                  <a:lnTo>
                    <a:pt x="1632" y="739253"/>
                  </a:lnTo>
                  <a:lnTo>
                    <a:pt x="33516" y="801597"/>
                  </a:lnTo>
                  <a:lnTo>
                    <a:pt x="63163" y="830308"/>
                  </a:lnTo>
                  <a:lnTo>
                    <a:pt x="101543" y="856589"/>
                  </a:lnTo>
                  <a:lnTo>
                    <a:pt x="148354" y="879848"/>
                  </a:lnTo>
                  <a:lnTo>
                    <a:pt x="203293" y="899493"/>
                  </a:lnTo>
                  <a:lnTo>
                    <a:pt x="158679" y="928364"/>
                  </a:lnTo>
                  <a:lnTo>
                    <a:pt x="124994" y="960349"/>
                  </a:lnTo>
                  <a:lnTo>
                    <a:pt x="102746" y="994664"/>
                  </a:lnTo>
                  <a:lnTo>
                    <a:pt x="92440" y="1030520"/>
                  </a:lnTo>
                  <a:lnTo>
                    <a:pt x="94581" y="1067133"/>
                  </a:lnTo>
                  <a:lnTo>
                    <a:pt x="125858" y="1126255"/>
                  </a:lnTo>
                  <a:lnTo>
                    <a:pt x="186939" y="1176590"/>
                  </a:lnTo>
                  <a:lnTo>
                    <a:pt x="226878" y="1197755"/>
                  </a:lnTo>
                  <a:lnTo>
                    <a:pt x="272135" y="1215876"/>
                  </a:lnTo>
                  <a:lnTo>
                    <a:pt x="322000" y="1230668"/>
                  </a:lnTo>
                  <a:lnTo>
                    <a:pt x="375760" y="1241850"/>
                  </a:lnTo>
                  <a:lnTo>
                    <a:pt x="432705" y="1249138"/>
                  </a:lnTo>
                  <a:lnTo>
                    <a:pt x="492124" y="1252249"/>
                  </a:lnTo>
                  <a:lnTo>
                    <a:pt x="553305" y="1250902"/>
                  </a:lnTo>
                  <a:lnTo>
                    <a:pt x="561052" y="1257633"/>
                  </a:lnTo>
                  <a:lnTo>
                    <a:pt x="592413" y="1282069"/>
                  </a:lnTo>
                  <a:lnTo>
                    <a:pt x="626836" y="1304849"/>
                  </a:lnTo>
                  <a:lnTo>
                    <a:pt x="664099" y="1325945"/>
                  </a:lnTo>
                  <a:lnTo>
                    <a:pt x="703977" y="1345328"/>
                  </a:lnTo>
                  <a:lnTo>
                    <a:pt x="746249" y="1362970"/>
                  </a:lnTo>
                  <a:lnTo>
                    <a:pt x="790689" y="1378842"/>
                  </a:lnTo>
                  <a:lnTo>
                    <a:pt x="837075" y="1392916"/>
                  </a:lnTo>
                  <a:lnTo>
                    <a:pt x="885183" y="1405164"/>
                  </a:lnTo>
                  <a:lnTo>
                    <a:pt x="934790" y="1415557"/>
                  </a:lnTo>
                  <a:lnTo>
                    <a:pt x="985672" y="1424067"/>
                  </a:lnTo>
                  <a:lnTo>
                    <a:pt x="1037606" y="1430665"/>
                  </a:lnTo>
                  <a:lnTo>
                    <a:pt x="1090368" y="1435323"/>
                  </a:lnTo>
                  <a:lnTo>
                    <a:pt x="1143734" y="1438013"/>
                  </a:lnTo>
                  <a:lnTo>
                    <a:pt x="1197482" y="1438707"/>
                  </a:lnTo>
                  <a:lnTo>
                    <a:pt x="1251388" y="1437375"/>
                  </a:lnTo>
                  <a:lnTo>
                    <a:pt x="1305228" y="1433990"/>
                  </a:lnTo>
                  <a:lnTo>
                    <a:pt x="1358779" y="1428523"/>
                  </a:lnTo>
                  <a:lnTo>
                    <a:pt x="1411818" y="1420945"/>
                  </a:lnTo>
                  <a:lnTo>
                    <a:pt x="1464120" y="1411229"/>
                  </a:lnTo>
                  <a:lnTo>
                    <a:pt x="1515463" y="1399346"/>
                  </a:lnTo>
                  <a:lnTo>
                    <a:pt x="1565622" y="1385268"/>
                  </a:lnTo>
                  <a:lnTo>
                    <a:pt x="1603343" y="1411169"/>
                  </a:lnTo>
                  <a:lnTo>
                    <a:pt x="1645613" y="1434900"/>
                  </a:lnTo>
                  <a:lnTo>
                    <a:pt x="1692069" y="1456327"/>
                  </a:lnTo>
                  <a:lnTo>
                    <a:pt x="1742346" y="1475317"/>
                  </a:lnTo>
                  <a:lnTo>
                    <a:pt x="1796079" y="1491737"/>
                  </a:lnTo>
                  <a:lnTo>
                    <a:pt x="1852905" y="1505453"/>
                  </a:lnTo>
                  <a:lnTo>
                    <a:pt x="1912459" y="1516332"/>
                  </a:lnTo>
                  <a:lnTo>
                    <a:pt x="1968997" y="1523658"/>
                  </a:lnTo>
                  <a:lnTo>
                    <a:pt x="2025603" y="1528288"/>
                  </a:lnTo>
                  <a:lnTo>
                    <a:pt x="2081996" y="1530299"/>
                  </a:lnTo>
                  <a:lnTo>
                    <a:pt x="2137895" y="1529768"/>
                  </a:lnTo>
                  <a:lnTo>
                    <a:pt x="2193017" y="1526772"/>
                  </a:lnTo>
                  <a:lnTo>
                    <a:pt x="2247081" y="1521388"/>
                  </a:lnTo>
                  <a:lnTo>
                    <a:pt x="2299805" y="1513693"/>
                  </a:lnTo>
                  <a:lnTo>
                    <a:pt x="2350908" y="1503764"/>
                  </a:lnTo>
                  <a:lnTo>
                    <a:pt x="2400108" y="1491678"/>
                  </a:lnTo>
                  <a:lnTo>
                    <a:pt x="2447122" y="1477512"/>
                  </a:lnTo>
                  <a:lnTo>
                    <a:pt x="2491671" y="1461342"/>
                  </a:lnTo>
                  <a:lnTo>
                    <a:pt x="2533471" y="1443246"/>
                  </a:lnTo>
                  <a:lnTo>
                    <a:pt x="2572241" y="1423300"/>
                  </a:lnTo>
                  <a:lnTo>
                    <a:pt x="2607699" y="1401583"/>
                  </a:lnTo>
                  <a:lnTo>
                    <a:pt x="2639564" y="1378169"/>
                  </a:lnTo>
                  <a:lnTo>
                    <a:pt x="2691387" y="1326565"/>
                  </a:lnTo>
                  <a:lnTo>
                    <a:pt x="2710781" y="1298527"/>
                  </a:lnTo>
                  <a:lnTo>
                    <a:pt x="2754757" y="1311061"/>
                  </a:lnTo>
                  <a:lnTo>
                    <a:pt x="2800627" y="1321457"/>
                  </a:lnTo>
                  <a:lnTo>
                    <a:pt x="2848084" y="1329674"/>
                  </a:lnTo>
                  <a:lnTo>
                    <a:pt x="2896822" y="1335667"/>
                  </a:lnTo>
                  <a:lnTo>
                    <a:pt x="2946534" y="1339396"/>
                  </a:lnTo>
                  <a:lnTo>
                    <a:pt x="2996912" y="1340818"/>
                  </a:lnTo>
                  <a:lnTo>
                    <a:pt x="3060902" y="1339186"/>
                  </a:lnTo>
                  <a:lnTo>
                    <a:pt x="3122782" y="1333940"/>
                  </a:lnTo>
                  <a:lnTo>
                    <a:pt x="3182137" y="1325286"/>
                  </a:lnTo>
                  <a:lnTo>
                    <a:pt x="3238554" y="1313431"/>
                  </a:lnTo>
                  <a:lnTo>
                    <a:pt x="3291617" y="1298582"/>
                  </a:lnTo>
                  <a:lnTo>
                    <a:pt x="3340912" y="1280945"/>
                  </a:lnTo>
                  <a:lnTo>
                    <a:pt x="3386024" y="1260728"/>
                  </a:lnTo>
                  <a:lnTo>
                    <a:pt x="3426540" y="1238138"/>
                  </a:lnTo>
                  <a:lnTo>
                    <a:pt x="3462043" y="1213381"/>
                  </a:lnTo>
                  <a:lnTo>
                    <a:pt x="3492120" y="1186665"/>
                  </a:lnTo>
                  <a:lnTo>
                    <a:pt x="3534336" y="1128180"/>
                  </a:lnTo>
                  <a:lnTo>
                    <a:pt x="3549870" y="1064339"/>
                  </a:lnTo>
                  <a:lnTo>
                    <a:pt x="3604001" y="1059217"/>
                  </a:lnTo>
                  <a:lnTo>
                    <a:pt x="3656866" y="1051771"/>
                  </a:lnTo>
                  <a:lnTo>
                    <a:pt x="3708192" y="1042066"/>
                  </a:lnTo>
                  <a:lnTo>
                    <a:pt x="3757708" y="1030171"/>
                  </a:lnTo>
                  <a:lnTo>
                    <a:pt x="3805143" y="1016152"/>
                  </a:lnTo>
                  <a:lnTo>
                    <a:pt x="3850225" y="1000077"/>
                  </a:lnTo>
                  <a:lnTo>
                    <a:pt x="3903452" y="976884"/>
                  </a:lnTo>
                  <a:lnTo>
                    <a:pt x="3950510" y="951434"/>
                  </a:lnTo>
                  <a:lnTo>
                    <a:pt x="3991329" y="924006"/>
                  </a:lnTo>
                  <a:lnTo>
                    <a:pt x="4025837" y="894879"/>
                  </a:lnTo>
                  <a:lnTo>
                    <a:pt x="4053962" y="864333"/>
                  </a:lnTo>
                  <a:lnTo>
                    <a:pt x="4075631" y="832646"/>
                  </a:lnTo>
                  <a:lnTo>
                    <a:pt x="4099318" y="766970"/>
                  </a:lnTo>
                  <a:lnTo>
                    <a:pt x="4101192" y="733538"/>
                  </a:lnTo>
                  <a:lnTo>
                    <a:pt x="4096323" y="700084"/>
                  </a:lnTo>
                  <a:lnTo>
                    <a:pt x="4066073" y="634223"/>
                  </a:lnTo>
                  <a:lnTo>
                    <a:pt x="4040547" y="602376"/>
                  </a:lnTo>
                  <a:lnTo>
                    <a:pt x="4007992" y="571622"/>
                  </a:lnTo>
                  <a:lnTo>
                    <a:pt x="3968335" y="542242"/>
                  </a:lnTo>
                  <a:lnTo>
                    <a:pt x="3975003" y="533907"/>
                  </a:lnTo>
                  <a:lnTo>
                    <a:pt x="4004446" y="476624"/>
                  </a:lnTo>
                  <a:lnTo>
                    <a:pt x="4009398" y="445058"/>
                  </a:lnTo>
                  <a:lnTo>
                    <a:pt x="4006764" y="413933"/>
                  </a:lnTo>
                  <a:lnTo>
                    <a:pt x="3980072" y="354187"/>
                  </a:lnTo>
                  <a:lnTo>
                    <a:pt x="3927034" y="299758"/>
                  </a:lnTo>
                  <a:lnTo>
                    <a:pt x="3891468" y="275279"/>
                  </a:lnTo>
                  <a:lnTo>
                    <a:pt x="3850315" y="253020"/>
                  </a:lnTo>
                  <a:lnTo>
                    <a:pt x="3803907" y="233276"/>
                  </a:lnTo>
                  <a:lnTo>
                    <a:pt x="3752577" y="216344"/>
                  </a:lnTo>
                  <a:lnTo>
                    <a:pt x="3696658" y="202521"/>
                  </a:lnTo>
                  <a:lnTo>
                    <a:pt x="3636484" y="192103"/>
                  </a:lnTo>
                  <a:lnTo>
                    <a:pt x="3615678" y="153158"/>
                  </a:lnTo>
                  <a:lnTo>
                    <a:pt x="3582239" y="116855"/>
                  </a:lnTo>
                  <a:lnTo>
                    <a:pt x="3537061" y="83982"/>
                  </a:lnTo>
                  <a:lnTo>
                    <a:pt x="3481036" y="55324"/>
                  </a:lnTo>
                  <a:lnTo>
                    <a:pt x="3438055" y="38904"/>
                  </a:lnTo>
                  <a:lnTo>
                    <a:pt x="3392602" y="25392"/>
                  </a:lnTo>
                  <a:lnTo>
                    <a:pt x="3345166" y="14766"/>
                  </a:lnTo>
                  <a:lnTo>
                    <a:pt x="3296232" y="7005"/>
                  </a:lnTo>
                  <a:lnTo>
                    <a:pt x="3246290" y="2090"/>
                  </a:lnTo>
                  <a:lnTo>
                    <a:pt x="3195826" y="0"/>
                  </a:lnTo>
                  <a:close/>
                </a:path>
              </a:pathLst>
            </a:custGeom>
            <a:solidFill>
              <a:srgbClr val="5B9BD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0525" y="2751455"/>
              <a:ext cx="84962" cy="849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74741" y="2678302"/>
              <a:ext cx="170053" cy="17005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463412" y="2594737"/>
              <a:ext cx="255270" cy="255270"/>
            </a:xfrm>
            <a:custGeom>
              <a:avLst/>
              <a:gdLst/>
              <a:ahLst/>
              <a:cxnLst/>
              <a:rect l="l" t="t" r="r" b="b"/>
              <a:pathLst>
                <a:path w="255270" h="255269">
                  <a:moveTo>
                    <a:pt x="127508" y="0"/>
                  </a:moveTo>
                  <a:lnTo>
                    <a:pt x="77849" y="10029"/>
                  </a:lnTo>
                  <a:lnTo>
                    <a:pt x="37322" y="37369"/>
                  </a:lnTo>
                  <a:lnTo>
                    <a:pt x="10011" y="77902"/>
                  </a:lnTo>
                  <a:lnTo>
                    <a:pt x="0" y="127508"/>
                  </a:lnTo>
                  <a:lnTo>
                    <a:pt x="10011" y="177166"/>
                  </a:lnTo>
                  <a:lnTo>
                    <a:pt x="37322" y="217693"/>
                  </a:lnTo>
                  <a:lnTo>
                    <a:pt x="77849" y="245004"/>
                  </a:lnTo>
                  <a:lnTo>
                    <a:pt x="127508" y="255015"/>
                  </a:lnTo>
                  <a:lnTo>
                    <a:pt x="177113" y="245004"/>
                  </a:lnTo>
                  <a:lnTo>
                    <a:pt x="217646" y="217693"/>
                  </a:lnTo>
                  <a:lnTo>
                    <a:pt x="244986" y="177166"/>
                  </a:lnTo>
                  <a:lnTo>
                    <a:pt x="255015" y="127508"/>
                  </a:lnTo>
                  <a:lnTo>
                    <a:pt x="244986" y="77902"/>
                  </a:lnTo>
                  <a:lnTo>
                    <a:pt x="217646" y="37369"/>
                  </a:lnTo>
                  <a:lnTo>
                    <a:pt x="177113" y="10029"/>
                  </a:lnTo>
                  <a:lnTo>
                    <a:pt x="127508" y="0"/>
                  </a:lnTo>
                  <a:close/>
                </a:path>
              </a:pathLst>
            </a:custGeom>
            <a:solidFill>
              <a:srgbClr val="5B9BD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49907" y="3210560"/>
            <a:ext cx="24098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Programmation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procédurale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52284" y="2180285"/>
            <a:ext cx="1570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Créditer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compte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?</a:t>
            </a:r>
            <a:endParaRPr sz="1400">
              <a:latin typeface="Calibri"/>
              <a:cs typeface="Calibri"/>
            </a:endParaRPr>
          </a:p>
          <a:p>
            <a:pPr marL="33655">
              <a:lnSpc>
                <a:spcPct val="100000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Débiter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compte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?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19751" y="4863844"/>
            <a:ext cx="4861560" cy="1533525"/>
            <a:chOff x="5119751" y="4863844"/>
            <a:chExt cx="4861560" cy="1533525"/>
          </a:xfrm>
        </p:grpSpPr>
        <p:sp>
          <p:nvSpPr>
            <p:cNvPr id="19" name="object 19"/>
            <p:cNvSpPr/>
            <p:nvPr/>
          </p:nvSpPr>
          <p:spPr>
            <a:xfrm>
              <a:off x="5879752" y="4863844"/>
              <a:ext cx="4101465" cy="1533525"/>
            </a:xfrm>
            <a:custGeom>
              <a:avLst/>
              <a:gdLst/>
              <a:ahLst/>
              <a:cxnLst/>
              <a:rect l="l" t="t" r="r" b="b"/>
              <a:pathLst>
                <a:path w="4101465" h="1533525">
                  <a:moveTo>
                    <a:pt x="3195826" y="83"/>
                  </a:moveTo>
                  <a:lnTo>
                    <a:pt x="3145328" y="795"/>
                  </a:lnTo>
                  <a:lnTo>
                    <a:pt x="3095282" y="4295"/>
                  </a:lnTo>
                  <a:lnTo>
                    <a:pt x="3046177" y="10561"/>
                  </a:lnTo>
                  <a:lnTo>
                    <a:pt x="2998499" y="19574"/>
                  </a:lnTo>
                  <a:lnTo>
                    <a:pt x="2952737" y="31313"/>
                  </a:lnTo>
                  <a:lnTo>
                    <a:pt x="2909376" y="45757"/>
                  </a:lnTo>
                  <a:lnTo>
                    <a:pt x="2868906" y="62885"/>
                  </a:lnTo>
                  <a:lnTo>
                    <a:pt x="2831812" y="82678"/>
                  </a:lnTo>
                  <a:lnTo>
                    <a:pt x="2801035" y="64369"/>
                  </a:lnTo>
                  <a:lnTo>
                    <a:pt x="2766471" y="48023"/>
                  </a:lnTo>
                  <a:lnTo>
                    <a:pt x="2728478" y="33797"/>
                  </a:lnTo>
                  <a:lnTo>
                    <a:pt x="2687413" y="21845"/>
                  </a:lnTo>
                  <a:lnTo>
                    <a:pt x="2635488" y="10778"/>
                  </a:lnTo>
                  <a:lnTo>
                    <a:pt x="2582388" y="3533"/>
                  </a:lnTo>
                  <a:lnTo>
                    <a:pt x="2528774" y="0"/>
                  </a:lnTo>
                  <a:lnTo>
                    <a:pt x="2475309" y="63"/>
                  </a:lnTo>
                  <a:lnTo>
                    <a:pt x="2422654" y="3609"/>
                  </a:lnTo>
                  <a:lnTo>
                    <a:pt x="2371469" y="10527"/>
                  </a:lnTo>
                  <a:lnTo>
                    <a:pt x="2322417" y="20701"/>
                  </a:lnTo>
                  <a:lnTo>
                    <a:pt x="2276159" y="34019"/>
                  </a:lnTo>
                  <a:lnTo>
                    <a:pt x="2233357" y="50367"/>
                  </a:lnTo>
                  <a:lnTo>
                    <a:pt x="2194671" y="69632"/>
                  </a:lnTo>
                  <a:lnTo>
                    <a:pt x="2160764" y="91701"/>
                  </a:lnTo>
                  <a:lnTo>
                    <a:pt x="2132296" y="116460"/>
                  </a:lnTo>
                  <a:lnTo>
                    <a:pt x="2105315" y="103844"/>
                  </a:lnTo>
                  <a:lnTo>
                    <a:pt x="2046446" y="81849"/>
                  </a:lnTo>
                  <a:lnTo>
                    <a:pt x="1964770" y="60675"/>
                  </a:lnTo>
                  <a:lnTo>
                    <a:pt x="1913547" y="51821"/>
                  </a:lnTo>
                  <a:lnTo>
                    <a:pt x="1861571" y="45892"/>
                  </a:lnTo>
                  <a:lnTo>
                    <a:pt x="1809258" y="42824"/>
                  </a:lnTo>
                  <a:lnTo>
                    <a:pt x="1757025" y="42551"/>
                  </a:lnTo>
                  <a:lnTo>
                    <a:pt x="1705291" y="45009"/>
                  </a:lnTo>
                  <a:lnTo>
                    <a:pt x="1654471" y="50133"/>
                  </a:lnTo>
                  <a:lnTo>
                    <a:pt x="1604984" y="57859"/>
                  </a:lnTo>
                  <a:lnTo>
                    <a:pt x="1557246" y="68120"/>
                  </a:lnTo>
                  <a:lnTo>
                    <a:pt x="1511676" y="80853"/>
                  </a:lnTo>
                  <a:lnTo>
                    <a:pt x="1468689" y="95993"/>
                  </a:lnTo>
                  <a:lnTo>
                    <a:pt x="1428703" y="113475"/>
                  </a:lnTo>
                  <a:lnTo>
                    <a:pt x="1392136" y="133235"/>
                  </a:lnTo>
                  <a:lnTo>
                    <a:pt x="1359405" y="155206"/>
                  </a:lnTo>
                  <a:lnTo>
                    <a:pt x="1330926" y="179325"/>
                  </a:lnTo>
                  <a:lnTo>
                    <a:pt x="1283656" y="166513"/>
                  </a:lnTo>
                  <a:lnTo>
                    <a:pt x="1234706" y="155813"/>
                  </a:lnTo>
                  <a:lnTo>
                    <a:pt x="1184348" y="147252"/>
                  </a:lnTo>
                  <a:lnTo>
                    <a:pt x="1132854" y="140860"/>
                  </a:lnTo>
                  <a:lnTo>
                    <a:pt x="1080497" y="136665"/>
                  </a:lnTo>
                  <a:lnTo>
                    <a:pt x="1027549" y="134695"/>
                  </a:lnTo>
                  <a:lnTo>
                    <a:pt x="974283" y="134978"/>
                  </a:lnTo>
                  <a:lnTo>
                    <a:pt x="920970" y="137542"/>
                  </a:lnTo>
                  <a:lnTo>
                    <a:pt x="856526" y="143702"/>
                  </a:lnTo>
                  <a:lnTo>
                    <a:pt x="794821" y="152959"/>
                  </a:lnTo>
                  <a:lnTo>
                    <a:pt x="736132" y="165132"/>
                  </a:lnTo>
                  <a:lnTo>
                    <a:pt x="680732" y="180034"/>
                  </a:lnTo>
                  <a:lnTo>
                    <a:pt x="628897" y="197482"/>
                  </a:lnTo>
                  <a:lnTo>
                    <a:pt x="580903" y="217291"/>
                  </a:lnTo>
                  <a:lnTo>
                    <a:pt x="537025" y="239278"/>
                  </a:lnTo>
                  <a:lnTo>
                    <a:pt x="497536" y="263257"/>
                  </a:lnTo>
                  <a:lnTo>
                    <a:pt x="462714" y="289044"/>
                  </a:lnTo>
                  <a:lnTo>
                    <a:pt x="432833" y="316455"/>
                  </a:lnTo>
                  <a:lnTo>
                    <a:pt x="388993" y="375412"/>
                  </a:lnTo>
                  <a:lnTo>
                    <a:pt x="368219" y="438651"/>
                  </a:lnTo>
                  <a:lnTo>
                    <a:pt x="367169" y="471417"/>
                  </a:lnTo>
                  <a:lnTo>
                    <a:pt x="372711" y="504699"/>
                  </a:lnTo>
                  <a:lnTo>
                    <a:pt x="369282" y="509398"/>
                  </a:lnTo>
                  <a:lnTo>
                    <a:pt x="314298" y="514272"/>
                  </a:lnTo>
                  <a:lnTo>
                    <a:pt x="261671" y="522770"/>
                  </a:lnTo>
                  <a:lnTo>
                    <a:pt x="212032" y="534694"/>
                  </a:lnTo>
                  <a:lnTo>
                    <a:pt x="166011" y="549844"/>
                  </a:lnTo>
                  <a:lnTo>
                    <a:pt x="124241" y="568020"/>
                  </a:lnTo>
                  <a:lnTo>
                    <a:pt x="87351" y="589022"/>
                  </a:lnTo>
                  <a:lnTo>
                    <a:pt x="55973" y="612649"/>
                  </a:lnTo>
                  <a:lnTo>
                    <a:pt x="26868" y="643586"/>
                  </a:lnTo>
                  <a:lnTo>
                    <a:pt x="0" y="708240"/>
                  </a:lnTo>
                  <a:lnTo>
                    <a:pt x="1632" y="740771"/>
                  </a:lnTo>
                  <a:lnTo>
                    <a:pt x="33516" y="803266"/>
                  </a:lnTo>
                  <a:lnTo>
                    <a:pt x="63163" y="832043"/>
                  </a:lnTo>
                  <a:lnTo>
                    <a:pt x="101543" y="858380"/>
                  </a:lnTo>
                  <a:lnTo>
                    <a:pt x="148354" y="881683"/>
                  </a:lnTo>
                  <a:lnTo>
                    <a:pt x="203293" y="901359"/>
                  </a:lnTo>
                  <a:lnTo>
                    <a:pt x="158679" y="930269"/>
                  </a:lnTo>
                  <a:lnTo>
                    <a:pt x="124994" y="962312"/>
                  </a:lnTo>
                  <a:lnTo>
                    <a:pt x="102746" y="996700"/>
                  </a:lnTo>
                  <a:lnTo>
                    <a:pt x="92440" y="1032648"/>
                  </a:lnTo>
                  <a:lnTo>
                    <a:pt x="94581" y="1069367"/>
                  </a:lnTo>
                  <a:lnTo>
                    <a:pt x="125858" y="1128575"/>
                  </a:lnTo>
                  <a:lnTo>
                    <a:pt x="186939" y="1179005"/>
                  </a:lnTo>
                  <a:lnTo>
                    <a:pt x="226878" y="1200216"/>
                  </a:lnTo>
                  <a:lnTo>
                    <a:pt x="272135" y="1218378"/>
                  </a:lnTo>
                  <a:lnTo>
                    <a:pt x="322000" y="1233205"/>
                  </a:lnTo>
                  <a:lnTo>
                    <a:pt x="375760" y="1244414"/>
                  </a:lnTo>
                  <a:lnTo>
                    <a:pt x="432705" y="1251719"/>
                  </a:lnTo>
                  <a:lnTo>
                    <a:pt x="492124" y="1254836"/>
                  </a:lnTo>
                  <a:lnTo>
                    <a:pt x="553305" y="1253479"/>
                  </a:lnTo>
                  <a:lnTo>
                    <a:pt x="561052" y="1260222"/>
                  </a:lnTo>
                  <a:lnTo>
                    <a:pt x="592413" y="1284703"/>
                  </a:lnTo>
                  <a:lnTo>
                    <a:pt x="626836" y="1307524"/>
                  </a:lnTo>
                  <a:lnTo>
                    <a:pt x="664099" y="1328659"/>
                  </a:lnTo>
                  <a:lnTo>
                    <a:pt x="703977" y="1348078"/>
                  </a:lnTo>
                  <a:lnTo>
                    <a:pt x="746249" y="1365752"/>
                  </a:lnTo>
                  <a:lnTo>
                    <a:pt x="790689" y="1381655"/>
                  </a:lnTo>
                  <a:lnTo>
                    <a:pt x="837075" y="1395756"/>
                  </a:lnTo>
                  <a:lnTo>
                    <a:pt x="885183" y="1408028"/>
                  </a:lnTo>
                  <a:lnTo>
                    <a:pt x="934790" y="1418442"/>
                  </a:lnTo>
                  <a:lnTo>
                    <a:pt x="985672" y="1426969"/>
                  </a:lnTo>
                  <a:lnTo>
                    <a:pt x="1037606" y="1433582"/>
                  </a:lnTo>
                  <a:lnTo>
                    <a:pt x="1090368" y="1438252"/>
                  </a:lnTo>
                  <a:lnTo>
                    <a:pt x="1143734" y="1440949"/>
                  </a:lnTo>
                  <a:lnTo>
                    <a:pt x="1197482" y="1441647"/>
                  </a:lnTo>
                  <a:lnTo>
                    <a:pt x="1251388" y="1440316"/>
                  </a:lnTo>
                  <a:lnTo>
                    <a:pt x="1305228" y="1436928"/>
                  </a:lnTo>
                  <a:lnTo>
                    <a:pt x="1358779" y="1431455"/>
                  </a:lnTo>
                  <a:lnTo>
                    <a:pt x="1411818" y="1423867"/>
                  </a:lnTo>
                  <a:lnTo>
                    <a:pt x="1464120" y="1414138"/>
                  </a:lnTo>
                  <a:lnTo>
                    <a:pt x="1515463" y="1402237"/>
                  </a:lnTo>
                  <a:lnTo>
                    <a:pt x="1565622" y="1388137"/>
                  </a:lnTo>
                  <a:lnTo>
                    <a:pt x="1603343" y="1414070"/>
                  </a:lnTo>
                  <a:lnTo>
                    <a:pt x="1645613" y="1437839"/>
                  </a:lnTo>
                  <a:lnTo>
                    <a:pt x="1692069" y="1459305"/>
                  </a:lnTo>
                  <a:lnTo>
                    <a:pt x="1742346" y="1478330"/>
                  </a:lnTo>
                  <a:lnTo>
                    <a:pt x="1796079" y="1494776"/>
                  </a:lnTo>
                  <a:lnTo>
                    <a:pt x="1852905" y="1508505"/>
                  </a:lnTo>
                  <a:lnTo>
                    <a:pt x="1912459" y="1519379"/>
                  </a:lnTo>
                  <a:lnTo>
                    <a:pt x="1968997" y="1526727"/>
                  </a:lnTo>
                  <a:lnTo>
                    <a:pt x="2025603" y="1531373"/>
                  </a:lnTo>
                  <a:lnTo>
                    <a:pt x="2081996" y="1533395"/>
                  </a:lnTo>
                  <a:lnTo>
                    <a:pt x="2137895" y="1532869"/>
                  </a:lnTo>
                  <a:lnTo>
                    <a:pt x="2193017" y="1529872"/>
                  </a:lnTo>
                  <a:lnTo>
                    <a:pt x="2247081" y="1524482"/>
                  </a:lnTo>
                  <a:lnTo>
                    <a:pt x="2299805" y="1516775"/>
                  </a:lnTo>
                  <a:lnTo>
                    <a:pt x="2350908" y="1506829"/>
                  </a:lnTo>
                  <a:lnTo>
                    <a:pt x="2400108" y="1494720"/>
                  </a:lnTo>
                  <a:lnTo>
                    <a:pt x="2447122" y="1480526"/>
                  </a:lnTo>
                  <a:lnTo>
                    <a:pt x="2491671" y="1464324"/>
                  </a:lnTo>
                  <a:lnTo>
                    <a:pt x="2533471" y="1446191"/>
                  </a:lnTo>
                  <a:lnTo>
                    <a:pt x="2572241" y="1426204"/>
                  </a:lnTo>
                  <a:lnTo>
                    <a:pt x="2607699" y="1404440"/>
                  </a:lnTo>
                  <a:lnTo>
                    <a:pt x="2639564" y="1380975"/>
                  </a:lnTo>
                  <a:lnTo>
                    <a:pt x="2691387" y="1329256"/>
                  </a:lnTo>
                  <a:lnTo>
                    <a:pt x="2710781" y="1301155"/>
                  </a:lnTo>
                  <a:lnTo>
                    <a:pt x="2754757" y="1313735"/>
                  </a:lnTo>
                  <a:lnTo>
                    <a:pt x="2800627" y="1324167"/>
                  </a:lnTo>
                  <a:lnTo>
                    <a:pt x="2848084" y="1332405"/>
                  </a:lnTo>
                  <a:lnTo>
                    <a:pt x="2896822" y="1338404"/>
                  </a:lnTo>
                  <a:lnTo>
                    <a:pt x="2946534" y="1342121"/>
                  </a:lnTo>
                  <a:lnTo>
                    <a:pt x="2996912" y="1343509"/>
                  </a:lnTo>
                  <a:lnTo>
                    <a:pt x="3060902" y="1341891"/>
                  </a:lnTo>
                  <a:lnTo>
                    <a:pt x="3122782" y="1336647"/>
                  </a:lnTo>
                  <a:lnTo>
                    <a:pt x="3182137" y="1327986"/>
                  </a:lnTo>
                  <a:lnTo>
                    <a:pt x="3238554" y="1316115"/>
                  </a:lnTo>
                  <a:lnTo>
                    <a:pt x="3291617" y="1301241"/>
                  </a:lnTo>
                  <a:lnTo>
                    <a:pt x="3340912" y="1283573"/>
                  </a:lnTo>
                  <a:lnTo>
                    <a:pt x="3386024" y="1263318"/>
                  </a:lnTo>
                  <a:lnTo>
                    <a:pt x="3426540" y="1240684"/>
                  </a:lnTo>
                  <a:lnTo>
                    <a:pt x="3462043" y="1215880"/>
                  </a:lnTo>
                  <a:lnTo>
                    <a:pt x="3492120" y="1189111"/>
                  </a:lnTo>
                  <a:lnTo>
                    <a:pt x="3534336" y="1130516"/>
                  </a:lnTo>
                  <a:lnTo>
                    <a:pt x="3549870" y="1066560"/>
                  </a:lnTo>
                  <a:lnTo>
                    <a:pt x="3604001" y="1061403"/>
                  </a:lnTo>
                  <a:lnTo>
                    <a:pt x="3656866" y="1053935"/>
                  </a:lnTo>
                  <a:lnTo>
                    <a:pt x="3708192" y="1044216"/>
                  </a:lnTo>
                  <a:lnTo>
                    <a:pt x="3757708" y="1032305"/>
                  </a:lnTo>
                  <a:lnTo>
                    <a:pt x="3805143" y="1018262"/>
                  </a:lnTo>
                  <a:lnTo>
                    <a:pt x="3850225" y="1002146"/>
                  </a:lnTo>
                  <a:lnTo>
                    <a:pt x="3903452" y="978905"/>
                  </a:lnTo>
                  <a:lnTo>
                    <a:pt x="3950510" y="953403"/>
                  </a:lnTo>
                  <a:lnTo>
                    <a:pt x="3991329" y="925919"/>
                  </a:lnTo>
                  <a:lnTo>
                    <a:pt x="4025837" y="896733"/>
                  </a:lnTo>
                  <a:lnTo>
                    <a:pt x="4053962" y="866125"/>
                  </a:lnTo>
                  <a:lnTo>
                    <a:pt x="4075631" y="834373"/>
                  </a:lnTo>
                  <a:lnTo>
                    <a:pt x="4099318" y="768559"/>
                  </a:lnTo>
                  <a:lnTo>
                    <a:pt x="4101192" y="735056"/>
                  </a:lnTo>
                  <a:lnTo>
                    <a:pt x="4096323" y="701528"/>
                  </a:lnTo>
                  <a:lnTo>
                    <a:pt x="4066073" y="635518"/>
                  </a:lnTo>
                  <a:lnTo>
                    <a:pt x="4040547" y="603594"/>
                  </a:lnTo>
                  <a:lnTo>
                    <a:pt x="4007992" y="572764"/>
                  </a:lnTo>
                  <a:lnTo>
                    <a:pt x="3968335" y="543307"/>
                  </a:lnTo>
                  <a:lnTo>
                    <a:pt x="3975003" y="534973"/>
                  </a:lnTo>
                  <a:lnTo>
                    <a:pt x="4004446" y="477631"/>
                  </a:lnTo>
                  <a:lnTo>
                    <a:pt x="4009398" y="446007"/>
                  </a:lnTo>
                  <a:lnTo>
                    <a:pt x="4006764" y="414824"/>
                  </a:lnTo>
                  <a:lnTo>
                    <a:pt x="3980072" y="354966"/>
                  </a:lnTo>
                  <a:lnTo>
                    <a:pt x="3927034" y="300433"/>
                  </a:lnTo>
                  <a:lnTo>
                    <a:pt x="3891468" y="275906"/>
                  </a:lnTo>
                  <a:lnTo>
                    <a:pt x="3850315" y="253600"/>
                  </a:lnTo>
                  <a:lnTo>
                    <a:pt x="3803907" y="233813"/>
                  </a:lnTo>
                  <a:lnTo>
                    <a:pt x="3752577" y="216842"/>
                  </a:lnTo>
                  <a:lnTo>
                    <a:pt x="3696658" y="202983"/>
                  </a:lnTo>
                  <a:lnTo>
                    <a:pt x="3636484" y="192533"/>
                  </a:lnTo>
                  <a:lnTo>
                    <a:pt x="3615678" y="153513"/>
                  </a:lnTo>
                  <a:lnTo>
                    <a:pt x="3582239" y="117159"/>
                  </a:lnTo>
                  <a:lnTo>
                    <a:pt x="3537061" y="84234"/>
                  </a:lnTo>
                  <a:lnTo>
                    <a:pt x="3481036" y="55500"/>
                  </a:lnTo>
                  <a:lnTo>
                    <a:pt x="3438055" y="39056"/>
                  </a:lnTo>
                  <a:lnTo>
                    <a:pt x="3392602" y="25522"/>
                  </a:lnTo>
                  <a:lnTo>
                    <a:pt x="3345166" y="14878"/>
                  </a:lnTo>
                  <a:lnTo>
                    <a:pt x="3296232" y="7104"/>
                  </a:lnTo>
                  <a:lnTo>
                    <a:pt x="3246290" y="2179"/>
                  </a:lnTo>
                  <a:lnTo>
                    <a:pt x="3195826" y="83"/>
                  </a:lnTo>
                  <a:close/>
                </a:path>
              </a:pathLst>
            </a:custGeom>
            <a:solidFill>
              <a:srgbClr val="5B9BD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19751" y="5926569"/>
              <a:ext cx="85216" cy="8516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23840" y="5853315"/>
              <a:ext cx="170434" cy="17034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612511" y="5769572"/>
              <a:ext cx="255904" cy="255904"/>
            </a:xfrm>
            <a:custGeom>
              <a:avLst/>
              <a:gdLst/>
              <a:ahLst/>
              <a:cxnLst/>
              <a:rect l="l" t="t" r="r" b="b"/>
              <a:pathLst>
                <a:path w="255904" h="255904">
                  <a:moveTo>
                    <a:pt x="127762" y="0"/>
                  </a:moveTo>
                  <a:lnTo>
                    <a:pt x="78063" y="10039"/>
                  </a:lnTo>
                  <a:lnTo>
                    <a:pt x="37449" y="37418"/>
                  </a:lnTo>
                  <a:lnTo>
                    <a:pt x="10050" y="78025"/>
                  </a:lnTo>
                  <a:lnTo>
                    <a:pt x="0" y="127749"/>
                  </a:lnTo>
                  <a:lnTo>
                    <a:pt x="10050" y="177480"/>
                  </a:lnTo>
                  <a:lnTo>
                    <a:pt x="37449" y="218090"/>
                  </a:lnTo>
                  <a:lnTo>
                    <a:pt x="78063" y="245471"/>
                  </a:lnTo>
                  <a:lnTo>
                    <a:pt x="127762" y="255511"/>
                  </a:lnTo>
                  <a:lnTo>
                    <a:pt x="177514" y="245471"/>
                  </a:lnTo>
                  <a:lnTo>
                    <a:pt x="218122" y="218090"/>
                  </a:lnTo>
                  <a:lnTo>
                    <a:pt x="245490" y="177480"/>
                  </a:lnTo>
                  <a:lnTo>
                    <a:pt x="255524" y="127749"/>
                  </a:lnTo>
                  <a:lnTo>
                    <a:pt x="245490" y="78025"/>
                  </a:lnTo>
                  <a:lnTo>
                    <a:pt x="218122" y="37418"/>
                  </a:lnTo>
                  <a:lnTo>
                    <a:pt x="177514" y="10039"/>
                  </a:lnTo>
                  <a:lnTo>
                    <a:pt x="127762" y="0"/>
                  </a:lnTo>
                  <a:close/>
                </a:path>
              </a:pathLst>
            </a:custGeom>
            <a:solidFill>
              <a:srgbClr val="5B9BD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55105" y="5357240"/>
            <a:ext cx="246253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6245" marR="5080" indent="-42418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Comment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présente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(structure)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compte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bancaire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?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501068" y="3120580"/>
            <a:ext cx="4701540" cy="1860550"/>
            <a:chOff x="5501068" y="3120580"/>
            <a:chExt cx="4701540" cy="1860550"/>
          </a:xfrm>
        </p:grpSpPr>
        <p:sp>
          <p:nvSpPr>
            <p:cNvPr id="25" name="object 25"/>
            <p:cNvSpPr/>
            <p:nvPr/>
          </p:nvSpPr>
          <p:spPr>
            <a:xfrm>
              <a:off x="5515355" y="3134867"/>
              <a:ext cx="4672965" cy="1831975"/>
            </a:xfrm>
            <a:custGeom>
              <a:avLst/>
              <a:gdLst/>
              <a:ahLst/>
              <a:cxnLst/>
              <a:rect l="l" t="t" r="r" b="b"/>
              <a:pathLst>
                <a:path w="4672965" h="1831975">
                  <a:moveTo>
                    <a:pt x="3199384" y="0"/>
                  </a:moveTo>
                  <a:lnTo>
                    <a:pt x="2479548" y="368173"/>
                  </a:lnTo>
                  <a:lnTo>
                    <a:pt x="2103120" y="160020"/>
                  </a:lnTo>
                  <a:lnTo>
                    <a:pt x="1849501" y="541274"/>
                  </a:lnTo>
                  <a:lnTo>
                    <a:pt x="973836" y="307467"/>
                  </a:lnTo>
                  <a:lnTo>
                    <a:pt x="1162050" y="662940"/>
                  </a:lnTo>
                  <a:lnTo>
                    <a:pt x="253492" y="701421"/>
                  </a:lnTo>
                  <a:lnTo>
                    <a:pt x="851281" y="983107"/>
                  </a:lnTo>
                  <a:lnTo>
                    <a:pt x="0" y="1092073"/>
                  </a:lnTo>
                  <a:lnTo>
                    <a:pt x="720344" y="1303528"/>
                  </a:lnTo>
                  <a:lnTo>
                    <a:pt x="278003" y="1511681"/>
                  </a:lnTo>
                  <a:lnTo>
                    <a:pt x="1039495" y="1546860"/>
                  </a:lnTo>
                  <a:lnTo>
                    <a:pt x="1063625" y="1831848"/>
                  </a:lnTo>
                  <a:lnTo>
                    <a:pt x="1628267" y="1537081"/>
                  </a:lnTo>
                  <a:lnTo>
                    <a:pt x="1882013" y="1671701"/>
                  </a:lnTo>
                  <a:lnTo>
                    <a:pt x="2135504" y="1473073"/>
                  </a:lnTo>
                  <a:lnTo>
                    <a:pt x="2511933" y="1597914"/>
                  </a:lnTo>
                  <a:lnTo>
                    <a:pt x="2634869" y="1351407"/>
                  </a:lnTo>
                  <a:lnTo>
                    <a:pt x="3232277" y="1473073"/>
                  </a:lnTo>
                  <a:lnTo>
                    <a:pt x="3166999" y="1217041"/>
                  </a:lnTo>
                  <a:lnTo>
                    <a:pt x="4083558" y="1325753"/>
                  </a:lnTo>
                  <a:lnTo>
                    <a:pt x="3543427" y="1043940"/>
                  </a:lnTo>
                  <a:lnTo>
                    <a:pt x="3952240" y="957453"/>
                  </a:lnTo>
                  <a:lnTo>
                    <a:pt x="3674237" y="797306"/>
                  </a:lnTo>
                  <a:lnTo>
                    <a:pt x="4672584" y="563499"/>
                  </a:lnTo>
                  <a:lnTo>
                    <a:pt x="3543427" y="553974"/>
                  </a:lnTo>
                  <a:lnTo>
                    <a:pt x="3895344" y="268986"/>
                  </a:lnTo>
                  <a:lnTo>
                    <a:pt x="3142107" y="489966"/>
                  </a:lnTo>
                  <a:lnTo>
                    <a:pt x="31993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15355" y="3134867"/>
              <a:ext cx="4672965" cy="1831975"/>
            </a:xfrm>
            <a:custGeom>
              <a:avLst/>
              <a:gdLst/>
              <a:ahLst/>
              <a:cxnLst/>
              <a:rect l="l" t="t" r="r" b="b"/>
              <a:pathLst>
                <a:path w="4672965" h="1831975">
                  <a:moveTo>
                    <a:pt x="2479548" y="368173"/>
                  </a:moveTo>
                  <a:lnTo>
                    <a:pt x="3199384" y="0"/>
                  </a:lnTo>
                  <a:lnTo>
                    <a:pt x="3142107" y="489966"/>
                  </a:lnTo>
                  <a:lnTo>
                    <a:pt x="3895344" y="268986"/>
                  </a:lnTo>
                  <a:lnTo>
                    <a:pt x="3543427" y="553974"/>
                  </a:lnTo>
                  <a:lnTo>
                    <a:pt x="4672584" y="563499"/>
                  </a:lnTo>
                  <a:lnTo>
                    <a:pt x="3674237" y="797306"/>
                  </a:lnTo>
                  <a:lnTo>
                    <a:pt x="3952240" y="957453"/>
                  </a:lnTo>
                  <a:lnTo>
                    <a:pt x="3543427" y="1043940"/>
                  </a:lnTo>
                  <a:lnTo>
                    <a:pt x="4083558" y="1325753"/>
                  </a:lnTo>
                  <a:lnTo>
                    <a:pt x="3166999" y="1217041"/>
                  </a:lnTo>
                  <a:lnTo>
                    <a:pt x="3232277" y="1473073"/>
                  </a:lnTo>
                  <a:lnTo>
                    <a:pt x="2634869" y="1351407"/>
                  </a:lnTo>
                  <a:lnTo>
                    <a:pt x="2511933" y="1597914"/>
                  </a:lnTo>
                  <a:lnTo>
                    <a:pt x="2135504" y="1473073"/>
                  </a:lnTo>
                  <a:lnTo>
                    <a:pt x="1882013" y="1671701"/>
                  </a:lnTo>
                  <a:lnTo>
                    <a:pt x="1628267" y="1537081"/>
                  </a:lnTo>
                  <a:lnTo>
                    <a:pt x="1063625" y="1831848"/>
                  </a:lnTo>
                  <a:lnTo>
                    <a:pt x="1039495" y="1546860"/>
                  </a:lnTo>
                  <a:lnTo>
                    <a:pt x="278003" y="1511681"/>
                  </a:lnTo>
                  <a:lnTo>
                    <a:pt x="720344" y="1303528"/>
                  </a:lnTo>
                  <a:lnTo>
                    <a:pt x="0" y="1092073"/>
                  </a:lnTo>
                  <a:lnTo>
                    <a:pt x="851281" y="983107"/>
                  </a:lnTo>
                  <a:lnTo>
                    <a:pt x="253492" y="701421"/>
                  </a:lnTo>
                  <a:lnTo>
                    <a:pt x="1162050" y="662940"/>
                  </a:lnTo>
                  <a:lnTo>
                    <a:pt x="973836" y="307467"/>
                  </a:lnTo>
                  <a:lnTo>
                    <a:pt x="1849501" y="541274"/>
                  </a:lnTo>
                  <a:lnTo>
                    <a:pt x="2103120" y="160020"/>
                  </a:lnTo>
                  <a:lnTo>
                    <a:pt x="2479548" y="368173"/>
                  </a:lnTo>
                  <a:close/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823709" y="3846321"/>
            <a:ext cx="171132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765" marR="5080" indent="-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Programme</a:t>
            </a:r>
            <a:r>
              <a:rPr sz="14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4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Gestion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4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comptes</a:t>
            </a:r>
            <a:r>
              <a:rPr sz="14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bancaires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63572" y="6174587"/>
            <a:ext cx="264795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Programmation</a:t>
            </a:r>
            <a:r>
              <a:rPr sz="1600" b="1" spc="-8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Orientée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01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Introduire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</a:t>
            </a:r>
            <a:r>
              <a:rPr spc="-25" dirty="0">
                <a:solidFill>
                  <a:srgbClr val="007842"/>
                </a:solidFill>
              </a:rPr>
              <a:t> POO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Introduction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à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la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programmation</a:t>
            </a:r>
            <a:r>
              <a:rPr sz="1600" spc="-7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Orientée</a:t>
            </a:r>
            <a:r>
              <a:rPr sz="1600" spc="-5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Objet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1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972425" y="1105280"/>
            <a:ext cx="2237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Introduire</a:t>
            </a:r>
            <a:r>
              <a:rPr sz="2400" b="1" spc="-10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la</a:t>
            </a:r>
            <a:r>
              <a:rPr sz="24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7842"/>
                </a:solidFill>
                <a:latin typeface="Calibri"/>
                <a:cs typeface="Calibri"/>
              </a:rPr>
              <a:t>POO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4883150" cy="14738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Introduction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programmation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Orientée</a:t>
            </a:r>
            <a:r>
              <a:rPr sz="16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Brève</a:t>
            </a:r>
            <a:r>
              <a:rPr sz="1600" b="1" spc="-7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historique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l’évolution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langages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endParaRPr sz="16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programmation</a:t>
            </a:r>
            <a:r>
              <a:rPr sz="1600" b="1" spc="-7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Orientée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AutoNum type="arabicPeriod" startAt="3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Connaissance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avantages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rapport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endParaRPr sz="16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autres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paradigmes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01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Introduire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</a:t>
            </a:r>
            <a:r>
              <a:rPr spc="-25" dirty="0">
                <a:solidFill>
                  <a:srgbClr val="007842"/>
                </a:solidFill>
              </a:rPr>
              <a:t> POO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Brève</a:t>
            </a:r>
            <a:r>
              <a:rPr sz="1600" spc="-6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historique</a:t>
            </a:r>
            <a:r>
              <a:rPr sz="1600" spc="-1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20" dirty="0">
                <a:solidFill>
                  <a:srgbClr val="007842"/>
                </a:solidFill>
              </a:rPr>
              <a:t>l’évolution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25" dirty="0">
                <a:solidFill>
                  <a:srgbClr val="007842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3704005"/>
            <a:ext cx="10405745" cy="14249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concepts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naissent au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cours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années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1970 dans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laboratoires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recherche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informatique.</a:t>
            </a:r>
            <a:endParaRPr sz="140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33845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premiers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langages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programmation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véritablement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orientés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été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Simula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puis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Smalltalk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Simula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(1966)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regroupe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procédures.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Simula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(1972)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formalise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concepts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d'objet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classe.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programme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constitué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collection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d'objets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actifs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autonomes.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Smalltalk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(1972) :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généralisation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notion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d'objet.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65961" y="1972055"/>
            <a:ext cx="9214485" cy="1786255"/>
            <a:chOff x="965961" y="1972055"/>
            <a:chExt cx="9214485" cy="1786255"/>
          </a:xfrm>
        </p:grpSpPr>
        <p:sp>
          <p:nvSpPr>
            <p:cNvPr id="12" name="object 12"/>
            <p:cNvSpPr/>
            <p:nvPr/>
          </p:nvSpPr>
          <p:spPr>
            <a:xfrm>
              <a:off x="1716023" y="1972055"/>
              <a:ext cx="8464550" cy="1786255"/>
            </a:xfrm>
            <a:custGeom>
              <a:avLst/>
              <a:gdLst/>
              <a:ahLst/>
              <a:cxnLst/>
              <a:rect l="l" t="t" r="r" b="b"/>
              <a:pathLst>
                <a:path w="8464550" h="1786254">
                  <a:moveTo>
                    <a:pt x="7571232" y="0"/>
                  </a:moveTo>
                  <a:lnTo>
                    <a:pt x="7571232" y="446532"/>
                  </a:lnTo>
                  <a:lnTo>
                    <a:pt x="0" y="446532"/>
                  </a:lnTo>
                  <a:lnTo>
                    <a:pt x="0" y="1339596"/>
                  </a:lnTo>
                  <a:lnTo>
                    <a:pt x="7571232" y="1339596"/>
                  </a:lnTo>
                  <a:lnTo>
                    <a:pt x="7571232" y="1786128"/>
                  </a:lnTo>
                  <a:lnTo>
                    <a:pt x="8464296" y="893064"/>
                  </a:lnTo>
                  <a:lnTo>
                    <a:pt x="7571232" y="0"/>
                  </a:lnTo>
                  <a:close/>
                </a:path>
              </a:pathLst>
            </a:custGeom>
            <a:solidFill>
              <a:srgbClr val="D2D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311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2093976" y="0"/>
                  </a:moveTo>
                  <a:lnTo>
                    <a:pt x="118872" y="0"/>
                  </a:lnTo>
                  <a:lnTo>
                    <a:pt x="72603" y="9340"/>
                  </a:lnTo>
                  <a:lnTo>
                    <a:pt x="34818" y="34813"/>
                  </a:lnTo>
                  <a:lnTo>
                    <a:pt x="9342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2" y="640633"/>
                  </a:lnTo>
                  <a:lnTo>
                    <a:pt x="34818" y="678418"/>
                  </a:lnTo>
                  <a:lnTo>
                    <a:pt x="72603" y="703891"/>
                  </a:lnTo>
                  <a:lnTo>
                    <a:pt x="118872" y="713232"/>
                  </a:lnTo>
                  <a:lnTo>
                    <a:pt x="2093976" y="713232"/>
                  </a:lnTo>
                  <a:lnTo>
                    <a:pt x="2140249" y="703891"/>
                  </a:lnTo>
                  <a:lnTo>
                    <a:pt x="2178034" y="678418"/>
                  </a:lnTo>
                  <a:lnTo>
                    <a:pt x="2203507" y="640633"/>
                  </a:lnTo>
                  <a:lnTo>
                    <a:pt x="2212848" y="594360"/>
                  </a:lnTo>
                  <a:lnTo>
                    <a:pt x="2212848" y="118872"/>
                  </a:lnTo>
                  <a:lnTo>
                    <a:pt x="2203507" y="72598"/>
                  </a:lnTo>
                  <a:lnTo>
                    <a:pt x="2178034" y="34813"/>
                  </a:lnTo>
                  <a:lnTo>
                    <a:pt x="2140249" y="9340"/>
                  </a:lnTo>
                  <a:lnTo>
                    <a:pt x="209397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311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0" y="118872"/>
                  </a:moveTo>
                  <a:lnTo>
                    <a:pt x="9342" y="72598"/>
                  </a:lnTo>
                  <a:lnTo>
                    <a:pt x="34818" y="34813"/>
                  </a:lnTo>
                  <a:lnTo>
                    <a:pt x="72603" y="9340"/>
                  </a:lnTo>
                  <a:lnTo>
                    <a:pt x="118872" y="0"/>
                  </a:lnTo>
                  <a:lnTo>
                    <a:pt x="2093976" y="0"/>
                  </a:lnTo>
                  <a:lnTo>
                    <a:pt x="2140249" y="9340"/>
                  </a:lnTo>
                  <a:lnTo>
                    <a:pt x="2178034" y="34813"/>
                  </a:lnTo>
                  <a:lnTo>
                    <a:pt x="2203507" y="72598"/>
                  </a:lnTo>
                  <a:lnTo>
                    <a:pt x="2212848" y="118872"/>
                  </a:lnTo>
                  <a:lnTo>
                    <a:pt x="2212848" y="594360"/>
                  </a:lnTo>
                  <a:lnTo>
                    <a:pt x="2203507" y="640633"/>
                  </a:lnTo>
                  <a:lnTo>
                    <a:pt x="2178034" y="678418"/>
                  </a:lnTo>
                  <a:lnTo>
                    <a:pt x="2140249" y="703891"/>
                  </a:lnTo>
                  <a:lnTo>
                    <a:pt x="2093976" y="713232"/>
                  </a:lnTo>
                  <a:lnTo>
                    <a:pt x="118872" y="713232"/>
                  </a:lnTo>
                  <a:lnTo>
                    <a:pt x="72603" y="703891"/>
                  </a:lnTo>
                  <a:lnTo>
                    <a:pt x="34818" y="678418"/>
                  </a:lnTo>
                  <a:lnTo>
                    <a:pt x="9342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80819" y="2706369"/>
            <a:ext cx="11976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années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70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47617" y="2502154"/>
            <a:ext cx="2222500" cy="726440"/>
            <a:chOff x="3547617" y="2502154"/>
            <a:chExt cx="2222500" cy="726440"/>
          </a:xfrm>
        </p:grpSpPr>
        <p:sp>
          <p:nvSpPr>
            <p:cNvPr id="17" name="object 17"/>
            <p:cNvSpPr/>
            <p:nvPr/>
          </p:nvSpPr>
          <p:spPr>
            <a:xfrm>
              <a:off x="3553967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2090928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090928" y="713232"/>
                  </a:lnTo>
                  <a:lnTo>
                    <a:pt x="2137201" y="703891"/>
                  </a:lnTo>
                  <a:lnTo>
                    <a:pt x="2174986" y="678418"/>
                  </a:lnTo>
                  <a:lnTo>
                    <a:pt x="2200459" y="640633"/>
                  </a:lnTo>
                  <a:lnTo>
                    <a:pt x="2209800" y="594360"/>
                  </a:lnTo>
                  <a:lnTo>
                    <a:pt x="2209800" y="118872"/>
                  </a:lnTo>
                  <a:lnTo>
                    <a:pt x="2200459" y="72598"/>
                  </a:lnTo>
                  <a:lnTo>
                    <a:pt x="2174986" y="34813"/>
                  </a:lnTo>
                  <a:lnTo>
                    <a:pt x="2137201" y="9340"/>
                  </a:lnTo>
                  <a:lnTo>
                    <a:pt x="2090928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53967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090928" y="0"/>
                  </a:lnTo>
                  <a:lnTo>
                    <a:pt x="2137201" y="9340"/>
                  </a:lnTo>
                  <a:lnTo>
                    <a:pt x="2174986" y="34813"/>
                  </a:lnTo>
                  <a:lnTo>
                    <a:pt x="2200459" y="72598"/>
                  </a:lnTo>
                  <a:lnTo>
                    <a:pt x="2209800" y="118872"/>
                  </a:lnTo>
                  <a:lnTo>
                    <a:pt x="2209800" y="594360"/>
                  </a:lnTo>
                  <a:lnTo>
                    <a:pt x="2200459" y="640633"/>
                  </a:lnTo>
                  <a:lnTo>
                    <a:pt x="2174986" y="678418"/>
                  </a:lnTo>
                  <a:lnTo>
                    <a:pt x="2137201" y="703891"/>
                  </a:lnTo>
                  <a:lnTo>
                    <a:pt x="2090928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61586" y="2706369"/>
            <a:ext cx="11976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années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26226" y="2502154"/>
            <a:ext cx="2225675" cy="726440"/>
            <a:chOff x="6126226" y="2502154"/>
            <a:chExt cx="2225675" cy="726440"/>
          </a:xfrm>
        </p:grpSpPr>
        <p:sp>
          <p:nvSpPr>
            <p:cNvPr id="21" name="object 21"/>
            <p:cNvSpPr/>
            <p:nvPr/>
          </p:nvSpPr>
          <p:spPr>
            <a:xfrm>
              <a:off x="6132576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2093976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093976" y="713232"/>
                  </a:lnTo>
                  <a:lnTo>
                    <a:pt x="2140249" y="703891"/>
                  </a:lnTo>
                  <a:lnTo>
                    <a:pt x="2178034" y="678418"/>
                  </a:lnTo>
                  <a:lnTo>
                    <a:pt x="2203507" y="640633"/>
                  </a:lnTo>
                  <a:lnTo>
                    <a:pt x="2212848" y="594360"/>
                  </a:lnTo>
                  <a:lnTo>
                    <a:pt x="2212848" y="118872"/>
                  </a:lnTo>
                  <a:lnTo>
                    <a:pt x="2203507" y="72598"/>
                  </a:lnTo>
                  <a:lnTo>
                    <a:pt x="2178034" y="34813"/>
                  </a:lnTo>
                  <a:lnTo>
                    <a:pt x="2140249" y="9340"/>
                  </a:lnTo>
                  <a:lnTo>
                    <a:pt x="2093976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32576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093976" y="0"/>
                  </a:lnTo>
                  <a:lnTo>
                    <a:pt x="2140249" y="9340"/>
                  </a:lnTo>
                  <a:lnTo>
                    <a:pt x="2178034" y="34813"/>
                  </a:lnTo>
                  <a:lnTo>
                    <a:pt x="2203507" y="72598"/>
                  </a:lnTo>
                  <a:lnTo>
                    <a:pt x="2212848" y="118872"/>
                  </a:lnTo>
                  <a:lnTo>
                    <a:pt x="2212848" y="594360"/>
                  </a:lnTo>
                  <a:lnTo>
                    <a:pt x="2203507" y="640633"/>
                  </a:lnTo>
                  <a:lnTo>
                    <a:pt x="2178034" y="678418"/>
                  </a:lnTo>
                  <a:lnTo>
                    <a:pt x="2140249" y="703891"/>
                  </a:lnTo>
                  <a:lnTo>
                    <a:pt x="2093976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41972" y="2706369"/>
            <a:ext cx="11976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années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90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707881" y="2502154"/>
            <a:ext cx="2222500" cy="726440"/>
            <a:chOff x="8707881" y="2502154"/>
            <a:chExt cx="2222500" cy="726440"/>
          </a:xfrm>
        </p:grpSpPr>
        <p:sp>
          <p:nvSpPr>
            <p:cNvPr id="25" name="object 25"/>
            <p:cNvSpPr/>
            <p:nvPr/>
          </p:nvSpPr>
          <p:spPr>
            <a:xfrm>
              <a:off x="8714231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2090927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090927" y="713232"/>
                  </a:lnTo>
                  <a:lnTo>
                    <a:pt x="2137201" y="703891"/>
                  </a:lnTo>
                  <a:lnTo>
                    <a:pt x="2174986" y="678418"/>
                  </a:lnTo>
                  <a:lnTo>
                    <a:pt x="2200459" y="640633"/>
                  </a:lnTo>
                  <a:lnTo>
                    <a:pt x="2209800" y="594360"/>
                  </a:lnTo>
                  <a:lnTo>
                    <a:pt x="2209800" y="118872"/>
                  </a:lnTo>
                  <a:lnTo>
                    <a:pt x="2200459" y="72598"/>
                  </a:lnTo>
                  <a:lnTo>
                    <a:pt x="2174986" y="34813"/>
                  </a:lnTo>
                  <a:lnTo>
                    <a:pt x="2137201" y="9340"/>
                  </a:lnTo>
                  <a:lnTo>
                    <a:pt x="2090927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14231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090927" y="0"/>
                  </a:lnTo>
                  <a:lnTo>
                    <a:pt x="2137201" y="9340"/>
                  </a:lnTo>
                  <a:lnTo>
                    <a:pt x="2174986" y="34813"/>
                  </a:lnTo>
                  <a:lnTo>
                    <a:pt x="2200459" y="72598"/>
                  </a:lnTo>
                  <a:lnTo>
                    <a:pt x="2209800" y="118872"/>
                  </a:lnTo>
                  <a:lnTo>
                    <a:pt x="2209800" y="594360"/>
                  </a:lnTo>
                  <a:lnTo>
                    <a:pt x="2200459" y="640633"/>
                  </a:lnTo>
                  <a:lnTo>
                    <a:pt x="2174986" y="678418"/>
                  </a:lnTo>
                  <a:lnTo>
                    <a:pt x="2137201" y="703891"/>
                  </a:lnTo>
                  <a:lnTo>
                    <a:pt x="2090927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283700" y="2706369"/>
            <a:ext cx="107569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 nos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jours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01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Introduire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</a:t>
            </a:r>
            <a:r>
              <a:rPr spc="-25" dirty="0">
                <a:solidFill>
                  <a:srgbClr val="007842"/>
                </a:solidFill>
              </a:rPr>
              <a:t> POO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Brève</a:t>
            </a:r>
            <a:r>
              <a:rPr sz="1600" spc="-6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historique</a:t>
            </a:r>
            <a:r>
              <a:rPr sz="1600" spc="-1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20" dirty="0">
                <a:solidFill>
                  <a:srgbClr val="007842"/>
                </a:solidFill>
              </a:rPr>
              <a:t>l’évolution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25" dirty="0">
                <a:solidFill>
                  <a:srgbClr val="007842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3704005"/>
            <a:ext cx="6816725" cy="114490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partir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années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80,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principes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appliqués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nombreux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langages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Eiffel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créé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Français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Bertrand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Meyer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C++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extension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langage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créé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Danois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Bjarne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Stroustrup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Objective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autre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extension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utilisé,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entre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autres,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l'iOS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d'Apple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65961" y="1972055"/>
            <a:ext cx="9214485" cy="1786255"/>
            <a:chOff x="965961" y="1972055"/>
            <a:chExt cx="9214485" cy="1786255"/>
          </a:xfrm>
        </p:grpSpPr>
        <p:sp>
          <p:nvSpPr>
            <p:cNvPr id="12" name="object 12"/>
            <p:cNvSpPr/>
            <p:nvPr/>
          </p:nvSpPr>
          <p:spPr>
            <a:xfrm>
              <a:off x="1716023" y="1972055"/>
              <a:ext cx="8464550" cy="1786255"/>
            </a:xfrm>
            <a:custGeom>
              <a:avLst/>
              <a:gdLst/>
              <a:ahLst/>
              <a:cxnLst/>
              <a:rect l="l" t="t" r="r" b="b"/>
              <a:pathLst>
                <a:path w="8464550" h="1786254">
                  <a:moveTo>
                    <a:pt x="7571232" y="0"/>
                  </a:moveTo>
                  <a:lnTo>
                    <a:pt x="7571232" y="446532"/>
                  </a:lnTo>
                  <a:lnTo>
                    <a:pt x="0" y="446532"/>
                  </a:lnTo>
                  <a:lnTo>
                    <a:pt x="0" y="1339596"/>
                  </a:lnTo>
                  <a:lnTo>
                    <a:pt x="7571232" y="1339596"/>
                  </a:lnTo>
                  <a:lnTo>
                    <a:pt x="7571232" y="1786128"/>
                  </a:lnTo>
                  <a:lnTo>
                    <a:pt x="8464296" y="893064"/>
                  </a:lnTo>
                  <a:lnTo>
                    <a:pt x="7571232" y="0"/>
                  </a:lnTo>
                  <a:close/>
                </a:path>
              </a:pathLst>
            </a:custGeom>
            <a:solidFill>
              <a:srgbClr val="D2D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311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2093976" y="0"/>
                  </a:moveTo>
                  <a:lnTo>
                    <a:pt x="118872" y="0"/>
                  </a:lnTo>
                  <a:lnTo>
                    <a:pt x="72603" y="9340"/>
                  </a:lnTo>
                  <a:lnTo>
                    <a:pt x="34818" y="34813"/>
                  </a:lnTo>
                  <a:lnTo>
                    <a:pt x="9342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2" y="640633"/>
                  </a:lnTo>
                  <a:lnTo>
                    <a:pt x="34818" y="678418"/>
                  </a:lnTo>
                  <a:lnTo>
                    <a:pt x="72603" y="703891"/>
                  </a:lnTo>
                  <a:lnTo>
                    <a:pt x="118872" y="713232"/>
                  </a:lnTo>
                  <a:lnTo>
                    <a:pt x="2093976" y="713232"/>
                  </a:lnTo>
                  <a:lnTo>
                    <a:pt x="2140249" y="703891"/>
                  </a:lnTo>
                  <a:lnTo>
                    <a:pt x="2178034" y="678418"/>
                  </a:lnTo>
                  <a:lnTo>
                    <a:pt x="2203507" y="640633"/>
                  </a:lnTo>
                  <a:lnTo>
                    <a:pt x="2212848" y="594360"/>
                  </a:lnTo>
                  <a:lnTo>
                    <a:pt x="2212848" y="118872"/>
                  </a:lnTo>
                  <a:lnTo>
                    <a:pt x="2203507" y="72598"/>
                  </a:lnTo>
                  <a:lnTo>
                    <a:pt x="2178034" y="34813"/>
                  </a:lnTo>
                  <a:lnTo>
                    <a:pt x="2140249" y="9340"/>
                  </a:lnTo>
                  <a:lnTo>
                    <a:pt x="209397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311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0" y="118872"/>
                  </a:moveTo>
                  <a:lnTo>
                    <a:pt x="9342" y="72598"/>
                  </a:lnTo>
                  <a:lnTo>
                    <a:pt x="34818" y="34813"/>
                  </a:lnTo>
                  <a:lnTo>
                    <a:pt x="72603" y="9340"/>
                  </a:lnTo>
                  <a:lnTo>
                    <a:pt x="118872" y="0"/>
                  </a:lnTo>
                  <a:lnTo>
                    <a:pt x="2093976" y="0"/>
                  </a:lnTo>
                  <a:lnTo>
                    <a:pt x="2140249" y="9340"/>
                  </a:lnTo>
                  <a:lnTo>
                    <a:pt x="2178034" y="34813"/>
                  </a:lnTo>
                  <a:lnTo>
                    <a:pt x="2203507" y="72598"/>
                  </a:lnTo>
                  <a:lnTo>
                    <a:pt x="2212848" y="118872"/>
                  </a:lnTo>
                  <a:lnTo>
                    <a:pt x="2212848" y="594360"/>
                  </a:lnTo>
                  <a:lnTo>
                    <a:pt x="2203507" y="640633"/>
                  </a:lnTo>
                  <a:lnTo>
                    <a:pt x="2178034" y="678418"/>
                  </a:lnTo>
                  <a:lnTo>
                    <a:pt x="2140249" y="703891"/>
                  </a:lnTo>
                  <a:lnTo>
                    <a:pt x="2093976" y="713232"/>
                  </a:lnTo>
                  <a:lnTo>
                    <a:pt x="118872" y="713232"/>
                  </a:lnTo>
                  <a:lnTo>
                    <a:pt x="72603" y="703891"/>
                  </a:lnTo>
                  <a:lnTo>
                    <a:pt x="34818" y="678418"/>
                  </a:lnTo>
                  <a:lnTo>
                    <a:pt x="9342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80819" y="2706369"/>
            <a:ext cx="11976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années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70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47617" y="2502154"/>
            <a:ext cx="2222500" cy="726440"/>
            <a:chOff x="3547617" y="2502154"/>
            <a:chExt cx="2222500" cy="726440"/>
          </a:xfrm>
        </p:grpSpPr>
        <p:sp>
          <p:nvSpPr>
            <p:cNvPr id="17" name="object 17"/>
            <p:cNvSpPr/>
            <p:nvPr/>
          </p:nvSpPr>
          <p:spPr>
            <a:xfrm>
              <a:off x="3553967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2090928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090928" y="713232"/>
                  </a:lnTo>
                  <a:lnTo>
                    <a:pt x="2137201" y="703891"/>
                  </a:lnTo>
                  <a:lnTo>
                    <a:pt x="2174986" y="678418"/>
                  </a:lnTo>
                  <a:lnTo>
                    <a:pt x="2200459" y="640633"/>
                  </a:lnTo>
                  <a:lnTo>
                    <a:pt x="2209800" y="594360"/>
                  </a:lnTo>
                  <a:lnTo>
                    <a:pt x="2209800" y="118872"/>
                  </a:lnTo>
                  <a:lnTo>
                    <a:pt x="2200459" y="72598"/>
                  </a:lnTo>
                  <a:lnTo>
                    <a:pt x="2174986" y="34813"/>
                  </a:lnTo>
                  <a:lnTo>
                    <a:pt x="2137201" y="9340"/>
                  </a:lnTo>
                  <a:lnTo>
                    <a:pt x="2090928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53967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090928" y="0"/>
                  </a:lnTo>
                  <a:lnTo>
                    <a:pt x="2137201" y="9340"/>
                  </a:lnTo>
                  <a:lnTo>
                    <a:pt x="2174986" y="34813"/>
                  </a:lnTo>
                  <a:lnTo>
                    <a:pt x="2200459" y="72598"/>
                  </a:lnTo>
                  <a:lnTo>
                    <a:pt x="2209800" y="118872"/>
                  </a:lnTo>
                  <a:lnTo>
                    <a:pt x="2209800" y="594360"/>
                  </a:lnTo>
                  <a:lnTo>
                    <a:pt x="2200459" y="640633"/>
                  </a:lnTo>
                  <a:lnTo>
                    <a:pt x="2174986" y="678418"/>
                  </a:lnTo>
                  <a:lnTo>
                    <a:pt x="2137201" y="703891"/>
                  </a:lnTo>
                  <a:lnTo>
                    <a:pt x="2090928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61586" y="2706369"/>
            <a:ext cx="119888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années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26226" y="2502154"/>
            <a:ext cx="2225675" cy="726440"/>
            <a:chOff x="6126226" y="2502154"/>
            <a:chExt cx="2225675" cy="726440"/>
          </a:xfrm>
        </p:grpSpPr>
        <p:sp>
          <p:nvSpPr>
            <p:cNvPr id="21" name="object 21"/>
            <p:cNvSpPr/>
            <p:nvPr/>
          </p:nvSpPr>
          <p:spPr>
            <a:xfrm>
              <a:off x="6132576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2093976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093976" y="713232"/>
                  </a:lnTo>
                  <a:lnTo>
                    <a:pt x="2140249" y="703891"/>
                  </a:lnTo>
                  <a:lnTo>
                    <a:pt x="2178034" y="678418"/>
                  </a:lnTo>
                  <a:lnTo>
                    <a:pt x="2203507" y="640633"/>
                  </a:lnTo>
                  <a:lnTo>
                    <a:pt x="2212848" y="594360"/>
                  </a:lnTo>
                  <a:lnTo>
                    <a:pt x="2212848" y="118872"/>
                  </a:lnTo>
                  <a:lnTo>
                    <a:pt x="2203507" y="72598"/>
                  </a:lnTo>
                  <a:lnTo>
                    <a:pt x="2178034" y="34813"/>
                  </a:lnTo>
                  <a:lnTo>
                    <a:pt x="2140249" y="9340"/>
                  </a:lnTo>
                  <a:lnTo>
                    <a:pt x="2093976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32576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093976" y="0"/>
                  </a:lnTo>
                  <a:lnTo>
                    <a:pt x="2140249" y="9340"/>
                  </a:lnTo>
                  <a:lnTo>
                    <a:pt x="2178034" y="34813"/>
                  </a:lnTo>
                  <a:lnTo>
                    <a:pt x="2203507" y="72598"/>
                  </a:lnTo>
                  <a:lnTo>
                    <a:pt x="2212848" y="118872"/>
                  </a:lnTo>
                  <a:lnTo>
                    <a:pt x="2212848" y="594360"/>
                  </a:lnTo>
                  <a:lnTo>
                    <a:pt x="2203507" y="640633"/>
                  </a:lnTo>
                  <a:lnTo>
                    <a:pt x="2178034" y="678418"/>
                  </a:lnTo>
                  <a:lnTo>
                    <a:pt x="2140249" y="703891"/>
                  </a:lnTo>
                  <a:lnTo>
                    <a:pt x="2093976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41972" y="2706369"/>
            <a:ext cx="11976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années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90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707881" y="2502154"/>
            <a:ext cx="2222500" cy="726440"/>
            <a:chOff x="8707881" y="2502154"/>
            <a:chExt cx="2222500" cy="726440"/>
          </a:xfrm>
        </p:grpSpPr>
        <p:sp>
          <p:nvSpPr>
            <p:cNvPr id="25" name="object 25"/>
            <p:cNvSpPr/>
            <p:nvPr/>
          </p:nvSpPr>
          <p:spPr>
            <a:xfrm>
              <a:off x="8714231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2090927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090927" y="713232"/>
                  </a:lnTo>
                  <a:lnTo>
                    <a:pt x="2137201" y="703891"/>
                  </a:lnTo>
                  <a:lnTo>
                    <a:pt x="2174986" y="678418"/>
                  </a:lnTo>
                  <a:lnTo>
                    <a:pt x="2200459" y="640633"/>
                  </a:lnTo>
                  <a:lnTo>
                    <a:pt x="2209800" y="594360"/>
                  </a:lnTo>
                  <a:lnTo>
                    <a:pt x="2209800" y="118872"/>
                  </a:lnTo>
                  <a:lnTo>
                    <a:pt x="2200459" y="72598"/>
                  </a:lnTo>
                  <a:lnTo>
                    <a:pt x="2174986" y="34813"/>
                  </a:lnTo>
                  <a:lnTo>
                    <a:pt x="2137201" y="9340"/>
                  </a:lnTo>
                  <a:lnTo>
                    <a:pt x="2090927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14231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090927" y="0"/>
                  </a:lnTo>
                  <a:lnTo>
                    <a:pt x="2137201" y="9340"/>
                  </a:lnTo>
                  <a:lnTo>
                    <a:pt x="2174986" y="34813"/>
                  </a:lnTo>
                  <a:lnTo>
                    <a:pt x="2200459" y="72598"/>
                  </a:lnTo>
                  <a:lnTo>
                    <a:pt x="2209800" y="118872"/>
                  </a:lnTo>
                  <a:lnTo>
                    <a:pt x="2209800" y="594360"/>
                  </a:lnTo>
                  <a:lnTo>
                    <a:pt x="2200459" y="640633"/>
                  </a:lnTo>
                  <a:lnTo>
                    <a:pt x="2174986" y="678418"/>
                  </a:lnTo>
                  <a:lnTo>
                    <a:pt x="2137201" y="703891"/>
                  </a:lnTo>
                  <a:lnTo>
                    <a:pt x="2090927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286747" y="2706369"/>
            <a:ext cx="106934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 nos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jours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01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Introduire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</a:t>
            </a:r>
            <a:r>
              <a:rPr spc="-25" dirty="0">
                <a:solidFill>
                  <a:srgbClr val="007842"/>
                </a:solidFill>
              </a:rPr>
              <a:t> POO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Brève</a:t>
            </a:r>
            <a:r>
              <a:rPr sz="1600" spc="-6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historique</a:t>
            </a:r>
            <a:r>
              <a:rPr sz="1600" spc="-1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20" dirty="0">
                <a:solidFill>
                  <a:srgbClr val="007842"/>
                </a:solidFill>
              </a:rPr>
              <a:t>l’évolution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25" dirty="0">
                <a:solidFill>
                  <a:srgbClr val="007842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1049223" y="3772280"/>
            <a:ext cx="6741795" cy="441959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9085" marR="5080" indent="-287020">
              <a:lnSpc>
                <a:spcPts val="1610"/>
              </a:lnSpc>
              <a:spcBef>
                <a:spcPts val="2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années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1990</a:t>
            </a:r>
            <a:r>
              <a:rPr sz="1400" spc="45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ont</a:t>
            </a:r>
            <a:r>
              <a:rPr sz="1400" spc="4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vu</a:t>
            </a:r>
            <a:r>
              <a:rPr sz="1400" spc="4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l'avènement</a:t>
            </a:r>
            <a:r>
              <a:rPr sz="14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4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POOs</a:t>
            </a:r>
            <a:r>
              <a:rPr sz="1400" spc="4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4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nombreux</a:t>
            </a:r>
            <a:r>
              <a:rPr sz="14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secteurs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du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développement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logiciel,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création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langage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Java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société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Microsystems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65961" y="1972055"/>
            <a:ext cx="9214485" cy="1786255"/>
            <a:chOff x="965961" y="1972055"/>
            <a:chExt cx="9214485" cy="1786255"/>
          </a:xfrm>
        </p:grpSpPr>
        <p:sp>
          <p:nvSpPr>
            <p:cNvPr id="12" name="object 12"/>
            <p:cNvSpPr/>
            <p:nvPr/>
          </p:nvSpPr>
          <p:spPr>
            <a:xfrm>
              <a:off x="1716023" y="1972055"/>
              <a:ext cx="8464550" cy="1786255"/>
            </a:xfrm>
            <a:custGeom>
              <a:avLst/>
              <a:gdLst/>
              <a:ahLst/>
              <a:cxnLst/>
              <a:rect l="l" t="t" r="r" b="b"/>
              <a:pathLst>
                <a:path w="8464550" h="1786254">
                  <a:moveTo>
                    <a:pt x="7571232" y="0"/>
                  </a:moveTo>
                  <a:lnTo>
                    <a:pt x="7571232" y="446532"/>
                  </a:lnTo>
                  <a:lnTo>
                    <a:pt x="0" y="446532"/>
                  </a:lnTo>
                  <a:lnTo>
                    <a:pt x="0" y="1339596"/>
                  </a:lnTo>
                  <a:lnTo>
                    <a:pt x="7571232" y="1339596"/>
                  </a:lnTo>
                  <a:lnTo>
                    <a:pt x="7571232" y="1786128"/>
                  </a:lnTo>
                  <a:lnTo>
                    <a:pt x="8464296" y="893064"/>
                  </a:lnTo>
                  <a:lnTo>
                    <a:pt x="7571232" y="0"/>
                  </a:lnTo>
                  <a:close/>
                </a:path>
              </a:pathLst>
            </a:custGeom>
            <a:solidFill>
              <a:srgbClr val="D2D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311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2093976" y="0"/>
                  </a:moveTo>
                  <a:lnTo>
                    <a:pt x="118872" y="0"/>
                  </a:lnTo>
                  <a:lnTo>
                    <a:pt x="72603" y="9340"/>
                  </a:lnTo>
                  <a:lnTo>
                    <a:pt x="34818" y="34813"/>
                  </a:lnTo>
                  <a:lnTo>
                    <a:pt x="9342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2" y="640633"/>
                  </a:lnTo>
                  <a:lnTo>
                    <a:pt x="34818" y="678418"/>
                  </a:lnTo>
                  <a:lnTo>
                    <a:pt x="72603" y="703891"/>
                  </a:lnTo>
                  <a:lnTo>
                    <a:pt x="118872" y="713232"/>
                  </a:lnTo>
                  <a:lnTo>
                    <a:pt x="2093976" y="713232"/>
                  </a:lnTo>
                  <a:lnTo>
                    <a:pt x="2140249" y="703891"/>
                  </a:lnTo>
                  <a:lnTo>
                    <a:pt x="2178034" y="678418"/>
                  </a:lnTo>
                  <a:lnTo>
                    <a:pt x="2203507" y="640633"/>
                  </a:lnTo>
                  <a:lnTo>
                    <a:pt x="2212848" y="594360"/>
                  </a:lnTo>
                  <a:lnTo>
                    <a:pt x="2212848" y="118872"/>
                  </a:lnTo>
                  <a:lnTo>
                    <a:pt x="2203507" y="72598"/>
                  </a:lnTo>
                  <a:lnTo>
                    <a:pt x="2178034" y="34813"/>
                  </a:lnTo>
                  <a:lnTo>
                    <a:pt x="2140249" y="9340"/>
                  </a:lnTo>
                  <a:lnTo>
                    <a:pt x="209397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311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0" y="118872"/>
                  </a:moveTo>
                  <a:lnTo>
                    <a:pt x="9342" y="72598"/>
                  </a:lnTo>
                  <a:lnTo>
                    <a:pt x="34818" y="34813"/>
                  </a:lnTo>
                  <a:lnTo>
                    <a:pt x="72603" y="9340"/>
                  </a:lnTo>
                  <a:lnTo>
                    <a:pt x="118872" y="0"/>
                  </a:lnTo>
                  <a:lnTo>
                    <a:pt x="2093976" y="0"/>
                  </a:lnTo>
                  <a:lnTo>
                    <a:pt x="2140249" y="9340"/>
                  </a:lnTo>
                  <a:lnTo>
                    <a:pt x="2178034" y="34813"/>
                  </a:lnTo>
                  <a:lnTo>
                    <a:pt x="2203507" y="72598"/>
                  </a:lnTo>
                  <a:lnTo>
                    <a:pt x="2212848" y="118872"/>
                  </a:lnTo>
                  <a:lnTo>
                    <a:pt x="2212848" y="594360"/>
                  </a:lnTo>
                  <a:lnTo>
                    <a:pt x="2203507" y="640633"/>
                  </a:lnTo>
                  <a:lnTo>
                    <a:pt x="2178034" y="678418"/>
                  </a:lnTo>
                  <a:lnTo>
                    <a:pt x="2140249" y="703891"/>
                  </a:lnTo>
                  <a:lnTo>
                    <a:pt x="2093976" y="713232"/>
                  </a:lnTo>
                  <a:lnTo>
                    <a:pt x="118872" y="713232"/>
                  </a:lnTo>
                  <a:lnTo>
                    <a:pt x="72603" y="703891"/>
                  </a:lnTo>
                  <a:lnTo>
                    <a:pt x="34818" y="678418"/>
                  </a:lnTo>
                  <a:lnTo>
                    <a:pt x="9342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80819" y="2706369"/>
            <a:ext cx="11976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années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70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47617" y="2502154"/>
            <a:ext cx="2222500" cy="726440"/>
            <a:chOff x="3547617" y="2502154"/>
            <a:chExt cx="2222500" cy="726440"/>
          </a:xfrm>
        </p:grpSpPr>
        <p:sp>
          <p:nvSpPr>
            <p:cNvPr id="17" name="object 17"/>
            <p:cNvSpPr/>
            <p:nvPr/>
          </p:nvSpPr>
          <p:spPr>
            <a:xfrm>
              <a:off x="3553967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2090928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090928" y="713232"/>
                  </a:lnTo>
                  <a:lnTo>
                    <a:pt x="2137201" y="703891"/>
                  </a:lnTo>
                  <a:lnTo>
                    <a:pt x="2174986" y="678418"/>
                  </a:lnTo>
                  <a:lnTo>
                    <a:pt x="2200459" y="640633"/>
                  </a:lnTo>
                  <a:lnTo>
                    <a:pt x="2209800" y="594360"/>
                  </a:lnTo>
                  <a:lnTo>
                    <a:pt x="2209800" y="118872"/>
                  </a:lnTo>
                  <a:lnTo>
                    <a:pt x="2200459" y="72598"/>
                  </a:lnTo>
                  <a:lnTo>
                    <a:pt x="2174986" y="34813"/>
                  </a:lnTo>
                  <a:lnTo>
                    <a:pt x="2137201" y="9340"/>
                  </a:lnTo>
                  <a:lnTo>
                    <a:pt x="2090928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53967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090928" y="0"/>
                  </a:lnTo>
                  <a:lnTo>
                    <a:pt x="2137201" y="9340"/>
                  </a:lnTo>
                  <a:lnTo>
                    <a:pt x="2174986" y="34813"/>
                  </a:lnTo>
                  <a:lnTo>
                    <a:pt x="2200459" y="72598"/>
                  </a:lnTo>
                  <a:lnTo>
                    <a:pt x="2209800" y="118872"/>
                  </a:lnTo>
                  <a:lnTo>
                    <a:pt x="2209800" y="594360"/>
                  </a:lnTo>
                  <a:lnTo>
                    <a:pt x="2200459" y="640633"/>
                  </a:lnTo>
                  <a:lnTo>
                    <a:pt x="2174986" y="678418"/>
                  </a:lnTo>
                  <a:lnTo>
                    <a:pt x="2137201" y="703891"/>
                  </a:lnTo>
                  <a:lnTo>
                    <a:pt x="2090928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61586" y="2706369"/>
            <a:ext cx="11976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années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26226" y="2502154"/>
            <a:ext cx="2225675" cy="726440"/>
            <a:chOff x="6126226" y="2502154"/>
            <a:chExt cx="2225675" cy="726440"/>
          </a:xfrm>
        </p:grpSpPr>
        <p:sp>
          <p:nvSpPr>
            <p:cNvPr id="21" name="object 21"/>
            <p:cNvSpPr/>
            <p:nvPr/>
          </p:nvSpPr>
          <p:spPr>
            <a:xfrm>
              <a:off x="6132576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2093976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093976" y="713232"/>
                  </a:lnTo>
                  <a:lnTo>
                    <a:pt x="2140249" y="703891"/>
                  </a:lnTo>
                  <a:lnTo>
                    <a:pt x="2178034" y="678418"/>
                  </a:lnTo>
                  <a:lnTo>
                    <a:pt x="2203507" y="640633"/>
                  </a:lnTo>
                  <a:lnTo>
                    <a:pt x="2212848" y="594360"/>
                  </a:lnTo>
                  <a:lnTo>
                    <a:pt x="2212848" y="118872"/>
                  </a:lnTo>
                  <a:lnTo>
                    <a:pt x="2203507" y="72598"/>
                  </a:lnTo>
                  <a:lnTo>
                    <a:pt x="2178034" y="34813"/>
                  </a:lnTo>
                  <a:lnTo>
                    <a:pt x="2140249" y="9340"/>
                  </a:lnTo>
                  <a:lnTo>
                    <a:pt x="2093976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32576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093976" y="0"/>
                  </a:lnTo>
                  <a:lnTo>
                    <a:pt x="2140249" y="9340"/>
                  </a:lnTo>
                  <a:lnTo>
                    <a:pt x="2178034" y="34813"/>
                  </a:lnTo>
                  <a:lnTo>
                    <a:pt x="2203507" y="72598"/>
                  </a:lnTo>
                  <a:lnTo>
                    <a:pt x="2212848" y="118872"/>
                  </a:lnTo>
                  <a:lnTo>
                    <a:pt x="2212848" y="594360"/>
                  </a:lnTo>
                  <a:lnTo>
                    <a:pt x="2203507" y="640633"/>
                  </a:lnTo>
                  <a:lnTo>
                    <a:pt x="2178034" y="678418"/>
                  </a:lnTo>
                  <a:lnTo>
                    <a:pt x="2140249" y="703891"/>
                  </a:lnTo>
                  <a:lnTo>
                    <a:pt x="2093976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41972" y="2706369"/>
            <a:ext cx="11976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années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90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707881" y="2502154"/>
            <a:ext cx="2222500" cy="726440"/>
            <a:chOff x="8707881" y="2502154"/>
            <a:chExt cx="2222500" cy="726440"/>
          </a:xfrm>
        </p:grpSpPr>
        <p:sp>
          <p:nvSpPr>
            <p:cNvPr id="25" name="object 25"/>
            <p:cNvSpPr/>
            <p:nvPr/>
          </p:nvSpPr>
          <p:spPr>
            <a:xfrm>
              <a:off x="8714231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2090927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090927" y="713232"/>
                  </a:lnTo>
                  <a:lnTo>
                    <a:pt x="2137201" y="703891"/>
                  </a:lnTo>
                  <a:lnTo>
                    <a:pt x="2174986" y="678418"/>
                  </a:lnTo>
                  <a:lnTo>
                    <a:pt x="2200459" y="640633"/>
                  </a:lnTo>
                  <a:lnTo>
                    <a:pt x="2209800" y="594360"/>
                  </a:lnTo>
                  <a:lnTo>
                    <a:pt x="2209800" y="118872"/>
                  </a:lnTo>
                  <a:lnTo>
                    <a:pt x="2200459" y="72598"/>
                  </a:lnTo>
                  <a:lnTo>
                    <a:pt x="2174986" y="34813"/>
                  </a:lnTo>
                  <a:lnTo>
                    <a:pt x="2137201" y="9340"/>
                  </a:lnTo>
                  <a:lnTo>
                    <a:pt x="2090927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14231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090927" y="0"/>
                  </a:lnTo>
                  <a:lnTo>
                    <a:pt x="2137201" y="9340"/>
                  </a:lnTo>
                  <a:lnTo>
                    <a:pt x="2174986" y="34813"/>
                  </a:lnTo>
                  <a:lnTo>
                    <a:pt x="2200459" y="72598"/>
                  </a:lnTo>
                  <a:lnTo>
                    <a:pt x="2209800" y="118872"/>
                  </a:lnTo>
                  <a:lnTo>
                    <a:pt x="2209800" y="594360"/>
                  </a:lnTo>
                  <a:lnTo>
                    <a:pt x="2200459" y="640633"/>
                  </a:lnTo>
                  <a:lnTo>
                    <a:pt x="2174986" y="678418"/>
                  </a:lnTo>
                  <a:lnTo>
                    <a:pt x="2137201" y="703891"/>
                  </a:lnTo>
                  <a:lnTo>
                    <a:pt x="2090927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286747" y="2706369"/>
            <a:ext cx="106934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 nos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jours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01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Introduire</a:t>
            </a:r>
            <a:r>
              <a:rPr spc="-4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spc="-25" dirty="0">
                <a:solidFill>
                  <a:srgbClr val="007842"/>
                </a:solidFill>
              </a:rPr>
              <a:t>POO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Brève</a:t>
            </a:r>
            <a:r>
              <a:rPr sz="1600" spc="-6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historique</a:t>
            </a:r>
            <a:r>
              <a:rPr sz="1600" spc="-1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20" dirty="0">
                <a:solidFill>
                  <a:srgbClr val="007842"/>
                </a:solidFill>
              </a:rPr>
              <a:t>l’évolution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25" dirty="0">
                <a:solidFill>
                  <a:srgbClr val="007842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1049223" y="3704005"/>
            <a:ext cx="9069705" cy="14249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jours,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très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nombreux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langages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permettent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d'utiliser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principes 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domaines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variés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tels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PHP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(à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partir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version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5),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VB.NET,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PowerShell,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Python,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etc.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65961" y="1972055"/>
            <a:ext cx="9214485" cy="1786255"/>
            <a:chOff x="965961" y="1972055"/>
            <a:chExt cx="9214485" cy="1786255"/>
          </a:xfrm>
        </p:grpSpPr>
        <p:sp>
          <p:nvSpPr>
            <p:cNvPr id="12" name="object 12"/>
            <p:cNvSpPr/>
            <p:nvPr/>
          </p:nvSpPr>
          <p:spPr>
            <a:xfrm>
              <a:off x="1716023" y="1972055"/>
              <a:ext cx="8464550" cy="1786255"/>
            </a:xfrm>
            <a:custGeom>
              <a:avLst/>
              <a:gdLst/>
              <a:ahLst/>
              <a:cxnLst/>
              <a:rect l="l" t="t" r="r" b="b"/>
              <a:pathLst>
                <a:path w="8464550" h="1786254">
                  <a:moveTo>
                    <a:pt x="7571232" y="0"/>
                  </a:moveTo>
                  <a:lnTo>
                    <a:pt x="7571232" y="446532"/>
                  </a:lnTo>
                  <a:lnTo>
                    <a:pt x="0" y="446532"/>
                  </a:lnTo>
                  <a:lnTo>
                    <a:pt x="0" y="1339596"/>
                  </a:lnTo>
                  <a:lnTo>
                    <a:pt x="7571232" y="1339596"/>
                  </a:lnTo>
                  <a:lnTo>
                    <a:pt x="7571232" y="1786128"/>
                  </a:lnTo>
                  <a:lnTo>
                    <a:pt x="8464296" y="893064"/>
                  </a:lnTo>
                  <a:lnTo>
                    <a:pt x="7571232" y="0"/>
                  </a:lnTo>
                  <a:close/>
                </a:path>
              </a:pathLst>
            </a:custGeom>
            <a:solidFill>
              <a:srgbClr val="D2D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311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2093976" y="0"/>
                  </a:moveTo>
                  <a:lnTo>
                    <a:pt x="118872" y="0"/>
                  </a:lnTo>
                  <a:lnTo>
                    <a:pt x="72603" y="9340"/>
                  </a:lnTo>
                  <a:lnTo>
                    <a:pt x="34818" y="34813"/>
                  </a:lnTo>
                  <a:lnTo>
                    <a:pt x="9342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2" y="640633"/>
                  </a:lnTo>
                  <a:lnTo>
                    <a:pt x="34818" y="678418"/>
                  </a:lnTo>
                  <a:lnTo>
                    <a:pt x="72603" y="703891"/>
                  </a:lnTo>
                  <a:lnTo>
                    <a:pt x="118872" y="713232"/>
                  </a:lnTo>
                  <a:lnTo>
                    <a:pt x="2093976" y="713232"/>
                  </a:lnTo>
                  <a:lnTo>
                    <a:pt x="2140249" y="703891"/>
                  </a:lnTo>
                  <a:lnTo>
                    <a:pt x="2178034" y="678418"/>
                  </a:lnTo>
                  <a:lnTo>
                    <a:pt x="2203507" y="640633"/>
                  </a:lnTo>
                  <a:lnTo>
                    <a:pt x="2212848" y="594360"/>
                  </a:lnTo>
                  <a:lnTo>
                    <a:pt x="2212848" y="118872"/>
                  </a:lnTo>
                  <a:lnTo>
                    <a:pt x="2203507" y="72598"/>
                  </a:lnTo>
                  <a:lnTo>
                    <a:pt x="2178034" y="34813"/>
                  </a:lnTo>
                  <a:lnTo>
                    <a:pt x="2140249" y="9340"/>
                  </a:lnTo>
                  <a:lnTo>
                    <a:pt x="209397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311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0" y="118872"/>
                  </a:moveTo>
                  <a:lnTo>
                    <a:pt x="9342" y="72598"/>
                  </a:lnTo>
                  <a:lnTo>
                    <a:pt x="34818" y="34813"/>
                  </a:lnTo>
                  <a:lnTo>
                    <a:pt x="72603" y="9340"/>
                  </a:lnTo>
                  <a:lnTo>
                    <a:pt x="118872" y="0"/>
                  </a:lnTo>
                  <a:lnTo>
                    <a:pt x="2093976" y="0"/>
                  </a:lnTo>
                  <a:lnTo>
                    <a:pt x="2140249" y="9340"/>
                  </a:lnTo>
                  <a:lnTo>
                    <a:pt x="2178034" y="34813"/>
                  </a:lnTo>
                  <a:lnTo>
                    <a:pt x="2203507" y="72598"/>
                  </a:lnTo>
                  <a:lnTo>
                    <a:pt x="2212848" y="118872"/>
                  </a:lnTo>
                  <a:lnTo>
                    <a:pt x="2212848" y="594360"/>
                  </a:lnTo>
                  <a:lnTo>
                    <a:pt x="2203507" y="640633"/>
                  </a:lnTo>
                  <a:lnTo>
                    <a:pt x="2178034" y="678418"/>
                  </a:lnTo>
                  <a:lnTo>
                    <a:pt x="2140249" y="703891"/>
                  </a:lnTo>
                  <a:lnTo>
                    <a:pt x="2093976" y="713232"/>
                  </a:lnTo>
                  <a:lnTo>
                    <a:pt x="118872" y="713232"/>
                  </a:lnTo>
                  <a:lnTo>
                    <a:pt x="72603" y="703891"/>
                  </a:lnTo>
                  <a:lnTo>
                    <a:pt x="34818" y="678418"/>
                  </a:lnTo>
                  <a:lnTo>
                    <a:pt x="9342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80819" y="2706369"/>
            <a:ext cx="11976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années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70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47617" y="2502154"/>
            <a:ext cx="2222500" cy="726440"/>
            <a:chOff x="3547617" y="2502154"/>
            <a:chExt cx="2222500" cy="726440"/>
          </a:xfrm>
        </p:grpSpPr>
        <p:sp>
          <p:nvSpPr>
            <p:cNvPr id="17" name="object 17"/>
            <p:cNvSpPr/>
            <p:nvPr/>
          </p:nvSpPr>
          <p:spPr>
            <a:xfrm>
              <a:off x="3553967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2090928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090928" y="713232"/>
                  </a:lnTo>
                  <a:lnTo>
                    <a:pt x="2137201" y="703891"/>
                  </a:lnTo>
                  <a:lnTo>
                    <a:pt x="2174986" y="678418"/>
                  </a:lnTo>
                  <a:lnTo>
                    <a:pt x="2200459" y="640633"/>
                  </a:lnTo>
                  <a:lnTo>
                    <a:pt x="2209800" y="594360"/>
                  </a:lnTo>
                  <a:lnTo>
                    <a:pt x="2209800" y="118872"/>
                  </a:lnTo>
                  <a:lnTo>
                    <a:pt x="2200459" y="72598"/>
                  </a:lnTo>
                  <a:lnTo>
                    <a:pt x="2174986" y="34813"/>
                  </a:lnTo>
                  <a:lnTo>
                    <a:pt x="2137201" y="9340"/>
                  </a:lnTo>
                  <a:lnTo>
                    <a:pt x="2090928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53967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090928" y="0"/>
                  </a:lnTo>
                  <a:lnTo>
                    <a:pt x="2137201" y="9340"/>
                  </a:lnTo>
                  <a:lnTo>
                    <a:pt x="2174986" y="34813"/>
                  </a:lnTo>
                  <a:lnTo>
                    <a:pt x="2200459" y="72598"/>
                  </a:lnTo>
                  <a:lnTo>
                    <a:pt x="2209800" y="118872"/>
                  </a:lnTo>
                  <a:lnTo>
                    <a:pt x="2209800" y="594360"/>
                  </a:lnTo>
                  <a:lnTo>
                    <a:pt x="2200459" y="640633"/>
                  </a:lnTo>
                  <a:lnTo>
                    <a:pt x="2174986" y="678418"/>
                  </a:lnTo>
                  <a:lnTo>
                    <a:pt x="2137201" y="703891"/>
                  </a:lnTo>
                  <a:lnTo>
                    <a:pt x="2090928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61586" y="2706369"/>
            <a:ext cx="11976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années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26226" y="2502154"/>
            <a:ext cx="2225675" cy="726440"/>
            <a:chOff x="6126226" y="2502154"/>
            <a:chExt cx="2225675" cy="726440"/>
          </a:xfrm>
        </p:grpSpPr>
        <p:sp>
          <p:nvSpPr>
            <p:cNvPr id="21" name="object 21"/>
            <p:cNvSpPr/>
            <p:nvPr/>
          </p:nvSpPr>
          <p:spPr>
            <a:xfrm>
              <a:off x="6132576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2093976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093976" y="713232"/>
                  </a:lnTo>
                  <a:lnTo>
                    <a:pt x="2140249" y="703891"/>
                  </a:lnTo>
                  <a:lnTo>
                    <a:pt x="2178034" y="678418"/>
                  </a:lnTo>
                  <a:lnTo>
                    <a:pt x="2203507" y="640633"/>
                  </a:lnTo>
                  <a:lnTo>
                    <a:pt x="2212848" y="594360"/>
                  </a:lnTo>
                  <a:lnTo>
                    <a:pt x="2212848" y="118872"/>
                  </a:lnTo>
                  <a:lnTo>
                    <a:pt x="2203507" y="72598"/>
                  </a:lnTo>
                  <a:lnTo>
                    <a:pt x="2178034" y="34813"/>
                  </a:lnTo>
                  <a:lnTo>
                    <a:pt x="2140249" y="9340"/>
                  </a:lnTo>
                  <a:lnTo>
                    <a:pt x="2093976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32576" y="2508504"/>
              <a:ext cx="2212975" cy="713740"/>
            </a:xfrm>
            <a:custGeom>
              <a:avLst/>
              <a:gdLst/>
              <a:ahLst/>
              <a:cxnLst/>
              <a:rect l="l" t="t" r="r" b="b"/>
              <a:pathLst>
                <a:path w="2212975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093976" y="0"/>
                  </a:lnTo>
                  <a:lnTo>
                    <a:pt x="2140249" y="9340"/>
                  </a:lnTo>
                  <a:lnTo>
                    <a:pt x="2178034" y="34813"/>
                  </a:lnTo>
                  <a:lnTo>
                    <a:pt x="2203507" y="72598"/>
                  </a:lnTo>
                  <a:lnTo>
                    <a:pt x="2212848" y="118872"/>
                  </a:lnTo>
                  <a:lnTo>
                    <a:pt x="2212848" y="594360"/>
                  </a:lnTo>
                  <a:lnTo>
                    <a:pt x="2203507" y="640633"/>
                  </a:lnTo>
                  <a:lnTo>
                    <a:pt x="2178034" y="678418"/>
                  </a:lnTo>
                  <a:lnTo>
                    <a:pt x="2140249" y="703891"/>
                  </a:lnTo>
                  <a:lnTo>
                    <a:pt x="2093976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41972" y="2706369"/>
            <a:ext cx="11976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années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90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707881" y="2502154"/>
            <a:ext cx="2222500" cy="726440"/>
            <a:chOff x="8707881" y="2502154"/>
            <a:chExt cx="2222500" cy="726440"/>
          </a:xfrm>
        </p:grpSpPr>
        <p:sp>
          <p:nvSpPr>
            <p:cNvPr id="25" name="object 25"/>
            <p:cNvSpPr/>
            <p:nvPr/>
          </p:nvSpPr>
          <p:spPr>
            <a:xfrm>
              <a:off x="8714231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2090927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090927" y="713232"/>
                  </a:lnTo>
                  <a:lnTo>
                    <a:pt x="2137201" y="703891"/>
                  </a:lnTo>
                  <a:lnTo>
                    <a:pt x="2174986" y="678418"/>
                  </a:lnTo>
                  <a:lnTo>
                    <a:pt x="2200459" y="640633"/>
                  </a:lnTo>
                  <a:lnTo>
                    <a:pt x="2209800" y="594360"/>
                  </a:lnTo>
                  <a:lnTo>
                    <a:pt x="2209800" y="118872"/>
                  </a:lnTo>
                  <a:lnTo>
                    <a:pt x="2200459" y="72598"/>
                  </a:lnTo>
                  <a:lnTo>
                    <a:pt x="2174986" y="34813"/>
                  </a:lnTo>
                  <a:lnTo>
                    <a:pt x="2137201" y="9340"/>
                  </a:lnTo>
                  <a:lnTo>
                    <a:pt x="2090927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14231" y="2508504"/>
              <a:ext cx="2209800" cy="713740"/>
            </a:xfrm>
            <a:custGeom>
              <a:avLst/>
              <a:gdLst/>
              <a:ahLst/>
              <a:cxnLst/>
              <a:rect l="l" t="t" r="r" b="b"/>
              <a:pathLst>
                <a:path w="2209800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090927" y="0"/>
                  </a:lnTo>
                  <a:lnTo>
                    <a:pt x="2137201" y="9340"/>
                  </a:lnTo>
                  <a:lnTo>
                    <a:pt x="2174986" y="34813"/>
                  </a:lnTo>
                  <a:lnTo>
                    <a:pt x="2200459" y="72598"/>
                  </a:lnTo>
                  <a:lnTo>
                    <a:pt x="2209800" y="118872"/>
                  </a:lnTo>
                  <a:lnTo>
                    <a:pt x="2209800" y="594360"/>
                  </a:lnTo>
                  <a:lnTo>
                    <a:pt x="2200459" y="640633"/>
                  </a:lnTo>
                  <a:lnTo>
                    <a:pt x="2174986" y="678418"/>
                  </a:lnTo>
                  <a:lnTo>
                    <a:pt x="2137201" y="703891"/>
                  </a:lnTo>
                  <a:lnTo>
                    <a:pt x="2090927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286747" y="2706369"/>
            <a:ext cx="106934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 nos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jours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1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966329" y="1105280"/>
            <a:ext cx="2250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Introduire</a:t>
            </a:r>
            <a:r>
              <a:rPr sz="2400" b="1" spc="-8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la</a:t>
            </a:r>
            <a:r>
              <a:rPr sz="2400" b="1" spc="1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7842"/>
                </a:solidFill>
                <a:latin typeface="Calibri"/>
                <a:cs typeface="Calibri"/>
              </a:rPr>
              <a:t>POO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4987290" cy="14738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Introduction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programmation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Orientée</a:t>
            </a:r>
            <a:r>
              <a:rPr sz="16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Brève</a:t>
            </a:r>
            <a:r>
              <a:rPr sz="16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historique</a:t>
            </a:r>
            <a:r>
              <a:rPr sz="16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l’évolution</a:t>
            </a:r>
            <a:r>
              <a:rPr sz="16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langages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6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programmation</a:t>
            </a:r>
            <a:r>
              <a:rPr sz="1600" spc="-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Orientée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AutoNum type="arabicPeriod" startAt="3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Connaissance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avantages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la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POO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par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rapport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aux</a:t>
            </a:r>
            <a:endParaRPr sz="16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autres</a:t>
            </a:r>
            <a:r>
              <a:rPr sz="1600" b="1" spc="-6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paradigmes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64563"/>
            <a:ext cx="11657457" cy="5154295"/>
            <a:chOff x="0" y="1464563"/>
            <a:chExt cx="11657457" cy="5154295"/>
          </a:xfrm>
        </p:grpSpPr>
        <p:sp>
          <p:nvSpPr>
            <p:cNvPr id="4" name="object 4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11119104" y="0"/>
                  </a:moveTo>
                  <a:lnTo>
                    <a:pt x="0" y="0"/>
                  </a:lnTo>
                  <a:lnTo>
                    <a:pt x="0" y="5154168"/>
                  </a:lnTo>
                  <a:lnTo>
                    <a:pt x="11119104" y="5154168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0" y="5154168"/>
                  </a:moveTo>
                  <a:lnTo>
                    <a:pt x="11119104" y="5154168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54168"/>
                  </a:lnTo>
                  <a:close/>
                </a:path>
              </a:pathLst>
            </a:custGeom>
            <a:ln w="9524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870448"/>
              <a:ext cx="536575" cy="536575"/>
            </a:xfrm>
            <a:custGeom>
              <a:avLst/>
              <a:gdLst/>
              <a:ahLst/>
              <a:cxnLst/>
              <a:rect l="l" t="t" r="r" b="b"/>
              <a:pathLst>
                <a:path w="536575" h="536575">
                  <a:moveTo>
                    <a:pt x="268224" y="0"/>
                  </a:moveTo>
                  <a:lnTo>
                    <a:pt x="220010" y="4321"/>
                  </a:lnTo>
                  <a:lnTo>
                    <a:pt x="174631" y="16781"/>
                  </a:lnTo>
                  <a:lnTo>
                    <a:pt x="132845" y="36621"/>
                  </a:lnTo>
                  <a:lnTo>
                    <a:pt x="95410" y="63083"/>
                  </a:lnTo>
                  <a:lnTo>
                    <a:pt x="63082" y="95412"/>
                  </a:lnTo>
                  <a:lnTo>
                    <a:pt x="36620" y="132847"/>
                  </a:lnTo>
                  <a:lnTo>
                    <a:pt x="16780" y="174633"/>
                  </a:lnTo>
                  <a:lnTo>
                    <a:pt x="4321" y="220011"/>
                  </a:lnTo>
                  <a:lnTo>
                    <a:pt x="0" y="268223"/>
                  </a:lnTo>
                  <a:lnTo>
                    <a:pt x="4321" y="316436"/>
                  </a:lnTo>
                  <a:lnTo>
                    <a:pt x="16780" y="361814"/>
                  </a:lnTo>
                  <a:lnTo>
                    <a:pt x="36620" y="403600"/>
                  </a:lnTo>
                  <a:lnTo>
                    <a:pt x="63082" y="441035"/>
                  </a:lnTo>
                  <a:lnTo>
                    <a:pt x="95410" y="473364"/>
                  </a:lnTo>
                  <a:lnTo>
                    <a:pt x="132845" y="499826"/>
                  </a:lnTo>
                  <a:lnTo>
                    <a:pt x="174631" y="519666"/>
                  </a:lnTo>
                  <a:lnTo>
                    <a:pt x="220010" y="532126"/>
                  </a:lnTo>
                  <a:lnTo>
                    <a:pt x="268224" y="536447"/>
                  </a:lnTo>
                  <a:lnTo>
                    <a:pt x="536448" y="536447"/>
                  </a:lnTo>
                  <a:lnTo>
                    <a:pt x="536448" y="268223"/>
                  </a:lnTo>
                  <a:lnTo>
                    <a:pt x="532126" y="220011"/>
                  </a:lnTo>
                  <a:lnTo>
                    <a:pt x="519666" y="174633"/>
                  </a:lnTo>
                  <a:lnTo>
                    <a:pt x="499826" y="132847"/>
                  </a:lnTo>
                  <a:lnTo>
                    <a:pt x="473364" y="95412"/>
                  </a:lnTo>
                  <a:lnTo>
                    <a:pt x="441036" y="63083"/>
                  </a:lnTo>
                  <a:lnTo>
                    <a:pt x="403600" y="36621"/>
                  </a:lnTo>
                  <a:lnTo>
                    <a:pt x="361814" y="16781"/>
                  </a:lnTo>
                  <a:lnTo>
                    <a:pt x="316436" y="4321"/>
                  </a:lnTo>
                  <a:lnTo>
                    <a:pt x="26822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8876" y="384810"/>
            <a:ext cx="4653280" cy="7975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01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Introduire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</a:t>
            </a:r>
            <a:r>
              <a:rPr spc="-25" dirty="0">
                <a:solidFill>
                  <a:srgbClr val="007842"/>
                </a:solidFill>
              </a:rPr>
              <a:t> POO</a:t>
            </a:r>
          </a:p>
          <a:p>
            <a:pPr marL="22860" marR="5080">
              <a:lnSpc>
                <a:spcPts val="1730"/>
              </a:lnSpc>
              <a:spcBef>
                <a:spcPts val="250"/>
              </a:spcBef>
            </a:pPr>
            <a:r>
              <a:rPr sz="1600" dirty="0">
                <a:solidFill>
                  <a:srgbClr val="007842"/>
                </a:solidFill>
              </a:rPr>
              <a:t>Connaissance</a:t>
            </a:r>
            <a:r>
              <a:rPr sz="1600" spc="-5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des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avantages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la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POO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par</a:t>
            </a:r>
            <a:r>
              <a:rPr sz="1600" spc="-2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rapport</a:t>
            </a:r>
            <a:r>
              <a:rPr sz="1600" spc="-50" dirty="0">
                <a:solidFill>
                  <a:srgbClr val="007842"/>
                </a:solidFill>
              </a:rPr>
              <a:t> </a:t>
            </a:r>
            <a:r>
              <a:rPr sz="1600" spc="-25" dirty="0">
                <a:solidFill>
                  <a:srgbClr val="007842"/>
                </a:solidFill>
              </a:rPr>
              <a:t>aux </a:t>
            </a:r>
            <a:r>
              <a:rPr sz="1600" dirty="0">
                <a:solidFill>
                  <a:srgbClr val="007842"/>
                </a:solidFill>
              </a:rPr>
              <a:t>autres</a:t>
            </a:r>
            <a:r>
              <a:rPr sz="1600" spc="-5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paradigmes</a:t>
            </a:r>
            <a:endParaRPr sz="1600"/>
          </a:p>
        </p:txBody>
      </p:sp>
      <p:sp>
        <p:nvSpPr>
          <p:cNvPr id="17" name="object 17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18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2718054"/>
            <a:ext cx="4502785" cy="112839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296545" marR="5080" indent="-284480" algn="just">
              <a:lnSpc>
                <a:spcPct val="95300"/>
              </a:lnSpc>
              <a:spcBef>
                <a:spcPts val="1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Modularité</a:t>
            </a:r>
            <a:r>
              <a:rPr sz="1400" b="1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forment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modules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compacts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regroupant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ensemble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d'opérations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ce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réduit</a:t>
            </a:r>
            <a:r>
              <a:rPr sz="1400" b="1" spc="1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1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complexité</a:t>
            </a:r>
            <a:r>
              <a:rPr sz="1400" b="1" spc="16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16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l’application</a:t>
            </a:r>
            <a:r>
              <a:rPr sz="1400" b="1" spc="16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(classe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=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module)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Abstraction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6182" y="3888994"/>
            <a:ext cx="4044950" cy="11252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99085" marR="5080" indent="-287020" algn="just">
              <a:lnSpc>
                <a:spcPct val="95100"/>
              </a:lnSpc>
              <a:spcBef>
                <a:spcPts val="175"/>
              </a:spcBef>
              <a:buFont typeface="Arial MT"/>
              <a:buChar char="•"/>
              <a:tabLst>
                <a:tab pos="299085" algn="l"/>
                <a:tab pos="33655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Les entités objets de la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proches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celles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3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monde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réel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(objet</a:t>
            </a:r>
            <a:r>
              <a:rPr sz="1400" spc="3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4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3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compte,</a:t>
            </a:r>
            <a:r>
              <a:rPr sz="1400" spc="4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stagiaire,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formateur,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etc.).</a:t>
            </a:r>
            <a:endParaRPr sz="1400">
              <a:latin typeface="Calibri"/>
              <a:cs typeface="Calibri"/>
            </a:endParaRPr>
          </a:p>
          <a:p>
            <a:pPr marL="297815" indent="-285115" algn="just">
              <a:lnSpc>
                <a:spcPts val="1630"/>
              </a:lnSpc>
              <a:spcBef>
                <a:spcPts val="525"/>
              </a:spcBef>
              <a:buFont typeface="Arial MT"/>
              <a:buChar char="•"/>
              <a:tabLst>
                <a:tab pos="29781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processus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consiste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3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masquer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détails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pertinents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l’utilisateur.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6182" y="5057013"/>
            <a:ext cx="4045585" cy="112839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just">
              <a:lnSpc>
                <a:spcPct val="95000"/>
              </a:lnSpc>
              <a:spcBef>
                <a:spcPts val="17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2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3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envoyez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SMS,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vous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tapez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simplement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message,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sélectionnez</a:t>
            </a:r>
            <a:r>
              <a:rPr sz="1400" spc="48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contact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et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cliquez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Envoyer</a:t>
            </a:r>
            <a:endParaRPr sz="1400">
              <a:latin typeface="Calibri"/>
              <a:cs typeface="Calibri"/>
            </a:endParaRPr>
          </a:p>
          <a:p>
            <a:pPr marL="12700" marR="8255" algn="just">
              <a:lnSpc>
                <a:spcPts val="1610"/>
              </a:lnSpc>
              <a:spcBef>
                <a:spcPts val="640"/>
              </a:spcBef>
            </a:pP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434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45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45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passe</a:t>
            </a:r>
            <a:r>
              <a:rPr sz="1400" spc="45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réellement</a:t>
            </a:r>
            <a:r>
              <a:rPr sz="1400" spc="4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arrière-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plan</a:t>
            </a:r>
            <a:r>
              <a:rPr sz="1400" spc="4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est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masqué car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n’est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pertinent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vous.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1476758"/>
            <a:ext cx="4497070" cy="12020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Motivation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avantages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la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POO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645"/>
              </a:lnSpc>
              <a:spcBef>
                <a:spcPts val="844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Motivation</a:t>
            </a:r>
            <a:r>
              <a:rPr sz="1400" b="1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concevoir,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maintenir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exploiter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facilement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gros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logiciels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Avantages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6458" y="1952370"/>
            <a:ext cx="14128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Réutilisabilité</a:t>
            </a:r>
            <a:r>
              <a:rPr sz="14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3658" y="2233041"/>
            <a:ext cx="5240020" cy="14058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9085" marR="6350" indent="-287020">
              <a:lnSpc>
                <a:spcPts val="1610"/>
              </a:lnSpc>
              <a:spcBef>
                <a:spcPts val="20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favoriser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réutilisation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composants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logiciels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même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d'architectures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complexes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459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relation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d’héritage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entre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entités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logicielles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évite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duplication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30"/>
              </a:lnSpc>
              <a:spcBef>
                <a:spcPts val="5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415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Facilité</a:t>
            </a:r>
            <a:r>
              <a:rPr sz="1400" spc="45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45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maintenance</a:t>
            </a:r>
            <a:r>
              <a:rPr sz="1400" b="1" spc="45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logicielle</a:t>
            </a:r>
            <a:r>
              <a:rPr sz="1400" b="1" spc="4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4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amélioration</a:t>
            </a:r>
            <a:r>
              <a:rPr sz="1400" spc="48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45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30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productivité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0479" y="2358897"/>
            <a:ext cx="4389755" cy="1451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que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apprendre</a:t>
            </a:r>
            <a:r>
              <a:rPr sz="18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chapitre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Comprendre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concept de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Savoir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modéliser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Savoir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composantes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7" name="object 7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38200" y="564492"/>
            <a:ext cx="10515600" cy="540788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 dirty="0"/>
          </a:p>
        </p:txBody>
      </p:sp>
      <p:sp>
        <p:nvSpPr>
          <p:cNvPr id="10" name="object 10"/>
          <p:cNvSpPr txBox="1"/>
          <p:nvPr/>
        </p:nvSpPr>
        <p:spPr>
          <a:xfrm>
            <a:off x="7963281" y="1105280"/>
            <a:ext cx="2251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6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une</a:t>
            </a:r>
            <a:r>
              <a:rPr sz="24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classe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57666" y="6263436"/>
            <a:ext cx="11417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heure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963281" y="1105280"/>
            <a:ext cx="2251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6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une</a:t>
            </a:r>
            <a:r>
              <a:rPr sz="24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classe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548255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Définition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d’une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Modélisation</a:t>
            </a:r>
            <a:r>
              <a:rPr sz="16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classe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Composantes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2280" y="1929384"/>
            <a:ext cx="3374135" cy="302971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02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Définir</a:t>
            </a:r>
            <a:r>
              <a:rPr spc="1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une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classe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Définition</a:t>
            </a:r>
            <a:r>
              <a:rPr sz="1600" spc="-5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d’une</a:t>
            </a:r>
            <a:r>
              <a:rPr sz="1600" spc="-6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classe</a:t>
            </a:r>
            <a:endParaRPr sz="1600"/>
          </a:p>
        </p:txBody>
      </p:sp>
      <p:sp>
        <p:nvSpPr>
          <p:cNvPr id="14" name="object 14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21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1476758"/>
            <a:ext cx="4503420" cy="208915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Notion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297180" indent="-284480" algn="just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correspond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généralisation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notion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l’on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rencontre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dans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langages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classiques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description</a:t>
            </a:r>
            <a:r>
              <a:rPr sz="1400" b="1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3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ensemble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d’objets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ayant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structure</a:t>
            </a:r>
            <a:r>
              <a:rPr sz="1400" b="1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b="1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commune</a:t>
            </a:r>
            <a:r>
              <a:rPr sz="1400" b="1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même 	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comportement</a:t>
            </a:r>
            <a:endParaRPr sz="1400">
              <a:latin typeface="Calibri"/>
              <a:cs typeface="Calibri"/>
            </a:endParaRPr>
          </a:p>
          <a:p>
            <a:pPr marL="296545" marR="6350" indent="-284480" algn="just">
              <a:lnSpc>
                <a:spcPts val="1580"/>
              </a:lnSpc>
              <a:spcBef>
                <a:spcPts val="66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moules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patrons</a:t>
            </a:r>
            <a:r>
              <a:rPr sz="1400" b="1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b="1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permettent 	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créer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série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modèle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963281" y="1105280"/>
            <a:ext cx="2251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6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une</a:t>
            </a:r>
            <a:r>
              <a:rPr sz="24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classe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55651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Modélisation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d’une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Composantes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64563"/>
            <a:ext cx="11657457" cy="5154295"/>
            <a:chOff x="0" y="1464563"/>
            <a:chExt cx="11657457" cy="5154295"/>
          </a:xfrm>
        </p:grpSpPr>
        <p:sp>
          <p:nvSpPr>
            <p:cNvPr id="4" name="object 4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11119104" y="0"/>
                  </a:moveTo>
                  <a:lnTo>
                    <a:pt x="0" y="0"/>
                  </a:lnTo>
                  <a:lnTo>
                    <a:pt x="0" y="5154168"/>
                  </a:lnTo>
                  <a:lnTo>
                    <a:pt x="11119104" y="5154168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0" y="5154168"/>
                  </a:moveTo>
                  <a:lnTo>
                    <a:pt x="11119104" y="5154168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54168"/>
                  </a:lnTo>
                  <a:close/>
                </a:path>
              </a:pathLst>
            </a:custGeom>
            <a:ln w="9524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870448"/>
              <a:ext cx="536575" cy="536575"/>
            </a:xfrm>
            <a:custGeom>
              <a:avLst/>
              <a:gdLst/>
              <a:ahLst/>
              <a:cxnLst/>
              <a:rect l="l" t="t" r="r" b="b"/>
              <a:pathLst>
                <a:path w="536575" h="536575">
                  <a:moveTo>
                    <a:pt x="268224" y="0"/>
                  </a:moveTo>
                  <a:lnTo>
                    <a:pt x="220010" y="4321"/>
                  </a:lnTo>
                  <a:lnTo>
                    <a:pt x="174631" y="16781"/>
                  </a:lnTo>
                  <a:lnTo>
                    <a:pt x="132845" y="36621"/>
                  </a:lnTo>
                  <a:lnTo>
                    <a:pt x="95410" y="63083"/>
                  </a:lnTo>
                  <a:lnTo>
                    <a:pt x="63082" y="95412"/>
                  </a:lnTo>
                  <a:lnTo>
                    <a:pt x="36620" y="132847"/>
                  </a:lnTo>
                  <a:lnTo>
                    <a:pt x="16780" y="174633"/>
                  </a:lnTo>
                  <a:lnTo>
                    <a:pt x="4321" y="220011"/>
                  </a:lnTo>
                  <a:lnTo>
                    <a:pt x="0" y="268223"/>
                  </a:lnTo>
                  <a:lnTo>
                    <a:pt x="4321" y="316436"/>
                  </a:lnTo>
                  <a:lnTo>
                    <a:pt x="16780" y="361814"/>
                  </a:lnTo>
                  <a:lnTo>
                    <a:pt x="36620" y="403600"/>
                  </a:lnTo>
                  <a:lnTo>
                    <a:pt x="63082" y="441035"/>
                  </a:lnTo>
                  <a:lnTo>
                    <a:pt x="95410" y="473364"/>
                  </a:lnTo>
                  <a:lnTo>
                    <a:pt x="132845" y="499826"/>
                  </a:lnTo>
                  <a:lnTo>
                    <a:pt x="174631" y="519666"/>
                  </a:lnTo>
                  <a:lnTo>
                    <a:pt x="220010" y="532126"/>
                  </a:lnTo>
                  <a:lnTo>
                    <a:pt x="268224" y="536447"/>
                  </a:lnTo>
                  <a:lnTo>
                    <a:pt x="536448" y="536447"/>
                  </a:lnTo>
                  <a:lnTo>
                    <a:pt x="536448" y="268223"/>
                  </a:lnTo>
                  <a:lnTo>
                    <a:pt x="532126" y="220011"/>
                  </a:lnTo>
                  <a:lnTo>
                    <a:pt x="519666" y="174633"/>
                  </a:lnTo>
                  <a:lnTo>
                    <a:pt x="499826" y="132847"/>
                  </a:lnTo>
                  <a:lnTo>
                    <a:pt x="473364" y="95412"/>
                  </a:lnTo>
                  <a:lnTo>
                    <a:pt x="441036" y="63083"/>
                  </a:lnTo>
                  <a:lnTo>
                    <a:pt x="403600" y="36621"/>
                  </a:lnTo>
                  <a:lnTo>
                    <a:pt x="361814" y="16781"/>
                  </a:lnTo>
                  <a:lnTo>
                    <a:pt x="316436" y="4321"/>
                  </a:lnTo>
                  <a:lnTo>
                    <a:pt x="26822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855" y="2468880"/>
            <a:ext cx="5230367" cy="239268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02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Définir</a:t>
            </a:r>
            <a:r>
              <a:rPr spc="1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une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classe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7842"/>
                </a:solidFill>
              </a:rPr>
              <a:t>Modélisation</a:t>
            </a:r>
            <a:r>
              <a:rPr sz="1600" spc="-2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d’une</a:t>
            </a:r>
            <a:r>
              <a:rPr sz="1600" spc="-2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classe</a:t>
            </a:r>
            <a:endParaRPr sz="1600"/>
          </a:p>
        </p:txBody>
      </p:sp>
      <p:sp>
        <p:nvSpPr>
          <p:cNvPr id="18" name="object 18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23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6182" y="2168194"/>
            <a:ext cx="2392045" cy="5867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99085" algn="l"/>
                <a:tab pos="735330" algn="l"/>
                <a:tab pos="1780539" algn="l"/>
              </a:tabLst>
            </a:pP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composante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statique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59200" y="2516886"/>
            <a:ext cx="154432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1295" algn="l"/>
                <a:tab pos="591820" algn="l"/>
                <a:tab pos="1286510" algn="l"/>
              </a:tabLst>
            </a:pP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champs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(ou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3050" y="2718054"/>
            <a:ext cx="37553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7575" algn="l"/>
                <a:tab pos="1240790" algn="l"/>
                <a:tab pos="2347595" algn="l"/>
                <a:tab pos="2877820" algn="l"/>
                <a:tab pos="329882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).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Ils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caractérisent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l’état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6182" y="2854249"/>
            <a:ext cx="4048760" cy="139763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algn="just">
              <a:lnSpc>
                <a:spcPct val="100000"/>
              </a:lnSpc>
              <a:spcBef>
                <a:spcPts val="630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pendant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l’exécution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programme</a:t>
            </a:r>
            <a:endParaRPr sz="1400">
              <a:latin typeface="Calibri"/>
              <a:cs typeface="Calibri"/>
            </a:endParaRPr>
          </a:p>
          <a:p>
            <a:pPr marL="297180" marR="5080" indent="-285115" algn="just">
              <a:lnSpc>
                <a:spcPct val="95000"/>
              </a:lnSpc>
              <a:spcBef>
                <a:spcPts val="61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16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composante</a:t>
            </a:r>
            <a:r>
              <a:rPr sz="1400" b="1" spc="1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dynamique</a:t>
            </a:r>
            <a:r>
              <a:rPr sz="1400" b="1" spc="1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18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méthodes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représentant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comportement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cette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classe.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Elles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manipulent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champs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caractérisent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actions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pouvant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effectuées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8982" y="1476758"/>
            <a:ext cx="261874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Modélisation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d’une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caractérisée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963281" y="1105280"/>
            <a:ext cx="2251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6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une</a:t>
            </a:r>
            <a:r>
              <a:rPr sz="24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classe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591435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Modélisation</a:t>
            </a:r>
            <a:r>
              <a:rPr sz="16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classe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Composantes</a:t>
            </a:r>
            <a:r>
              <a:rPr sz="1600" b="1" spc="-7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02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Définir</a:t>
            </a:r>
            <a:r>
              <a:rPr spc="1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une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classe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7842"/>
                </a:solidFill>
              </a:rPr>
              <a:t>Composantes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d’une</a:t>
            </a:r>
            <a:r>
              <a:rPr sz="1600" spc="-2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classe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955673"/>
            <a:ext cx="4501515" cy="722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également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champ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donnée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membre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propriété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défini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par: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6182" y="2649524"/>
            <a:ext cx="2889250" cy="86741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nom,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initiale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(éventuellement)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3487616"/>
            <a:ext cx="4283075" cy="868044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simple: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entier,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réel,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chaine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caractères,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caractère,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etc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classe: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Etudiant,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Voiture,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etc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1602105"/>
            <a:ext cx="6934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Attribut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40652" y="2199132"/>
            <a:ext cx="2057400" cy="338455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668655">
              <a:lnSpc>
                <a:spcPct val="100000"/>
              </a:lnSpc>
              <a:spcBef>
                <a:spcPts val="250"/>
              </a:spcBef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40652" y="2537460"/>
            <a:ext cx="2057400" cy="1061085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Nom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chaine</a:t>
            </a:r>
            <a:endParaRPr sz="1200">
              <a:latin typeface="Calibri"/>
              <a:cs typeface="Calibri"/>
            </a:endParaRPr>
          </a:p>
          <a:p>
            <a:pPr marL="91440" marR="765810">
              <a:lnSpc>
                <a:spcPct val="100000"/>
              </a:lnSpc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CIN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2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entier anneeNaiss:</a:t>
            </a:r>
            <a:r>
              <a:rPr sz="1200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chaine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note1,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note2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réel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40652" y="4853940"/>
            <a:ext cx="2057400" cy="332740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50"/>
              </a:spcBef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Voiture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740652" y="5186171"/>
            <a:ext cx="2057400" cy="731520"/>
          </a:xfrm>
          <a:custGeom>
            <a:avLst/>
            <a:gdLst/>
            <a:ahLst/>
            <a:cxnLst/>
            <a:rect l="l" t="t" r="r" b="b"/>
            <a:pathLst>
              <a:path w="2057400" h="731520">
                <a:moveTo>
                  <a:pt x="0" y="731519"/>
                </a:moveTo>
                <a:lnTo>
                  <a:pt x="2057400" y="731519"/>
                </a:lnTo>
                <a:lnTo>
                  <a:pt x="2057400" y="0"/>
                </a:lnTo>
                <a:lnTo>
                  <a:pt x="0" y="0"/>
                </a:lnTo>
                <a:lnTo>
                  <a:pt x="0" y="731519"/>
                </a:lnTo>
                <a:close/>
              </a:path>
            </a:pathLst>
          </a:custGeom>
          <a:ln w="28575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754939" y="5257291"/>
            <a:ext cx="20288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 marR="93853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Marque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chaine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Couleur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chaine </a:t>
            </a:r>
            <a:r>
              <a:rPr sz="1200" b="1" spc="-10" dirty="0">
                <a:solidFill>
                  <a:srgbClr val="001F5F"/>
                </a:solidFill>
                <a:latin typeface="Calibri"/>
                <a:cs typeface="Calibri"/>
              </a:rPr>
              <a:t>MT:Moteur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61347" y="4853940"/>
            <a:ext cx="2057400" cy="332740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50"/>
              </a:spcBef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Moteur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61347" y="5186171"/>
            <a:ext cx="2057400" cy="731520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Marque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chaine</a:t>
            </a:r>
            <a:endParaRPr sz="12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Puissance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chaine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59652" y="5673852"/>
            <a:ext cx="454659" cy="192405"/>
          </a:xfrm>
          <a:custGeom>
            <a:avLst/>
            <a:gdLst/>
            <a:ahLst/>
            <a:cxnLst/>
            <a:rect l="l" t="t" r="r" b="b"/>
            <a:pathLst>
              <a:path w="454659" h="192404">
                <a:moveTo>
                  <a:pt x="454151" y="192024"/>
                </a:moveTo>
                <a:lnTo>
                  <a:pt x="382402" y="191208"/>
                </a:lnTo>
                <a:lnTo>
                  <a:pt x="320070" y="188936"/>
                </a:lnTo>
                <a:lnTo>
                  <a:pt x="270906" y="185473"/>
                </a:lnTo>
                <a:lnTo>
                  <a:pt x="227075" y="176022"/>
                </a:lnTo>
                <a:lnTo>
                  <a:pt x="227075" y="124091"/>
                </a:lnTo>
                <a:lnTo>
                  <a:pt x="215493" y="119038"/>
                </a:lnTo>
                <a:lnTo>
                  <a:pt x="183245" y="114645"/>
                </a:lnTo>
                <a:lnTo>
                  <a:pt x="134081" y="111180"/>
                </a:lnTo>
                <a:lnTo>
                  <a:pt x="71749" y="108906"/>
                </a:lnTo>
                <a:lnTo>
                  <a:pt x="0" y="108089"/>
                </a:lnTo>
                <a:lnTo>
                  <a:pt x="71749" y="107274"/>
                </a:lnTo>
                <a:lnTo>
                  <a:pt x="134081" y="105003"/>
                </a:lnTo>
                <a:lnTo>
                  <a:pt x="183245" y="101541"/>
                </a:lnTo>
                <a:lnTo>
                  <a:pt x="215493" y="97152"/>
                </a:lnTo>
                <a:lnTo>
                  <a:pt x="227075" y="92100"/>
                </a:lnTo>
                <a:lnTo>
                  <a:pt x="227075" y="16002"/>
                </a:lnTo>
                <a:lnTo>
                  <a:pt x="238658" y="10943"/>
                </a:lnTo>
                <a:lnTo>
                  <a:pt x="270906" y="6550"/>
                </a:lnTo>
                <a:lnTo>
                  <a:pt x="320070" y="3087"/>
                </a:lnTo>
                <a:lnTo>
                  <a:pt x="382402" y="815"/>
                </a:lnTo>
                <a:lnTo>
                  <a:pt x="454151" y="0"/>
                </a:lnTo>
              </a:path>
            </a:pathLst>
          </a:custGeom>
          <a:ln w="28575">
            <a:solidFill>
              <a:srgbClr val="FF7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438647" y="5533440"/>
            <a:ext cx="87312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6680" marR="5080" indent="-94615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Attribut</a:t>
            </a:r>
            <a:r>
              <a:rPr sz="14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de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type</a:t>
            </a:r>
            <a:r>
              <a:rPr sz="14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objet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29283" y="4582667"/>
            <a:ext cx="1758950" cy="433070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520065">
              <a:lnSpc>
                <a:spcPct val="100000"/>
              </a:lnSpc>
              <a:spcBef>
                <a:spcPts val="635"/>
              </a:spcBef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29283" y="5015484"/>
            <a:ext cx="1758950" cy="1225550"/>
          </a:xfrm>
          <a:custGeom>
            <a:avLst/>
            <a:gdLst/>
            <a:ahLst/>
            <a:cxnLst/>
            <a:rect l="l" t="t" r="r" b="b"/>
            <a:pathLst>
              <a:path w="1758950" h="1225550">
                <a:moveTo>
                  <a:pt x="0" y="1225296"/>
                </a:moveTo>
                <a:lnTo>
                  <a:pt x="1758695" y="1225296"/>
                </a:lnTo>
                <a:lnTo>
                  <a:pt x="1758695" y="0"/>
                </a:lnTo>
                <a:lnTo>
                  <a:pt x="0" y="0"/>
                </a:lnTo>
                <a:lnTo>
                  <a:pt x="0" y="1225296"/>
                </a:lnTo>
                <a:close/>
              </a:path>
            </a:pathLst>
          </a:custGeom>
          <a:ln w="28575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43571" y="5287213"/>
            <a:ext cx="17303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Nom :</a:t>
            </a:r>
            <a:r>
              <a:rPr sz="14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chaine</a:t>
            </a:r>
            <a:endParaRPr sz="1400">
              <a:latin typeface="Calibri"/>
              <a:cs typeface="Calibri"/>
            </a:endParaRPr>
          </a:p>
          <a:p>
            <a:pPr marL="75565">
              <a:lnSpc>
                <a:spcPct val="100000"/>
              </a:lnSpc>
            </a:pP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CIN</a:t>
            </a:r>
            <a:r>
              <a:rPr sz="14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entier</a:t>
            </a:r>
            <a:endParaRPr sz="1400">
              <a:latin typeface="Calibri"/>
              <a:cs typeface="Calibri"/>
            </a:endParaRPr>
          </a:p>
          <a:p>
            <a:pPr marL="75565">
              <a:lnSpc>
                <a:spcPct val="100000"/>
              </a:lnSpc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anneeNaiss</a:t>
            </a:r>
            <a:r>
              <a:rPr sz="1400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4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chaine</a:t>
            </a:r>
            <a:endParaRPr sz="1400">
              <a:latin typeface="Calibri"/>
              <a:cs typeface="Calibri"/>
            </a:endParaRPr>
          </a:p>
          <a:p>
            <a:pPr marL="75565">
              <a:lnSpc>
                <a:spcPct val="100000"/>
              </a:lnSpc>
            </a:pP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note1,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note2</a:t>
            </a:r>
            <a:r>
              <a:rPr sz="14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4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01F5F"/>
                </a:solidFill>
                <a:latin typeface="Calibri"/>
                <a:cs typeface="Calibri"/>
              </a:rPr>
              <a:t>réel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92907" y="5311140"/>
            <a:ext cx="701040" cy="929640"/>
          </a:xfrm>
          <a:custGeom>
            <a:avLst/>
            <a:gdLst/>
            <a:ahLst/>
            <a:cxnLst/>
            <a:rect l="l" t="t" r="r" b="b"/>
            <a:pathLst>
              <a:path w="701039" h="929639">
                <a:moveTo>
                  <a:pt x="0" y="0"/>
                </a:moveTo>
                <a:lnTo>
                  <a:pt x="70630" y="1187"/>
                </a:lnTo>
                <a:lnTo>
                  <a:pt x="136421" y="4591"/>
                </a:lnTo>
                <a:lnTo>
                  <a:pt x="195961" y="9978"/>
                </a:lnTo>
                <a:lnTo>
                  <a:pt x="247840" y="17113"/>
                </a:lnTo>
                <a:lnTo>
                  <a:pt x="290646" y="25759"/>
                </a:lnTo>
                <a:lnTo>
                  <a:pt x="343397" y="46648"/>
                </a:lnTo>
                <a:lnTo>
                  <a:pt x="350519" y="58420"/>
                </a:lnTo>
                <a:lnTo>
                  <a:pt x="350519" y="415264"/>
                </a:lnTo>
                <a:lnTo>
                  <a:pt x="357642" y="427040"/>
                </a:lnTo>
                <a:lnTo>
                  <a:pt x="410393" y="447930"/>
                </a:lnTo>
                <a:lnTo>
                  <a:pt x="453199" y="456576"/>
                </a:lnTo>
                <a:lnTo>
                  <a:pt x="505078" y="463709"/>
                </a:lnTo>
                <a:lnTo>
                  <a:pt x="564618" y="469094"/>
                </a:lnTo>
                <a:lnTo>
                  <a:pt x="630409" y="472497"/>
                </a:lnTo>
                <a:lnTo>
                  <a:pt x="701040" y="473684"/>
                </a:lnTo>
                <a:lnTo>
                  <a:pt x="630409" y="474871"/>
                </a:lnTo>
                <a:lnTo>
                  <a:pt x="564618" y="478276"/>
                </a:lnTo>
                <a:lnTo>
                  <a:pt x="505078" y="483663"/>
                </a:lnTo>
                <a:lnTo>
                  <a:pt x="453199" y="490797"/>
                </a:lnTo>
                <a:lnTo>
                  <a:pt x="410393" y="499444"/>
                </a:lnTo>
                <a:lnTo>
                  <a:pt x="357642" y="520332"/>
                </a:lnTo>
                <a:lnTo>
                  <a:pt x="350519" y="532104"/>
                </a:lnTo>
                <a:lnTo>
                  <a:pt x="350519" y="871220"/>
                </a:lnTo>
                <a:lnTo>
                  <a:pt x="343397" y="882995"/>
                </a:lnTo>
                <a:lnTo>
                  <a:pt x="290646" y="903885"/>
                </a:lnTo>
                <a:lnTo>
                  <a:pt x="247840" y="912531"/>
                </a:lnTo>
                <a:lnTo>
                  <a:pt x="195961" y="919664"/>
                </a:lnTo>
                <a:lnTo>
                  <a:pt x="136421" y="925049"/>
                </a:lnTo>
                <a:lnTo>
                  <a:pt x="70630" y="928453"/>
                </a:lnTo>
                <a:lnTo>
                  <a:pt x="0" y="929640"/>
                </a:lnTo>
              </a:path>
            </a:pathLst>
          </a:custGeom>
          <a:ln w="28575">
            <a:solidFill>
              <a:srgbClr val="FF7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540633" y="5577636"/>
            <a:ext cx="90360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Attributs</a:t>
            </a:r>
            <a:r>
              <a:rPr sz="14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de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type</a:t>
            </a:r>
            <a:r>
              <a:rPr sz="14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simple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6182" y="3411416"/>
            <a:ext cx="3467100" cy="58737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nomObjet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référence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l’objet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nomAttribut</a:t>
            </a:r>
            <a:r>
              <a:rPr sz="140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l’attribut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502150" cy="11258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Accès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aux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attributs</a:t>
            </a:r>
            <a:endParaRPr sz="16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800"/>
              </a:lnSpc>
              <a:spcBef>
                <a:spcPts val="9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accéder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indique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nom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référence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l'objet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suivi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l’attribut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l’objet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manière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6458" y="3199637"/>
            <a:ext cx="12998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Protégée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(#)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6458" y="4038091"/>
            <a:ext cx="106807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Privée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(-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)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96458" y="1952370"/>
            <a:ext cx="5695315" cy="2600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visibilité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définit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droits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d’accès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Publique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(+)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: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Toute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accéder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endParaRPr sz="1400">
              <a:latin typeface="Calibri"/>
              <a:cs typeface="Calibri"/>
            </a:endParaRPr>
          </a:p>
          <a:p>
            <a:pPr marL="7562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niveau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visibilité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publique.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L’accès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réservé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héritières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voir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ultérieurement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Héritage)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00"/>
              </a:spcBef>
              <a:buClr>
                <a:srgbClr val="555555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L’accès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limité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elle-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6458" y="1598802"/>
            <a:ext cx="18707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Visibilité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attributs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13332" y="2823972"/>
            <a:ext cx="2880360" cy="368935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225"/>
              </a:spcBef>
            </a:pP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nomObjet.</a:t>
            </a:r>
            <a:r>
              <a:rPr sz="18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nomAttribut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9519" y="4587240"/>
            <a:ext cx="2538983" cy="2008632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02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Définir</a:t>
            </a:r>
            <a:r>
              <a:rPr spc="1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une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classe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7842"/>
                </a:solidFill>
              </a:rPr>
              <a:t>Composantes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d’une</a:t>
            </a:r>
            <a:r>
              <a:rPr sz="1600" spc="-2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classe</a:t>
            </a:r>
            <a:endParaRPr sz="160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955673"/>
            <a:ext cx="4501515" cy="140906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96545" marR="5080" indent="-284480" algn="just">
              <a:lnSpc>
                <a:spcPct val="95800"/>
              </a:lnSpc>
              <a:spcBef>
                <a:spcPts val="16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s’avérer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nécessaire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dont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partagée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classe.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  </a:t>
            </a:r>
            <a:r>
              <a:rPr sz="1400" b="1" u="sng" spc="-25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On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	</a:t>
            </a:r>
            <a:r>
              <a:rPr sz="14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parle</a:t>
            </a:r>
            <a:r>
              <a:rPr sz="1400" b="1" u="sng" spc="-15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-2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d’attribut</a:t>
            </a:r>
            <a:r>
              <a:rPr sz="1400" b="1" u="sng" spc="25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de</a:t>
            </a:r>
            <a:r>
              <a:rPr sz="1400" b="1" u="sng" spc="-45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-1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Ces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sont,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plus,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stockées</a:t>
            </a:r>
            <a:r>
              <a:rPr sz="1400" b="1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seule</a:t>
            </a:r>
            <a:r>
              <a:rPr sz="1400" b="1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fois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instances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Accès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6182" y="3403803"/>
            <a:ext cx="40481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Depuis,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tout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autre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instance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l’aide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57971" y="1781555"/>
            <a:ext cx="2859405" cy="28384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57971" y="2065020"/>
            <a:ext cx="2859405" cy="121666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110"/>
              </a:spcBef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Nom:</a:t>
            </a:r>
            <a:r>
              <a:rPr sz="12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chaine</a:t>
            </a:r>
            <a:endParaRPr sz="1200">
              <a:latin typeface="Calibri"/>
              <a:cs typeface="Calibri"/>
            </a:endParaRPr>
          </a:p>
          <a:p>
            <a:pPr marL="92075" marR="1543685">
              <a:lnSpc>
                <a:spcPct val="100000"/>
              </a:lnSpc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CIN:</a:t>
            </a:r>
            <a:r>
              <a:rPr sz="12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entier anneeNaiss:</a:t>
            </a:r>
            <a:r>
              <a:rPr sz="12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chaine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note1,</a:t>
            </a:r>
            <a:r>
              <a:rPr sz="12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note2:</a:t>
            </a:r>
            <a:r>
              <a:rPr sz="12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555555"/>
                </a:solidFill>
                <a:latin typeface="Calibri"/>
                <a:cs typeface="Calibri"/>
              </a:rPr>
              <a:t>réel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nbEtudiants:</a:t>
            </a:r>
            <a:r>
              <a:rPr sz="1200" b="1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entier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21068" y="3028060"/>
            <a:ext cx="1118235" cy="85725"/>
          </a:xfrm>
          <a:custGeom>
            <a:avLst/>
            <a:gdLst/>
            <a:ahLst/>
            <a:cxnLst/>
            <a:rect l="l" t="t" r="r" b="b"/>
            <a:pathLst>
              <a:path w="1118234" h="85725">
                <a:moveTo>
                  <a:pt x="1032255" y="0"/>
                </a:moveTo>
                <a:lnTo>
                  <a:pt x="1032255" y="85725"/>
                </a:lnTo>
                <a:lnTo>
                  <a:pt x="1089321" y="57150"/>
                </a:lnTo>
                <a:lnTo>
                  <a:pt x="1046479" y="57150"/>
                </a:lnTo>
                <a:lnTo>
                  <a:pt x="1046479" y="28575"/>
                </a:lnTo>
                <a:lnTo>
                  <a:pt x="1089490" y="28575"/>
                </a:lnTo>
                <a:lnTo>
                  <a:pt x="1032255" y="0"/>
                </a:lnTo>
                <a:close/>
              </a:path>
              <a:path w="1118234" h="85725">
                <a:moveTo>
                  <a:pt x="103225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032255" y="57150"/>
                </a:lnTo>
                <a:lnTo>
                  <a:pt x="1032255" y="28575"/>
                </a:lnTo>
                <a:close/>
              </a:path>
              <a:path w="1118234" h="85725">
                <a:moveTo>
                  <a:pt x="1089490" y="28575"/>
                </a:moveTo>
                <a:lnTo>
                  <a:pt x="1046479" y="28575"/>
                </a:lnTo>
                <a:lnTo>
                  <a:pt x="1046479" y="57150"/>
                </a:lnTo>
                <a:lnTo>
                  <a:pt x="1089321" y="57150"/>
                </a:lnTo>
                <a:lnTo>
                  <a:pt x="1117980" y="42799"/>
                </a:lnTo>
                <a:lnTo>
                  <a:pt x="1089490" y="28575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94931" y="2711195"/>
            <a:ext cx="1298575" cy="27749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80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2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73011" y="3835908"/>
            <a:ext cx="502920" cy="307975"/>
          </a:xfrm>
          <a:custGeom>
            <a:avLst/>
            <a:gdLst/>
            <a:ahLst/>
            <a:cxnLst/>
            <a:rect l="l" t="t" r="r" b="b"/>
            <a:pathLst>
              <a:path w="502920" h="307975">
                <a:moveTo>
                  <a:pt x="0" y="307848"/>
                </a:moveTo>
                <a:lnTo>
                  <a:pt x="502920" y="307848"/>
                </a:lnTo>
                <a:lnTo>
                  <a:pt x="502920" y="0"/>
                </a:lnTo>
                <a:lnTo>
                  <a:pt x="0" y="0"/>
                </a:lnTo>
                <a:lnTo>
                  <a:pt x="0" y="307848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936748" y="5241035"/>
            <a:ext cx="1661160" cy="20764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1145">
              <a:lnSpc>
                <a:spcPts val="1575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Etudiant[objet]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36748" y="5448300"/>
            <a:ext cx="1661160" cy="795655"/>
          </a:xfrm>
          <a:custGeom>
            <a:avLst/>
            <a:gdLst/>
            <a:ahLst/>
            <a:cxnLst/>
            <a:rect l="l" t="t" r="r" b="b"/>
            <a:pathLst>
              <a:path w="1661160" h="795654">
                <a:moveTo>
                  <a:pt x="0" y="795528"/>
                </a:moveTo>
                <a:lnTo>
                  <a:pt x="1661160" y="795528"/>
                </a:lnTo>
                <a:lnTo>
                  <a:pt x="1661160" y="0"/>
                </a:lnTo>
                <a:lnTo>
                  <a:pt x="0" y="0"/>
                </a:lnTo>
                <a:lnTo>
                  <a:pt x="0" y="795528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14852" y="5504789"/>
            <a:ext cx="3784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18915" y="5533644"/>
            <a:ext cx="600710" cy="30797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39100" y="5164835"/>
            <a:ext cx="1765300" cy="21971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3215">
              <a:lnSpc>
                <a:spcPts val="1625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Etudiant[objet]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039100" y="5384291"/>
            <a:ext cx="1765300" cy="844550"/>
          </a:xfrm>
          <a:custGeom>
            <a:avLst/>
            <a:gdLst/>
            <a:ahLst/>
            <a:cxnLst/>
            <a:rect l="l" t="t" r="r" b="b"/>
            <a:pathLst>
              <a:path w="1765300" h="844550">
                <a:moveTo>
                  <a:pt x="0" y="844296"/>
                </a:moveTo>
                <a:lnTo>
                  <a:pt x="1764792" y="844296"/>
                </a:lnTo>
                <a:lnTo>
                  <a:pt x="1764792" y="0"/>
                </a:lnTo>
                <a:lnTo>
                  <a:pt x="0" y="0"/>
                </a:lnTo>
                <a:lnTo>
                  <a:pt x="0" y="844296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117585" y="5465470"/>
            <a:ext cx="3784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31635" y="5661659"/>
            <a:ext cx="506095" cy="307975"/>
          </a:xfrm>
          <a:custGeom>
            <a:avLst/>
            <a:gdLst/>
            <a:ahLst/>
            <a:cxnLst/>
            <a:rect l="l" t="t" r="r" b="b"/>
            <a:pathLst>
              <a:path w="506095" h="307975">
                <a:moveTo>
                  <a:pt x="0" y="307847"/>
                </a:moveTo>
                <a:lnTo>
                  <a:pt x="505967" y="307847"/>
                </a:lnTo>
                <a:lnTo>
                  <a:pt x="505967" y="0"/>
                </a:lnTo>
                <a:lnTo>
                  <a:pt x="0" y="0"/>
                </a:lnTo>
                <a:lnTo>
                  <a:pt x="0" y="307847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494972" y="3504628"/>
          <a:ext cx="1927225" cy="2754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425">
                <a:tc gridSpan="3">
                  <a:txBody>
                    <a:bodyPr/>
                    <a:lstStyle/>
                    <a:p>
                      <a:pPr marL="368935">
                        <a:lnSpc>
                          <a:spcPts val="1645"/>
                        </a:lnSpc>
                      </a:pPr>
                      <a:r>
                        <a:rPr sz="14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Etudiant[classe]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569">
                <a:tc gridSpan="3"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55"/>
                        </a:spcBef>
                        <a:tabLst>
                          <a:tab pos="1245235" algn="l"/>
                        </a:tabLst>
                      </a:pPr>
                      <a:r>
                        <a:rPr sz="14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nbEtudiants</a:t>
                      </a:r>
                      <a:r>
                        <a:rPr sz="14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2100" b="1" spc="-75" baseline="-5952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00" baseline="-5952">
                        <a:latin typeface="Calibri"/>
                        <a:cs typeface="Calibri"/>
                      </a:endParaRPr>
                    </a:p>
                  </a:txBody>
                  <a:tcPr marL="0" marR="0" marT="108585" marB="0">
                    <a:lnL w="6350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58A0"/>
                      </a:solidFill>
                      <a:prstDash val="sysDash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58A0"/>
                      </a:solidFill>
                      <a:prstDash val="sysDash"/>
                    </a:lnL>
                    <a:lnT w="28575">
                      <a:solidFill>
                        <a:srgbClr val="0058A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490">
                <a:tc gridSpan="2"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Etudiant[objet]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58A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 gridSpan="2">
                  <a:txBody>
                    <a:bodyPr/>
                    <a:lstStyle/>
                    <a:p>
                      <a:pPr marL="116839">
                        <a:lnSpc>
                          <a:spcPts val="1310"/>
                        </a:lnSpc>
                        <a:spcBef>
                          <a:spcPts val="290"/>
                        </a:spcBef>
                      </a:pPr>
                      <a:r>
                        <a:rPr sz="1400" b="1" spc="-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Nom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0820" algn="ctr">
                        <a:lnSpc>
                          <a:spcPts val="1310"/>
                        </a:lnSpc>
                      </a:pPr>
                      <a:r>
                        <a:rPr sz="1400" b="1" spc="-5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58A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8599931" y="5515355"/>
            <a:ext cx="594360" cy="30797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95"/>
              </a:spcBef>
            </a:pP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z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646932" y="4183379"/>
            <a:ext cx="5273675" cy="902969"/>
          </a:xfrm>
          <a:custGeom>
            <a:avLst/>
            <a:gdLst/>
            <a:ahLst/>
            <a:cxnLst/>
            <a:rect l="l" t="t" r="r" b="b"/>
            <a:pathLst>
              <a:path w="5273675" h="902970">
                <a:moveTo>
                  <a:pt x="1723516" y="0"/>
                </a:moveTo>
                <a:lnTo>
                  <a:pt x="0" y="902716"/>
                </a:lnTo>
              </a:path>
              <a:path w="5273675" h="902970">
                <a:moveTo>
                  <a:pt x="3886199" y="137160"/>
                </a:moveTo>
                <a:lnTo>
                  <a:pt x="5273547" y="881507"/>
                </a:lnTo>
              </a:path>
            </a:pathLst>
          </a:custGeom>
          <a:ln w="28575">
            <a:solidFill>
              <a:srgbClr val="0058A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02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Définir</a:t>
            </a:r>
            <a:r>
              <a:rPr spc="1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une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classe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Composantes</a:t>
            </a:r>
            <a:r>
              <a:rPr sz="1600" spc="-6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classe</a:t>
            </a:r>
            <a:endParaRPr sz="160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955673"/>
            <a:ext cx="4499610" cy="441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b="1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particulière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invoquée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implicitement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création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98982" y="2440686"/>
            <a:ext cx="4504690" cy="14058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96545" marR="10160" indent="-284480" algn="just">
              <a:lnSpc>
                <a:spcPts val="1580"/>
              </a:lnSpc>
              <a:spcBef>
                <a:spcPts val="2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4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b="1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d'initialiser</a:t>
            </a:r>
            <a:r>
              <a:rPr sz="1400" b="1" spc="4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43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43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(les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attributs)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dépend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doit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avoir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 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retour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100"/>
              </a:lnSpc>
              <a:spcBef>
                <a:spcPts val="61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posséder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constructeurs,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mais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n'aura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produit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seul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1602105"/>
            <a:ext cx="11214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Constructeur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6458" y="1952370"/>
            <a:ext cx="20745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défaut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53658" y="2233041"/>
            <a:ext cx="4813300" cy="11283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6545" marR="5715" indent="-284480" algn="just">
              <a:lnSpc>
                <a:spcPts val="1610"/>
              </a:lnSpc>
              <a:spcBef>
                <a:spcPts val="20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sans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aucun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paramètre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défaut</a:t>
            </a:r>
            <a:endParaRPr sz="1400">
              <a:latin typeface="Calibri"/>
              <a:cs typeface="Calibri"/>
            </a:endParaRPr>
          </a:p>
          <a:p>
            <a:pPr marL="297180" marR="5080" indent="-285115" algn="just">
              <a:lnSpc>
                <a:spcPct val="958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nous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créons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constructeur,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appellera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automatiquement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défaut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lorsqu’un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objet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créé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6458" y="3400501"/>
            <a:ext cx="213233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b="1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paramétré: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10857" y="3681476"/>
            <a:ext cx="4355465" cy="441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moins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s’appelle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paramétré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96458" y="4162755"/>
            <a:ext cx="197358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b="1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copie: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10857" y="4443729"/>
            <a:ext cx="4353560" cy="441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copiant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donnée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autre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s’appelle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copie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96458" y="1598802"/>
            <a:ext cx="198628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Types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Constructeurs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02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4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Définir</a:t>
            </a:r>
            <a:r>
              <a:rPr spc="1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une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classe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7842"/>
                </a:solidFill>
              </a:rPr>
              <a:t>Composantes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d’une</a:t>
            </a:r>
            <a:r>
              <a:rPr sz="1600" spc="-2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classe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02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Définir</a:t>
            </a:r>
            <a:r>
              <a:rPr spc="1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une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classe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7842"/>
                </a:solidFill>
              </a:rPr>
              <a:t>Composantes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d’une</a:t>
            </a:r>
            <a:r>
              <a:rPr sz="1600" spc="-2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classe</a:t>
            </a:r>
            <a:endParaRPr sz="160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502150" cy="231775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Destructeur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destructeur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particulière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destruction</a:t>
            </a:r>
            <a:r>
              <a:rPr sz="1400" b="1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non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référencé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destructeur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doit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avoir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retour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destructeurs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Gérer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erreurs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Libérer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ressources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utilisées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manière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certaine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Assurer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fermeture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certaines parties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code.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6458" y="2233041"/>
            <a:ext cx="5699760" cy="13296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96545" marR="5080" indent="-284480" algn="just">
              <a:lnSpc>
                <a:spcPct val="95000"/>
              </a:lnSpc>
              <a:spcBef>
                <a:spcPts val="17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langages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utilisent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ramasse-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miettes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(exemple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Python)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n'offrent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mécanisme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destructeurs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puisque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programmeur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gère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pas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lui-même</a:t>
            </a:r>
            <a:endParaRPr sz="1400">
              <a:latin typeface="Calibri"/>
              <a:cs typeface="Calibri"/>
            </a:endParaRPr>
          </a:p>
          <a:p>
            <a:pPr marL="756285" marR="137795" lvl="1" indent="-287020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ramasse-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miettes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programme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gestion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automatique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mémoire.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responsable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recyclage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mémoire préalablement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allouée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puis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inutilisée.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0479" y="2358897"/>
            <a:ext cx="4814570" cy="1375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que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apprendre</a:t>
            </a:r>
            <a:r>
              <a:rPr sz="18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chapitre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Comprendre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concept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d’objet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concept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d’instanciation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endParaRPr sz="16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destruction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600" spc="-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7" name="object 7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38200" y="316406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3</a:t>
            </a:r>
            <a:endParaRPr sz="2800" dirty="0"/>
          </a:p>
        </p:txBody>
      </p:sp>
      <p:sp>
        <p:nvSpPr>
          <p:cNvPr id="10" name="object 10"/>
          <p:cNvSpPr txBox="1"/>
          <p:nvPr/>
        </p:nvSpPr>
        <p:spPr>
          <a:xfrm>
            <a:off x="8173593" y="1105280"/>
            <a:ext cx="1833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Créer</a:t>
            </a:r>
            <a:r>
              <a:rPr sz="24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un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7842"/>
                </a:solidFill>
                <a:latin typeface="Calibri"/>
                <a:cs typeface="Calibri"/>
              </a:rPr>
              <a:t>objet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57666" y="6263436"/>
            <a:ext cx="11417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heure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8200" y="390384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3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8173593" y="1105280"/>
            <a:ext cx="1833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Créer</a:t>
            </a:r>
            <a:r>
              <a:rPr sz="24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un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7842"/>
                </a:solidFill>
                <a:latin typeface="Calibri"/>
                <a:cs typeface="Calibri"/>
              </a:rPr>
              <a:t>objet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966085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Définition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Instanciation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Destruction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explicite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64563"/>
            <a:ext cx="11657457" cy="5154295"/>
            <a:chOff x="0" y="1464563"/>
            <a:chExt cx="11657457" cy="5154295"/>
          </a:xfrm>
        </p:grpSpPr>
        <p:sp>
          <p:nvSpPr>
            <p:cNvPr id="4" name="object 4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11119104" y="0"/>
                  </a:moveTo>
                  <a:lnTo>
                    <a:pt x="0" y="0"/>
                  </a:lnTo>
                  <a:lnTo>
                    <a:pt x="0" y="5154168"/>
                  </a:lnTo>
                  <a:lnTo>
                    <a:pt x="11119104" y="5154168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0" y="5154168"/>
                  </a:moveTo>
                  <a:lnTo>
                    <a:pt x="11119104" y="5154168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54168"/>
                  </a:lnTo>
                  <a:close/>
                </a:path>
              </a:pathLst>
            </a:custGeom>
            <a:ln w="9524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870448"/>
              <a:ext cx="536575" cy="536575"/>
            </a:xfrm>
            <a:custGeom>
              <a:avLst/>
              <a:gdLst/>
              <a:ahLst/>
              <a:cxnLst/>
              <a:rect l="l" t="t" r="r" b="b"/>
              <a:pathLst>
                <a:path w="536575" h="536575">
                  <a:moveTo>
                    <a:pt x="268224" y="0"/>
                  </a:moveTo>
                  <a:lnTo>
                    <a:pt x="220010" y="4321"/>
                  </a:lnTo>
                  <a:lnTo>
                    <a:pt x="174631" y="16781"/>
                  </a:lnTo>
                  <a:lnTo>
                    <a:pt x="132845" y="36621"/>
                  </a:lnTo>
                  <a:lnTo>
                    <a:pt x="95410" y="63083"/>
                  </a:lnTo>
                  <a:lnTo>
                    <a:pt x="63082" y="95412"/>
                  </a:lnTo>
                  <a:lnTo>
                    <a:pt x="36620" y="132847"/>
                  </a:lnTo>
                  <a:lnTo>
                    <a:pt x="16780" y="174633"/>
                  </a:lnTo>
                  <a:lnTo>
                    <a:pt x="4321" y="220011"/>
                  </a:lnTo>
                  <a:lnTo>
                    <a:pt x="0" y="268223"/>
                  </a:lnTo>
                  <a:lnTo>
                    <a:pt x="4321" y="316436"/>
                  </a:lnTo>
                  <a:lnTo>
                    <a:pt x="16780" y="361814"/>
                  </a:lnTo>
                  <a:lnTo>
                    <a:pt x="36620" y="403600"/>
                  </a:lnTo>
                  <a:lnTo>
                    <a:pt x="63082" y="441035"/>
                  </a:lnTo>
                  <a:lnTo>
                    <a:pt x="95410" y="473364"/>
                  </a:lnTo>
                  <a:lnTo>
                    <a:pt x="132845" y="499826"/>
                  </a:lnTo>
                  <a:lnTo>
                    <a:pt x="174631" y="519666"/>
                  </a:lnTo>
                  <a:lnTo>
                    <a:pt x="220010" y="532126"/>
                  </a:lnTo>
                  <a:lnTo>
                    <a:pt x="268224" y="536447"/>
                  </a:lnTo>
                  <a:lnTo>
                    <a:pt x="536448" y="536447"/>
                  </a:lnTo>
                  <a:lnTo>
                    <a:pt x="536448" y="268223"/>
                  </a:lnTo>
                  <a:lnTo>
                    <a:pt x="532126" y="220011"/>
                  </a:lnTo>
                  <a:lnTo>
                    <a:pt x="519666" y="174633"/>
                  </a:lnTo>
                  <a:lnTo>
                    <a:pt x="499826" y="132847"/>
                  </a:lnTo>
                  <a:lnTo>
                    <a:pt x="473364" y="95412"/>
                  </a:lnTo>
                  <a:lnTo>
                    <a:pt x="441036" y="63083"/>
                  </a:lnTo>
                  <a:lnTo>
                    <a:pt x="403600" y="36621"/>
                  </a:lnTo>
                  <a:lnTo>
                    <a:pt x="361814" y="16781"/>
                  </a:lnTo>
                  <a:lnTo>
                    <a:pt x="316436" y="4321"/>
                  </a:lnTo>
                  <a:lnTo>
                    <a:pt x="26822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79320" y="4428744"/>
            <a:ext cx="2776855" cy="1405255"/>
            <a:chOff x="2179320" y="4428744"/>
            <a:chExt cx="2776855" cy="1405255"/>
          </a:xfrm>
        </p:grpSpPr>
        <p:sp>
          <p:nvSpPr>
            <p:cNvPr id="10" name="object 10"/>
            <p:cNvSpPr/>
            <p:nvPr/>
          </p:nvSpPr>
          <p:spPr>
            <a:xfrm>
              <a:off x="2179320" y="4428744"/>
              <a:ext cx="2776855" cy="1405255"/>
            </a:xfrm>
            <a:custGeom>
              <a:avLst/>
              <a:gdLst/>
              <a:ahLst/>
              <a:cxnLst/>
              <a:rect l="l" t="t" r="r" b="b"/>
              <a:pathLst>
                <a:path w="2776854" h="1405254">
                  <a:moveTo>
                    <a:pt x="2542540" y="0"/>
                  </a:moveTo>
                  <a:lnTo>
                    <a:pt x="234187" y="0"/>
                  </a:lnTo>
                  <a:lnTo>
                    <a:pt x="187006" y="4760"/>
                  </a:lnTo>
                  <a:lnTo>
                    <a:pt x="143053" y="18411"/>
                  </a:lnTo>
                  <a:lnTo>
                    <a:pt x="103274" y="40009"/>
                  </a:lnTo>
                  <a:lnTo>
                    <a:pt x="68611" y="68611"/>
                  </a:lnTo>
                  <a:lnTo>
                    <a:pt x="40009" y="103274"/>
                  </a:lnTo>
                  <a:lnTo>
                    <a:pt x="18411" y="143053"/>
                  </a:lnTo>
                  <a:lnTo>
                    <a:pt x="4760" y="187006"/>
                  </a:lnTo>
                  <a:lnTo>
                    <a:pt x="0" y="234187"/>
                  </a:lnTo>
                  <a:lnTo>
                    <a:pt x="0" y="1170927"/>
                  </a:lnTo>
                  <a:lnTo>
                    <a:pt x="4760" y="1218128"/>
                  </a:lnTo>
                  <a:lnTo>
                    <a:pt x="18411" y="1262090"/>
                  </a:lnTo>
                  <a:lnTo>
                    <a:pt x="40009" y="1301872"/>
                  </a:lnTo>
                  <a:lnTo>
                    <a:pt x="68611" y="1336533"/>
                  </a:lnTo>
                  <a:lnTo>
                    <a:pt x="103274" y="1365131"/>
                  </a:lnTo>
                  <a:lnTo>
                    <a:pt x="143053" y="1386723"/>
                  </a:lnTo>
                  <a:lnTo>
                    <a:pt x="187006" y="1400370"/>
                  </a:lnTo>
                  <a:lnTo>
                    <a:pt x="234187" y="1405127"/>
                  </a:lnTo>
                  <a:lnTo>
                    <a:pt x="2542540" y="1405127"/>
                  </a:lnTo>
                  <a:lnTo>
                    <a:pt x="2589721" y="1400370"/>
                  </a:lnTo>
                  <a:lnTo>
                    <a:pt x="2633674" y="1386723"/>
                  </a:lnTo>
                  <a:lnTo>
                    <a:pt x="2673453" y="1365131"/>
                  </a:lnTo>
                  <a:lnTo>
                    <a:pt x="2708116" y="1336533"/>
                  </a:lnTo>
                  <a:lnTo>
                    <a:pt x="2736718" y="1301872"/>
                  </a:lnTo>
                  <a:lnTo>
                    <a:pt x="2758316" y="1262090"/>
                  </a:lnTo>
                  <a:lnTo>
                    <a:pt x="2771967" y="1218128"/>
                  </a:lnTo>
                  <a:lnTo>
                    <a:pt x="2776728" y="1170927"/>
                  </a:lnTo>
                  <a:lnTo>
                    <a:pt x="2776728" y="234187"/>
                  </a:lnTo>
                  <a:lnTo>
                    <a:pt x="2771967" y="187006"/>
                  </a:lnTo>
                  <a:lnTo>
                    <a:pt x="2758316" y="143053"/>
                  </a:lnTo>
                  <a:lnTo>
                    <a:pt x="2736718" y="103274"/>
                  </a:lnTo>
                  <a:lnTo>
                    <a:pt x="2708116" y="68611"/>
                  </a:lnTo>
                  <a:lnTo>
                    <a:pt x="2673453" y="40009"/>
                  </a:lnTo>
                  <a:lnTo>
                    <a:pt x="2633674" y="18411"/>
                  </a:lnTo>
                  <a:lnTo>
                    <a:pt x="2589721" y="4760"/>
                  </a:lnTo>
                  <a:lnTo>
                    <a:pt x="254254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79320" y="4428744"/>
              <a:ext cx="2776855" cy="1405255"/>
            </a:xfrm>
            <a:custGeom>
              <a:avLst/>
              <a:gdLst/>
              <a:ahLst/>
              <a:cxnLst/>
              <a:rect l="l" t="t" r="r" b="b"/>
              <a:pathLst>
                <a:path w="2776854" h="1405254">
                  <a:moveTo>
                    <a:pt x="0" y="234187"/>
                  </a:moveTo>
                  <a:lnTo>
                    <a:pt x="4760" y="187006"/>
                  </a:lnTo>
                  <a:lnTo>
                    <a:pt x="18411" y="143053"/>
                  </a:lnTo>
                  <a:lnTo>
                    <a:pt x="40009" y="103274"/>
                  </a:lnTo>
                  <a:lnTo>
                    <a:pt x="68611" y="68611"/>
                  </a:lnTo>
                  <a:lnTo>
                    <a:pt x="103274" y="40009"/>
                  </a:lnTo>
                  <a:lnTo>
                    <a:pt x="143053" y="18411"/>
                  </a:lnTo>
                  <a:lnTo>
                    <a:pt x="187006" y="4760"/>
                  </a:lnTo>
                  <a:lnTo>
                    <a:pt x="234187" y="0"/>
                  </a:lnTo>
                  <a:lnTo>
                    <a:pt x="2542540" y="0"/>
                  </a:lnTo>
                  <a:lnTo>
                    <a:pt x="2589721" y="4760"/>
                  </a:lnTo>
                  <a:lnTo>
                    <a:pt x="2633674" y="18411"/>
                  </a:lnTo>
                  <a:lnTo>
                    <a:pt x="2673453" y="40009"/>
                  </a:lnTo>
                  <a:lnTo>
                    <a:pt x="2708116" y="68611"/>
                  </a:lnTo>
                  <a:lnTo>
                    <a:pt x="2736718" y="103274"/>
                  </a:lnTo>
                  <a:lnTo>
                    <a:pt x="2758316" y="143053"/>
                  </a:lnTo>
                  <a:lnTo>
                    <a:pt x="2771967" y="187006"/>
                  </a:lnTo>
                  <a:lnTo>
                    <a:pt x="2776728" y="234187"/>
                  </a:lnTo>
                  <a:lnTo>
                    <a:pt x="2776728" y="1170927"/>
                  </a:lnTo>
                  <a:lnTo>
                    <a:pt x="2771967" y="1218128"/>
                  </a:lnTo>
                  <a:lnTo>
                    <a:pt x="2758316" y="1262090"/>
                  </a:lnTo>
                  <a:lnTo>
                    <a:pt x="2736718" y="1301872"/>
                  </a:lnTo>
                  <a:lnTo>
                    <a:pt x="2708116" y="1336533"/>
                  </a:lnTo>
                  <a:lnTo>
                    <a:pt x="2673453" y="1365131"/>
                  </a:lnTo>
                  <a:lnTo>
                    <a:pt x="2633674" y="1386723"/>
                  </a:lnTo>
                  <a:lnTo>
                    <a:pt x="2589721" y="1400370"/>
                  </a:lnTo>
                  <a:lnTo>
                    <a:pt x="2542540" y="1405127"/>
                  </a:lnTo>
                  <a:lnTo>
                    <a:pt x="234187" y="1405127"/>
                  </a:lnTo>
                  <a:lnTo>
                    <a:pt x="187006" y="1400370"/>
                  </a:lnTo>
                  <a:lnTo>
                    <a:pt x="143053" y="1386723"/>
                  </a:lnTo>
                  <a:lnTo>
                    <a:pt x="103274" y="1365131"/>
                  </a:lnTo>
                  <a:lnTo>
                    <a:pt x="68611" y="1336533"/>
                  </a:lnTo>
                  <a:lnTo>
                    <a:pt x="40009" y="1301872"/>
                  </a:lnTo>
                  <a:lnTo>
                    <a:pt x="18411" y="1262090"/>
                  </a:lnTo>
                  <a:lnTo>
                    <a:pt x="4760" y="1218128"/>
                  </a:lnTo>
                  <a:lnTo>
                    <a:pt x="0" y="1170927"/>
                  </a:lnTo>
                  <a:lnTo>
                    <a:pt x="0" y="234187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03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Créer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</a:t>
            </a:r>
            <a:r>
              <a:rPr spc="-20" dirty="0">
                <a:solidFill>
                  <a:srgbClr val="007842"/>
                </a:solidFill>
              </a:rPr>
              <a:t> 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Définition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objet</a:t>
            </a:r>
            <a:endParaRPr sz="1600"/>
          </a:p>
        </p:txBody>
      </p:sp>
      <p:sp>
        <p:nvSpPr>
          <p:cNvPr id="13" name="object 13"/>
          <p:cNvSpPr txBox="1"/>
          <p:nvPr/>
        </p:nvSpPr>
        <p:spPr>
          <a:xfrm>
            <a:off x="798982" y="1602105"/>
            <a:ext cx="12452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Notion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d’objet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59835" y="1937004"/>
            <a:ext cx="5172710" cy="637540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430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OBJET=</a:t>
            </a:r>
            <a:r>
              <a:rPr sz="16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Référent</a:t>
            </a:r>
            <a:r>
              <a:rPr sz="16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+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Etat</a:t>
            </a:r>
            <a:r>
              <a:rPr sz="16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+</a:t>
            </a:r>
            <a:r>
              <a:rPr sz="16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Comportement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59023" y="4885944"/>
            <a:ext cx="1676400" cy="512445"/>
          </a:xfrm>
          <a:prstGeom prst="rect">
            <a:avLst/>
          </a:prstGeom>
          <a:solidFill>
            <a:srgbClr val="FFFFFF"/>
          </a:solidFill>
          <a:ln w="12700">
            <a:solidFill>
              <a:srgbClr val="6FAC46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490220">
              <a:lnSpc>
                <a:spcPct val="100000"/>
              </a:lnSpc>
              <a:spcBef>
                <a:spcPts val="111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0x304009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1692" y="5431332"/>
            <a:ext cx="201803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19910" algn="l"/>
              </a:tabLst>
            </a:pPr>
            <a:r>
              <a:rPr sz="2100" b="1" spc="-15" baseline="1984" dirty="0">
                <a:solidFill>
                  <a:srgbClr val="555555"/>
                </a:solidFill>
                <a:latin typeface="Calibri"/>
                <a:cs typeface="Calibri"/>
              </a:rPr>
              <a:t>Référence</a:t>
            </a:r>
            <a:r>
              <a:rPr sz="2100" b="1" baseline="1984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P1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83553" y="4422394"/>
            <a:ext cx="2789555" cy="1417955"/>
            <a:chOff x="6083553" y="4422394"/>
            <a:chExt cx="2789555" cy="1417955"/>
          </a:xfrm>
        </p:grpSpPr>
        <p:sp>
          <p:nvSpPr>
            <p:cNvPr id="18" name="object 18"/>
            <p:cNvSpPr/>
            <p:nvPr/>
          </p:nvSpPr>
          <p:spPr>
            <a:xfrm>
              <a:off x="6089903" y="4428744"/>
              <a:ext cx="2776855" cy="1405255"/>
            </a:xfrm>
            <a:custGeom>
              <a:avLst/>
              <a:gdLst/>
              <a:ahLst/>
              <a:cxnLst/>
              <a:rect l="l" t="t" r="r" b="b"/>
              <a:pathLst>
                <a:path w="2776854" h="1405254">
                  <a:moveTo>
                    <a:pt x="2542540" y="0"/>
                  </a:moveTo>
                  <a:lnTo>
                    <a:pt x="234187" y="0"/>
                  </a:lnTo>
                  <a:lnTo>
                    <a:pt x="187006" y="4760"/>
                  </a:lnTo>
                  <a:lnTo>
                    <a:pt x="143053" y="18411"/>
                  </a:lnTo>
                  <a:lnTo>
                    <a:pt x="103274" y="40009"/>
                  </a:lnTo>
                  <a:lnTo>
                    <a:pt x="68611" y="68611"/>
                  </a:lnTo>
                  <a:lnTo>
                    <a:pt x="40009" y="103274"/>
                  </a:lnTo>
                  <a:lnTo>
                    <a:pt x="18411" y="143053"/>
                  </a:lnTo>
                  <a:lnTo>
                    <a:pt x="4760" y="187006"/>
                  </a:lnTo>
                  <a:lnTo>
                    <a:pt x="0" y="234187"/>
                  </a:lnTo>
                  <a:lnTo>
                    <a:pt x="0" y="1170927"/>
                  </a:lnTo>
                  <a:lnTo>
                    <a:pt x="4760" y="1218128"/>
                  </a:lnTo>
                  <a:lnTo>
                    <a:pt x="18411" y="1262090"/>
                  </a:lnTo>
                  <a:lnTo>
                    <a:pt x="40009" y="1301872"/>
                  </a:lnTo>
                  <a:lnTo>
                    <a:pt x="68611" y="1336533"/>
                  </a:lnTo>
                  <a:lnTo>
                    <a:pt x="103274" y="1365131"/>
                  </a:lnTo>
                  <a:lnTo>
                    <a:pt x="143053" y="1386723"/>
                  </a:lnTo>
                  <a:lnTo>
                    <a:pt x="187006" y="1400370"/>
                  </a:lnTo>
                  <a:lnTo>
                    <a:pt x="234187" y="1405127"/>
                  </a:lnTo>
                  <a:lnTo>
                    <a:pt x="2542540" y="1405127"/>
                  </a:lnTo>
                  <a:lnTo>
                    <a:pt x="2589721" y="1400370"/>
                  </a:lnTo>
                  <a:lnTo>
                    <a:pt x="2633674" y="1386723"/>
                  </a:lnTo>
                  <a:lnTo>
                    <a:pt x="2673453" y="1365131"/>
                  </a:lnTo>
                  <a:lnTo>
                    <a:pt x="2708116" y="1336533"/>
                  </a:lnTo>
                  <a:lnTo>
                    <a:pt x="2736718" y="1301872"/>
                  </a:lnTo>
                  <a:lnTo>
                    <a:pt x="2758316" y="1262090"/>
                  </a:lnTo>
                  <a:lnTo>
                    <a:pt x="2771967" y="1218128"/>
                  </a:lnTo>
                  <a:lnTo>
                    <a:pt x="2776728" y="1170927"/>
                  </a:lnTo>
                  <a:lnTo>
                    <a:pt x="2776728" y="234187"/>
                  </a:lnTo>
                  <a:lnTo>
                    <a:pt x="2771967" y="187006"/>
                  </a:lnTo>
                  <a:lnTo>
                    <a:pt x="2758316" y="143053"/>
                  </a:lnTo>
                  <a:lnTo>
                    <a:pt x="2736718" y="103274"/>
                  </a:lnTo>
                  <a:lnTo>
                    <a:pt x="2708116" y="68611"/>
                  </a:lnTo>
                  <a:lnTo>
                    <a:pt x="2673453" y="40009"/>
                  </a:lnTo>
                  <a:lnTo>
                    <a:pt x="2633674" y="18411"/>
                  </a:lnTo>
                  <a:lnTo>
                    <a:pt x="2589721" y="4760"/>
                  </a:lnTo>
                  <a:lnTo>
                    <a:pt x="2542540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89903" y="4428744"/>
              <a:ext cx="2776855" cy="1405255"/>
            </a:xfrm>
            <a:custGeom>
              <a:avLst/>
              <a:gdLst/>
              <a:ahLst/>
              <a:cxnLst/>
              <a:rect l="l" t="t" r="r" b="b"/>
              <a:pathLst>
                <a:path w="2776854" h="1405254">
                  <a:moveTo>
                    <a:pt x="0" y="234187"/>
                  </a:moveTo>
                  <a:lnTo>
                    <a:pt x="4760" y="187006"/>
                  </a:lnTo>
                  <a:lnTo>
                    <a:pt x="18411" y="143053"/>
                  </a:lnTo>
                  <a:lnTo>
                    <a:pt x="40009" y="103274"/>
                  </a:lnTo>
                  <a:lnTo>
                    <a:pt x="68611" y="68611"/>
                  </a:lnTo>
                  <a:lnTo>
                    <a:pt x="103274" y="40009"/>
                  </a:lnTo>
                  <a:lnTo>
                    <a:pt x="143053" y="18411"/>
                  </a:lnTo>
                  <a:lnTo>
                    <a:pt x="187006" y="4760"/>
                  </a:lnTo>
                  <a:lnTo>
                    <a:pt x="234187" y="0"/>
                  </a:lnTo>
                  <a:lnTo>
                    <a:pt x="2542540" y="0"/>
                  </a:lnTo>
                  <a:lnTo>
                    <a:pt x="2589721" y="4760"/>
                  </a:lnTo>
                  <a:lnTo>
                    <a:pt x="2633674" y="18411"/>
                  </a:lnTo>
                  <a:lnTo>
                    <a:pt x="2673453" y="40009"/>
                  </a:lnTo>
                  <a:lnTo>
                    <a:pt x="2708116" y="68611"/>
                  </a:lnTo>
                  <a:lnTo>
                    <a:pt x="2736718" y="103274"/>
                  </a:lnTo>
                  <a:lnTo>
                    <a:pt x="2758316" y="143053"/>
                  </a:lnTo>
                  <a:lnTo>
                    <a:pt x="2771967" y="187006"/>
                  </a:lnTo>
                  <a:lnTo>
                    <a:pt x="2776728" y="234187"/>
                  </a:lnTo>
                  <a:lnTo>
                    <a:pt x="2776728" y="1170927"/>
                  </a:lnTo>
                  <a:lnTo>
                    <a:pt x="2771967" y="1218128"/>
                  </a:lnTo>
                  <a:lnTo>
                    <a:pt x="2758316" y="1262090"/>
                  </a:lnTo>
                  <a:lnTo>
                    <a:pt x="2736718" y="1301872"/>
                  </a:lnTo>
                  <a:lnTo>
                    <a:pt x="2708116" y="1336533"/>
                  </a:lnTo>
                  <a:lnTo>
                    <a:pt x="2673453" y="1365131"/>
                  </a:lnTo>
                  <a:lnTo>
                    <a:pt x="2633674" y="1386723"/>
                  </a:lnTo>
                  <a:lnTo>
                    <a:pt x="2589721" y="1400370"/>
                  </a:lnTo>
                  <a:lnTo>
                    <a:pt x="2542540" y="1405127"/>
                  </a:lnTo>
                  <a:lnTo>
                    <a:pt x="234187" y="1405127"/>
                  </a:lnTo>
                  <a:lnTo>
                    <a:pt x="187006" y="1400370"/>
                  </a:lnTo>
                  <a:lnTo>
                    <a:pt x="143053" y="1386723"/>
                  </a:lnTo>
                  <a:lnTo>
                    <a:pt x="103274" y="1365131"/>
                  </a:lnTo>
                  <a:lnTo>
                    <a:pt x="68611" y="1336533"/>
                  </a:lnTo>
                  <a:lnTo>
                    <a:pt x="40009" y="1301872"/>
                  </a:lnTo>
                  <a:lnTo>
                    <a:pt x="18411" y="1262090"/>
                  </a:lnTo>
                  <a:lnTo>
                    <a:pt x="4760" y="1218128"/>
                  </a:lnTo>
                  <a:lnTo>
                    <a:pt x="0" y="1170927"/>
                  </a:lnTo>
                  <a:lnTo>
                    <a:pt x="0" y="234187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50152" y="4855464"/>
            <a:ext cx="1981200" cy="46355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28F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919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55076" y="4105084"/>
            <a:ext cx="7663815" cy="1824355"/>
            <a:chOff x="1755076" y="4105084"/>
            <a:chExt cx="7663815" cy="1824355"/>
          </a:xfrm>
        </p:grpSpPr>
        <p:sp>
          <p:nvSpPr>
            <p:cNvPr id="22" name="object 22"/>
            <p:cNvSpPr/>
            <p:nvPr/>
          </p:nvSpPr>
          <p:spPr>
            <a:xfrm>
              <a:off x="4535424" y="5070474"/>
              <a:ext cx="2012314" cy="142875"/>
            </a:xfrm>
            <a:custGeom>
              <a:avLst/>
              <a:gdLst/>
              <a:ahLst/>
              <a:cxnLst/>
              <a:rect l="l" t="t" r="r" b="b"/>
              <a:pathLst>
                <a:path w="2012315" h="142875">
                  <a:moveTo>
                    <a:pt x="1869439" y="0"/>
                  </a:moveTo>
                  <a:lnTo>
                    <a:pt x="1869439" y="142875"/>
                  </a:lnTo>
                  <a:lnTo>
                    <a:pt x="1964774" y="95250"/>
                  </a:lnTo>
                  <a:lnTo>
                    <a:pt x="1893315" y="95250"/>
                  </a:lnTo>
                  <a:lnTo>
                    <a:pt x="1893315" y="47625"/>
                  </a:lnTo>
                  <a:lnTo>
                    <a:pt x="1964605" y="47625"/>
                  </a:lnTo>
                  <a:lnTo>
                    <a:pt x="1869439" y="0"/>
                  </a:lnTo>
                  <a:close/>
                </a:path>
                <a:path w="2012315" h="142875">
                  <a:moveTo>
                    <a:pt x="1869439" y="47625"/>
                  </a:moveTo>
                  <a:lnTo>
                    <a:pt x="0" y="47625"/>
                  </a:lnTo>
                  <a:lnTo>
                    <a:pt x="0" y="95250"/>
                  </a:lnTo>
                  <a:lnTo>
                    <a:pt x="1869439" y="95250"/>
                  </a:lnTo>
                  <a:lnTo>
                    <a:pt x="1869439" y="47625"/>
                  </a:lnTo>
                  <a:close/>
                </a:path>
                <a:path w="2012315" h="142875">
                  <a:moveTo>
                    <a:pt x="1964605" y="47625"/>
                  </a:moveTo>
                  <a:lnTo>
                    <a:pt x="1893315" y="47625"/>
                  </a:lnTo>
                  <a:lnTo>
                    <a:pt x="1893315" y="95250"/>
                  </a:lnTo>
                  <a:lnTo>
                    <a:pt x="1964774" y="95250"/>
                  </a:lnTo>
                  <a:lnTo>
                    <a:pt x="2012315" y="71500"/>
                  </a:lnTo>
                  <a:lnTo>
                    <a:pt x="1964605" y="47625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69364" y="4119371"/>
              <a:ext cx="7635240" cy="1795780"/>
            </a:xfrm>
            <a:custGeom>
              <a:avLst/>
              <a:gdLst/>
              <a:ahLst/>
              <a:cxnLst/>
              <a:rect l="l" t="t" r="r" b="b"/>
              <a:pathLst>
                <a:path w="7635240" h="1795779">
                  <a:moveTo>
                    <a:pt x="0" y="299211"/>
                  </a:moveTo>
                  <a:lnTo>
                    <a:pt x="3916" y="250683"/>
                  </a:lnTo>
                  <a:lnTo>
                    <a:pt x="15256" y="204646"/>
                  </a:lnTo>
                  <a:lnTo>
                    <a:pt x="33401" y="161717"/>
                  </a:lnTo>
                  <a:lnTo>
                    <a:pt x="57737" y="122511"/>
                  </a:lnTo>
                  <a:lnTo>
                    <a:pt x="87645" y="87645"/>
                  </a:lnTo>
                  <a:lnTo>
                    <a:pt x="122511" y="57737"/>
                  </a:lnTo>
                  <a:lnTo>
                    <a:pt x="161717" y="33401"/>
                  </a:lnTo>
                  <a:lnTo>
                    <a:pt x="204646" y="15256"/>
                  </a:lnTo>
                  <a:lnTo>
                    <a:pt x="250683" y="3916"/>
                  </a:lnTo>
                  <a:lnTo>
                    <a:pt x="299212" y="0"/>
                  </a:lnTo>
                  <a:lnTo>
                    <a:pt x="7336028" y="0"/>
                  </a:lnTo>
                  <a:lnTo>
                    <a:pt x="7384556" y="3916"/>
                  </a:lnTo>
                  <a:lnTo>
                    <a:pt x="7430593" y="15256"/>
                  </a:lnTo>
                  <a:lnTo>
                    <a:pt x="7473522" y="33401"/>
                  </a:lnTo>
                  <a:lnTo>
                    <a:pt x="7512728" y="57737"/>
                  </a:lnTo>
                  <a:lnTo>
                    <a:pt x="7547594" y="87645"/>
                  </a:lnTo>
                  <a:lnTo>
                    <a:pt x="7577502" y="122511"/>
                  </a:lnTo>
                  <a:lnTo>
                    <a:pt x="7601838" y="161717"/>
                  </a:lnTo>
                  <a:lnTo>
                    <a:pt x="7619983" y="204646"/>
                  </a:lnTo>
                  <a:lnTo>
                    <a:pt x="7631323" y="250683"/>
                  </a:lnTo>
                  <a:lnTo>
                    <a:pt x="7635240" y="299211"/>
                  </a:lnTo>
                  <a:lnTo>
                    <a:pt x="7635240" y="1496059"/>
                  </a:lnTo>
                  <a:lnTo>
                    <a:pt x="7631323" y="1544594"/>
                  </a:lnTo>
                  <a:lnTo>
                    <a:pt x="7619983" y="1590634"/>
                  </a:lnTo>
                  <a:lnTo>
                    <a:pt x="7601838" y="1633566"/>
                  </a:lnTo>
                  <a:lnTo>
                    <a:pt x="7577502" y="1672771"/>
                  </a:lnTo>
                  <a:lnTo>
                    <a:pt x="7547594" y="1707635"/>
                  </a:lnTo>
                  <a:lnTo>
                    <a:pt x="7512728" y="1737542"/>
                  </a:lnTo>
                  <a:lnTo>
                    <a:pt x="7473522" y="1761874"/>
                  </a:lnTo>
                  <a:lnTo>
                    <a:pt x="7430593" y="1780018"/>
                  </a:lnTo>
                  <a:lnTo>
                    <a:pt x="7384556" y="1791355"/>
                  </a:lnTo>
                  <a:lnTo>
                    <a:pt x="7336028" y="1795271"/>
                  </a:lnTo>
                  <a:lnTo>
                    <a:pt x="299212" y="1795271"/>
                  </a:lnTo>
                  <a:lnTo>
                    <a:pt x="250683" y="1791355"/>
                  </a:lnTo>
                  <a:lnTo>
                    <a:pt x="204646" y="1780018"/>
                  </a:lnTo>
                  <a:lnTo>
                    <a:pt x="161717" y="1761874"/>
                  </a:lnTo>
                  <a:lnTo>
                    <a:pt x="122511" y="1737542"/>
                  </a:lnTo>
                  <a:lnTo>
                    <a:pt x="87645" y="1707635"/>
                  </a:lnTo>
                  <a:lnTo>
                    <a:pt x="57737" y="1672771"/>
                  </a:lnTo>
                  <a:lnTo>
                    <a:pt x="33401" y="1633566"/>
                  </a:lnTo>
                  <a:lnTo>
                    <a:pt x="15256" y="1590634"/>
                  </a:lnTo>
                  <a:lnTo>
                    <a:pt x="3916" y="1544594"/>
                  </a:lnTo>
                  <a:lnTo>
                    <a:pt x="0" y="1496059"/>
                  </a:lnTo>
                  <a:lnTo>
                    <a:pt x="0" y="299211"/>
                  </a:lnTo>
                  <a:close/>
                </a:path>
              </a:pathLst>
            </a:custGeom>
            <a:ln w="28575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98982" y="2927274"/>
            <a:ext cx="8524875" cy="182816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doit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avoir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(référence)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«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lui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propre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»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l’identifier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référence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d’accéder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l’objet,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mais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n’est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pas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l’objet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lui-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même.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contient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l’adresse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l’emplacement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lequel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stocké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l’objet.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400">
              <a:latin typeface="Calibri"/>
              <a:cs typeface="Calibri"/>
            </a:endParaRPr>
          </a:p>
          <a:p>
            <a:pPr marL="916305" algn="ctr">
              <a:lnSpc>
                <a:spcPct val="100000"/>
              </a:lnSpc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endParaRPr sz="1600">
              <a:latin typeface="Calibri"/>
              <a:cs typeface="Calibri"/>
            </a:endParaRPr>
          </a:p>
          <a:p>
            <a:pPr marL="4840605" algn="ctr">
              <a:lnSpc>
                <a:spcPct val="100000"/>
              </a:lnSpc>
              <a:spcBef>
                <a:spcPts val="8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@0x304009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82039" y="2706624"/>
            <a:ext cx="5035677" cy="3673220"/>
            <a:chOff x="1082039" y="2706624"/>
            <a:chExt cx="5035677" cy="3673220"/>
          </a:xfrm>
        </p:grpSpPr>
        <p:sp>
          <p:nvSpPr>
            <p:cNvPr id="10" name="object 10"/>
            <p:cNvSpPr/>
            <p:nvPr/>
          </p:nvSpPr>
          <p:spPr>
            <a:xfrm>
              <a:off x="3364991" y="2795015"/>
              <a:ext cx="2319655" cy="2310765"/>
            </a:xfrm>
            <a:custGeom>
              <a:avLst/>
              <a:gdLst/>
              <a:ahLst/>
              <a:cxnLst/>
              <a:rect l="l" t="t" r="r" b="b"/>
              <a:pathLst>
                <a:path w="2319654" h="2310765">
                  <a:moveTo>
                    <a:pt x="1934464" y="0"/>
                  </a:moveTo>
                  <a:lnTo>
                    <a:pt x="385063" y="0"/>
                  </a:lnTo>
                  <a:lnTo>
                    <a:pt x="336750" y="2999"/>
                  </a:lnTo>
                  <a:lnTo>
                    <a:pt x="290231" y="11756"/>
                  </a:lnTo>
                  <a:lnTo>
                    <a:pt x="245866" y="25911"/>
                  </a:lnTo>
                  <a:lnTo>
                    <a:pt x="204016" y="45104"/>
                  </a:lnTo>
                  <a:lnTo>
                    <a:pt x="165042" y="68974"/>
                  </a:lnTo>
                  <a:lnTo>
                    <a:pt x="129303" y="97160"/>
                  </a:lnTo>
                  <a:lnTo>
                    <a:pt x="97160" y="129303"/>
                  </a:lnTo>
                  <a:lnTo>
                    <a:pt x="68974" y="165042"/>
                  </a:lnTo>
                  <a:lnTo>
                    <a:pt x="45104" y="204016"/>
                  </a:lnTo>
                  <a:lnTo>
                    <a:pt x="25911" y="245866"/>
                  </a:lnTo>
                  <a:lnTo>
                    <a:pt x="11756" y="290231"/>
                  </a:lnTo>
                  <a:lnTo>
                    <a:pt x="2999" y="336750"/>
                  </a:lnTo>
                  <a:lnTo>
                    <a:pt x="0" y="385063"/>
                  </a:lnTo>
                  <a:lnTo>
                    <a:pt x="0" y="1925320"/>
                  </a:lnTo>
                  <a:lnTo>
                    <a:pt x="2999" y="1973608"/>
                  </a:lnTo>
                  <a:lnTo>
                    <a:pt x="11756" y="2020110"/>
                  </a:lnTo>
                  <a:lnTo>
                    <a:pt x="25911" y="2064465"/>
                  </a:lnTo>
                  <a:lnTo>
                    <a:pt x="45104" y="2106310"/>
                  </a:lnTo>
                  <a:lnTo>
                    <a:pt x="68974" y="2145286"/>
                  </a:lnTo>
                  <a:lnTo>
                    <a:pt x="97160" y="2181029"/>
                  </a:lnTo>
                  <a:lnTo>
                    <a:pt x="129303" y="2213179"/>
                  </a:lnTo>
                  <a:lnTo>
                    <a:pt x="165042" y="2241375"/>
                  </a:lnTo>
                  <a:lnTo>
                    <a:pt x="204016" y="2265254"/>
                  </a:lnTo>
                  <a:lnTo>
                    <a:pt x="245866" y="2284456"/>
                  </a:lnTo>
                  <a:lnTo>
                    <a:pt x="290231" y="2298619"/>
                  </a:lnTo>
                  <a:lnTo>
                    <a:pt x="336750" y="2307382"/>
                  </a:lnTo>
                  <a:lnTo>
                    <a:pt x="385063" y="2310384"/>
                  </a:lnTo>
                  <a:lnTo>
                    <a:pt x="1934464" y="2310384"/>
                  </a:lnTo>
                  <a:lnTo>
                    <a:pt x="1982752" y="2307382"/>
                  </a:lnTo>
                  <a:lnTo>
                    <a:pt x="2029254" y="2298619"/>
                  </a:lnTo>
                  <a:lnTo>
                    <a:pt x="2073609" y="2284456"/>
                  </a:lnTo>
                  <a:lnTo>
                    <a:pt x="2115454" y="2265254"/>
                  </a:lnTo>
                  <a:lnTo>
                    <a:pt x="2154430" y="2241375"/>
                  </a:lnTo>
                  <a:lnTo>
                    <a:pt x="2190173" y="2213179"/>
                  </a:lnTo>
                  <a:lnTo>
                    <a:pt x="2222323" y="2181029"/>
                  </a:lnTo>
                  <a:lnTo>
                    <a:pt x="2250519" y="2145286"/>
                  </a:lnTo>
                  <a:lnTo>
                    <a:pt x="2274398" y="2106310"/>
                  </a:lnTo>
                  <a:lnTo>
                    <a:pt x="2293600" y="2064465"/>
                  </a:lnTo>
                  <a:lnTo>
                    <a:pt x="2307763" y="2020110"/>
                  </a:lnTo>
                  <a:lnTo>
                    <a:pt x="2316526" y="1973608"/>
                  </a:lnTo>
                  <a:lnTo>
                    <a:pt x="2319528" y="1925320"/>
                  </a:lnTo>
                  <a:lnTo>
                    <a:pt x="2319528" y="385063"/>
                  </a:lnTo>
                  <a:lnTo>
                    <a:pt x="2316526" y="336750"/>
                  </a:lnTo>
                  <a:lnTo>
                    <a:pt x="2307763" y="290231"/>
                  </a:lnTo>
                  <a:lnTo>
                    <a:pt x="2293600" y="245866"/>
                  </a:lnTo>
                  <a:lnTo>
                    <a:pt x="2274398" y="204016"/>
                  </a:lnTo>
                  <a:lnTo>
                    <a:pt x="2250519" y="165042"/>
                  </a:lnTo>
                  <a:lnTo>
                    <a:pt x="2222323" y="129303"/>
                  </a:lnTo>
                  <a:lnTo>
                    <a:pt x="2190173" y="97160"/>
                  </a:lnTo>
                  <a:lnTo>
                    <a:pt x="2154430" y="68974"/>
                  </a:lnTo>
                  <a:lnTo>
                    <a:pt x="2115454" y="45104"/>
                  </a:lnTo>
                  <a:lnTo>
                    <a:pt x="2073609" y="25911"/>
                  </a:lnTo>
                  <a:lnTo>
                    <a:pt x="2029254" y="11756"/>
                  </a:lnTo>
                  <a:lnTo>
                    <a:pt x="1982752" y="2999"/>
                  </a:lnTo>
                  <a:lnTo>
                    <a:pt x="1934464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64991" y="2795015"/>
              <a:ext cx="2319655" cy="2310765"/>
            </a:xfrm>
            <a:custGeom>
              <a:avLst/>
              <a:gdLst/>
              <a:ahLst/>
              <a:cxnLst/>
              <a:rect l="l" t="t" r="r" b="b"/>
              <a:pathLst>
                <a:path w="2319654" h="2310765">
                  <a:moveTo>
                    <a:pt x="0" y="385063"/>
                  </a:moveTo>
                  <a:lnTo>
                    <a:pt x="2999" y="336750"/>
                  </a:lnTo>
                  <a:lnTo>
                    <a:pt x="11756" y="290231"/>
                  </a:lnTo>
                  <a:lnTo>
                    <a:pt x="25911" y="245866"/>
                  </a:lnTo>
                  <a:lnTo>
                    <a:pt x="45104" y="204016"/>
                  </a:lnTo>
                  <a:lnTo>
                    <a:pt x="68974" y="165042"/>
                  </a:lnTo>
                  <a:lnTo>
                    <a:pt x="97160" y="129303"/>
                  </a:lnTo>
                  <a:lnTo>
                    <a:pt x="129303" y="97160"/>
                  </a:lnTo>
                  <a:lnTo>
                    <a:pt x="165042" y="68974"/>
                  </a:lnTo>
                  <a:lnTo>
                    <a:pt x="204016" y="45104"/>
                  </a:lnTo>
                  <a:lnTo>
                    <a:pt x="245866" y="25911"/>
                  </a:lnTo>
                  <a:lnTo>
                    <a:pt x="290231" y="11756"/>
                  </a:lnTo>
                  <a:lnTo>
                    <a:pt x="336750" y="2999"/>
                  </a:lnTo>
                  <a:lnTo>
                    <a:pt x="385063" y="0"/>
                  </a:lnTo>
                  <a:lnTo>
                    <a:pt x="1934464" y="0"/>
                  </a:lnTo>
                  <a:lnTo>
                    <a:pt x="1982752" y="2999"/>
                  </a:lnTo>
                  <a:lnTo>
                    <a:pt x="2029254" y="11756"/>
                  </a:lnTo>
                  <a:lnTo>
                    <a:pt x="2073609" y="25911"/>
                  </a:lnTo>
                  <a:lnTo>
                    <a:pt x="2115454" y="45104"/>
                  </a:lnTo>
                  <a:lnTo>
                    <a:pt x="2154430" y="68974"/>
                  </a:lnTo>
                  <a:lnTo>
                    <a:pt x="2190173" y="97160"/>
                  </a:lnTo>
                  <a:lnTo>
                    <a:pt x="2222323" y="129303"/>
                  </a:lnTo>
                  <a:lnTo>
                    <a:pt x="2250519" y="165042"/>
                  </a:lnTo>
                  <a:lnTo>
                    <a:pt x="2274398" y="204016"/>
                  </a:lnTo>
                  <a:lnTo>
                    <a:pt x="2293600" y="245866"/>
                  </a:lnTo>
                  <a:lnTo>
                    <a:pt x="2307763" y="290231"/>
                  </a:lnTo>
                  <a:lnTo>
                    <a:pt x="2316526" y="336750"/>
                  </a:lnTo>
                  <a:lnTo>
                    <a:pt x="2319528" y="385063"/>
                  </a:lnTo>
                  <a:lnTo>
                    <a:pt x="2319528" y="1925320"/>
                  </a:lnTo>
                  <a:lnTo>
                    <a:pt x="2316526" y="1973608"/>
                  </a:lnTo>
                  <a:lnTo>
                    <a:pt x="2307763" y="2020110"/>
                  </a:lnTo>
                  <a:lnTo>
                    <a:pt x="2293600" y="2064465"/>
                  </a:lnTo>
                  <a:lnTo>
                    <a:pt x="2274398" y="2106310"/>
                  </a:lnTo>
                  <a:lnTo>
                    <a:pt x="2250519" y="2145286"/>
                  </a:lnTo>
                  <a:lnTo>
                    <a:pt x="2222323" y="2181029"/>
                  </a:lnTo>
                  <a:lnTo>
                    <a:pt x="2190173" y="2213179"/>
                  </a:lnTo>
                  <a:lnTo>
                    <a:pt x="2154430" y="2241375"/>
                  </a:lnTo>
                  <a:lnTo>
                    <a:pt x="2115454" y="2265254"/>
                  </a:lnTo>
                  <a:lnTo>
                    <a:pt x="2073609" y="2284456"/>
                  </a:lnTo>
                  <a:lnTo>
                    <a:pt x="2029254" y="2298619"/>
                  </a:lnTo>
                  <a:lnTo>
                    <a:pt x="1982752" y="2307382"/>
                  </a:lnTo>
                  <a:lnTo>
                    <a:pt x="1934464" y="2310384"/>
                  </a:lnTo>
                  <a:lnTo>
                    <a:pt x="385063" y="2310384"/>
                  </a:lnTo>
                  <a:lnTo>
                    <a:pt x="336750" y="2307382"/>
                  </a:lnTo>
                  <a:lnTo>
                    <a:pt x="290231" y="2298619"/>
                  </a:lnTo>
                  <a:lnTo>
                    <a:pt x="245866" y="2284456"/>
                  </a:lnTo>
                  <a:lnTo>
                    <a:pt x="204016" y="2265254"/>
                  </a:lnTo>
                  <a:lnTo>
                    <a:pt x="165042" y="2241375"/>
                  </a:lnTo>
                  <a:lnTo>
                    <a:pt x="129303" y="2213179"/>
                  </a:lnTo>
                  <a:lnTo>
                    <a:pt x="97160" y="2181029"/>
                  </a:lnTo>
                  <a:lnTo>
                    <a:pt x="68974" y="2145286"/>
                  </a:lnTo>
                  <a:lnTo>
                    <a:pt x="45104" y="2106310"/>
                  </a:lnTo>
                  <a:lnTo>
                    <a:pt x="25911" y="2064465"/>
                  </a:lnTo>
                  <a:lnTo>
                    <a:pt x="11756" y="2020110"/>
                  </a:lnTo>
                  <a:lnTo>
                    <a:pt x="2999" y="1973608"/>
                  </a:lnTo>
                  <a:lnTo>
                    <a:pt x="0" y="1925320"/>
                  </a:lnTo>
                  <a:lnTo>
                    <a:pt x="0" y="385063"/>
                  </a:lnTo>
                  <a:close/>
                </a:path>
              </a:pathLst>
            </a:custGeom>
            <a:ln w="12699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82039" y="2706624"/>
              <a:ext cx="1981200" cy="2399030"/>
            </a:xfrm>
            <a:custGeom>
              <a:avLst/>
              <a:gdLst/>
              <a:ahLst/>
              <a:cxnLst/>
              <a:rect l="l" t="t" r="r" b="b"/>
              <a:pathLst>
                <a:path w="1981200" h="2399029">
                  <a:moveTo>
                    <a:pt x="1651000" y="0"/>
                  </a:moveTo>
                  <a:lnTo>
                    <a:pt x="330200" y="0"/>
                  </a:lnTo>
                  <a:lnTo>
                    <a:pt x="281406" y="3580"/>
                  </a:lnTo>
                  <a:lnTo>
                    <a:pt x="234835" y="13979"/>
                  </a:lnTo>
                  <a:lnTo>
                    <a:pt x="190998" y="30688"/>
                  </a:lnTo>
                  <a:lnTo>
                    <a:pt x="150404" y="53195"/>
                  </a:lnTo>
                  <a:lnTo>
                    <a:pt x="113566" y="80989"/>
                  </a:lnTo>
                  <a:lnTo>
                    <a:pt x="80994" y="113561"/>
                  </a:lnTo>
                  <a:lnTo>
                    <a:pt x="53198" y="150399"/>
                  </a:lnTo>
                  <a:lnTo>
                    <a:pt x="30690" y="190992"/>
                  </a:lnTo>
                  <a:lnTo>
                    <a:pt x="13980" y="234831"/>
                  </a:lnTo>
                  <a:lnTo>
                    <a:pt x="3580" y="281403"/>
                  </a:lnTo>
                  <a:lnTo>
                    <a:pt x="0" y="330200"/>
                  </a:lnTo>
                  <a:lnTo>
                    <a:pt x="0" y="2068576"/>
                  </a:lnTo>
                  <a:lnTo>
                    <a:pt x="3580" y="2117372"/>
                  </a:lnTo>
                  <a:lnTo>
                    <a:pt x="13980" y="2163944"/>
                  </a:lnTo>
                  <a:lnTo>
                    <a:pt x="30690" y="2207783"/>
                  </a:lnTo>
                  <a:lnTo>
                    <a:pt x="53198" y="2248376"/>
                  </a:lnTo>
                  <a:lnTo>
                    <a:pt x="80994" y="2285214"/>
                  </a:lnTo>
                  <a:lnTo>
                    <a:pt x="113566" y="2317786"/>
                  </a:lnTo>
                  <a:lnTo>
                    <a:pt x="150404" y="2345580"/>
                  </a:lnTo>
                  <a:lnTo>
                    <a:pt x="190998" y="2368087"/>
                  </a:lnTo>
                  <a:lnTo>
                    <a:pt x="234835" y="2384796"/>
                  </a:lnTo>
                  <a:lnTo>
                    <a:pt x="281406" y="2395195"/>
                  </a:lnTo>
                  <a:lnTo>
                    <a:pt x="330200" y="2398776"/>
                  </a:lnTo>
                  <a:lnTo>
                    <a:pt x="1651000" y="2398776"/>
                  </a:lnTo>
                  <a:lnTo>
                    <a:pt x="1699796" y="2395195"/>
                  </a:lnTo>
                  <a:lnTo>
                    <a:pt x="1746368" y="2384796"/>
                  </a:lnTo>
                  <a:lnTo>
                    <a:pt x="1790207" y="2368087"/>
                  </a:lnTo>
                  <a:lnTo>
                    <a:pt x="1830800" y="2345580"/>
                  </a:lnTo>
                  <a:lnTo>
                    <a:pt x="1867638" y="2317786"/>
                  </a:lnTo>
                  <a:lnTo>
                    <a:pt x="1900210" y="2285214"/>
                  </a:lnTo>
                  <a:lnTo>
                    <a:pt x="1928004" y="2248376"/>
                  </a:lnTo>
                  <a:lnTo>
                    <a:pt x="1950511" y="2207783"/>
                  </a:lnTo>
                  <a:lnTo>
                    <a:pt x="1967220" y="2163944"/>
                  </a:lnTo>
                  <a:lnTo>
                    <a:pt x="1977619" y="2117372"/>
                  </a:lnTo>
                  <a:lnTo>
                    <a:pt x="1981200" y="2068576"/>
                  </a:lnTo>
                  <a:lnTo>
                    <a:pt x="1981200" y="330200"/>
                  </a:lnTo>
                  <a:lnTo>
                    <a:pt x="1977619" y="281403"/>
                  </a:lnTo>
                  <a:lnTo>
                    <a:pt x="1967220" y="234831"/>
                  </a:lnTo>
                  <a:lnTo>
                    <a:pt x="1950511" y="190992"/>
                  </a:lnTo>
                  <a:lnTo>
                    <a:pt x="1928004" y="150399"/>
                  </a:lnTo>
                  <a:lnTo>
                    <a:pt x="1900210" y="113561"/>
                  </a:lnTo>
                  <a:lnTo>
                    <a:pt x="1867638" y="80989"/>
                  </a:lnTo>
                  <a:lnTo>
                    <a:pt x="1830800" y="53195"/>
                  </a:lnTo>
                  <a:lnTo>
                    <a:pt x="1790207" y="30688"/>
                  </a:lnTo>
                  <a:lnTo>
                    <a:pt x="1746368" y="13979"/>
                  </a:lnTo>
                  <a:lnTo>
                    <a:pt x="1699796" y="358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82039" y="2706624"/>
              <a:ext cx="1981200" cy="2399030"/>
            </a:xfrm>
            <a:custGeom>
              <a:avLst/>
              <a:gdLst/>
              <a:ahLst/>
              <a:cxnLst/>
              <a:rect l="l" t="t" r="r" b="b"/>
              <a:pathLst>
                <a:path w="1981200" h="2399029">
                  <a:moveTo>
                    <a:pt x="0" y="330200"/>
                  </a:moveTo>
                  <a:lnTo>
                    <a:pt x="3580" y="281403"/>
                  </a:lnTo>
                  <a:lnTo>
                    <a:pt x="13980" y="234831"/>
                  </a:lnTo>
                  <a:lnTo>
                    <a:pt x="30690" y="190992"/>
                  </a:lnTo>
                  <a:lnTo>
                    <a:pt x="53198" y="150399"/>
                  </a:lnTo>
                  <a:lnTo>
                    <a:pt x="80994" y="113561"/>
                  </a:lnTo>
                  <a:lnTo>
                    <a:pt x="113566" y="80989"/>
                  </a:lnTo>
                  <a:lnTo>
                    <a:pt x="150404" y="53195"/>
                  </a:lnTo>
                  <a:lnTo>
                    <a:pt x="190998" y="30688"/>
                  </a:lnTo>
                  <a:lnTo>
                    <a:pt x="234835" y="13979"/>
                  </a:lnTo>
                  <a:lnTo>
                    <a:pt x="281406" y="3580"/>
                  </a:lnTo>
                  <a:lnTo>
                    <a:pt x="330200" y="0"/>
                  </a:lnTo>
                  <a:lnTo>
                    <a:pt x="1651000" y="0"/>
                  </a:lnTo>
                  <a:lnTo>
                    <a:pt x="1699796" y="3580"/>
                  </a:lnTo>
                  <a:lnTo>
                    <a:pt x="1746368" y="13979"/>
                  </a:lnTo>
                  <a:lnTo>
                    <a:pt x="1790207" y="30688"/>
                  </a:lnTo>
                  <a:lnTo>
                    <a:pt x="1830800" y="53195"/>
                  </a:lnTo>
                  <a:lnTo>
                    <a:pt x="1867638" y="80989"/>
                  </a:lnTo>
                  <a:lnTo>
                    <a:pt x="1900210" y="113561"/>
                  </a:lnTo>
                  <a:lnTo>
                    <a:pt x="1928004" y="150399"/>
                  </a:lnTo>
                  <a:lnTo>
                    <a:pt x="1950511" y="190992"/>
                  </a:lnTo>
                  <a:lnTo>
                    <a:pt x="1967220" y="234831"/>
                  </a:lnTo>
                  <a:lnTo>
                    <a:pt x="1977619" y="281403"/>
                  </a:lnTo>
                  <a:lnTo>
                    <a:pt x="1981200" y="330200"/>
                  </a:lnTo>
                  <a:lnTo>
                    <a:pt x="1981200" y="2068576"/>
                  </a:lnTo>
                  <a:lnTo>
                    <a:pt x="1977619" y="2117372"/>
                  </a:lnTo>
                  <a:lnTo>
                    <a:pt x="1967220" y="2163944"/>
                  </a:lnTo>
                  <a:lnTo>
                    <a:pt x="1950511" y="2207783"/>
                  </a:lnTo>
                  <a:lnTo>
                    <a:pt x="1928004" y="2248376"/>
                  </a:lnTo>
                  <a:lnTo>
                    <a:pt x="1900210" y="2285214"/>
                  </a:lnTo>
                  <a:lnTo>
                    <a:pt x="1867638" y="2317786"/>
                  </a:lnTo>
                  <a:lnTo>
                    <a:pt x="1830800" y="2345580"/>
                  </a:lnTo>
                  <a:lnTo>
                    <a:pt x="1790207" y="2368087"/>
                  </a:lnTo>
                  <a:lnTo>
                    <a:pt x="1746368" y="2384796"/>
                  </a:lnTo>
                  <a:lnTo>
                    <a:pt x="1699796" y="2395195"/>
                  </a:lnTo>
                  <a:lnTo>
                    <a:pt x="1651000" y="2398776"/>
                  </a:lnTo>
                  <a:lnTo>
                    <a:pt x="330200" y="2398776"/>
                  </a:lnTo>
                  <a:lnTo>
                    <a:pt x="281406" y="2395195"/>
                  </a:lnTo>
                  <a:lnTo>
                    <a:pt x="234835" y="2384796"/>
                  </a:lnTo>
                  <a:lnTo>
                    <a:pt x="190998" y="2368087"/>
                  </a:lnTo>
                  <a:lnTo>
                    <a:pt x="150404" y="2345580"/>
                  </a:lnTo>
                  <a:lnTo>
                    <a:pt x="113566" y="2317786"/>
                  </a:lnTo>
                  <a:lnTo>
                    <a:pt x="80994" y="2285214"/>
                  </a:lnTo>
                  <a:lnTo>
                    <a:pt x="53198" y="2248376"/>
                  </a:lnTo>
                  <a:lnTo>
                    <a:pt x="30690" y="2207783"/>
                  </a:lnTo>
                  <a:lnTo>
                    <a:pt x="13980" y="2163944"/>
                  </a:lnTo>
                  <a:lnTo>
                    <a:pt x="3580" y="2117372"/>
                  </a:lnTo>
                  <a:lnTo>
                    <a:pt x="0" y="2068576"/>
                  </a:lnTo>
                  <a:lnTo>
                    <a:pt x="0" y="330200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02735" y="5684519"/>
              <a:ext cx="2514600" cy="695325"/>
            </a:xfrm>
            <a:custGeom>
              <a:avLst/>
              <a:gdLst/>
              <a:ahLst/>
              <a:cxnLst/>
              <a:rect l="l" t="t" r="r" b="b"/>
              <a:pathLst>
                <a:path w="2514600" h="695325">
                  <a:moveTo>
                    <a:pt x="2514600" y="0"/>
                  </a:moveTo>
                  <a:lnTo>
                    <a:pt x="0" y="0"/>
                  </a:lnTo>
                  <a:lnTo>
                    <a:pt x="0" y="694943"/>
                  </a:lnTo>
                  <a:lnTo>
                    <a:pt x="2398776" y="694943"/>
                  </a:lnTo>
                  <a:lnTo>
                    <a:pt x="2514600" y="579119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01511" y="6263639"/>
              <a:ext cx="116205" cy="116205"/>
            </a:xfrm>
            <a:custGeom>
              <a:avLst/>
              <a:gdLst/>
              <a:ahLst/>
              <a:cxnLst/>
              <a:rect l="l" t="t" r="r" b="b"/>
              <a:pathLst>
                <a:path w="116204" h="116204">
                  <a:moveTo>
                    <a:pt x="115824" y="0"/>
                  </a:moveTo>
                  <a:lnTo>
                    <a:pt x="23113" y="23164"/>
                  </a:lnTo>
                  <a:lnTo>
                    <a:pt x="0" y="115824"/>
                  </a:lnTo>
                  <a:lnTo>
                    <a:pt x="115824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02735" y="5684519"/>
              <a:ext cx="2514600" cy="695325"/>
            </a:xfrm>
            <a:custGeom>
              <a:avLst/>
              <a:gdLst/>
              <a:ahLst/>
              <a:cxnLst/>
              <a:rect l="l" t="t" r="r" b="b"/>
              <a:pathLst>
                <a:path w="2514600" h="695325">
                  <a:moveTo>
                    <a:pt x="2398776" y="694943"/>
                  </a:moveTo>
                  <a:lnTo>
                    <a:pt x="2421890" y="602284"/>
                  </a:lnTo>
                  <a:lnTo>
                    <a:pt x="2514600" y="579119"/>
                  </a:lnTo>
                  <a:lnTo>
                    <a:pt x="2398776" y="694943"/>
                  </a:lnTo>
                  <a:lnTo>
                    <a:pt x="0" y="694943"/>
                  </a:lnTo>
                  <a:lnTo>
                    <a:pt x="0" y="0"/>
                  </a:lnTo>
                  <a:lnTo>
                    <a:pt x="2514600" y="0"/>
                  </a:lnTo>
                  <a:lnTo>
                    <a:pt x="2514600" y="5791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98982" y="1473238"/>
            <a:ext cx="5583555" cy="72326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600" b="1" dirty="0">
                <a:solidFill>
                  <a:srgbClr val="FF912B"/>
                </a:solidFill>
                <a:latin typeface="Calibri"/>
                <a:cs typeface="Calibri"/>
              </a:rPr>
              <a:t>Notion</a:t>
            </a:r>
            <a:r>
              <a:rPr sz="1600" b="1" spc="-30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912B"/>
                </a:solidFill>
                <a:latin typeface="Calibri"/>
                <a:cs typeface="Calibri"/>
              </a:rPr>
              <a:t>d’objet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référents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référer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-70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Adressage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indirect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37119" y="2237232"/>
            <a:ext cx="2514600" cy="307975"/>
          </a:xfrm>
          <a:prstGeom prst="rect">
            <a:avLst/>
          </a:prstGeom>
          <a:solidFill>
            <a:srgbClr val="DAE2F3"/>
          </a:solidFill>
          <a:ln w="31750">
            <a:solidFill>
              <a:srgbClr val="0058A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280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P1=P2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30244" y="5739790"/>
            <a:ext cx="2260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Recopie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l’adresse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P2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endParaRPr sz="1400">
              <a:latin typeface="Calibri"/>
              <a:cs typeface="Calibri"/>
            </a:endParaRPr>
          </a:p>
          <a:p>
            <a:pPr marL="6350" algn="ctr">
              <a:lnSpc>
                <a:spcPct val="100000"/>
              </a:lnSpc>
            </a:pP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réfèrent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P1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0432" y="2987039"/>
            <a:ext cx="1676400" cy="50927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C46"/>
            </a:solidFill>
          </a:ln>
        </p:spPr>
        <p:txBody>
          <a:bodyPr vert="horz" wrap="square" lIns="0" tIns="139065" rIns="0" bIns="0" rtlCol="0">
            <a:spAutoFit/>
          </a:bodyPr>
          <a:lstStyle/>
          <a:p>
            <a:pPr marL="488315">
              <a:lnSpc>
                <a:spcPct val="100000"/>
              </a:lnSpc>
              <a:spcBef>
                <a:spcPts val="109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0x304009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75303" y="3011423"/>
            <a:ext cx="1981200" cy="460375"/>
          </a:xfrm>
          <a:prstGeom prst="rect">
            <a:avLst/>
          </a:prstGeom>
          <a:solidFill>
            <a:srgbClr val="FFFFFF"/>
          </a:solidFill>
          <a:ln w="12700">
            <a:solidFill>
              <a:srgbClr val="2E528F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0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02027" y="3527551"/>
            <a:ext cx="2095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P1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52144" y="4258055"/>
            <a:ext cx="1676400" cy="50927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C46"/>
            </a:solidFill>
          </a:ln>
        </p:spPr>
        <p:txBody>
          <a:bodyPr vert="horz" wrap="square" lIns="0" tIns="139065" rIns="0" bIns="0" rtlCol="0">
            <a:spAutoFit/>
          </a:bodyPr>
          <a:lstStyle/>
          <a:p>
            <a:pPr marL="487680">
              <a:lnSpc>
                <a:spcPct val="100000"/>
              </a:lnSpc>
              <a:spcBef>
                <a:spcPts val="109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0x504010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75303" y="4276344"/>
            <a:ext cx="1981200" cy="460375"/>
          </a:xfrm>
          <a:prstGeom prst="rect">
            <a:avLst/>
          </a:prstGeom>
          <a:solidFill>
            <a:srgbClr val="FFFFFF"/>
          </a:solidFill>
          <a:ln w="12700">
            <a:solidFill>
              <a:srgbClr val="2E528F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04745" y="4763515"/>
            <a:ext cx="2101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P2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80300" y="2239708"/>
            <a:ext cx="4939030" cy="3363595"/>
            <a:chOff x="880300" y="2239708"/>
            <a:chExt cx="4939030" cy="3363595"/>
          </a:xfrm>
        </p:grpSpPr>
        <p:sp>
          <p:nvSpPr>
            <p:cNvPr id="27" name="object 27"/>
            <p:cNvSpPr/>
            <p:nvPr/>
          </p:nvSpPr>
          <p:spPr>
            <a:xfrm>
              <a:off x="894588" y="2253995"/>
              <a:ext cx="4910455" cy="3335020"/>
            </a:xfrm>
            <a:custGeom>
              <a:avLst/>
              <a:gdLst/>
              <a:ahLst/>
              <a:cxnLst/>
              <a:rect l="l" t="t" r="r" b="b"/>
              <a:pathLst>
                <a:path w="4910455" h="3335020">
                  <a:moveTo>
                    <a:pt x="0" y="555751"/>
                  </a:moveTo>
                  <a:lnTo>
                    <a:pt x="2039" y="507795"/>
                  </a:lnTo>
                  <a:lnTo>
                    <a:pt x="8048" y="460973"/>
                  </a:lnTo>
                  <a:lnTo>
                    <a:pt x="17858" y="415451"/>
                  </a:lnTo>
                  <a:lnTo>
                    <a:pt x="31304" y="371395"/>
                  </a:lnTo>
                  <a:lnTo>
                    <a:pt x="48218" y="328974"/>
                  </a:lnTo>
                  <a:lnTo>
                    <a:pt x="68433" y="288353"/>
                  </a:lnTo>
                  <a:lnTo>
                    <a:pt x="91782" y="249699"/>
                  </a:lnTo>
                  <a:lnTo>
                    <a:pt x="118100" y="213179"/>
                  </a:lnTo>
                  <a:lnTo>
                    <a:pt x="147218" y="178960"/>
                  </a:lnTo>
                  <a:lnTo>
                    <a:pt x="178970" y="147209"/>
                  </a:lnTo>
                  <a:lnTo>
                    <a:pt x="213190" y="118092"/>
                  </a:lnTo>
                  <a:lnTo>
                    <a:pt x="249710" y="91776"/>
                  </a:lnTo>
                  <a:lnTo>
                    <a:pt x="288364" y="68428"/>
                  </a:lnTo>
                  <a:lnTo>
                    <a:pt x="328985" y="48214"/>
                  </a:lnTo>
                  <a:lnTo>
                    <a:pt x="371405" y="31301"/>
                  </a:lnTo>
                  <a:lnTo>
                    <a:pt x="415459" y="17857"/>
                  </a:lnTo>
                  <a:lnTo>
                    <a:pt x="460979" y="8047"/>
                  </a:lnTo>
                  <a:lnTo>
                    <a:pt x="507799" y="2039"/>
                  </a:lnTo>
                  <a:lnTo>
                    <a:pt x="555752" y="0"/>
                  </a:lnTo>
                  <a:lnTo>
                    <a:pt x="4354576" y="0"/>
                  </a:lnTo>
                  <a:lnTo>
                    <a:pt x="4402532" y="2039"/>
                  </a:lnTo>
                  <a:lnTo>
                    <a:pt x="4449354" y="8047"/>
                  </a:lnTo>
                  <a:lnTo>
                    <a:pt x="4494876" y="17857"/>
                  </a:lnTo>
                  <a:lnTo>
                    <a:pt x="4538932" y="31301"/>
                  </a:lnTo>
                  <a:lnTo>
                    <a:pt x="4581353" y="48214"/>
                  </a:lnTo>
                  <a:lnTo>
                    <a:pt x="4621974" y="68428"/>
                  </a:lnTo>
                  <a:lnTo>
                    <a:pt x="4660628" y="91776"/>
                  </a:lnTo>
                  <a:lnTo>
                    <a:pt x="4697148" y="118092"/>
                  </a:lnTo>
                  <a:lnTo>
                    <a:pt x="4731367" y="147209"/>
                  </a:lnTo>
                  <a:lnTo>
                    <a:pt x="4763118" y="178960"/>
                  </a:lnTo>
                  <a:lnTo>
                    <a:pt x="4792235" y="213179"/>
                  </a:lnTo>
                  <a:lnTo>
                    <a:pt x="4818551" y="249699"/>
                  </a:lnTo>
                  <a:lnTo>
                    <a:pt x="4841899" y="288353"/>
                  </a:lnTo>
                  <a:lnTo>
                    <a:pt x="4862113" y="328974"/>
                  </a:lnTo>
                  <a:lnTo>
                    <a:pt x="4879026" y="371395"/>
                  </a:lnTo>
                  <a:lnTo>
                    <a:pt x="4892470" y="415451"/>
                  </a:lnTo>
                  <a:lnTo>
                    <a:pt x="4902280" y="460973"/>
                  </a:lnTo>
                  <a:lnTo>
                    <a:pt x="4908288" y="507795"/>
                  </a:lnTo>
                  <a:lnTo>
                    <a:pt x="4910328" y="555751"/>
                  </a:lnTo>
                  <a:lnTo>
                    <a:pt x="4910328" y="2778760"/>
                  </a:lnTo>
                  <a:lnTo>
                    <a:pt x="4908288" y="2826716"/>
                  </a:lnTo>
                  <a:lnTo>
                    <a:pt x="4902280" y="2873538"/>
                  </a:lnTo>
                  <a:lnTo>
                    <a:pt x="4892470" y="2919060"/>
                  </a:lnTo>
                  <a:lnTo>
                    <a:pt x="4879026" y="2963116"/>
                  </a:lnTo>
                  <a:lnTo>
                    <a:pt x="4862113" y="3005537"/>
                  </a:lnTo>
                  <a:lnTo>
                    <a:pt x="4841899" y="3046158"/>
                  </a:lnTo>
                  <a:lnTo>
                    <a:pt x="4818551" y="3084812"/>
                  </a:lnTo>
                  <a:lnTo>
                    <a:pt x="4792235" y="3121332"/>
                  </a:lnTo>
                  <a:lnTo>
                    <a:pt x="4763118" y="3155551"/>
                  </a:lnTo>
                  <a:lnTo>
                    <a:pt x="4731367" y="3187302"/>
                  </a:lnTo>
                  <a:lnTo>
                    <a:pt x="4697148" y="3216419"/>
                  </a:lnTo>
                  <a:lnTo>
                    <a:pt x="4660628" y="3242735"/>
                  </a:lnTo>
                  <a:lnTo>
                    <a:pt x="4621974" y="3266083"/>
                  </a:lnTo>
                  <a:lnTo>
                    <a:pt x="4581353" y="3286297"/>
                  </a:lnTo>
                  <a:lnTo>
                    <a:pt x="4538932" y="3303210"/>
                  </a:lnTo>
                  <a:lnTo>
                    <a:pt x="4494876" y="3316654"/>
                  </a:lnTo>
                  <a:lnTo>
                    <a:pt x="4449354" y="3326464"/>
                  </a:lnTo>
                  <a:lnTo>
                    <a:pt x="4402532" y="3332472"/>
                  </a:lnTo>
                  <a:lnTo>
                    <a:pt x="4354576" y="3334512"/>
                  </a:lnTo>
                  <a:lnTo>
                    <a:pt x="555752" y="3334512"/>
                  </a:lnTo>
                  <a:lnTo>
                    <a:pt x="507799" y="3332472"/>
                  </a:lnTo>
                  <a:lnTo>
                    <a:pt x="460979" y="3326464"/>
                  </a:lnTo>
                  <a:lnTo>
                    <a:pt x="415459" y="3316654"/>
                  </a:lnTo>
                  <a:lnTo>
                    <a:pt x="371405" y="3303210"/>
                  </a:lnTo>
                  <a:lnTo>
                    <a:pt x="328985" y="3286297"/>
                  </a:lnTo>
                  <a:lnTo>
                    <a:pt x="288364" y="3266083"/>
                  </a:lnTo>
                  <a:lnTo>
                    <a:pt x="249710" y="3242735"/>
                  </a:lnTo>
                  <a:lnTo>
                    <a:pt x="213190" y="3216419"/>
                  </a:lnTo>
                  <a:lnTo>
                    <a:pt x="178970" y="3187302"/>
                  </a:lnTo>
                  <a:lnTo>
                    <a:pt x="147218" y="3155551"/>
                  </a:lnTo>
                  <a:lnTo>
                    <a:pt x="118100" y="3121332"/>
                  </a:lnTo>
                  <a:lnTo>
                    <a:pt x="91782" y="3084812"/>
                  </a:lnTo>
                  <a:lnTo>
                    <a:pt x="68433" y="3046158"/>
                  </a:lnTo>
                  <a:lnTo>
                    <a:pt x="48218" y="3005537"/>
                  </a:lnTo>
                  <a:lnTo>
                    <a:pt x="31304" y="2963116"/>
                  </a:lnTo>
                  <a:lnTo>
                    <a:pt x="17858" y="2919060"/>
                  </a:lnTo>
                  <a:lnTo>
                    <a:pt x="8048" y="2873538"/>
                  </a:lnTo>
                  <a:lnTo>
                    <a:pt x="2039" y="2826716"/>
                  </a:lnTo>
                  <a:lnTo>
                    <a:pt x="0" y="2778760"/>
                  </a:lnTo>
                  <a:lnTo>
                    <a:pt x="0" y="555751"/>
                  </a:lnTo>
                  <a:close/>
                </a:path>
              </a:pathLst>
            </a:custGeom>
            <a:ln w="28575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28417" y="3169538"/>
              <a:ext cx="746760" cy="1405255"/>
            </a:xfrm>
            <a:custGeom>
              <a:avLst/>
              <a:gdLst/>
              <a:ahLst/>
              <a:cxnLst/>
              <a:rect l="l" t="t" r="r" b="b"/>
              <a:pathLst>
                <a:path w="746760" h="1405254">
                  <a:moveTo>
                    <a:pt x="728345" y="1332357"/>
                  </a:moveTo>
                  <a:lnTo>
                    <a:pt x="681583" y="1309370"/>
                  </a:lnTo>
                  <a:lnTo>
                    <a:pt x="584962" y="1261872"/>
                  </a:lnTo>
                  <a:lnTo>
                    <a:pt x="585292" y="1309370"/>
                  </a:lnTo>
                  <a:lnTo>
                    <a:pt x="585292" y="1309547"/>
                  </a:lnTo>
                  <a:lnTo>
                    <a:pt x="0" y="1313688"/>
                  </a:lnTo>
                  <a:lnTo>
                    <a:pt x="228" y="1356995"/>
                  </a:lnTo>
                  <a:lnTo>
                    <a:pt x="254" y="1361313"/>
                  </a:lnTo>
                  <a:lnTo>
                    <a:pt x="585635" y="1357172"/>
                  </a:lnTo>
                  <a:lnTo>
                    <a:pt x="585584" y="1351280"/>
                  </a:lnTo>
                  <a:lnTo>
                    <a:pt x="585635" y="1356995"/>
                  </a:lnTo>
                  <a:lnTo>
                    <a:pt x="585635" y="1357172"/>
                  </a:lnTo>
                  <a:lnTo>
                    <a:pt x="585978" y="1404747"/>
                  </a:lnTo>
                  <a:lnTo>
                    <a:pt x="728345" y="1332357"/>
                  </a:lnTo>
                  <a:close/>
                </a:path>
                <a:path w="746760" h="1405254">
                  <a:moveTo>
                    <a:pt x="746633" y="70485"/>
                  </a:moveTo>
                  <a:lnTo>
                    <a:pt x="699871" y="47498"/>
                  </a:lnTo>
                  <a:lnTo>
                    <a:pt x="603250" y="0"/>
                  </a:lnTo>
                  <a:lnTo>
                    <a:pt x="603580" y="47498"/>
                  </a:lnTo>
                  <a:lnTo>
                    <a:pt x="603580" y="47675"/>
                  </a:lnTo>
                  <a:lnTo>
                    <a:pt x="18288" y="51816"/>
                  </a:lnTo>
                  <a:lnTo>
                    <a:pt x="18516" y="95123"/>
                  </a:lnTo>
                  <a:lnTo>
                    <a:pt x="18542" y="99441"/>
                  </a:lnTo>
                  <a:lnTo>
                    <a:pt x="603923" y="95300"/>
                  </a:lnTo>
                  <a:lnTo>
                    <a:pt x="603872" y="89408"/>
                  </a:lnTo>
                  <a:lnTo>
                    <a:pt x="603923" y="95123"/>
                  </a:lnTo>
                  <a:lnTo>
                    <a:pt x="603923" y="95300"/>
                  </a:lnTo>
                  <a:lnTo>
                    <a:pt x="604266" y="142875"/>
                  </a:lnTo>
                  <a:lnTo>
                    <a:pt x="746633" y="70485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892044" y="2320544"/>
            <a:ext cx="69977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Calibri"/>
                <a:cs typeface="Calibri"/>
              </a:rPr>
              <a:t>Mémoire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400546" y="3428746"/>
            <a:ext cx="4615180" cy="2411730"/>
            <a:chOff x="6400546" y="3428746"/>
            <a:chExt cx="4615180" cy="2411730"/>
          </a:xfrm>
        </p:grpSpPr>
        <p:sp>
          <p:nvSpPr>
            <p:cNvPr id="31" name="object 31"/>
            <p:cNvSpPr/>
            <p:nvPr/>
          </p:nvSpPr>
          <p:spPr>
            <a:xfrm>
              <a:off x="8689848" y="3520440"/>
              <a:ext cx="2319655" cy="2313940"/>
            </a:xfrm>
            <a:custGeom>
              <a:avLst/>
              <a:gdLst/>
              <a:ahLst/>
              <a:cxnLst/>
              <a:rect l="l" t="t" r="r" b="b"/>
              <a:pathLst>
                <a:path w="2319654" h="2313940">
                  <a:moveTo>
                    <a:pt x="1933955" y="0"/>
                  </a:moveTo>
                  <a:lnTo>
                    <a:pt x="385572" y="0"/>
                  </a:lnTo>
                  <a:lnTo>
                    <a:pt x="337200" y="3003"/>
                  </a:lnTo>
                  <a:lnTo>
                    <a:pt x="290623" y="11773"/>
                  </a:lnTo>
                  <a:lnTo>
                    <a:pt x="246201" y="25949"/>
                  </a:lnTo>
                  <a:lnTo>
                    <a:pt x="204297" y="45169"/>
                  </a:lnTo>
                  <a:lnTo>
                    <a:pt x="165271" y="69072"/>
                  </a:lnTo>
                  <a:lnTo>
                    <a:pt x="129484" y="97298"/>
                  </a:lnTo>
                  <a:lnTo>
                    <a:pt x="97298" y="129484"/>
                  </a:lnTo>
                  <a:lnTo>
                    <a:pt x="69072" y="165271"/>
                  </a:lnTo>
                  <a:lnTo>
                    <a:pt x="45169" y="204297"/>
                  </a:lnTo>
                  <a:lnTo>
                    <a:pt x="25949" y="246201"/>
                  </a:lnTo>
                  <a:lnTo>
                    <a:pt x="11773" y="290623"/>
                  </a:lnTo>
                  <a:lnTo>
                    <a:pt x="3003" y="337200"/>
                  </a:lnTo>
                  <a:lnTo>
                    <a:pt x="0" y="385572"/>
                  </a:lnTo>
                  <a:lnTo>
                    <a:pt x="0" y="1927860"/>
                  </a:lnTo>
                  <a:lnTo>
                    <a:pt x="3003" y="1976224"/>
                  </a:lnTo>
                  <a:lnTo>
                    <a:pt x="11773" y="2022796"/>
                  </a:lnTo>
                  <a:lnTo>
                    <a:pt x="25949" y="2067214"/>
                  </a:lnTo>
                  <a:lnTo>
                    <a:pt x="45169" y="2109117"/>
                  </a:lnTo>
                  <a:lnTo>
                    <a:pt x="69072" y="2148143"/>
                  </a:lnTo>
                  <a:lnTo>
                    <a:pt x="97298" y="2183931"/>
                  </a:lnTo>
                  <a:lnTo>
                    <a:pt x="129484" y="2216120"/>
                  </a:lnTo>
                  <a:lnTo>
                    <a:pt x="165271" y="2244349"/>
                  </a:lnTo>
                  <a:lnTo>
                    <a:pt x="204297" y="2268255"/>
                  </a:lnTo>
                  <a:lnTo>
                    <a:pt x="246201" y="2287478"/>
                  </a:lnTo>
                  <a:lnTo>
                    <a:pt x="290623" y="2301655"/>
                  </a:lnTo>
                  <a:lnTo>
                    <a:pt x="337200" y="2310427"/>
                  </a:lnTo>
                  <a:lnTo>
                    <a:pt x="385572" y="2313432"/>
                  </a:lnTo>
                  <a:lnTo>
                    <a:pt x="1933955" y="2313432"/>
                  </a:lnTo>
                  <a:lnTo>
                    <a:pt x="1982327" y="2310427"/>
                  </a:lnTo>
                  <a:lnTo>
                    <a:pt x="2028904" y="2301655"/>
                  </a:lnTo>
                  <a:lnTo>
                    <a:pt x="2073326" y="2287478"/>
                  </a:lnTo>
                  <a:lnTo>
                    <a:pt x="2115230" y="2268255"/>
                  </a:lnTo>
                  <a:lnTo>
                    <a:pt x="2154256" y="2244349"/>
                  </a:lnTo>
                  <a:lnTo>
                    <a:pt x="2190043" y="2216120"/>
                  </a:lnTo>
                  <a:lnTo>
                    <a:pt x="2222229" y="2183931"/>
                  </a:lnTo>
                  <a:lnTo>
                    <a:pt x="2250455" y="2148143"/>
                  </a:lnTo>
                  <a:lnTo>
                    <a:pt x="2274358" y="2109117"/>
                  </a:lnTo>
                  <a:lnTo>
                    <a:pt x="2293578" y="2067214"/>
                  </a:lnTo>
                  <a:lnTo>
                    <a:pt x="2307754" y="2022796"/>
                  </a:lnTo>
                  <a:lnTo>
                    <a:pt x="2316524" y="1976224"/>
                  </a:lnTo>
                  <a:lnTo>
                    <a:pt x="2319528" y="1927860"/>
                  </a:lnTo>
                  <a:lnTo>
                    <a:pt x="2319528" y="385572"/>
                  </a:lnTo>
                  <a:lnTo>
                    <a:pt x="2316524" y="337200"/>
                  </a:lnTo>
                  <a:lnTo>
                    <a:pt x="2307754" y="290623"/>
                  </a:lnTo>
                  <a:lnTo>
                    <a:pt x="2293578" y="246201"/>
                  </a:lnTo>
                  <a:lnTo>
                    <a:pt x="2274358" y="204297"/>
                  </a:lnTo>
                  <a:lnTo>
                    <a:pt x="2250455" y="165271"/>
                  </a:lnTo>
                  <a:lnTo>
                    <a:pt x="2222229" y="129484"/>
                  </a:lnTo>
                  <a:lnTo>
                    <a:pt x="2190043" y="97298"/>
                  </a:lnTo>
                  <a:lnTo>
                    <a:pt x="2154256" y="69072"/>
                  </a:lnTo>
                  <a:lnTo>
                    <a:pt x="2115230" y="45169"/>
                  </a:lnTo>
                  <a:lnTo>
                    <a:pt x="2073326" y="25949"/>
                  </a:lnTo>
                  <a:lnTo>
                    <a:pt x="2028904" y="11773"/>
                  </a:lnTo>
                  <a:lnTo>
                    <a:pt x="1982327" y="3003"/>
                  </a:lnTo>
                  <a:lnTo>
                    <a:pt x="1933955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689848" y="3520440"/>
              <a:ext cx="2319655" cy="2313940"/>
            </a:xfrm>
            <a:custGeom>
              <a:avLst/>
              <a:gdLst/>
              <a:ahLst/>
              <a:cxnLst/>
              <a:rect l="l" t="t" r="r" b="b"/>
              <a:pathLst>
                <a:path w="2319654" h="2313940">
                  <a:moveTo>
                    <a:pt x="0" y="385572"/>
                  </a:moveTo>
                  <a:lnTo>
                    <a:pt x="3003" y="337200"/>
                  </a:lnTo>
                  <a:lnTo>
                    <a:pt x="11773" y="290623"/>
                  </a:lnTo>
                  <a:lnTo>
                    <a:pt x="25949" y="246201"/>
                  </a:lnTo>
                  <a:lnTo>
                    <a:pt x="45169" y="204297"/>
                  </a:lnTo>
                  <a:lnTo>
                    <a:pt x="69072" y="165271"/>
                  </a:lnTo>
                  <a:lnTo>
                    <a:pt x="97298" y="129484"/>
                  </a:lnTo>
                  <a:lnTo>
                    <a:pt x="129484" y="97298"/>
                  </a:lnTo>
                  <a:lnTo>
                    <a:pt x="165271" y="69072"/>
                  </a:lnTo>
                  <a:lnTo>
                    <a:pt x="204297" y="45169"/>
                  </a:lnTo>
                  <a:lnTo>
                    <a:pt x="246201" y="25949"/>
                  </a:lnTo>
                  <a:lnTo>
                    <a:pt x="290623" y="11773"/>
                  </a:lnTo>
                  <a:lnTo>
                    <a:pt x="337200" y="3003"/>
                  </a:lnTo>
                  <a:lnTo>
                    <a:pt x="385572" y="0"/>
                  </a:lnTo>
                  <a:lnTo>
                    <a:pt x="1933955" y="0"/>
                  </a:lnTo>
                  <a:lnTo>
                    <a:pt x="1982327" y="3003"/>
                  </a:lnTo>
                  <a:lnTo>
                    <a:pt x="2028904" y="11773"/>
                  </a:lnTo>
                  <a:lnTo>
                    <a:pt x="2073326" y="25949"/>
                  </a:lnTo>
                  <a:lnTo>
                    <a:pt x="2115230" y="45169"/>
                  </a:lnTo>
                  <a:lnTo>
                    <a:pt x="2154256" y="69072"/>
                  </a:lnTo>
                  <a:lnTo>
                    <a:pt x="2190043" y="97298"/>
                  </a:lnTo>
                  <a:lnTo>
                    <a:pt x="2222229" y="129484"/>
                  </a:lnTo>
                  <a:lnTo>
                    <a:pt x="2250455" y="165271"/>
                  </a:lnTo>
                  <a:lnTo>
                    <a:pt x="2274358" y="204297"/>
                  </a:lnTo>
                  <a:lnTo>
                    <a:pt x="2293578" y="246201"/>
                  </a:lnTo>
                  <a:lnTo>
                    <a:pt x="2307754" y="290623"/>
                  </a:lnTo>
                  <a:lnTo>
                    <a:pt x="2316524" y="337200"/>
                  </a:lnTo>
                  <a:lnTo>
                    <a:pt x="2319528" y="385572"/>
                  </a:lnTo>
                  <a:lnTo>
                    <a:pt x="2319528" y="1927860"/>
                  </a:lnTo>
                  <a:lnTo>
                    <a:pt x="2316524" y="1976224"/>
                  </a:lnTo>
                  <a:lnTo>
                    <a:pt x="2307754" y="2022796"/>
                  </a:lnTo>
                  <a:lnTo>
                    <a:pt x="2293578" y="2067214"/>
                  </a:lnTo>
                  <a:lnTo>
                    <a:pt x="2274358" y="2109117"/>
                  </a:lnTo>
                  <a:lnTo>
                    <a:pt x="2250455" y="2148143"/>
                  </a:lnTo>
                  <a:lnTo>
                    <a:pt x="2222229" y="2183931"/>
                  </a:lnTo>
                  <a:lnTo>
                    <a:pt x="2190043" y="2216120"/>
                  </a:lnTo>
                  <a:lnTo>
                    <a:pt x="2154256" y="2244349"/>
                  </a:lnTo>
                  <a:lnTo>
                    <a:pt x="2115230" y="2268255"/>
                  </a:lnTo>
                  <a:lnTo>
                    <a:pt x="2073326" y="2287478"/>
                  </a:lnTo>
                  <a:lnTo>
                    <a:pt x="2028904" y="2301655"/>
                  </a:lnTo>
                  <a:lnTo>
                    <a:pt x="1982327" y="2310427"/>
                  </a:lnTo>
                  <a:lnTo>
                    <a:pt x="1933955" y="2313432"/>
                  </a:lnTo>
                  <a:lnTo>
                    <a:pt x="385572" y="2313432"/>
                  </a:lnTo>
                  <a:lnTo>
                    <a:pt x="337200" y="2310427"/>
                  </a:lnTo>
                  <a:lnTo>
                    <a:pt x="290623" y="2301655"/>
                  </a:lnTo>
                  <a:lnTo>
                    <a:pt x="246201" y="2287478"/>
                  </a:lnTo>
                  <a:lnTo>
                    <a:pt x="204297" y="2268255"/>
                  </a:lnTo>
                  <a:lnTo>
                    <a:pt x="165271" y="2244349"/>
                  </a:lnTo>
                  <a:lnTo>
                    <a:pt x="129484" y="2216120"/>
                  </a:lnTo>
                  <a:lnTo>
                    <a:pt x="97298" y="2183931"/>
                  </a:lnTo>
                  <a:lnTo>
                    <a:pt x="69072" y="2148143"/>
                  </a:lnTo>
                  <a:lnTo>
                    <a:pt x="45169" y="2109117"/>
                  </a:lnTo>
                  <a:lnTo>
                    <a:pt x="25949" y="2067214"/>
                  </a:lnTo>
                  <a:lnTo>
                    <a:pt x="11773" y="2022796"/>
                  </a:lnTo>
                  <a:lnTo>
                    <a:pt x="3003" y="1976224"/>
                  </a:lnTo>
                  <a:lnTo>
                    <a:pt x="0" y="1927860"/>
                  </a:lnTo>
                  <a:lnTo>
                    <a:pt x="0" y="385572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06896" y="3435096"/>
              <a:ext cx="1981200" cy="2399030"/>
            </a:xfrm>
            <a:custGeom>
              <a:avLst/>
              <a:gdLst/>
              <a:ahLst/>
              <a:cxnLst/>
              <a:rect l="l" t="t" r="r" b="b"/>
              <a:pathLst>
                <a:path w="1981200" h="2399029">
                  <a:moveTo>
                    <a:pt x="1651000" y="0"/>
                  </a:moveTo>
                  <a:lnTo>
                    <a:pt x="330200" y="0"/>
                  </a:lnTo>
                  <a:lnTo>
                    <a:pt x="281403" y="3580"/>
                  </a:lnTo>
                  <a:lnTo>
                    <a:pt x="234831" y="13979"/>
                  </a:lnTo>
                  <a:lnTo>
                    <a:pt x="190992" y="30688"/>
                  </a:lnTo>
                  <a:lnTo>
                    <a:pt x="150399" y="53195"/>
                  </a:lnTo>
                  <a:lnTo>
                    <a:pt x="113561" y="80989"/>
                  </a:lnTo>
                  <a:lnTo>
                    <a:pt x="80989" y="113561"/>
                  </a:lnTo>
                  <a:lnTo>
                    <a:pt x="53195" y="150399"/>
                  </a:lnTo>
                  <a:lnTo>
                    <a:pt x="30688" y="190992"/>
                  </a:lnTo>
                  <a:lnTo>
                    <a:pt x="13979" y="234831"/>
                  </a:lnTo>
                  <a:lnTo>
                    <a:pt x="3580" y="281403"/>
                  </a:lnTo>
                  <a:lnTo>
                    <a:pt x="0" y="330199"/>
                  </a:lnTo>
                  <a:lnTo>
                    <a:pt x="0" y="2068576"/>
                  </a:lnTo>
                  <a:lnTo>
                    <a:pt x="3580" y="2117369"/>
                  </a:lnTo>
                  <a:lnTo>
                    <a:pt x="13979" y="2163940"/>
                  </a:lnTo>
                  <a:lnTo>
                    <a:pt x="30688" y="2207777"/>
                  </a:lnTo>
                  <a:lnTo>
                    <a:pt x="53195" y="2248371"/>
                  </a:lnTo>
                  <a:lnTo>
                    <a:pt x="80989" y="2285209"/>
                  </a:lnTo>
                  <a:lnTo>
                    <a:pt x="113561" y="2317781"/>
                  </a:lnTo>
                  <a:lnTo>
                    <a:pt x="150399" y="2345577"/>
                  </a:lnTo>
                  <a:lnTo>
                    <a:pt x="190992" y="2368085"/>
                  </a:lnTo>
                  <a:lnTo>
                    <a:pt x="234831" y="2384795"/>
                  </a:lnTo>
                  <a:lnTo>
                    <a:pt x="281403" y="2395195"/>
                  </a:lnTo>
                  <a:lnTo>
                    <a:pt x="330200" y="2398776"/>
                  </a:lnTo>
                  <a:lnTo>
                    <a:pt x="1651000" y="2398776"/>
                  </a:lnTo>
                  <a:lnTo>
                    <a:pt x="1699796" y="2395195"/>
                  </a:lnTo>
                  <a:lnTo>
                    <a:pt x="1746368" y="2384795"/>
                  </a:lnTo>
                  <a:lnTo>
                    <a:pt x="1790207" y="2368085"/>
                  </a:lnTo>
                  <a:lnTo>
                    <a:pt x="1830800" y="2345577"/>
                  </a:lnTo>
                  <a:lnTo>
                    <a:pt x="1867638" y="2317781"/>
                  </a:lnTo>
                  <a:lnTo>
                    <a:pt x="1900210" y="2285209"/>
                  </a:lnTo>
                  <a:lnTo>
                    <a:pt x="1928004" y="2248371"/>
                  </a:lnTo>
                  <a:lnTo>
                    <a:pt x="1950511" y="2207777"/>
                  </a:lnTo>
                  <a:lnTo>
                    <a:pt x="1967220" y="2163940"/>
                  </a:lnTo>
                  <a:lnTo>
                    <a:pt x="1977619" y="2117369"/>
                  </a:lnTo>
                  <a:lnTo>
                    <a:pt x="1981200" y="2068576"/>
                  </a:lnTo>
                  <a:lnTo>
                    <a:pt x="1981200" y="330199"/>
                  </a:lnTo>
                  <a:lnTo>
                    <a:pt x="1977619" y="281403"/>
                  </a:lnTo>
                  <a:lnTo>
                    <a:pt x="1967220" y="234831"/>
                  </a:lnTo>
                  <a:lnTo>
                    <a:pt x="1950511" y="190992"/>
                  </a:lnTo>
                  <a:lnTo>
                    <a:pt x="1928004" y="150399"/>
                  </a:lnTo>
                  <a:lnTo>
                    <a:pt x="1900210" y="113561"/>
                  </a:lnTo>
                  <a:lnTo>
                    <a:pt x="1867638" y="80989"/>
                  </a:lnTo>
                  <a:lnTo>
                    <a:pt x="1830800" y="53195"/>
                  </a:lnTo>
                  <a:lnTo>
                    <a:pt x="1790207" y="30688"/>
                  </a:lnTo>
                  <a:lnTo>
                    <a:pt x="1746368" y="13979"/>
                  </a:lnTo>
                  <a:lnTo>
                    <a:pt x="1699796" y="358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06896" y="3435096"/>
              <a:ext cx="1981200" cy="2399030"/>
            </a:xfrm>
            <a:custGeom>
              <a:avLst/>
              <a:gdLst/>
              <a:ahLst/>
              <a:cxnLst/>
              <a:rect l="l" t="t" r="r" b="b"/>
              <a:pathLst>
                <a:path w="1981200" h="2399029">
                  <a:moveTo>
                    <a:pt x="0" y="330199"/>
                  </a:moveTo>
                  <a:lnTo>
                    <a:pt x="3580" y="281403"/>
                  </a:lnTo>
                  <a:lnTo>
                    <a:pt x="13979" y="234831"/>
                  </a:lnTo>
                  <a:lnTo>
                    <a:pt x="30688" y="190992"/>
                  </a:lnTo>
                  <a:lnTo>
                    <a:pt x="53195" y="150399"/>
                  </a:lnTo>
                  <a:lnTo>
                    <a:pt x="80989" y="113561"/>
                  </a:lnTo>
                  <a:lnTo>
                    <a:pt x="113561" y="80989"/>
                  </a:lnTo>
                  <a:lnTo>
                    <a:pt x="150399" y="53195"/>
                  </a:lnTo>
                  <a:lnTo>
                    <a:pt x="190992" y="30688"/>
                  </a:lnTo>
                  <a:lnTo>
                    <a:pt x="234831" y="13979"/>
                  </a:lnTo>
                  <a:lnTo>
                    <a:pt x="281403" y="3580"/>
                  </a:lnTo>
                  <a:lnTo>
                    <a:pt x="330200" y="0"/>
                  </a:lnTo>
                  <a:lnTo>
                    <a:pt x="1651000" y="0"/>
                  </a:lnTo>
                  <a:lnTo>
                    <a:pt x="1699796" y="3580"/>
                  </a:lnTo>
                  <a:lnTo>
                    <a:pt x="1746368" y="13979"/>
                  </a:lnTo>
                  <a:lnTo>
                    <a:pt x="1790207" y="30688"/>
                  </a:lnTo>
                  <a:lnTo>
                    <a:pt x="1830800" y="53195"/>
                  </a:lnTo>
                  <a:lnTo>
                    <a:pt x="1867638" y="80989"/>
                  </a:lnTo>
                  <a:lnTo>
                    <a:pt x="1900210" y="113561"/>
                  </a:lnTo>
                  <a:lnTo>
                    <a:pt x="1928004" y="150399"/>
                  </a:lnTo>
                  <a:lnTo>
                    <a:pt x="1950511" y="190992"/>
                  </a:lnTo>
                  <a:lnTo>
                    <a:pt x="1967220" y="234831"/>
                  </a:lnTo>
                  <a:lnTo>
                    <a:pt x="1977619" y="281403"/>
                  </a:lnTo>
                  <a:lnTo>
                    <a:pt x="1981200" y="330199"/>
                  </a:lnTo>
                  <a:lnTo>
                    <a:pt x="1981200" y="2068576"/>
                  </a:lnTo>
                  <a:lnTo>
                    <a:pt x="1977619" y="2117369"/>
                  </a:lnTo>
                  <a:lnTo>
                    <a:pt x="1967220" y="2163940"/>
                  </a:lnTo>
                  <a:lnTo>
                    <a:pt x="1950511" y="2207777"/>
                  </a:lnTo>
                  <a:lnTo>
                    <a:pt x="1928004" y="2248371"/>
                  </a:lnTo>
                  <a:lnTo>
                    <a:pt x="1900210" y="2285209"/>
                  </a:lnTo>
                  <a:lnTo>
                    <a:pt x="1867638" y="2317781"/>
                  </a:lnTo>
                  <a:lnTo>
                    <a:pt x="1830800" y="2345577"/>
                  </a:lnTo>
                  <a:lnTo>
                    <a:pt x="1790207" y="2368085"/>
                  </a:lnTo>
                  <a:lnTo>
                    <a:pt x="1746368" y="2384795"/>
                  </a:lnTo>
                  <a:lnTo>
                    <a:pt x="1699796" y="2395195"/>
                  </a:lnTo>
                  <a:lnTo>
                    <a:pt x="1651000" y="2398776"/>
                  </a:lnTo>
                  <a:lnTo>
                    <a:pt x="330200" y="2398776"/>
                  </a:lnTo>
                  <a:lnTo>
                    <a:pt x="281403" y="2395195"/>
                  </a:lnTo>
                  <a:lnTo>
                    <a:pt x="234831" y="2384795"/>
                  </a:lnTo>
                  <a:lnTo>
                    <a:pt x="190992" y="2368085"/>
                  </a:lnTo>
                  <a:lnTo>
                    <a:pt x="150399" y="2345577"/>
                  </a:lnTo>
                  <a:lnTo>
                    <a:pt x="113561" y="2317781"/>
                  </a:lnTo>
                  <a:lnTo>
                    <a:pt x="80989" y="2285209"/>
                  </a:lnTo>
                  <a:lnTo>
                    <a:pt x="53195" y="2248371"/>
                  </a:lnTo>
                  <a:lnTo>
                    <a:pt x="30688" y="2207777"/>
                  </a:lnTo>
                  <a:lnTo>
                    <a:pt x="13979" y="2163940"/>
                  </a:lnTo>
                  <a:lnTo>
                    <a:pt x="3580" y="2117369"/>
                  </a:lnTo>
                  <a:lnTo>
                    <a:pt x="0" y="2068576"/>
                  </a:lnTo>
                  <a:lnTo>
                    <a:pt x="0" y="330199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495288" y="3715511"/>
            <a:ext cx="1676400" cy="50927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C46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489584">
              <a:lnSpc>
                <a:spcPct val="100000"/>
              </a:lnSpc>
              <a:spcBef>
                <a:spcPts val="10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0x504010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00159" y="3739896"/>
            <a:ext cx="1981200" cy="460375"/>
          </a:xfrm>
          <a:prstGeom prst="rect">
            <a:avLst/>
          </a:prstGeom>
          <a:solidFill>
            <a:srgbClr val="FFFFFF"/>
          </a:solidFill>
          <a:ln w="12700">
            <a:solidFill>
              <a:srgbClr val="2E528F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90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28154" y="4255770"/>
            <a:ext cx="2101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P1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77000" y="4983479"/>
            <a:ext cx="1676400" cy="512445"/>
          </a:xfrm>
          <a:prstGeom prst="rect">
            <a:avLst/>
          </a:prstGeom>
          <a:solidFill>
            <a:srgbClr val="FFFFFF"/>
          </a:solidFill>
          <a:ln w="12700">
            <a:solidFill>
              <a:srgbClr val="6FAC46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488950">
              <a:lnSpc>
                <a:spcPct val="100000"/>
              </a:lnSpc>
              <a:spcBef>
                <a:spcPts val="112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0x504010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900159" y="5004815"/>
            <a:ext cx="1981200" cy="460375"/>
          </a:xfrm>
          <a:prstGeom prst="rect">
            <a:avLst/>
          </a:prstGeom>
          <a:solidFill>
            <a:srgbClr val="FFFFFF"/>
          </a:solidFill>
          <a:ln w="12700">
            <a:solidFill>
              <a:srgbClr val="2E528F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90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230871" y="5491683"/>
            <a:ext cx="2101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P2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247828" y="2998660"/>
            <a:ext cx="4942205" cy="3296285"/>
            <a:chOff x="6247828" y="2998660"/>
            <a:chExt cx="4942205" cy="3296285"/>
          </a:xfrm>
        </p:grpSpPr>
        <p:sp>
          <p:nvSpPr>
            <p:cNvPr id="42" name="object 42"/>
            <p:cNvSpPr/>
            <p:nvPr/>
          </p:nvSpPr>
          <p:spPr>
            <a:xfrm>
              <a:off x="6262115" y="3012948"/>
              <a:ext cx="4913630" cy="3267710"/>
            </a:xfrm>
            <a:custGeom>
              <a:avLst/>
              <a:gdLst/>
              <a:ahLst/>
              <a:cxnLst/>
              <a:rect l="l" t="t" r="r" b="b"/>
              <a:pathLst>
                <a:path w="4913630" h="3267710">
                  <a:moveTo>
                    <a:pt x="0" y="544576"/>
                  </a:moveTo>
                  <a:lnTo>
                    <a:pt x="1999" y="497591"/>
                  </a:lnTo>
                  <a:lnTo>
                    <a:pt x="7887" y="451716"/>
                  </a:lnTo>
                  <a:lnTo>
                    <a:pt x="17501" y="407113"/>
                  </a:lnTo>
                  <a:lnTo>
                    <a:pt x="30677" y="363946"/>
                  </a:lnTo>
                  <a:lnTo>
                    <a:pt x="47252" y="322380"/>
                  </a:lnTo>
                  <a:lnTo>
                    <a:pt x="67062" y="282576"/>
                  </a:lnTo>
                  <a:lnTo>
                    <a:pt x="89943" y="244700"/>
                  </a:lnTo>
                  <a:lnTo>
                    <a:pt x="115733" y="208914"/>
                  </a:lnTo>
                  <a:lnTo>
                    <a:pt x="144266" y="175381"/>
                  </a:lnTo>
                  <a:lnTo>
                    <a:pt x="175381" y="144266"/>
                  </a:lnTo>
                  <a:lnTo>
                    <a:pt x="208914" y="115733"/>
                  </a:lnTo>
                  <a:lnTo>
                    <a:pt x="244700" y="89943"/>
                  </a:lnTo>
                  <a:lnTo>
                    <a:pt x="282576" y="67062"/>
                  </a:lnTo>
                  <a:lnTo>
                    <a:pt x="322380" y="47252"/>
                  </a:lnTo>
                  <a:lnTo>
                    <a:pt x="363946" y="30677"/>
                  </a:lnTo>
                  <a:lnTo>
                    <a:pt x="407113" y="17501"/>
                  </a:lnTo>
                  <a:lnTo>
                    <a:pt x="451716" y="7887"/>
                  </a:lnTo>
                  <a:lnTo>
                    <a:pt x="497591" y="1999"/>
                  </a:lnTo>
                  <a:lnTo>
                    <a:pt x="544576" y="0"/>
                  </a:lnTo>
                  <a:lnTo>
                    <a:pt x="4368800" y="0"/>
                  </a:lnTo>
                  <a:lnTo>
                    <a:pt x="4415784" y="1999"/>
                  </a:lnTo>
                  <a:lnTo>
                    <a:pt x="4461659" y="7887"/>
                  </a:lnTo>
                  <a:lnTo>
                    <a:pt x="4506262" y="17501"/>
                  </a:lnTo>
                  <a:lnTo>
                    <a:pt x="4549429" y="30677"/>
                  </a:lnTo>
                  <a:lnTo>
                    <a:pt x="4590995" y="47252"/>
                  </a:lnTo>
                  <a:lnTo>
                    <a:pt x="4630799" y="67062"/>
                  </a:lnTo>
                  <a:lnTo>
                    <a:pt x="4668675" y="89943"/>
                  </a:lnTo>
                  <a:lnTo>
                    <a:pt x="4704461" y="115733"/>
                  </a:lnTo>
                  <a:lnTo>
                    <a:pt x="4737994" y="144266"/>
                  </a:lnTo>
                  <a:lnTo>
                    <a:pt x="4769109" y="175381"/>
                  </a:lnTo>
                  <a:lnTo>
                    <a:pt x="4797642" y="208914"/>
                  </a:lnTo>
                  <a:lnTo>
                    <a:pt x="4823432" y="244700"/>
                  </a:lnTo>
                  <a:lnTo>
                    <a:pt x="4846313" y="282576"/>
                  </a:lnTo>
                  <a:lnTo>
                    <a:pt x="4866123" y="322380"/>
                  </a:lnTo>
                  <a:lnTo>
                    <a:pt x="4882698" y="363946"/>
                  </a:lnTo>
                  <a:lnTo>
                    <a:pt x="4895874" y="407113"/>
                  </a:lnTo>
                  <a:lnTo>
                    <a:pt x="4905488" y="451716"/>
                  </a:lnTo>
                  <a:lnTo>
                    <a:pt x="4911376" y="497591"/>
                  </a:lnTo>
                  <a:lnTo>
                    <a:pt x="4913376" y="544576"/>
                  </a:lnTo>
                  <a:lnTo>
                    <a:pt x="4913376" y="2722867"/>
                  </a:lnTo>
                  <a:lnTo>
                    <a:pt x="4911376" y="2769857"/>
                  </a:lnTo>
                  <a:lnTo>
                    <a:pt x="4905488" y="2815737"/>
                  </a:lnTo>
                  <a:lnTo>
                    <a:pt x="4895874" y="2860343"/>
                  </a:lnTo>
                  <a:lnTo>
                    <a:pt x="4882698" y="2903512"/>
                  </a:lnTo>
                  <a:lnTo>
                    <a:pt x="4866123" y="2945081"/>
                  </a:lnTo>
                  <a:lnTo>
                    <a:pt x="4846313" y="2984886"/>
                  </a:lnTo>
                  <a:lnTo>
                    <a:pt x="4823432" y="3022763"/>
                  </a:lnTo>
                  <a:lnTo>
                    <a:pt x="4797642" y="3058550"/>
                  </a:lnTo>
                  <a:lnTo>
                    <a:pt x="4769109" y="3092082"/>
                  </a:lnTo>
                  <a:lnTo>
                    <a:pt x="4737994" y="3123196"/>
                  </a:lnTo>
                  <a:lnTo>
                    <a:pt x="4704461" y="3151729"/>
                  </a:lnTo>
                  <a:lnTo>
                    <a:pt x="4668675" y="3177518"/>
                  </a:lnTo>
                  <a:lnTo>
                    <a:pt x="4630799" y="3200398"/>
                  </a:lnTo>
                  <a:lnTo>
                    <a:pt x="4590995" y="3220207"/>
                  </a:lnTo>
                  <a:lnTo>
                    <a:pt x="4549429" y="3236780"/>
                  </a:lnTo>
                  <a:lnTo>
                    <a:pt x="4506262" y="3249956"/>
                  </a:lnTo>
                  <a:lnTo>
                    <a:pt x="4461659" y="3259569"/>
                  </a:lnTo>
                  <a:lnTo>
                    <a:pt x="4415784" y="3265457"/>
                  </a:lnTo>
                  <a:lnTo>
                    <a:pt x="4368800" y="3267455"/>
                  </a:lnTo>
                  <a:lnTo>
                    <a:pt x="544576" y="3267455"/>
                  </a:lnTo>
                  <a:lnTo>
                    <a:pt x="497591" y="3265457"/>
                  </a:lnTo>
                  <a:lnTo>
                    <a:pt x="451716" y="3259569"/>
                  </a:lnTo>
                  <a:lnTo>
                    <a:pt x="407113" y="3249956"/>
                  </a:lnTo>
                  <a:lnTo>
                    <a:pt x="363946" y="3236780"/>
                  </a:lnTo>
                  <a:lnTo>
                    <a:pt x="322380" y="3220207"/>
                  </a:lnTo>
                  <a:lnTo>
                    <a:pt x="282576" y="3200398"/>
                  </a:lnTo>
                  <a:lnTo>
                    <a:pt x="244700" y="3177518"/>
                  </a:lnTo>
                  <a:lnTo>
                    <a:pt x="208914" y="3151729"/>
                  </a:lnTo>
                  <a:lnTo>
                    <a:pt x="175381" y="3123196"/>
                  </a:lnTo>
                  <a:lnTo>
                    <a:pt x="144266" y="3092082"/>
                  </a:lnTo>
                  <a:lnTo>
                    <a:pt x="115733" y="3058550"/>
                  </a:lnTo>
                  <a:lnTo>
                    <a:pt x="89943" y="3022763"/>
                  </a:lnTo>
                  <a:lnTo>
                    <a:pt x="67062" y="2984886"/>
                  </a:lnTo>
                  <a:lnTo>
                    <a:pt x="47252" y="2945081"/>
                  </a:lnTo>
                  <a:lnTo>
                    <a:pt x="30677" y="2903512"/>
                  </a:lnTo>
                  <a:lnTo>
                    <a:pt x="17501" y="2860343"/>
                  </a:lnTo>
                  <a:lnTo>
                    <a:pt x="7887" y="2815737"/>
                  </a:lnTo>
                  <a:lnTo>
                    <a:pt x="1999" y="2769857"/>
                  </a:lnTo>
                  <a:lnTo>
                    <a:pt x="0" y="2722867"/>
                  </a:lnTo>
                  <a:lnTo>
                    <a:pt x="0" y="544576"/>
                  </a:lnTo>
                  <a:close/>
                </a:path>
              </a:pathLst>
            </a:custGeom>
            <a:ln w="28575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51495" y="3961891"/>
              <a:ext cx="730250" cy="1341120"/>
            </a:xfrm>
            <a:custGeom>
              <a:avLst/>
              <a:gdLst/>
              <a:ahLst/>
              <a:cxnLst/>
              <a:rect l="l" t="t" r="r" b="b"/>
              <a:pathLst>
                <a:path w="730250" h="1341120">
                  <a:moveTo>
                    <a:pt x="729742" y="1142746"/>
                  </a:moveTo>
                  <a:lnTo>
                    <a:pt x="721220" y="1054608"/>
                  </a:lnTo>
                  <a:lnTo>
                    <a:pt x="714375" y="983742"/>
                  </a:lnTo>
                  <a:lnTo>
                    <a:pt x="673989" y="1009129"/>
                  </a:lnTo>
                  <a:lnTo>
                    <a:pt x="40386" y="0"/>
                  </a:lnTo>
                  <a:lnTo>
                    <a:pt x="0" y="25400"/>
                  </a:lnTo>
                  <a:lnTo>
                    <a:pt x="633653" y="1034478"/>
                  </a:lnTo>
                  <a:lnTo>
                    <a:pt x="593344" y="1059815"/>
                  </a:lnTo>
                  <a:lnTo>
                    <a:pt x="729742" y="1142746"/>
                  </a:lnTo>
                  <a:close/>
                </a:path>
                <a:path w="730250" h="1341120">
                  <a:moveTo>
                    <a:pt x="730123" y="1268476"/>
                  </a:moveTo>
                  <a:lnTo>
                    <a:pt x="683361" y="1245489"/>
                  </a:lnTo>
                  <a:lnTo>
                    <a:pt x="586740" y="1197991"/>
                  </a:lnTo>
                  <a:lnTo>
                    <a:pt x="587070" y="1245489"/>
                  </a:lnTo>
                  <a:lnTo>
                    <a:pt x="587070" y="1245666"/>
                  </a:lnTo>
                  <a:lnTo>
                    <a:pt x="1778" y="1249807"/>
                  </a:lnTo>
                  <a:lnTo>
                    <a:pt x="2006" y="1293114"/>
                  </a:lnTo>
                  <a:lnTo>
                    <a:pt x="2032" y="1297432"/>
                  </a:lnTo>
                  <a:lnTo>
                    <a:pt x="587413" y="1293291"/>
                  </a:lnTo>
                  <a:lnTo>
                    <a:pt x="587362" y="1287399"/>
                  </a:lnTo>
                  <a:lnTo>
                    <a:pt x="587413" y="1293114"/>
                  </a:lnTo>
                  <a:lnTo>
                    <a:pt x="587413" y="1293291"/>
                  </a:lnTo>
                  <a:lnTo>
                    <a:pt x="587756" y="1340866"/>
                  </a:lnTo>
                  <a:lnTo>
                    <a:pt x="730123" y="1268476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046846" y="3011246"/>
            <a:ext cx="69977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45" name="object 45"/>
          <p:cNvSpPr txBox="1"/>
          <p:nvPr/>
        </p:nvSpPr>
        <p:spPr>
          <a:xfrm>
            <a:off x="8815196" y="5905601"/>
            <a:ext cx="14947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74897" y="5180838"/>
            <a:ext cx="14947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03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Créer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</a:t>
            </a:r>
            <a:r>
              <a:rPr spc="-20" dirty="0">
                <a:solidFill>
                  <a:srgbClr val="007842"/>
                </a:solidFill>
              </a:rPr>
              <a:t> 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Définition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objet</a:t>
            </a:r>
            <a:endParaRPr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03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Créer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</a:t>
            </a:r>
            <a:r>
              <a:rPr spc="-20" dirty="0">
                <a:solidFill>
                  <a:srgbClr val="007842"/>
                </a:solidFill>
              </a:rPr>
              <a:t> 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Définition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objet</a:t>
            </a:r>
            <a:endParaRPr sz="1600"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79932" y="1967085"/>
          <a:ext cx="5258434" cy="953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6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155">
                <a:tc>
                  <a:txBody>
                    <a:bodyPr/>
                    <a:lstStyle/>
                    <a:p>
                      <a:pPr marL="318135" marR="43180" indent="-287020">
                        <a:lnSpc>
                          <a:spcPts val="1610"/>
                        </a:lnSpc>
                        <a:spcBef>
                          <a:spcPts val="220"/>
                        </a:spcBef>
                        <a:buFont typeface="Arial MT"/>
                        <a:buChar char="•"/>
                        <a:tabLst>
                          <a:tab pos="318135" algn="l"/>
                        </a:tabLst>
                      </a:pP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sz="1400" spc="9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objet</a:t>
                      </a:r>
                      <a:r>
                        <a:rPr sz="1400" spc="49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est</a:t>
                      </a:r>
                      <a:r>
                        <a:rPr sz="1400" spc="9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capable</a:t>
                      </a:r>
                      <a:r>
                        <a:rPr sz="1400" spc="10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1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sauvegarder</a:t>
                      </a:r>
                      <a:r>
                        <a:rPr sz="1400" spc="10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sz="1400" spc="9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spc="-2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état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ensemble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d’information</a:t>
                      </a:r>
                      <a:r>
                        <a:rPr sz="1400" spc="1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dans</a:t>
                      </a:r>
                      <a:r>
                        <a:rPr sz="1400" spc="-4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les</a:t>
                      </a:r>
                      <a:r>
                        <a:rPr sz="1400" spc="-4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attributs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c'est-à-</a:t>
                      </a:r>
                      <a:r>
                        <a:rPr sz="1400" spc="-2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dire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un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318135" marR="48895" indent="-287020">
                        <a:lnSpc>
                          <a:spcPts val="1580"/>
                        </a:lnSpc>
                        <a:spcBef>
                          <a:spcPts val="295"/>
                        </a:spcBef>
                        <a:buFont typeface="Arial MT"/>
                        <a:buChar char="•"/>
                        <a:tabLst>
                          <a:tab pos="318135" algn="l"/>
                        </a:tabLst>
                      </a:pPr>
                      <a:r>
                        <a:rPr sz="14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Les</a:t>
                      </a:r>
                      <a:r>
                        <a:rPr sz="1400" b="1" spc="44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attributs</a:t>
                      </a:r>
                      <a:r>
                        <a:rPr sz="1400" b="1" spc="44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sont</a:t>
                      </a:r>
                      <a:r>
                        <a:rPr sz="1400" spc="459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l’ensemble</a:t>
                      </a:r>
                      <a:r>
                        <a:rPr sz="1400" spc="47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r>
                        <a:rPr sz="1400" spc="47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informations représenter</a:t>
                      </a:r>
                      <a:r>
                        <a:rPr sz="1400" spc="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l’état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-5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l’objet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permettant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spc="-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98982" y="2935681"/>
            <a:ext cx="522351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Exemple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d’objets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où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«primitif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»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«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prédéfini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»,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entier,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réel,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caractère…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1602105"/>
            <a:ext cx="12452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Notion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d’objet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69964" y="2083307"/>
            <a:ext cx="4346575" cy="637540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470534">
              <a:lnSpc>
                <a:spcPct val="100000"/>
              </a:lnSpc>
              <a:spcBef>
                <a:spcPts val="1420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OBJET=</a:t>
            </a:r>
            <a:r>
              <a:rPr sz="16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Référent</a:t>
            </a:r>
            <a:r>
              <a:rPr sz="16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+</a:t>
            </a:r>
            <a:r>
              <a:rPr sz="16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Etat</a:t>
            </a:r>
            <a:r>
              <a:rPr sz="16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+</a:t>
            </a:r>
            <a:r>
              <a:rPr sz="16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Comportement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91100" y="4981955"/>
            <a:ext cx="1149350" cy="323215"/>
          </a:xfrm>
          <a:prstGeom prst="rect">
            <a:avLst/>
          </a:prstGeom>
          <a:ln w="28575">
            <a:solidFill>
              <a:srgbClr val="6FAC46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36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0x304021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01940" y="4765547"/>
            <a:ext cx="1847214" cy="460375"/>
          </a:xfrm>
          <a:prstGeom prst="rect">
            <a:avLst/>
          </a:prstGeom>
          <a:solidFill>
            <a:srgbClr val="F1F1F1"/>
          </a:solidFill>
          <a:ln w="28575">
            <a:solidFill>
              <a:srgbClr val="0058A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Couleur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Noir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Marque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Citroën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887652" y="3462528"/>
            <a:ext cx="3530600" cy="1792605"/>
            <a:chOff x="7887652" y="3462528"/>
            <a:chExt cx="3530600" cy="179260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7984" y="4352544"/>
              <a:ext cx="1612392" cy="9022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02368" y="3462528"/>
              <a:ext cx="1615440" cy="74980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901940" y="3738372"/>
              <a:ext cx="1847214" cy="554990"/>
            </a:xfrm>
            <a:custGeom>
              <a:avLst/>
              <a:gdLst/>
              <a:ahLst/>
              <a:cxnLst/>
              <a:rect l="l" t="t" r="r" b="b"/>
              <a:pathLst>
                <a:path w="1847215" h="554989">
                  <a:moveTo>
                    <a:pt x="1847088" y="0"/>
                  </a:moveTo>
                  <a:lnTo>
                    <a:pt x="0" y="0"/>
                  </a:lnTo>
                  <a:lnTo>
                    <a:pt x="0" y="554735"/>
                  </a:lnTo>
                  <a:lnTo>
                    <a:pt x="1847088" y="554735"/>
                  </a:lnTo>
                  <a:lnTo>
                    <a:pt x="184708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01940" y="3738372"/>
              <a:ext cx="1847214" cy="554990"/>
            </a:xfrm>
            <a:custGeom>
              <a:avLst/>
              <a:gdLst/>
              <a:ahLst/>
              <a:cxnLst/>
              <a:rect l="l" t="t" r="r" b="b"/>
              <a:pathLst>
                <a:path w="1847215" h="554989">
                  <a:moveTo>
                    <a:pt x="0" y="554735"/>
                  </a:moveTo>
                  <a:lnTo>
                    <a:pt x="1847088" y="554735"/>
                  </a:lnTo>
                  <a:lnTo>
                    <a:pt x="1847088" y="0"/>
                  </a:lnTo>
                  <a:lnTo>
                    <a:pt x="0" y="0"/>
                  </a:lnTo>
                  <a:lnTo>
                    <a:pt x="0" y="554735"/>
                  </a:lnTo>
                  <a:close/>
                </a:path>
              </a:pathLst>
            </a:custGeom>
            <a:ln w="28575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139430" y="3780535"/>
            <a:ext cx="137096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Couleur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rouge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Marque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Peugeot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01940" y="5759196"/>
            <a:ext cx="1847214" cy="502920"/>
          </a:xfrm>
          <a:prstGeom prst="rect">
            <a:avLst/>
          </a:prstGeom>
          <a:solidFill>
            <a:srgbClr val="F1F1F1"/>
          </a:solidFill>
          <a:ln w="28575">
            <a:solidFill>
              <a:srgbClr val="2E528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2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Citronnier</a:t>
            </a:r>
            <a:endParaRPr sz="14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Hauteur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99434" y="3952189"/>
            <a:ext cx="131953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Première_Voiture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93770" y="4976240"/>
            <a:ext cx="13906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Deuxième_Voiture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88055" y="5912611"/>
            <a:ext cx="196468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Premier-Arbre-Dans-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Larue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84138" y="3163570"/>
            <a:ext cx="3429635" cy="2009139"/>
            <a:chOff x="6184138" y="3163570"/>
            <a:chExt cx="3429635" cy="2009139"/>
          </a:xfrm>
        </p:grpSpPr>
        <p:sp>
          <p:nvSpPr>
            <p:cNvPr id="27" name="object 27"/>
            <p:cNvSpPr/>
            <p:nvPr/>
          </p:nvSpPr>
          <p:spPr>
            <a:xfrm>
              <a:off x="8129016" y="3169920"/>
              <a:ext cx="612775" cy="612775"/>
            </a:xfrm>
            <a:custGeom>
              <a:avLst/>
              <a:gdLst/>
              <a:ahLst/>
              <a:cxnLst/>
              <a:rect l="l" t="t" r="r" b="b"/>
              <a:pathLst>
                <a:path w="612775" h="612775">
                  <a:moveTo>
                    <a:pt x="459485" y="0"/>
                  </a:moveTo>
                  <a:lnTo>
                    <a:pt x="306324" y="153162"/>
                  </a:lnTo>
                  <a:lnTo>
                    <a:pt x="153161" y="0"/>
                  </a:lnTo>
                  <a:lnTo>
                    <a:pt x="153161" y="306324"/>
                  </a:lnTo>
                  <a:lnTo>
                    <a:pt x="0" y="306324"/>
                  </a:lnTo>
                  <a:lnTo>
                    <a:pt x="306324" y="612647"/>
                  </a:lnTo>
                  <a:lnTo>
                    <a:pt x="612648" y="306324"/>
                  </a:lnTo>
                  <a:lnTo>
                    <a:pt x="459485" y="306324"/>
                  </a:lnTo>
                  <a:lnTo>
                    <a:pt x="459485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29016" y="3169920"/>
              <a:ext cx="612775" cy="612775"/>
            </a:xfrm>
            <a:custGeom>
              <a:avLst/>
              <a:gdLst/>
              <a:ahLst/>
              <a:cxnLst/>
              <a:rect l="l" t="t" r="r" b="b"/>
              <a:pathLst>
                <a:path w="612775" h="612775">
                  <a:moveTo>
                    <a:pt x="459485" y="0"/>
                  </a:moveTo>
                  <a:lnTo>
                    <a:pt x="459485" y="306324"/>
                  </a:lnTo>
                  <a:lnTo>
                    <a:pt x="612648" y="306324"/>
                  </a:lnTo>
                  <a:lnTo>
                    <a:pt x="306324" y="612647"/>
                  </a:lnTo>
                  <a:lnTo>
                    <a:pt x="0" y="306324"/>
                  </a:lnTo>
                  <a:lnTo>
                    <a:pt x="153161" y="306324"/>
                  </a:lnTo>
                  <a:lnTo>
                    <a:pt x="153161" y="0"/>
                  </a:lnTo>
                  <a:lnTo>
                    <a:pt x="306324" y="153162"/>
                  </a:lnTo>
                  <a:lnTo>
                    <a:pt x="459485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991600" y="3182112"/>
              <a:ext cx="615950" cy="612775"/>
            </a:xfrm>
            <a:custGeom>
              <a:avLst/>
              <a:gdLst/>
              <a:ahLst/>
              <a:cxnLst/>
              <a:rect l="l" t="t" r="r" b="b"/>
              <a:pathLst>
                <a:path w="615950" h="612775">
                  <a:moveTo>
                    <a:pt x="461772" y="0"/>
                  </a:moveTo>
                  <a:lnTo>
                    <a:pt x="307848" y="153162"/>
                  </a:lnTo>
                  <a:lnTo>
                    <a:pt x="153924" y="0"/>
                  </a:lnTo>
                  <a:lnTo>
                    <a:pt x="153924" y="306324"/>
                  </a:lnTo>
                  <a:lnTo>
                    <a:pt x="0" y="306324"/>
                  </a:lnTo>
                  <a:lnTo>
                    <a:pt x="307848" y="612648"/>
                  </a:lnTo>
                  <a:lnTo>
                    <a:pt x="615696" y="306324"/>
                  </a:lnTo>
                  <a:lnTo>
                    <a:pt x="461772" y="306324"/>
                  </a:lnTo>
                  <a:lnTo>
                    <a:pt x="461772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991600" y="3182112"/>
              <a:ext cx="615950" cy="612775"/>
            </a:xfrm>
            <a:custGeom>
              <a:avLst/>
              <a:gdLst/>
              <a:ahLst/>
              <a:cxnLst/>
              <a:rect l="l" t="t" r="r" b="b"/>
              <a:pathLst>
                <a:path w="615950" h="612775">
                  <a:moveTo>
                    <a:pt x="461772" y="0"/>
                  </a:moveTo>
                  <a:lnTo>
                    <a:pt x="461772" y="306324"/>
                  </a:lnTo>
                  <a:lnTo>
                    <a:pt x="615696" y="306324"/>
                  </a:lnTo>
                  <a:lnTo>
                    <a:pt x="307848" y="612648"/>
                  </a:lnTo>
                  <a:lnTo>
                    <a:pt x="0" y="306324"/>
                  </a:lnTo>
                  <a:lnTo>
                    <a:pt x="153924" y="306324"/>
                  </a:lnTo>
                  <a:lnTo>
                    <a:pt x="153924" y="0"/>
                  </a:lnTo>
                  <a:lnTo>
                    <a:pt x="307848" y="153162"/>
                  </a:lnTo>
                  <a:lnTo>
                    <a:pt x="461772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90488" y="4989576"/>
              <a:ext cx="1655445" cy="177165"/>
            </a:xfrm>
            <a:custGeom>
              <a:avLst/>
              <a:gdLst/>
              <a:ahLst/>
              <a:cxnLst/>
              <a:rect l="l" t="t" r="r" b="b"/>
              <a:pathLst>
                <a:path w="1655445" h="177164">
                  <a:moveTo>
                    <a:pt x="1566671" y="0"/>
                  </a:moveTo>
                  <a:lnTo>
                    <a:pt x="1566671" y="44196"/>
                  </a:lnTo>
                  <a:lnTo>
                    <a:pt x="0" y="44196"/>
                  </a:lnTo>
                  <a:lnTo>
                    <a:pt x="0" y="132587"/>
                  </a:lnTo>
                  <a:lnTo>
                    <a:pt x="1566671" y="132587"/>
                  </a:lnTo>
                  <a:lnTo>
                    <a:pt x="1566671" y="176784"/>
                  </a:lnTo>
                  <a:lnTo>
                    <a:pt x="1655064" y="88392"/>
                  </a:lnTo>
                  <a:lnTo>
                    <a:pt x="1566671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90488" y="4989576"/>
              <a:ext cx="1655445" cy="177165"/>
            </a:xfrm>
            <a:custGeom>
              <a:avLst/>
              <a:gdLst/>
              <a:ahLst/>
              <a:cxnLst/>
              <a:rect l="l" t="t" r="r" b="b"/>
              <a:pathLst>
                <a:path w="1655445" h="177164">
                  <a:moveTo>
                    <a:pt x="0" y="44196"/>
                  </a:moveTo>
                  <a:lnTo>
                    <a:pt x="1566671" y="44196"/>
                  </a:lnTo>
                  <a:lnTo>
                    <a:pt x="1566671" y="0"/>
                  </a:lnTo>
                  <a:lnTo>
                    <a:pt x="1655064" y="88392"/>
                  </a:lnTo>
                  <a:lnTo>
                    <a:pt x="1566671" y="176784"/>
                  </a:lnTo>
                  <a:lnTo>
                    <a:pt x="1566671" y="132587"/>
                  </a:lnTo>
                  <a:lnTo>
                    <a:pt x="0" y="132587"/>
                  </a:lnTo>
                  <a:lnTo>
                    <a:pt x="0" y="44196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176264" y="6265875"/>
            <a:ext cx="171196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r>
              <a:rPr sz="16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00821" y="2850642"/>
            <a:ext cx="144081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1219" algn="l"/>
              </a:tabLst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00244" y="3945635"/>
            <a:ext cx="1149350" cy="323215"/>
          </a:xfrm>
          <a:prstGeom prst="rect">
            <a:avLst/>
          </a:prstGeom>
          <a:ln w="28575">
            <a:solidFill>
              <a:srgbClr val="6FAC46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223520">
              <a:lnSpc>
                <a:spcPct val="100000"/>
              </a:lnSpc>
              <a:spcBef>
                <a:spcPts val="35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0x304009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24628" y="5905500"/>
            <a:ext cx="1146175" cy="323215"/>
          </a:xfrm>
          <a:prstGeom prst="rect">
            <a:avLst/>
          </a:prstGeom>
          <a:ln w="28575">
            <a:solidFill>
              <a:srgbClr val="6FAC46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37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0x304100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184138" y="4013961"/>
            <a:ext cx="4916805" cy="2329180"/>
            <a:chOff x="6184138" y="4013961"/>
            <a:chExt cx="4916805" cy="2329180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19359" y="5364479"/>
              <a:ext cx="981455" cy="97840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208776" y="5937504"/>
              <a:ext cx="1658620" cy="173990"/>
            </a:xfrm>
            <a:custGeom>
              <a:avLst/>
              <a:gdLst/>
              <a:ahLst/>
              <a:cxnLst/>
              <a:rect l="l" t="t" r="r" b="b"/>
              <a:pathLst>
                <a:path w="1658620" h="173989">
                  <a:moveTo>
                    <a:pt x="1571244" y="0"/>
                  </a:moveTo>
                  <a:lnTo>
                    <a:pt x="1571244" y="43434"/>
                  </a:lnTo>
                  <a:lnTo>
                    <a:pt x="0" y="43434"/>
                  </a:lnTo>
                  <a:lnTo>
                    <a:pt x="0" y="130302"/>
                  </a:lnTo>
                  <a:lnTo>
                    <a:pt x="1571244" y="130302"/>
                  </a:lnTo>
                  <a:lnTo>
                    <a:pt x="1571244" y="173736"/>
                  </a:lnTo>
                  <a:lnTo>
                    <a:pt x="1658112" y="86868"/>
                  </a:lnTo>
                  <a:lnTo>
                    <a:pt x="157124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08776" y="5937504"/>
              <a:ext cx="1658620" cy="173990"/>
            </a:xfrm>
            <a:custGeom>
              <a:avLst/>
              <a:gdLst/>
              <a:ahLst/>
              <a:cxnLst/>
              <a:rect l="l" t="t" r="r" b="b"/>
              <a:pathLst>
                <a:path w="1658620" h="173989">
                  <a:moveTo>
                    <a:pt x="0" y="43434"/>
                  </a:moveTo>
                  <a:lnTo>
                    <a:pt x="1571244" y="43434"/>
                  </a:lnTo>
                  <a:lnTo>
                    <a:pt x="1571244" y="0"/>
                  </a:lnTo>
                  <a:lnTo>
                    <a:pt x="1658112" y="86868"/>
                  </a:lnTo>
                  <a:lnTo>
                    <a:pt x="1571244" y="173736"/>
                  </a:lnTo>
                  <a:lnTo>
                    <a:pt x="1571244" y="130302"/>
                  </a:lnTo>
                  <a:lnTo>
                    <a:pt x="0" y="130302"/>
                  </a:lnTo>
                  <a:lnTo>
                    <a:pt x="0" y="43434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190488" y="4020311"/>
              <a:ext cx="1655445" cy="173990"/>
            </a:xfrm>
            <a:custGeom>
              <a:avLst/>
              <a:gdLst/>
              <a:ahLst/>
              <a:cxnLst/>
              <a:rect l="l" t="t" r="r" b="b"/>
              <a:pathLst>
                <a:path w="1655445" h="173989">
                  <a:moveTo>
                    <a:pt x="1568195" y="0"/>
                  </a:moveTo>
                  <a:lnTo>
                    <a:pt x="1568195" y="43433"/>
                  </a:lnTo>
                  <a:lnTo>
                    <a:pt x="0" y="43433"/>
                  </a:lnTo>
                  <a:lnTo>
                    <a:pt x="0" y="130301"/>
                  </a:lnTo>
                  <a:lnTo>
                    <a:pt x="1568195" y="130301"/>
                  </a:lnTo>
                  <a:lnTo>
                    <a:pt x="1568195" y="173736"/>
                  </a:lnTo>
                  <a:lnTo>
                    <a:pt x="1655064" y="86868"/>
                  </a:lnTo>
                  <a:lnTo>
                    <a:pt x="1568195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90488" y="4020311"/>
              <a:ext cx="1655445" cy="173990"/>
            </a:xfrm>
            <a:custGeom>
              <a:avLst/>
              <a:gdLst/>
              <a:ahLst/>
              <a:cxnLst/>
              <a:rect l="l" t="t" r="r" b="b"/>
              <a:pathLst>
                <a:path w="1655445" h="173989">
                  <a:moveTo>
                    <a:pt x="0" y="43433"/>
                  </a:moveTo>
                  <a:lnTo>
                    <a:pt x="1568195" y="43433"/>
                  </a:lnTo>
                  <a:lnTo>
                    <a:pt x="1568195" y="0"/>
                  </a:lnTo>
                  <a:lnTo>
                    <a:pt x="1655064" y="86868"/>
                  </a:lnTo>
                  <a:lnTo>
                    <a:pt x="1568195" y="173736"/>
                  </a:lnTo>
                  <a:lnTo>
                    <a:pt x="1568195" y="130301"/>
                  </a:lnTo>
                  <a:lnTo>
                    <a:pt x="0" y="130301"/>
                  </a:lnTo>
                  <a:lnTo>
                    <a:pt x="0" y="43433"/>
                  </a:lnTo>
                  <a:close/>
                </a:path>
              </a:pathLst>
            </a:custGeom>
            <a:ln w="12699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03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Créer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</a:t>
            </a:r>
            <a:r>
              <a:rPr spc="-20" dirty="0">
                <a:solidFill>
                  <a:srgbClr val="007842"/>
                </a:solidFill>
              </a:rPr>
              <a:t> 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Définition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objet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955673"/>
            <a:ext cx="95383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stocké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placé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l’intérieur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l’espace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réservé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autre.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s’agit d’un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Composite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84876" y="3150107"/>
            <a:ext cx="2463165" cy="2310765"/>
          </a:xfrm>
          <a:prstGeom prst="rect">
            <a:avLst/>
          </a:prstGeom>
          <a:solidFill>
            <a:srgbClr val="F1F1F1"/>
          </a:solidFill>
          <a:ln w="28575">
            <a:solidFill>
              <a:srgbClr val="2E528F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25"/>
              </a:spcBef>
            </a:pPr>
            <a:endParaRPr sz="14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Couleur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=rouge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Marque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=Peugeot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92600" y="5581294"/>
            <a:ext cx="171196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r>
              <a:rPr sz="16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68114" y="3389121"/>
            <a:ext cx="1016000" cy="1201420"/>
            <a:chOff x="4468114" y="3389121"/>
            <a:chExt cx="1016000" cy="1201420"/>
          </a:xfrm>
        </p:grpSpPr>
        <p:sp>
          <p:nvSpPr>
            <p:cNvPr id="14" name="object 14"/>
            <p:cNvSpPr/>
            <p:nvPr/>
          </p:nvSpPr>
          <p:spPr>
            <a:xfrm>
              <a:off x="4474464" y="3395471"/>
              <a:ext cx="1003300" cy="173990"/>
            </a:xfrm>
            <a:custGeom>
              <a:avLst/>
              <a:gdLst/>
              <a:ahLst/>
              <a:cxnLst/>
              <a:rect l="l" t="t" r="r" b="b"/>
              <a:pathLst>
                <a:path w="1003300" h="173989">
                  <a:moveTo>
                    <a:pt x="915924" y="0"/>
                  </a:moveTo>
                  <a:lnTo>
                    <a:pt x="915924" y="43433"/>
                  </a:lnTo>
                  <a:lnTo>
                    <a:pt x="0" y="43433"/>
                  </a:lnTo>
                  <a:lnTo>
                    <a:pt x="0" y="130301"/>
                  </a:lnTo>
                  <a:lnTo>
                    <a:pt x="915924" y="130301"/>
                  </a:lnTo>
                  <a:lnTo>
                    <a:pt x="915924" y="173736"/>
                  </a:lnTo>
                  <a:lnTo>
                    <a:pt x="1002791" y="86867"/>
                  </a:lnTo>
                  <a:lnTo>
                    <a:pt x="91592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74464" y="3395471"/>
              <a:ext cx="1003300" cy="173990"/>
            </a:xfrm>
            <a:custGeom>
              <a:avLst/>
              <a:gdLst/>
              <a:ahLst/>
              <a:cxnLst/>
              <a:rect l="l" t="t" r="r" b="b"/>
              <a:pathLst>
                <a:path w="1003300" h="173989">
                  <a:moveTo>
                    <a:pt x="0" y="43433"/>
                  </a:moveTo>
                  <a:lnTo>
                    <a:pt x="915924" y="43433"/>
                  </a:lnTo>
                  <a:lnTo>
                    <a:pt x="915924" y="0"/>
                  </a:lnTo>
                  <a:lnTo>
                    <a:pt x="1002791" y="86867"/>
                  </a:lnTo>
                  <a:lnTo>
                    <a:pt x="915924" y="173736"/>
                  </a:lnTo>
                  <a:lnTo>
                    <a:pt x="915924" y="130301"/>
                  </a:lnTo>
                  <a:lnTo>
                    <a:pt x="0" y="130301"/>
                  </a:lnTo>
                  <a:lnTo>
                    <a:pt x="0" y="43433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74464" y="4410455"/>
              <a:ext cx="1003300" cy="173990"/>
            </a:xfrm>
            <a:custGeom>
              <a:avLst/>
              <a:gdLst/>
              <a:ahLst/>
              <a:cxnLst/>
              <a:rect l="l" t="t" r="r" b="b"/>
              <a:pathLst>
                <a:path w="1003300" h="173989">
                  <a:moveTo>
                    <a:pt x="915924" y="0"/>
                  </a:moveTo>
                  <a:lnTo>
                    <a:pt x="915924" y="43434"/>
                  </a:lnTo>
                  <a:lnTo>
                    <a:pt x="0" y="43434"/>
                  </a:lnTo>
                  <a:lnTo>
                    <a:pt x="0" y="130302"/>
                  </a:lnTo>
                  <a:lnTo>
                    <a:pt x="915924" y="130302"/>
                  </a:lnTo>
                  <a:lnTo>
                    <a:pt x="915924" y="173736"/>
                  </a:lnTo>
                  <a:lnTo>
                    <a:pt x="1002791" y="86868"/>
                  </a:lnTo>
                  <a:lnTo>
                    <a:pt x="91592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4464" y="4410455"/>
              <a:ext cx="1003300" cy="173990"/>
            </a:xfrm>
            <a:custGeom>
              <a:avLst/>
              <a:gdLst/>
              <a:ahLst/>
              <a:cxnLst/>
              <a:rect l="l" t="t" r="r" b="b"/>
              <a:pathLst>
                <a:path w="1003300" h="173989">
                  <a:moveTo>
                    <a:pt x="0" y="43434"/>
                  </a:moveTo>
                  <a:lnTo>
                    <a:pt x="915924" y="43434"/>
                  </a:lnTo>
                  <a:lnTo>
                    <a:pt x="915924" y="0"/>
                  </a:lnTo>
                  <a:lnTo>
                    <a:pt x="1002791" y="86868"/>
                  </a:lnTo>
                  <a:lnTo>
                    <a:pt x="915924" y="173736"/>
                  </a:lnTo>
                  <a:lnTo>
                    <a:pt x="915924" y="130302"/>
                  </a:lnTo>
                  <a:lnTo>
                    <a:pt x="0" y="130302"/>
                  </a:lnTo>
                  <a:lnTo>
                    <a:pt x="0" y="43434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806067" y="3369944"/>
            <a:ext cx="13182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Première_Voiture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89758" y="4339539"/>
            <a:ext cx="66992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Moteur1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05855" y="4062984"/>
            <a:ext cx="1981200" cy="1066800"/>
          </a:xfrm>
          <a:prstGeom prst="rect">
            <a:avLst/>
          </a:prstGeom>
          <a:solidFill>
            <a:srgbClr val="5B9BD4">
              <a:alpha val="50195"/>
            </a:srgbClr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347980" marR="338455" algn="ctr">
              <a:lnSpc>
                <a:spcPct val="100000"/>
              </a:lnSpc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Moteur=Moteur1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Puissance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=100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Marque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=XX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51164" y="3427476"/>
            <a:ext cx="1554480" cy="52451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2075" marR="112395">
              <a:lnSpc>
                <a:spcPct val="100000"/>
              </a:lnSpc>
              <a:spcBef>
                <a:spcPts val="280"/>
              </a:spcBef>
            </a:pP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Première_Voiture: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composite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7740" y="4515611"/>
            <a:ext cx="1466215" cy="521334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7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Moteur1:</a:t>
            </a:r>
            <a:endParaRPr sz="1400">
              <a:latin typeface="Calibri"/>
              <a:cs typeface="Calibri"/>
            </a:endParaRPr>
          </a:p>
          <a:p>
            <a:pPr marR="11430" algn="ct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composant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14116" y="3366515"/>
            <a:ext cx="1146175" cy="323215"/>
          </a:xfrm>
          <a:prstGeom prst="rect">
            <a:avLst/>
          </a:prstGeom>
          <a:ln w="28575">
            <a:solidFill>
              <a:srgbClr val="6FAC46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34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0x304009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92779" y="4329684"/>
            <a:ext cx="1149350" cy="323215"/>
          </a:xfrm>
          <a:prstGeom prst="rect">
            <a:avLst/>
          </a:prstGeom>
          <a:ln w="28575">
            <a:solidFill>
              <a:srgbClr val="6FAC46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35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0x304021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29739" y="2470404"/>
            <a:ext cx="6708775" cy="3411220"/>
          </a:xfrm>
          <a:custGeom>
            <a:avLst/>
            <a:gdLst/>
            <a:ahLst/>
            <a:cxnLst/>
            <a:rect l="l" t="t" r="r" b="b"/>
            <a:pathLst>
              <a:path w="6708775" h="3411220">
                <a:moveTo>
                  <a:pt x="0" y="568451"/>
                </a:moveTo>
                <a:lnTo>
                  <a:pt x="2086" y="519404"/>
                </a:lnTo>
                <a:lnTo>
                  <a:pt x="8232" y="471515"/>
                </a:lnTo>
                <a:lnTo>
                  <a:pt x="18267" y="424954"/>
                </a:lnTo>
                <a:lnTo>
                  <a:pt x="32020" y="379894"/>
                </a:lnTo>
                <a:lnTo>
                  <a:pt x="49320" y="336504"/>
                </a:lnTo>
                <a:lnTo>
                  <a:pt x="69997" y="294955"/>
                </a:lnTo>
                <a:lnTo>
                  <a:pt x="93881" y="255418"/>
                </a:lnTo>
                <a:lnTo>
                  <a:pt x="120800" y="218063"/>
                </a:lnTo>
                <a:lnTo>
                  <a:pt x="150584" y="183062"/>
                </a:lnTo>
                <a:lnTo>
                  <a:pt x="183062" y="150584"/>
                </a:lnTo>
                <a:lnTo>
                  <a:pt x="218063" y="120800"/>
                </a:lnTo>
                <a:lnTo>
                  <a:pt x="255418" y="93881"/>
                </a:lnTo>
                <a:lnTo>
                  <a:pt x="294955" y="69997"/>
                </a:lnTo>
                <a:lnTo>
                  <a:pt x="336504" y="49320"/>
                </a:lnTo>
                <a:lnTo>
                  <a:pt x="379894" y="32020"/>
                </a:lnTo>
                <a:lnTo>
                  <a:pt x="424954" y="18267"/>
                </a:lnTo>
                <a:lnTo>
                  <a:pt x="471515" y="8232"/>
                </a:lnTo>
                <a:lnTo>
                  <a:pt x="519404" y="2086"/>
                </a:lnTo>
                <a:lnTo>
                  <a:pt x="568452" y="0"/>
                </a:lnTo>
                <a:lnTo>
                  <a:pt x="6140195" y="0"/>
                </a:lnTo>
                <a:lnTo>
                  <a:pt x="6189243" y="2086"/>
                </a:lnTo>
                <a:lnTo>
                  <a:pt x="6237132" y="8232"/>
                </a:lnTo>
                <a:lnTo>
                  <a:pt x="6283693" y="18267"/>
                </a:lnTo>
                <a:lnTo>
                  <a:pt x="6328753" y="32020"/>
                </a:lnTo>
                <a:lnTo>
                  <a:pt x="6372143" y="49320"/>
                </a:lnTo>
                <a:lnTo>
                  <a:pt x="6413692" y="69997"/>
                </a:lnTo>
                <a:lnTo>
                  <a:pt x="6453229" y="93881"/>
                </a:lnTo>
                <a:lnTo>
                  <a:pt x="6490584" y="120800"/>
                </a:lnTo>
                <a:lnTo>
                  <a:pt x="6525585" y="150584"/>
                </a:lnTo>
                <a:lnTo>
                  <a:pt x="6558063" y="183062"/>
                </a:lnTo>
                <a:lnTo>
                  <a:pt x="6587847" y="218063"/>
                </a:lnTo>
                <a:lnTo>
                  <a:pt x="6614766" y="255418"/>
                </a:lnTo>
                <a:lnTo>
                  <a:pt x="6638650" y="294955"/>
                </a:lnTo>
                <a:lnTo>
                  <a:pt x="6659327" y="336504"/>
                </a:lnTo>
                <a:lnTo>
                  <a:pt x="6676627" y="379894"/>
                </a:lnTo>
                <a:lnTo>
                  <a:pt x="6690380" y="424954"/>
                </a:lnTo>
                <a:lnTo>
                  <a:pt x="6700415" y="471515"/>
                </a:lnTo>
                <a:lnTo>
                  <a:pt x="6706561" y="519404"/>
                </a:lnTo>
                <a:lnTo>
                  <a:pt x="6708648" y="568451"/>
                </a:lnTo>
                <a:lnTo>
                  <a:pt x="6708648" y="2842260"/>
                </a:lnTo>
                <a:lnTo>
                  <a:pt x="6706561" y="2891307"/>
                </a:lnTo>
                <a:lnTo>
                  <a:pt x="6700415" y="2939196"/>
                </a:lnTo>
                <a:lnTo>
                  <a:pt x="6690380" y="2985757"/>
                </a:lnTo>
                <a:lnTo>
                  <a:pt x="6676627" y="3030817"/>
                </a:lnTo>
                <a:lnTo>
                  <a:pt x="6659327" y="3074207"/>
                </a:lnTo>
                <a:lnTo>
                  <a:pt x="6638650" y="3115756"/>
                </a:lnTo>
                <a:lnTo>
                  <a:pt x="6614766" y="3155293"/>
                </a:lnTo>
                <a:lnTo>
                  <a:pt x="6587847" y="3192648"/>
                </a:lnTo>
                <a:lnTo>
                  <a:pt x="6558063" y="3227649"/>
                </a:lnTo>
                <a:lnTo>
                  <a:pt x="6525585" y="3260127"/>
                </a:lnTo>
                <a:lnTo>
                  <a:pt x="6490584" y="3289911"/>
                </a:lnTo>
                <a:lnTo>
                  <a:pt x="6453229" y="3316830"/>
                </a:lnTo>
                <a:lnTo>
                  <a:pt x="6413692" y="3340714"/>
                </a:lnTo>
                <a:lnTo>
                  <a:pt x="6372143" y="3361391"/>
                </a:lnTo>
                <a:lnTo>
                  <a:pt x="6328753" y="3378691"/>
                </a:lnTo>
                <a:lnTo>
                  <a:pt x="6283693" y="3392444"/>
                </a:lnTo>
                <a:lnTo>
                  <a:pt x="6237132" y="3402479"/>
                </a:lnTo>
                <a:lnTo>
                  <a:pt x="6189243" y="3408625"/>
                </a:lnTo>
                <a:lnTo>
                  <a:pt x="6140195" y="3410712"/>
                </a:lnTo>
                <a:lnTo>
                  <a:pt x="568452" y="3410712"/>
                </a:lnTo>
                <a:lnTo>
                  <a:pt x="519404" y="3408625"/>
                </a:lnTo>
                <a:lnTo>
                  <a:pt x="471515" y="3402479"/>
                </a:lnTo>
                <a:lnTo>
                  <a:pt x="424954" y="3392444"/>
                </a:lnTo>
                <a:lnTo>
                  <a:pt x="379894" y="3378691"/>
                </a:lnTo>
                <a:lnTo>
                  <a:pt x="336504" y="3361391"/>
                </a:lnTo>
                <a:lnTo>
                  <a:pt x="294955" y="3340714"/>
                </a:lnTo>
                <a:lnTo>
                  <a:pt x="255418" y="3316830"/>
                </a:lnTo>
                <a:lnTo>
                  <a:pt x="218063" y="3289911"/>
                </a:lnTo>
                <a:lnTo>
                  <a:pt x="183062" y="3260127"/>
                </a:lnTo>
                <a:lnTo>
                  <a:pt x="150584" y="3227649"/>
                </a:lnTo>
                <a:lnTo>
                  <a:pt x="120800" y="3192648"/>
                </a:lnTo>
                <a:lnTo>
                  <a:pt x="93881" y="3155293"/>
                </a:lnTo>
                <a:lnTo>
                  <a:pt x="69997" y="3115756"/>
                </a:lnTo>
                <a:lnTo>
                  <a:pt x="49320" y="3074207"/>
                </a:lnTo>
                <a:lnTo>
                  <a:pt x="32020" y="3030817"/>
                </a:lnTo>
                <a:lnTo>
                  <a:pt x="18267" y="2985757"/>
                </a:lnTo>
                <a:lnTo>
                  <a:pt x="8232" y="2939196"/>
                </a:lnTo>
                <a:lnTo>
                  <a:pt x="2086" y="2891307"/>
                </a:lnTo>
                <a:lnTo>
                  <a:pt x="0" y="2842260"/>
                </a:lnTo>
                <a:lnTo>
                  <a:pt x="0" y="568451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03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Créer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</a:t>
            </a:r>
            <a:r>
              <a:rPr spc="-20" dirty="0">
                <a:solidFill>
                  <a:srgbClr val="007842"/>
                </a:solidFill>
              </a:rPr>
              <a:t> 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Définition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objet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887016"/>
            <a:ext cx="6085205" cy="86741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changent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d’état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cycle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 objet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limite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succession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changements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d’états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Soit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l’objet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Feu_de_signalisation_EnQuestion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couleur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trois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valeurs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13293" y="5524906"/>
            <a:ext cx="171196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r>
              <a:rPr sz="16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48502" y="4138676"/>
            <a:ext cx="1621155" cy="959485"/>
            <a:chOff x="6048502" y="4138676"/>
            <a:chExt cx="1621155" cy="959485"/>
          </a:xfrm>
        </p:grpSpPr>
        <p:sp>
          <p:nvSpPr>
            <p:cNvPr id="13" name="object 13"/>
            <p:cNvSpPr/>
            <p:nvPr/>
          </p:nvSpPr>
          <p:spPr>
            <a:xfrm>
              <a:off x="6054852" y="4145026"/>
              <a:ext cx="1608455" cy="946785"/>
            </a:xfrm>
            <a:custGeom>
              <a:avLst/>
              <a:gdLst/>
              <a:ahLst/>
              <a:cxnLst/>
              <a:rect l="l" t="t" r="r" b="b"/>
              <a:pathLst>
                <a:path w="1608454" h="946785">
                  <a:moveTo>
                    <a:pt x="69723" y="0"/>
                  </a:moveTo>
                  <a:lnTo>
                    <a:pt x="0" y="134493"/>
                  </a:lnTo>
                  <a:lnTo>
                    <a:pt x="1438782" y="879475"/>
                  </a:lnTo>
                  <a:lnTo>
                    <a:pt x="1403984" y="946785"/>
                  </a:lnTo>
                  <a:lnTo>
                    <a:pt x="1608074" y="881888"/>
                  </a:lnTo>
                  <a:lnTo>
                    <a:pt x="1543303" y="677799"/>
                  </a:lnTo>
                  <a:lnTo>
                    <a:pt x="1508378" y="744982"/>
                  </a:lnTo>
                  <a:lnTo>
                    <a:pt x="69723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54852" y="4145026"/>
              <a:ext cx="1608455" cy="946785"/>
            </a:xfrm>
            <a:custGeom>
              <a:avLst/>
              <a:gdLst/>
              <a:ahLst/>
              <a:cxnLst/>
              <a:rect l="l" t="t" r="r" b="b"/>
              <a:pathLst>
                <a:path w="1608454" h="946785">
                  <a:moveTo>
                    <a:pt x="69723" y="0"/>
                  </a:moveTo>
                  <a:lnTo>
                    <a:pt x="1508378" y="744982"/>
                  </a:lnTo>
                  <a:lnTo>
                    <a:pt x="1543303" y="677799"/>
                  </a:lnTo>
                  <a:lnTo>
                    <a:pt x="1608074" y="881888"/>
                  </a:lnTo>
                  <a:lnTo>
                    <a:pt x="1403984" y="946785"/>
                  </a:lnTo>
                  <a:lnTo>
                    <a:pt x="1438782" y="879475"/>
                  </a:lnTo>
                  <a:lnTo>
                    <a:pt x="0" y="134493"/>
                  </a:lnTo>
                  <a:lnTo>
                    <a:pt x="69723" y="0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54098" y="3729608"/>
            <a:ext cx="25025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Feu_de_signalisation_EnQuestion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73568" y="3325367"/>
            <a:ext cx="1725295" cy="591820"/>
          </a:xfrm>
          <a:prstGeom prst="rect">
            <a:avLst/>
          </a:prstGeom>
          <a:solidFill>
            <a:srgbClr val="F1F1F1"/>
          </a:solidFill>
          <a:ln w="12700">
            <a:solidFill>
              <a:srgbClr val="2E528F"/>
            </a:solidFill>
          </a:ln>
        </p:spPr>
        <p:txBody>
          <a:bodyPr vert="horz" wrap="square" lIns="0" tIns="179705" rIns="0" bIns="0" rtlCol="0">
            <a:spAutoFit/>
          </a:bodyPr>
          <a:lstStyle/>
          <a:p>
            <a:pPr marL="490220">
              <a:lnSpc>
                <a:spcPct val="100000"/>
              </a:lnSpc>
              <a:spcBef>
                <a:spcPts val="141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Couleur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=1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73568" y="4126991"/>
            <a:ext cx="1725295" cy="518159"/>
          </a:xfrm>
          <a:prstGeom prst="rect">
            <a:avLst/>
          </a:prstGeom>
          <a:solidFill>
            <a:srgbClr val="F1F1F1"/>
          </a:solidFill>
          <a:ln w="12700">
            <a:solidFill>
              <a:srgbClr val="2E528F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490220">
              <a:lnSpc>
                <a:spcPct val="100000"/>
              </a:lnSpc>
              <a:spcBef>
                <a:spcPts val="114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Couleur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=2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78778" y="3474339"/>
            <a:ext cx="1884045" cy="387350"/>
            <a:chOff x="5978778" y="3474339"/>
            <a:chExt cx="1884045" cy="38735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5128" y="3480689"/>
              <a:ext cx="1870964" cy="37452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985128" y="3480689"/>
              <a:ext cx="1871345" cy="374650"/>
            </a:xfrm>
            <a:custGeom>
              <a:avLst/>
              <a:gdLst/>
              <a:ahLst/>
              <a:cxnLst/>
              <a:rect l="l" t="t" r="r" b="b"/>
              <a:pathLst>
                <a:path w="1871345" h="374650">
                  <a:moveTo>
                    <a:pt x="0" y="253492"/>
                  </a:moveTo>
                  <a:lnTo>
                    <a:pt x="1743202" y="60578"/>
                  </a:lnTo>
                  <a:lnTo>
                    <a:pt x="1736471" y="0"/>
                  </a:lnTo>
                  <a:lnTo>
                    <a:pt x="1870964" y="107696"/>
                  </a:lnTo>
                  <a:lnTo>
                    <a:pt x="1763268" y="242188"/>
                  </a:lnTo>
                  <a:lnTo>
                    <a:pt x="1756537" y="181610"/>
                  </a:lnTo>
                  <a:lnTo>
                    <a:pt x="13462" y="374523"/>
                  </a:lnTo>
                  <a:lnTo>
                    <a:pt x="0" y="253492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988807" y="4809744"/>
            <a:ext cx="1722120" cy="518159"/>
          </a:xfrm>
          <a:prstGeom prst="rect">
            <a:avLst/>
          </a:prstGeom>
          <a:solidFill>
            <a:srgbClr val="F1F1F1"/>
          </a:solidFill>
          <a:ln w="12700">
            <a:solidFill>
              <a:srgbClr val="2E528F"/>
            </a:solidFill>
          </a:ln>
        </p:spPr>
        <p:txBody>
          <a:bodyPr vert="horz" wrap="square" lIns="0" tIns="145415" rIns="0" bIns="0" rtlCol="0">
            <a:spAutoFit/>
          </a:bodyPr>
          <a:lstStyle/>
          <a:p>
            <a:pPr marL="488950">
              <a:lnSpc>
                <a:spcPct val="100000"/>
              </a:lnSpc>
              <a:spcBef>
                <a:spcPts val="114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Couleur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=3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962340" y="3041332"/>
            <a:ext cx="8270875" cy="2799715"/>
            <a:chOff x="1962340" y="3041332"/>
            <a:chExt cx="8270875" cy="279971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8463" y="3950208"/>
              <a:ext cx="1888870" cy="53403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98463" y="3950208"/>
              <a:ext cx="1889125" cy="534035"/>
            </a:xfrm>
            <a:custGeom>
              <a:avLst/>
              <a:gdLst/>
              <a:ahLst/>
              <a:cxnLst/>
              <a:rect l="l" t="t" r="r" b="b"/>
              <a:pathLst>
                <a:path w="1889125" h="534035">
                  <a:moveTo>
                    <a:pt x="17907" y="0"/>
                  </a:moveTo>
                  <a:lnTo>
                    <a:pt x="1820671" y="418211"/>
                  </a:lnTo>
                  <a:lnTo>
                    <a:pt x="1829562" y="379603"/>
                  </a:lnTo>
                  <a:lnTo>
                    <a:pt x="1888870" y="474726"/>
                  </a:lnTo>
                  <a:lnTo>
                    <a:pt x="1793747" y="534035"/>
                  </a:lnTo>
                  <a:lnTo>
                    <a:pt x="1802764" y="495427"/>
                  </a:lnTo>
                  <a:lnTo>
                    <a:pt x="0" y="77343"/>
                  </a:lnTo>
                  <a:lnTo>
                    <a:pt x="17907" y="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76627" y="3055620"/>
              <a:ext cx="8242300" cy="2771140"/>
            </a:xfrm>
            <a:custGeom>
              <a:avLst/>
              <a:gdLst/>
              <a:ahLst/>
              <a:cxnLst/>
              <a:rect l="l" t="t" r="r" b="b"/>
              <a:pathLst>
                <a:path w="8242300" h="2771140">
                  <a:moveTo>
                    <a:pt x="0" y="461771"/>
                  </a:moveTo>
                  <a:lnTo>
                    <a:pt x="2384" y="414560"/>
                  </a:lnTo>
                  <a:lnTo>
                    <a:pt x="9382" y="368712"/>
                  </a:lnTo>
                  <a:lnTo>
                    <a:pt x="20761" y="324460"/>
                  </a:lnTo>
                  <a:lnTo>
                    <a:pt x="36290" y="282035"/>
                  </a:lnTo>
                  <a:lnTo>
                    <a:pt x="55736" y="241670"/>
                  </a:lnTo>
                  <a:lnTo>
                    <a:pt x="78866" y="203596"/>
                  </a:lnTo>
                  <a:lnTo>
                    <a:pt x="105450" y="168047"/>
                  </a:lnTo>
                  <a:lnTo>
                    <a:pt x="135254" y="135254"/>
                  </a:lnTo>
                  <a:lnTo>
                    <a:pt x="168047" y="105450"/>
                  </a:lnTo>
                  <a:lnTo>
                    <a:pt x="203596" y="78866"/>
                  </a:lnTo>
                  <a:lnTo>
                    <a:pt x="241670" y="55736"/>
                  </a:lnTo>
                  <a:lnTo>
                    <a:pt x="282035" y="36290"/>
                  </a:lnTo>
                  <a:lnTo>
                    <a:pt x="324460" y="20761"/>
                  </a:lnTo>
                  <a:lnTo>
                    <a:pt x="368712" y="9382"/>
                  </a:lnTo>
                  <a:lnTo>
                    <a:pt x="414560" y="2384"/>
                  </a:lnTo>
                  <a:lnTo>
                    <a:pt x="461772" y="0"/>
                  </a:lnTo>
                  <a:lnTo>
                    <a:pt x="7780020" y="0"/>
                  </a:lnTo>
                  <a:lnTo>
                    <a:pt x="7827231" y="2384"/>
                  </a:lnTo>
                  <a:lnTo>
                    <a:pt x="7873079" y="9382"/>
                  </a:lnTo>
                  <a:lnTo>
                    <a:pt x="7917331" y="20761"/>
                  </a:lnTo>
                  <a:lnTo>
                    <a:pt x="7959756" y="36290"/>
                  </a:lnTo>
                  <a:lnTo>
                    <a:pt x="8000121" y="55736"/>
                  </a:lnTo>
                  <a:lnTo>
                    <a:pt x="8038195" y="78866"/>
                  </a:lnTo>
                  <a:lnTo>
                    <a:pt x="8073744" y="105450"/>
                  </a:lnTo>
                  <a:lnTo>
                    <a:pt x="8106536" y="135254"/>
                  </a:lnTo>
                  <a:lnTo>
                    <a:pt x="8136341" y="168047"/>
                  </a:lnTo>
                  <a:lnTo>
                    <a:pt x="8162924" y="203596"/>
                  </a:lnTo>
                  <a:lnTo>
                    <a:pt x="8186055" y="241670"/>
                  </a:lnTo>
                  <a:lnTo>
                    <a:pt x="8205501" y="282035"/>
                  </a:lnTo>
                  <a:lnTo>
                    <a:pt x="8221030" y="324460"/>
                  </a:lnTo>
                  <a:lnTo>
                    <a:pt x="8232409" y="368712"/>
                  </a:lnTo>
                  <a:lnTo>
                    <a:pt x="8239407" y="414560"/>
                  </a:lnTo>
                  <a:lnTo>
                    <a:pt x="8241792" y="461771"/>
                  </a:lnTo>
                  <a:lnTo>
                    <a:pt x="8241792" y="2308860"/>
                  </a:lnTo>
                  <a:lnTo>
                    <a:pt x="8239407" y="2356073"/>
                  </a:lnTo>
                  <a:lnTo>
                    <a:pt x="8232409" y="2401922"/>
                  </a:lnTo>
                  <a:lnTo>
                    <a:pt x="8221030" y="2446176"/>
                  </a:lnTo>
                  <a:lnTo>
                    <a:pt x="8205501" y="2488602"/>
                  </a:lnTo>
                  <a:lnTo>
                    <a:pt x="8186055" y="2528967"/>
                  </a:lnTo>
                  <a:lnTo>
                    <a:pt x="8162925" y="2567040"/>
                  </a:lnTo>
                  <a:lnTo>
                    <a:pt x="8136341" y="2602589"/>
                  </a:lnTo>
                  <a:lnTo>
                    <a:pt x="8106537" y="2635381"/>
                  </a:lnTo>
                  <a:lnTo>
                    <a:pt x="8073744" y="2665185"/>
                  </a:lnTo>
                  <a:lnTo>
                    <a:pt x="8038195" y="2691768"/>
                  </a:lnTo>
                  <a:lnTo>
                    <a:pt x="8000121" y="2714898"/>
                  </a:lnTo>
                  <a:lnTo>
                    <a:pt x="7959756" y="2734343"/>
                  </a:lnTo>
                  <a:lnTo>
                    <a:pt x="7917331" y="2749871"/>
                  </a:lnTo>
                  <a:lnTo>
                    <a:pt x="7873079" y="2761250"/>
                  </a:lnTo>
                  <a:lnTo>
                    <a:pt x="7827231" y="2768247"/>
                  </a:lnTo>
                  <a:lnTo>
                    <a:pt x="7780020" y="2770631"/>
                  </a:lnTo>
                  <a:lnTo>
                    <a:pt x="461772" y="2770631"/>
                  </a:lnTo>
                  <a:lnTo>
                    <a:pt x="414560" y="2768247"/>
                  </a:lnTo>
                  <a:lnTo>
                    <a:pt x="368712" y="2761250"/>
                  </a:lnTo>
                  <a:lnTo>
                    <a:pt x="324460" y="2749871"/>
                  </a:lnTo>
                  <a:lnTo>
                    <a:pt x="282035" y="2734343"/>
                  </a:lnTo>
                  <a:lnTo>
                    <a:pt x="241670" y="2714898"/>
                  </a:lnTo>
                  <a:lnTo>
                    <a:pt x="203596" y="2691768"/>
                  </a:lnTo>
                  <a:lnTo>
                    <a:pt x="168047" y="2665185"/>
                  </a:lnTo>
                  <a:lnTo>
                    <a:pt x="135255" y="2635381"/>
                  </a:lnTo>
                  <a:lnTo>
                    <a:pt x="105450" y="2602589"/>
                  </a:lnTo>
                  <a:lnTo>
                    <a:pt x="78867" y="2567040"/>
                  </a:lnTo>
                  <a:lnTo>
                    <a:pt x="55736" y="2528967"/>
                  </a:lnTo>
                  <a:lnTo>
                    <a:pt x="36290" y="2488602"/>
                  </a:lnTo>
                  <a:lnTo>
                    <a:pt x="20761" y="2446176"/>
                  </a:lnTo>
                  <a:lnTo>
                    <a:pt x="9382" y="2401922"/>
                  </a:lnTo>
                  <a:lnTo>
                    <a:pt x="2384" y="2356073"/>
                  </a:lnTo>
                  <a:lnTo>
                    <a:pt x="0" y="2308860"/>
                  </a:lnTo>
                  <a:lnTo>
                    <a:pt x="0" y="461771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90872" y="3724656"/>
              <a:ext cx="1149350" cy="323215"/>
            </a:xfrm>
            <a:custGeom>
              <a:avLst/>
              <a:gdLst/>
              <a:ahLst/>
              <a:cxnLst/>
              <a:rect l="l" t="t" r="r" b="b"/>
              <a:pathLst>
                <a:path w="1149350" h="323214">
                  <a:moveTo>
                    <a:pt x="1149096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1149096" y="323088"/>
                  </a:lnTo>
                  <a:lnTo>
                    <a:pt x="1149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90871" y="3724655"/>
            <a:ext cx="1149350" cy="323215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225425">
              <a:lnSpc>
                <a:spcPct val="100000"/>
              </a:lnSpc>
              <a:spcBef>
                <a:spcPts val="35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0x304021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51859" y="1961388"/>
            <a:ext cx="4971415" cy="421005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72770">
              <a:lnSpc>
                <a:spcPct val="100000"/>
              </a:lnSpc>
              <a:spcBef>
                <a:spcPts val="455"/>
              </a:spcBef>
            </a:pP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OBJET=</a:t>
            </a:r>
            <a:r>
              <a:rPr sz="18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Référent</a:t>
            </a:r>
            <a:r>
              <a:rPr sz="18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+</a:t>
            </a:r>
            <a:r>
              <a:rPr sz="18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Etat</a:t>
            </a:r>
            <a:r>
              <a:rPr sz="18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+</a:t>
            </a:r>
            <a:r>
              <a:rPr sz="18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u="sng" spc="-1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Comportement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33013" y="2736341"/>
            <a:ext cx="4801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0" marR="5080" indent="-160718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Mais</a:t>
            </a:r>
            <a:r>
              <a:rPr sz="18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quelle</a:t>
            </a:r>
            <a:r>
              <a:rPr sz="18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8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8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cause</a:t>
            </a:r>
            <a:r>
              <a:rPr sz="18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8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changements</a:t>
            </a:r>
            <a:r>
              <a:rPr sz="18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555555"/>
                </a:solidFill>
                <a:latin typeface="Calibri"/>
                <a:cs typeface="Calibri"/>
              </a:rPr>
              <a:t>d’états</a:t>
            </a:r>
            <a:r>
              <a:rPr sz="18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555555"/>
                </a:solidFill>
                <a:latin typeface="Calibri"/>
                <a:cs typeface="Calibri"/>
              </a:rPr>
              <a:t>?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– LES</a:t>
            </a:r>
            <a:r>
              <a:rPr sz="18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METHODES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38215" y="3983735"/>
            <a:ext cx="1725295" cy="817244"/>
          </a:xfrm>
          <a:prstGeom prst="rect">
            <a:avLst/>
          </a:prstGeom>
          <a:solidFill>
            <a:srgbClr val="F1F1F1"/>
          </a:solidFill>
          <a:ln w="12700">
            <a:solidFill>
              <a:srgbClr val="2E528F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10"/>
              </a:spcBef>
            </a:pPr>
            <a:endParaRPr sz="1400">
              <a:latin typeface="Times New Roman"/>
              <a:cs typeface="Times New Roman"/>
            </a:endParaRPr>
          </a:p>
          <a:p>
            <a:pPr marL="488950">
              <a:lnSpc>
                <a:spcPct val="100000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Couleur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=1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0894" y="5727598"/>
            <a:ext cx="171196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r>
              <a:rPr sz="16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357044" y="3614356"/>
            <a:ext cx="2927350" cy="2406015"/>
            <a:chOff x="8357044" y="3614356"/>
            <a:chExt cx="2927350" cy="2406015"/>
          </a:xfrm>
        </p:grpSpPr>
        <p:sp>
          <p:nvSpPr>
            <p:cNvPr id="14" name="object 14"/>
            <p:cNvSpPr/>
            <p:nvPr/>
          </p:nvSpPr>
          <p:spPr>
            <a:xfrm>
              <a:off x="8371331" y="3628644"/>
              <a:ext cx="2898775" cy="2377440"/>
            </a:xfrm>
            <a:custGeom>
              <a:avLst/>
              <a:gdLst/>
              <a:ahLst/>
              <a:cxnLst/>
              <a:rect l="l" t="t" r="r" b="b"/>
              <a:pathLst>
                <a:path w="2898775" h="2377440">
                  <a:moveTo>
                    <a:pt x="2502408" y="0"/>
                  </a:moveTo>
                  <a:lnTo>
                    <a:pt x="396240" y="0"/>
                  </a:lnTo>
                  <a:lnTo>
                    <a:pt x="350033" y="2666"/>
                  </a:lnTo>
                  <a:lnTo>
                    <a:pt x="305390" y="10465"/>
                  </a:lnTo>
                  <a:lnTo>
                    <a:pt x="262611" y="23102"/>
                  </a:lnTo>
                  <a:lnTo>
                    <a:pt x="221990" y="40277"/>
                  </a:lnTo>
                  <a:lnTo>
                    <a:pt x="183827" y="61693"/>
                  </a:lnTo>
                  <a:lnTo>
                    <a:pt x="148418" y="87054"/>
                  </a:lnTo>
                  <a:lnTo>
                    <a:pt x="116062" y="116062"/>
                  </a:lnTo>
                  <a:lnTo>
                    <a:pt x="87054" y="148418"/>
                  </a:lnTo>
                  <a:lnTo>
                    <a:pt x="61693" y="183827"/>
                  </a:lnTo>
                  <a:lnTo>
                    <a:pt x="40277" y="221990"/>
                  </a:lnTo>
                  <a:lnTo>
                    <a:pt x="23102" y="262611"/>
                  </a:lnTo>
                  <a:lnTo>
                    <a:pt x="10465" y="305390"/>
                  </a:lnTo>
                  <a:lnTo>
                    <a:pt x="2666" y="350033"/>
                  </a:lnTo>
                  <a:lnTo>
                    <a:pt x="0" y="396239"/>
                  </a:lnTo>
                  <a:lnTo>
                    <a:pt x="0" y="1981187"/>
                  </a:lnTo>
                  <a:lnTo>
                    <a:pt x="2666" y="2027399"/>
                  </a:lnTo>
                  <a:lnTo>
                    <a:pt x="10465" y="2072045"/>
                  </a:lnTo>
                  <a:lnTo>
                    <a:pt x="23102" y="2114827"/>
                  </a:lnTo>
                  <a:lnTo>
                    <a:pt x="40277" y="2155450"/>
                  </a:lnTo>
                  <a:lnTo>
                    <a:pt x="61693" y="2193614"/>
                  </a:lnTo>
                  <a:lnTo>
                    <a:pt x="87054" y="2229024"/>
                  </a:lnTo>
                  <a:lnTo>
                    <a:pt x="116062" y="2261381"/>
                  </a:lnTo>
                  <a:lnTo>
                    <a:pt x="148418" y="2290388"/>
                  </a:lnTo>
                  <a:lnTo>
                    <a:pt x="183827" y="2315748"/>
                  </a:lnTo>
                  <a:lnTo>
                    <a:pt x="221990" y="2337164"/>
                  </a:lnTo>
                  <a:lnTo>
                    <a:pt x="262611" y="2354339"/>
                  </a:lnTo>
                  <a:lnTo>
                    <a:pt x="305390" y="2366974"/>
                  </a:lnTo>
                  <a:lnTo>
                    <a:pt x="350033" y="2374774"/>
                  </a:lnTo>
                  <a:lnTo>
                    <a:pt x="396240" y="2377440"/>
                  </a:lnTo>
                  <a:lnTo>
                    <a:pt x="2502408" y="2377440"/>
                  </a:lnTo>
                  <a:lnTo>
                    <a:pt x="2548614" y="2374774"/>
                  </a:lnTo>
                  <a:lnTo>
                    <a:pt x="2593257" y="2366974"/>
                  </a:lnTo>
                  <a:lnTo>
                    <a:pt x="2636036" y="2354339"/>
                  </a:lnTo>
                  <a:lnTo>
                    <a:pt x="2676657" y="2337164"/>
                  </a:lnTo>
                  <a:lnTo>
                    <a:pt x="2714820" y="2315748"/>
                  </a:lnTo>
                  <a:lnTo>
                    <a:pt x="2750229" y="2290388"/>
                  </a:lnTo>
                  <a:lnTo>
                    <a:pt x="2782585" y="2261381"/>
                  </a:lnTo>
                  <a:lnTo>
                    <a:pt x="2811593" y="2229024"/>
                  </a:lnTo>
                  <a:lnTo>
                    <a:pt x="2836954" y="2193614"/>
                  </a:lnTo>
                  <a:lnTo>
                    <a:pt x="2858370" y="2155450"/>
                  </a:lnTo>
                  <a:lnTo>
                    <a:pt x="2875545" y="2114827"/>
                  </a:lnTo>
                  <a:lnTo>
                    <a:pt x="2888182" y="2072045"/>
                  </a:lnTo>
                  <a:lnTo>
                    <a:pt x="2895981" y="2027399"/>
                  </a:lnTo>
                  <a:lnTo>
                    <a:pt x="2898648" y="1981187"/>
                  </a:lnTo>
                  <a:lnTo>
                    <a:pt x="2898648" y="396239"/>
                  </a:lnTo>
                  <a:lnTo>
                    <a:pt x="2895981" y="350033"/>
                  </a:lnTo>
                  <a:lnTo>
                    <a:pt x="2888182" y="305390"/>
                  </a:lnTo>
                  <a:lnTo>
                    <a:pt x="2875545" y="262611"/>
                  </a:lnTo>
                  <a:lnTo>
                    <a:pt x="2858370" y="221990"/>
                  </a:lnTo>
                  <a:lnTo>
                    <a:pt x="2836954" y="183827"/>
                  </a:lnTo>
                  <a:lnTo>
                    <a:pt x="2811593" y="148418"/>
                  </a:lnTo>
                  <a:lnTo>
                    <a:pt x="2782585" y="116062"/>
                  </a:lnTo>
                  <a:lnTo>
                    <a:pt x="2750229" y="87054"/>
                  </a:lnTo>
                  <a:lnTo>
                    <a:pt x="2714820" y="61693"/>
                  </a:lnTo>
                  <a:lnTo>
                    <a:pt x="2676657" y="40277"/>
                  </a:lnTo>
                  <a:lnTo>
                    <a:pt x="2636036" y="23102"/>
                  </a:lnTo>
                  <a:lnTo>
                    <a:pt x="2593257" y="10465"/>
                  </a:lnTo>
                  <a:lnTo>
                    <a:pt x="2548614" y="2666"/>
                  </a:lnTo>
                  <a:lnTo>
                    <a:pt x="2502408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71331" y="3628644"/>
              <a:ext cx="2898775" cy="2377440"/>
            </a:xfrm>
            <a:custGeom>
              <a:avLst/>
              <a:gdLst/>
              <a:ahLst/>
              <a:cxnLst/>
              <a:rect l="l" t="t" r="r" b="b"/>
              <a:pathLst>
                <a:path w="2898775" h="2377440">
                  <a:moveTo>
                    <a:pt x="0" y="396239"/>
                  </a:moveTo>
                  <a:lnTo>
                    <a:pt x="2666" y="350033"/>
                  </a:lnTo>
                  <a:lnTo>
                    <a:pt x="10465" y="305390"/>
                  </a:lnTo>
                  <a:lnTo>
                    <a:pt x="23102" y="262611"/>
                  </a:lnTo>
                  <a:lnTo>
                    <a:pt x="40277" y="221990"/>
                  </a:lnTo>
                  <a:lnTo>
                    <a:pt x="61693" y="183827"/>
                  </a:lnTo>
                  <a:lnTo>
                    <a:pt x="87054" y="148418"/>
                  </a:lnTo>
                  <a:lnTo>
                    <a:pt x="116062" y="116062"/>
                  </a:lnTo>
                  <a:lnTo>
                    <a:pt x="148418" y="87054"/>
                  </a:lnTo>
                  <a:lnTo>
                    <a:pt x="183827" y="61693"/>
                  </a:lnTo>
                  <a:lnTo>
                    <a:pt x="221990" y="40277"/>
                  </a:lnTo>
                  <a:lnTo>
                    <a:pt x="262611" y="23102"/>
                  </a:lnTo>
                  <a:lnTo>
                    <a:pt x="305390" y="10465"/>
                  </a:lnTo>
                  <a:lnTo>
                    <a:pt x="350033" y="2666"/>
                  </a:lnTo>
                  <a:lnTo>
                    <a:pt x="396240" y="0"/>
                  </a:lnTo>
                  <a:lnTo>
                    <a:pt x="2502408" y="0"/>
                  </a:lnTo>
                  <a:lnTo>
                    <a:pt x="2548614" y="2666"/>
                  </a:lnTo>
                  <a:lnTo>
                    <a:pt x="2593257" y="10465"/>
                  </a:lnTo>
                  <a:lnTo>
                    <a:pt x="2636036" y="23102"/>
                  </a:lnTo>
                  <a:lnTo>
                    <a:pt x="2676657" y="40277"/>
                  </a:lnTo>
                  <a:lnTo>
                    <a:pt x="2714820" y="61693"/>
                  </a:lnTo>
                  <a:lnTo>
                    <a:pt x="2750229" y="87054"/>
                  </a:lnTo>
                  <a:lnTo>
                    <a:pt x="2782585" y="116062"/>
                  </a:lnTo>
                  <a:lnTo>
                    <a:pt x="2811593" y="148418"/>
                  </a:lnTo>
                  <a:lnTo>
                    <a:pt x="2836954" y="183827"/>
                  </a:lnTo>
                  <a:lnTo>
                    <a:pt x="2858370" y="221990"/>
                  </a:lnTo>
                  <a:lnTo>
                    <a:pt x="2875545" y="262611"/>
                  </a:lnTo>
                  <a:lnTo>
                    <a:pt x="2888182" y="305390"/>
                  </a:lnTo>
                  <a:lnTo>
                    <a:pt x="2895981" y="350033"/>
                  </a:lnTo>
                  <a:lnTo>
                    <a:pt x="2898648" y="396239"/>
                  </a:lnTo>
                  <a:lnTo>
                    <a:pt x="2898648" y="1981187"/>
                  </a:lnTo>
                  <a:lnTo>
                    <a:pt x="2895981" y="2027399"/>
                  </a:lnTo>
                  <a:lnTo>
                    <a:pt x="2888182" y="2072045"/>
                  </a:lnTo>
                  <a:lnTo>
                    <a:pt x="2875545" y="2114827"/>
                  </a:lnTo>
                  <a:lnTo>
                    <a:pt x="2858370" y="2155450"/>
                  </a:lnTo>
                  <a:lnTo>
                    <a:pt x="2836954" y="2193614"/>
                  </a:lnTo>
                  <a:lnTo>
                    <a:pt x="2811593" y="2229024"/>
                  </a:lnTo>
                  <a:lnTo>
                    <a:pt x="2782585" y="2261381"/>
                  </a:lnTo>
                  <a:lnTo>
                    <a:pt x="2750229" y="2290388"/>
                  </a:lnTo>
                  <a:lnTo>
                    <a:pt x="2714820" y="2315748"/>
                  </a:lnTo>
                  <a:lnTo>
                    <a:pt x="2676657" y="2337164"/>
                  </a:lnTo>
                  <a:lnTo>
                    <a:pt x="2636036" y="2354339"/>
                  </a:lnTo>
                  <a:lnTo>
                    <a:pt x="2593257" y="2366974"/>
                  </a:lnTo>
                  <a:lnTo>
                    <a:pt x="2548614" y="2374774"/>
                  </a:lnTo>
                  <a:lnTo>
                    <a:pt x="2502408" y="2377440"/>
                  </a:lnTo>
                  <a:lnTo>
                    <a:pt x="396240" y="2377440"/>
                  </a:lnTo>
                  <a:lnTo>
                    <a:pt x="350033" y="2374774"/>
                  </a:lnTo>
                  <a:lnTo>
                    <a:pt x="305390" y="2366974"/>
                  </a:lnTo>
                  <a:lnTo>
                    <a:pt x="262611" y="2354339"/>
                  </a:lnTo>
                  <a:lnTo>
                    <a:pt x="221990" y="2337164"/>
                  </a:lnTo>
                  <a:lnTo>
                    <a:pt x="183827" y="2315748"/>
                  </a:lnTo>
                  <a:lnTo>
                    <a:pt x="148418" y="2290388"/>
                  </a:lnTo>
                  <a:lnTo>
                    <a:pt x="116062" y="2261381"/>
                  </a:lnTo>
                  <a:lnTo>
                    <a:pt x="87054" y="2229024"/>
                  </a:lnTo>
                  <a:lnTo>
                    <a:pt x="61693" y="2193614"/>
                  </a:lnTo>
                  <a:lnTo>
                    <a:pt x="40277" y="2155450"/>
                  </a:lnTo>
                  <a:lnTo>
                    <a:pt x="23102" y="2114827"/>
                  </a:lnTo>
                  <a:lnTo>
                    <a:pt x="10465" y="2072045"/>
                  </a:lnTo>
                  <a:lnTo>
                    <a:pt x="2666" y="2027399"/>
                  </a:lnTo>
                  <a:lnTo>
                    <a:pt x="0" y="1981187"/>
                  </a:lnTo>
                  <a:lnTo>
                    <a:pt x="0" y="396239"/>
                  </a:lnTo>
                  <a:close/>
                </a:path>
              </a:pathLst>
            </a:custGeom>
            <a:ln w="28575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857868" y="5680964"/>
            <a:ext cx="2040889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r>
              <a:rPr sz="16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771890" y="3776217"/>
            <a:ext cx="2030730" cy="1866264"/>
            <a:chOff x="8771890" y="3776217"/>
            <a:chExt cx="2030730" cy="1866264"/>
          </a:xfrm>
        </p:grpSpPr>
        <p:sp>
          <p:nvSpPr>
            <p:cNvPr id="18" name="object 18"/>
            <p:cNvSpPr/>
            <p:nvPr/>
          </p:nvSpPr>
          <p:spPr>
            <a:xfrm>
              <a:off x="8778240" y="3782567"/>
              <a:ext cx="2018030" cy="1853564"/>
            </a:xfrm>
            <a:custGeom>
              <a:avLst/>
              <a:gdLst/>
              <a:ahLst/>
              <a:cxnLst/>
              <a:rect l="l" t="t" r="r" b="b"/>
              <a:pathLst>
                <a:path w="2018029" h="1853564">
                  <a:moveTo>
                    <a:pt x="2017776" y="0"/>
                  </a:moveTo>
                  <a:lnTo>
                    <a:pt x="0" y="0"/>
                  </a:lnTo>
                  <a:lnTo>
                    <a:pt x="0" y="1853183"/>
                  </a:lnTo>
                  <a:lnTo>
                    <a:pt x="2017776" y="1853183"/>
                  </a:lnTo>
                  <a:lnTo>
                    <a:pt x="20177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778240" y="3782567"/>
              <a:ext cx="2018030" cy="1853564"/>
            </a:xfrm>
            <a:custGeom>
              <a:avLst/>
              <a:gdLst/>
              <a:ahLst/>
              <a:cxnLst/>
              <a:rect l="l" t="t" r="r" b="b"/>
              <a:pathLst>
                <a:path w="2018029" h="1853564">
                  <a:moveTo>
                    <a:pt x="0" y="1853183"/>
                  </a:moveTo>
                  <a:lnTo>
                    <a:pt x="2017776" y="1853183"/>
                  </a:lnTo>
                  <a:lnTo>
                    <a:pt x="2017776" y="0"/>
                  </a:lnTo>
                  <a:lnTo>
                    <a:pt x="0" y="0"/>
                  </a:lnTo>
                  <a:lnTo>
                    <a:pt x="0" y="185318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449816" y="4262754"/>
            <a:ext cx="6800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Change()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864600" y="4689170"/>
            <a:ext cx="184403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Couleur=Couleur+1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If(Couleur==4)</a:t>
            </a:r>
            <a:r>
              <a:rPr sz="1400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Couleur=1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64907" y="4371466"/>
            <a:ext cx="1614170" cy="676275"/>
          </a:xfrm>
          <a:custGeom>
            <a:avLst/>
            <a:gdLst/>
            <a:ahLst/>
            <a:cxnLst/>
            <a:rect l="l" t="t" r="r" b="b"/>
            <a:pathLst>
              <a:path w="1614170" h="676275">
                <a:moveTo>
                  <a:pt x="1480312" y="542670"/>
                </a:moveTo>
                <a:lnTo>
                  <a:pt x="1480312" y="676020"/>
                </a:lnTo>
                <a:lnTo>
                  <a:pt x="1569212" y="631570"/>
                </a:lnTo>
                <a:lnTo>
                  <a:pt x="1502537" y="631570"/>
                </a:lnTo>
                <a:lnTo>
                  <a:pt x="1502537" y="587120"/>
                </a:lnTo>
                <a:lnTo>
                  <a:pt x="1569212" y="587120"/>
                </a:lnTo>
                <a:lnTo>
                  <a:pt x="1480312" y="542670"/>
                </a:lnTo>
                <a:close/>
              </a:path>
              <a:path w="1614170" h="676275">
                <a:moveTo>
                  <a:pt x="784606" y="22224"/>
                </a:moveTo>
                <a:lnTo>
                  <a:pt x="784606" y="631570"/>
                </a:lnTo>
                <a:lnTo>
                  <a:pt x="1480312" y="631570"/>
                </a:lnTo>
                <a:lnTo>
                  <a:pt x="1480312" y="609345"/>
                </a:lnTo>
                <a:lnTo>
                  <a:pt x="829056" y="609345"/>
                </a:lnTo>
                <a:lnTo>
                  <a:pt x="806831" y="587120"/>
                </a:lnTo>
                <a:lnTo>
                  <a:pt x="829056" y="587120"/>
                </a:lnTo>
                <a:lnTo>
                  <a:pt x="829056" y="44449"/>
                </a:lnTo>
                <a:lnTo>
                  <a:pt x="806831" y="44449"/>
                </a:lnTo>
                <a:lnTo>
                  <a:pt x="784606" y="22224"/>
                </a:lnTo>
                <a:close/>
              </a:path>
              <a:path w="1614170" h="676275">
                <a:moveTo>
                  <a:pt x="1569212" y="587120"/>
                </a:moveTo>
                <a:lnTo>
                  <a:pt x="1502537" y="587120"/>
                </a:lnTo>
                <a:lnTo>
                  <a:pt x="1502537" y="631570"/>
                </a:lnTo>
                <a:lnTo>
                  <a:pt x="1569212" y="631570"/>
                </a:lnTo>
                <a:lnTo>
                  <a:pt x="1613662" y="609345"/>
                </a:lnTo>
                <a:lnTo>
                  <a:pt x="1569212" y="587120"/>
                </a:lnTo>
                <a:close/>
              </a:path>
              <a:path w="1614170" h="676275">
                <a:moveTo>
                  <a:pt x="829056" y="587120"/>
                </a:moveTo>
                <a:lnTo>
                  <a:pt x="806831" y="587120"/>
                </a:lnTo>
                <a:lnTo>
                  <a:pt x="829056" y="609345"/>
                </a:lnTo>
                <a:lnTo>
                  <a:pt x="829056" y="587120"/>
                </a:lnTo>
                <a:close/>
              </a:path>
              <a:path w="1614170" h="676275">
                <a:moveTo>
                  <a:pt x="1480312" y="587120"/>
                </a:moveTo>
                <a:lnTo>
                  <a:pt x="829056" y="587120"/>
                </a:lnTo>
                <a:lnTo>
                  <a:pt x="829056" y="609345"/>
                </a:lnTo>
                <a:lnTo>
                  <a:pt x="1480312" y="609345"/>
                </a:lnTo>
                <a:lnTo>
                  <a:pt x="1480312" y="587120"/>
                </a:lnTo>
                <a:close/>
              </a:path>
              <a:path w="1614170" h="676275">
                <a:moveTo>
                  <a:pt x="829056" y="0"/>
                </a:moveTo>
                <a:lnTo>
                  <a:pt x="0" y="0"/>
                </a:lnTo>
                <a:lnTo>
                  <a:pt x="0" y="44449"/>
                </a:lnTo>
                <a:lnTo>
                  <a:pt x="784606" y="44449"/>
                </a:lnTo>
                <a:lnTo>
                  <a:pt x="784606" y="22224"/>
                </a:lnTo>
                <a:lnTo>
                  <a:pt x="829056" y="22224"/>
                </a:lnTo>
                <a:lnTo>
                  <a:pt x="829056" y="0"/>
                </a:lnTo>
                <a:close/>
              </a:path>
              <a:path w="1614170" h="676275">
                <a:moveTo>
                  <a:pt x="829056" y="22224"/>
                </a:moveTo>
                <a:lnTo>
                  <a:pt x="784606" y="22224"/>
                </a:lnTo>
                <a:lnTo>
                  <a:pt x="806831" y="44449"/>
                </a:lnTo>
                <a:lnTo>
                  <a:pt x="829056" y="44449"/>
                </a:lnTo>
                <a:lnTo>
                  <a:pt x="829056" y="22224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316482" y="4222750"/>
            <a:ext cx="156210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Feu_de_signalisation</a:t>
            </a:r>
            <a:endParaRPr sz="14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_EnQuestion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56560" y="4309871"/>
            <a:ext cx="1146175" cy="323215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37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0x304021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09484" y="3663124"/>
            <a:ext cx="6362700" cy="2357755"/>
            <a:chOff x="1209484" y="3663124"/>
            <a:chExt cx="6362700" cy="2357755"/>
          </a:xfrm>
        </p:grpSpPr>
        <p:sp>
          <p:nvSpPr>
            <p:cNvPr id="26" name="object 26"/>
            <p:cNvSpPr/>
            <p:nvPr/>
          </p:nvSpPr>
          <p:spPr>
            <a:xfrm>
              <a:off x="4157472" y="4322063"/>
              <a:ext cx="1325880" cy="271780"/>
            </a:xfrm>
            <a:custGeom>
              <a:avLst/>
              <a:gdLst/>
              <a:ahLst/>
              <a:cxnLst/>
              <a:rect l="l" t="t" r="r" b="b"/>
              <a:pathLst>
                <a:path w="1325879" h="271779">
                  <a:moveTo>
                    <a:pt x="1190243" y="0"/>
                  </a:moveTo>
                  <a:lnTo>
                    <a:pt x="1190243" y="67818"/>
                  </a:lnTo>
                  <a:lnTo>
                    <a:pt x="0" y="67818"/>
                  </a:lnTo>
                  <a:lnTo>
                    <a:pt x="0" y="203454"/>
                  </a:lnTo>
                  <a:lnTo>
                    <a:pt x="1190243" y="203454"/>
                  </a:lnTo>
                  <a:lnTo>
                    <a:pt x="1190243" y="271272"/>
                  </a:lnTo>
                  <a:lnTo>
                    <a:pt x="1325879" y="135636"/>
                  </a:lnTo>
                  <a:lnTo>
                    <a:pt x="1190243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57472" y="4322063"/>
              <a:ext cx="1325880" cy="271780"/>
            </a:xfrm>
            <a:custGeom>
              <a:avLst/>
              <a:gdLst/>
              <a:ahLst/>
              <a:cxnLst/>
              <a:rect l="l" t="t" r="r" b="b"/>
              <a:pathLst>
                <a:path w="1325879" h="271779">
                  <a:moveTo>
                    <a:pt x="0" y="67818"/>
                  </a:moveTo>
                  <a:lnTo>
                    <a:pt x="1190243" y="67818"/>
                  </a:lnTo>
                  <a:lnTo>
                    <a:pt x="1190243" y="0"/>
                  </a:lnTo>
                  <a:lnTo>
                    <a:pt x="1325879" y="135636"/>
                  </a:lnTo>
                  <a:lnTo>
                    <a:pt x="1190243" y="271272"/>
                  </a:lnTo>
                  <a:lnTo>
                    <a:pt x="1190243" y="203454"/>
                  </a:lnTo>
                  <a:lnTo>
                    <a:pt x="0" y="203454"/>
                  </a:lnTo>
                  <a:lnTo>
                    <a:pt x="0" y="67818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23772" y="3677411"/>
              <a:ext cx="6334125" cy="2329180"/>
            </a:xfrm>
            <a:custGeom>
              <a:avLst/>
              <a:gdLst/>
              <a:ahLst/>
              <a:cxnLst/>
              <a:rect l="l" t="t" r="r" b="b"/>
              <a:pathLst>
                <a:path w="6334125" h="2329179">
                  <a:moveTo>
                    <a:pt x="0" y="388112"/>
                  </a:moveTo>
                  <a:lnTo>
                    <a:pt x="3023" y="339422"/>
                  </a:lnTo>
                  <a:lnTo>
                    <a:pt x="11851" y="292539"/>
                  </a:lnTo>
                  <a:lnTo>
                    <a:pt x="26120" y="247826"/>
                  </a:lnTo>
                  <a:lnTo>
                    <a:pt x="45467" y="205646"/>
                  </a:lnTo>
                  <a:lnTo>
                    <a:pt x="69529" y="166363"/>
                  </a:lnTo>
                  <a:lnTo>
                    <a:pt x="97941" y="130340"/>
                  </a:lnTo>
                  <a:lnTo>
                    <a:pt x="130340" y="97941"/>
                  </a:lnTo>
                  <a:lnTo>
                    <a:pt x="166363" y="69529"/>
                  </a:lnTo>
                  <a:lnTo>
                    <a:pt x="205646" y="45467"/>
                  </a:lnTo>
                  <a:lnTo>
                    <a:pt x="247826" y="26120"/>
                  </a:lnTo>
                  <a:lnTo>
                    <a:pt x="292539" y="11851"/>
                  </a:lnTo>
                  <a:lnTo>
                    <a:pt x="339422" y="3023"/>
                  </a:lnTo>
                  <a:lnTo>
                    <a:pt x="388112" y="0"/>
                  </a:lnTo>
                  <a:lnTo>
                    <a:pt x="5945632" y="0"/>
                  </a:lnTo>
                  <a:lnTo>
                    <a:pt x="5994321" y="3023"/>
                  </a:lnTo>
                  <a:lnTo>
                    <a:pt x="6041204" y="11851"/>
                  </a:lnTo>
                  <a:lnTo>
                    <a:pt x="6085917" y="26120"/>
                  </a:lnTo>
                  <a:lnTo>
                    <a:pt x="6128097" y="45467"/>
                  </a:lnTo>
                  <a:lnTo>
                    <a:pt x="6167380" y="69529"/>
                  </a:lnTo>
                  <a:lnTo>
                    <a:pt x="6203403" y="97941"/>
                  </a:lnTo>
                  <a:lnTo>
                    <a:pt x="6235802" y="130340"/>
                  </a:lnTo>
                  <a:lnTo>
                    <a:pt x="6264214" y="166363"/>
                  </a:lnTo>
                  <a:lnTo>
                    <a:pt x="6288276" y="205646"/>
                  </a:lnTo>
                  <a:lnTo>
                    <a:pt x="6307623" y="247826"/>
                  </a:lnTo>
                  <a:lnTo>
                    <a:pt x="6321892" y="292539"/>
                  </a:lnTo>
                  <a:lnTo>
                    <a:pt x="6330720" y="339422"/>
                  </a:lnTo>
                  <a:lnTo>
                    <a:pt x="6333744" y="388112"/>
                  </a:lnTo>
                  <a:lnTo>
                    <a:pt x="6333744" y="1940547"/>
                  </a:lnTo>
                  <a:lnTo>
                    <a:pt x="6330720" y="1989231"/>
                  </a:lnTo>
                  <a:lnTo>
                    <a:pt x="6321892" y="2036112"/>
                  </a:lnTo>
                  <a:lnTo>
                    <a:pt x="6307623" y="2080824"/>
                  </a:lnTo>
                  <a:lnTo>
                    <a:pt x="6288276" y="2123004"/>
                  </a:lnTo>
                  <a:lnTo>
                    <a:pt x="6264214" y="2162289"/>
                  </a:lnTo>
                  <a:lnTo>
                    <a:pt x="6235802" y="2198314"/>
                  </a:lnTo>
                  <a:lnTo>
                    <a:pt x="6203403" y="2230716"/>
                  </a:lnTo>
                  <a:lnTo>
                    <a:pt x="6167380" y="2259131"/>
                  </a:lnTo>
                  <a:lnTo>
                    <a:pt x="6128097" y="2283196"/>
                  </a:lnTo>
                  <a:lnTo>
                    <a:pt x="6085917" y="2302546"/>
                  </a:lnTo>
                  <a:lnTo>
                    <a:pt x="6041204" y="2316818"/>
                  </a:lnTo>
                  <a:lnTo>
                    <a:pt x="5994321" y="2325647"/>
                  </a:lnTo>
                  <a:lnTo>
                    <a:pt x="5945632" y="2328672"/>
                  </a:lnTo>
                  <a:lnTo>
                    <a:pt x="388112" y="2328672"/>
                  </a:lnTo>
                  <a:lnTo>
                    <a:pt x="339422" y="2325647"/>
                  </a:lnTo>
                  <a:lnTo>
                    <a:pt x="292539" y="2316818"/>
                  </a:lnTo>
                  <a:lnTo>
                    <a:pt x="247826" y="2302546"/>
                  </a:lnTo>
                  <a:lnTo>
                    <a:pt x="205646" y="2283196"/>
                  </a:lnTo>
                  <a:lnTo>
                    <a:pt x="166363" y="2259131"/>
                  </a:lnTo>
                  <a:lnTo>
                    <a:pt x="130340" y="2230716"/>
                  </a:lnTo>
                  <a:lnTo>
                    <a:pt x="97941" y="2198314"/>
                  </a:lnTo>
                  <a:lnTo>
                    <a:pt x="69529" y="2162289"/>
                  </a:lnTo>
                  <a:lnTo>
                    <a:pt x="45467" y="2123004"/>
                  </a:lnTo>
                  <a:lnTo>
                    <a:pt x="26120" y="2080824"/>
                  </a:lnTo>
                  <a:lnTo>
                    <a:pt x="11851" y="2036112"/>
                  </a:lnTo>
                  <a:lnTo>
                    <a:pt x="3023" y="1989231"/>
                  </a:lnTo>
                  <a:lnTo>
                    <a:pt x="0" y="1940547"/>
                  </a:lnTo>
                  <a:lnTo>
                    <a:pt x="0" y="388112"/>
                  </a:lnTo>
                  <a:close/>
                </a:path>
              </a:pathLst>
            </a:custGeom>
            <a:ln w="28574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03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Créer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</a:t>
            </a:r>
            <a:r>
              <a:rPr spc="-20" dirty="0">
                <a:solidFill>
                  <a:srgbClr val="007842"/>
                </a:solidFill>
              </a:rPr>
              <a:t> 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Définition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objet</a:t>
            </a:r>
            <a:endParaRPr sz="160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8200" y="316406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3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8173593" y="1105280"/>
            <a:ext cx="1833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Créer</a:t>
            </a:r>
            <a:r>
              <a:rPr sz="24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un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7842"/>
                </a:solidFill>
                <a:latin typeface="Calibri"/>
                <a:cs typeface="Calibri"/>
              </a:rPr>
              <a:t>objet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95402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600" spc="-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Instanciation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Destruction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explicite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600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0335" y="2581655"/>
            <a:ext cx="2977896" cy="267614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03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Créer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</a:t>
            </a:r>
            <a:r>
              <a:rPr spc="-20" dirty="0">
                <a:solidFill>
                  <a:srgbClr val="007842"/>
                </a:solidFill>
              </a:rPr>
              <a:t> 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7842"/>
                </a:solidFill>
              </a:rPr>
              <a:t>Instanciation</a:t>
            </a:r>
            <a:endParaRPr sz="1600"/>
          </a:p>
        </p:txBody>
      </p:sp>
      <p:sp>
        <p:nvSpPr>
          <p:cNvPr id="16" name="object 16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39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1887016"/>
            <a:ext cx="5495925" cy="134937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L’instanciation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constituée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deux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phases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phase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ressort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 :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créer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l’objet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phase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ressort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l’objet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initialiser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endParaRPr sz="1400">
              <a:latin typeface="Calibri"/>
              <a:cs typeface="Calibri"/>
            </a:endParaRPr>
          </a:p>
          <a:p>
            <a:pPr marL="286385" marR="5080" indent="-286385" algn="r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2863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L’instanciation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explicite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via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endParaRPr sz="1400">
              <a:latin typeface="Calibri"/>
              <a:cs typeface="Calibri"/>
            </a:endParaRPr>
          </a:p>
          <a:p>
            <a:pPr marR="58419" algn="r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automatiquement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création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l’objet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mémoire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51803" y="3988434"/>
            <a:ext cx="9690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instanciation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75342" y="3960317"/>
            <a:ext cx="96520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instanciation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8200" y="390384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3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8173593" y="1105280"/>
            <a:ext cx="1833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Créer</a:t>
            </a:r>
            <a:r>
              <a:rPr sz="24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un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7842"/>
                </a:solidFill>
                <a:latin typeface="Calibri"/>
                <a:cs typeface="Calibri"/>
              </a:rPr>
              <a:t>objet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302006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600" spc="-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Instanciation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Destruction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explicite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03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Créer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un</a:t>
            </a:r>
            <a:r>
              <a:rPr spc="-20" dirty="0">
                <a:solidFill>
                  <a:srgbClr val="007842"/>
                </a:solidFill>
              </a:rPr>
              <a:t> 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Destruction</a:t>
            </a:r>
            <a:r>
              <a:rPr sz="1600" spc="-5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explicite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</a:t>
            </a:r>
            <a:r>
              <a:rPr sz="1600" spc="-20" dirty="0">
                <a:solidFill>
                  <a:srgbClr val="007842"/>
                </a:solidFill>
              </a:rPr>
              <a:t> objet</a:t>
            </a:r>
            <a:endParaRPr sz="1600"/>
          </a:p>
        </p:txBody>
      </p:sp>
      <p:sp>
        <p:nvSpPr>
          <p:cNvPr id="12" name="object 12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41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887016"/>
            <a:ext cx="7940040" cy="58737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Rappel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destructeur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particulière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destruction</a:t>
            </a:r>
            <a:r>
              <a:rPr sz="14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non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référencé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destruction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explicite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faisant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destructeur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Ce</a:t>
            </a:r>
            <a:r>
              <a:rPr spc="-60" dirty="0"/>
              <a:t> </a:t>
            </a:r>
            <a:r>
              <a:rPr dirty="0"/>
              <a:t>que</a:t>
            </a:r>
            <a:r>
              <a:rPr spc="-35" dirty="0"/>
              <a:t> </a:t>
            </a:r>
            <a:r>
              <a:rPr dirty="0"/>
              <a:t>vous</a:t>
            </a:r>
            <a:r>
              <a:rPr spc="-15" dirty="0"/>
              <a:t> </a:t>
            </a:r>
            <a:r>
              <a:rPr dirty="0"/>
              <a:t>allez</a:t>
            </a:r>
            <a:r>
              <a:rPr spc="-35" dirty="0"/>
              <a:t> </a:t>
            </a:r>
            <a:r>
              <a:rPr dirty="0"/>
              <a:t>apprendre</a:t>
            </a:r>
            <a:r>
              <a:rPr spc="-55" dirty="0"/>
              <a:t> </a:t>
            </a:r>
            <a:r>
              <a:rPr dirty="0"/>
              <a:t>dans</a:t>
            </a:r>
            <a:r>
              <a:rPr spc="-40" dirty="0"/>
              <a:t> </a:t>
            </a:r>
            <a:r>
              <a:rPr dirty="0"/>
              <a:t>ce</a:t>
            </a:r>
            <a:r>
              <a:rPr spc="-35" dirty="0"/>
              <a:t> </a:t>
            </a:r>
            <a:r>
              <a:rPr dirty="0"/>
              <a:t>chapitre</a:t>
            </a:r>
            <a:r>
              <a:rPr spc="-40" dirty="0"/>
              <a:t> </a:t>
            </a:r>
            <a:r>
              <a:rPr spc="-50" dirty="0"/>
              <a:t>:</a:t>
            </a: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0" spc="-10" dirty="0">
                <a:solidFill>
                  <a:srgbClr val="555555"/>
                </a:solidFill>
                <a:latin typeface="Calibri"/>
                <a:cs typeface="Calibri"/>
              </a:rPr>
              <a:t>Comprendre</a:t>
            </a:r>
            <a:r>
              <a:rPr sz="1600" b="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b="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555555"/>
                </a:solidFill>
                <a:latin typeface="Calibri"/>
                <a:cs typeface="Calibri"/>
              </a:rPr>
              <a:t>d’encapsulation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Connaitre</a:t>
            </a:r>
            <a:r>
              <a:rPr sz="1600" b="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b="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555555"/>
                </a:solidFill>
                <a:latin typeface="Calibri"/>
                <a:cs typeface="Calibri"/>
              </a:rPr>
              <a:t>modificateurs</a:t>
            </a:r>
            <a:r>
              <a:rPr sz="1600" b="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b="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b="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accesseurs</a:t>
            </a:r>
            <a:r>
              <a:rPr sz="1600" b="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b="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600"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1600" b="0" spc="-20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600" b="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b="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555555"/>
                </a:solidFill>
                <a:latin typeface="Calibri"/>
                <a:cs typeface="Calibri"/>
              </a:rPr>
              <a:t>utilité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7" name="object 7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0119" y="316406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 dirty="0"/>
          </a:p>
        </p:txBody>
      </p:sp>
      <p:sp>
        <p:nvSpPr>
          <p:cNvPr id="10" name="object 10"/>
          <p:cNvSpPr txBox="1"/>
          <p:nvPr/>
        </p:nvSpPr>
        <p:spPr>
          <a:xfrm>
            <a:off x="7466456" y="1105280"/>
            <a:ext cx="324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Connaitre</a:t>
            </a:r>
            <a:r>
              <a:rPr sz="2400" b="1" spc="-12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l’encapsulation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57666" y="6263436"/>
            <a:ext cx="11417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heure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82039" y="246429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466456" y="1105280"/>
            <a:ext cx="324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Connaitre</a:t>
            </a:r>
            <a:r>
              <a:rPr sz="2400" b="1" spc="-12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l’encapsulation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4297680" cy="6654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Principe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l’encapsulation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Modificateurs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accesseurs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(getters,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setters,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…)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40040" y="1917192"/>
            <a:ext cx="1752600" cy="4432046"/>
            <a:chOff x="7940040" y="1917192"/>
            <a:chExt cx="1752600" cy="4432046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9184" y="1917192"/>
              <a:ext cx="1712976" cy="9936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40040" y="3355848"/>
              <a:ext cx="1752600" cy="2993390"/>
            </a:xfrm>
            <a:custGeom>
              <a:avLst/>
              <a:gdLst/>
              <a:ahLst/>
              <a:cxnLst/>
              <a:rect l="l" t="t" r="r" b="b"/>
              <a:pathLst>
                <a:path w="1752600" h="2993390">
                  <a:moveTo>
                    <a:pt x="1752600" y="0"/>
                  </a:moveTo>
                  <a:lnTo>
                    <a:pt x="0" y="0"/>
                  </a:lnTo>
                  <a:lnTo>
                    <a:pt x="0" y="2993136"/>
                  </a:lnTo>
                  <a:lnTo>
                    <a:pt x="1752600" y="2993136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40040" y="3355848"/>
              <a:ext cx="1752600" cy="2993390"/>
            </a:xfrm>
            <a:custGeom>
              <a:avLst/>
              <a:gdLst/>
              <a:ahLst/>
              <a:cxnLst/>
              <a:rect l="l" t="t" r="r" b="b"/>
              <a:pathLst>
                <a:path w="1752600" h="2993390">
                  <a:moveTo>
                    <a:pt x="0" y="2993136"/>
                  </a:moveTo>
                  <a:lnTo>
                    <a:pt x="1752600" y="2993136"/>
                  </a:lnTo>
                  <a:lnTo>
                    <a:pt x="1752600" y="0"/>
                  </a:lnTo>
                  <a:lnTo>
                    <a:pt x="0" y="0"/>
                  </a:lnTo>
                  <a:lnTo>
                    <a:pt x="0" y="299313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71688" y="4514088"/>
              <a:ext cx="1447800" cy="475615"/>
            </a:xfrm>
            <a:custGeom>
              <a:avLst/>
              <a:gdLst/>
              <a:ahLst/>
              <a:cxnLst/>
              <a:rect l="l" t="t" r="r" b="b"/>
              <a:pathLst>
                <a:path w="1447800" h="475614">
                  <a:moveTo>
                    <a:pt x="1368552" y="0"/>
                  </a:moveTo>
                  <a:lnTo>
                    <a:pt x="79247" y="0"/>
                  </a:lnTo>
                  <a:lnTo>
                    <a:pt x="48381" y="6221"/>
                  </a:lnTo>
                  <a:lnTo>
                    <a:pt x="23193" y="23193"/>
                  </a:lnTo>
                  <a:lnTo>
                    <a:pt x="6221" y="48381"/>
                  </a:lnTo>
                  <a:lnTo>
                    <a:pt x="0" y="79248"/>
                  </a:lnTo>
                  <a:lnTo>
                    <a:pt x="0" y="396239"/>
                  </a:lnTo>
                  <a:lnTo>
                    <a:pt x="6221" y="427106"/>
                  </a:lnTo>
                  <a:lnTo>
                    <a:pt x="23193" y="452294"/>
                  </a:lnTo>
                  <a:lnTo>
                    <a:pt x="48381" y="469266"/>
                  </a:lnTo>
                  <a:lnTo>
                    <a:pt x="79247" y="475488"/>
                  </a:lnTo>
                  <a:lnTo>
                    <a:pt x="1368552" y="475488"/>
                  </a:lnTo>
                  <a:lnTo>
                    <a:pt x="1399418" y="469266"/>
                  </a:lnTo>
                  <a:lnTo>
                    <a:pt x="1424606" y="452294"/>
                  </a:lnTo>
                  <a:lnTo>
                    <a:pt x="1441578" y="427106"/>
                  </a:lnTo>
                  <a:lnTo>
                    <a:pt x="1447800" y="396239"/>
                  </a:lnTo>
                  <a:lnTo>
                    <a:pt x="1447800" y="79248"/>
                  </a:lnTo>
                  <a:lnTo>
                    <a:pt x="1441578" y="48381"/>
                  </a:lnTo>
                  <a:lnTo>
                    <a:pt x="1424606" y="23193"/>
                  </a:lnTo>
                  <a:lnTo>
                    <a:pt x="1399418" y="6221"/>
                  </a:lnTo>
                  <a:lnTo>
                    <a:pt x="1368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71688" y="4514088"/>
              <a:ext cx="1447800" cy="475615"/>
            </a:xfrm>
            <a:custGeom>
              <a:avLst/>
              <a:gdLst/>
              <a:ahLst/>
              <a:cxnLst/>
              <a:rect l="l" t="t" r="r" b="b"/>
              <a:pathLst>
                <a:path w="1447800" h="475614">
                  <a:moveTo>
                    <a:pt x="0" y="79248"/>
                  </a:moveTo>
                  <a:lnTo>
                    <a:pt x="6221" y="48381"/>
                  </a:lnTo>
                  <a:lnTo>
                    <a:pt x="23193" y="23193"/>
                  </a:lnTo>
                  <a:lnTo>
                    <a:pt x="48381" y="6221"/>
                  </a:lnTo>
                  <a:lnTo>
                    <a:pt x="79247" y="0"/>
                  </a:lnTo>
                  <a:lnTo>
                    <a:pt x="1368552" y="0"/>
                  </a:lnTo>
                  <a:lnTo>
                    <a:pt x="1399418" y="6221"/>
                  </a:lnTo>
                  <a:lnTo>
                    <a:pt x="1424606" y="23193"/>
                  </a:lnTo>
                  <a:lnTo>
                    <a:pt x="1441578" y="48381"/>
                  </a:lnTo>
                  <a:lnTo>
                    <a:pt x="1447800" y="79248"/>
                  </a:lnTo>
                  <a:lnTo>
                    <a:pt x="1447800" y="396239"/>
                  </a:lnTo>
                  <a:lnTo>
                    <a:pt x="1441578" y="427106"/>
                  </a:lnTo>
                  <a:lnTo>
                    <a:pt x="1424606" y="452294"/>
                  </a:lnTo>
                  <a:lnTo>
                    <a:pt x="1399418" y="469266"/>
                  </a:lnTo>
                  <a:lnTo>
                    <a:pt x="1368552" y="475488"/>
                  </a:lnTo>
                  <a:lnTo>
                    <a:pt x="79247" y="475488"/>
                  </a:lnTo>
                  <a:lnTo>
                    <a:pt x="48381" y="469266"/>
                  </a:lnTo>
                  <a:lnTo>
                    <a:pt x="23193" y="452294"/>
                  </a:lnTo>
                  <a:lnTo>
                    <a:pt x="6221" y="427106"/>
                  </a:lnTo>
                  <a:lnTo>
                    <a:pt x="0" y="396239"/>
                  </a:lnTo>
                  <a:lnTo>
                    <a:pt x="0" y="79248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4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Connaitre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l’encapsulation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Principe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l’encapsulation</a:t>
            </a:r>
            <a:endParaRPr sz="1600"/>
          </a:p>
        </p:txBody>
      </p:sp>
      <p:sp>
        <p:nvSpPr>
          <p:cNvPr id="16" name="object 16"/>
          <p:cNvSpPr txBox="1"/>
          <p:nvPr/>
        </p:nvSpPr>
        <p:spPr>
          <a:xfrm>
            <a:off x="798982" y="1955673"/>
            <a:ext cx="6048375" cy="1967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L’encapsulation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réunir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l'intérieur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entité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(objet)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(méthodes)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+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(attributs)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L’encapsulation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consiste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protéger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l’information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contenue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donc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possible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masquer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informations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autres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objets.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L’encapsulation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consiste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donc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masquer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détails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d’implémentation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objet,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définissant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interface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L’interface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vue</a:t>
            </a:r>
            <a:r>
              <a:rPr sz="1400" b="1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externe</a:t>
            </a:r>
            <a:r>
              <a:rPr sz="1400" b="1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définit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services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accessibles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(Attributs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méthodes)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aux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utilisateurs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l’objet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56182" y="3899586"/>
            <a:ext cx="4452620" cy="58102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interface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signatures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accessibles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Interface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Carte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visite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l’objet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8982" y="1602105"/>
            <a:ext cx="22860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Principe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l’encapsulation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22538" y="4648327"/>
            <a:ext cx="5473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C00000"/>
                </a:solidFill>
                <a:latin typeface="Calibri"/>
                <a:cs typeface="Calibri"/>
              </a:rPr>
              <a:t>Attributs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165338" y="5638546"/>
            <a:ext cx="1460500" cy="488315"/>
            <a:chOff x="8165338" y="5638546"/>
            <a:chExt cx="1460500" cy="488315"/>
          </a:xfrm>
        </p:grpSpPr>
        <p:sp>
          <p:nvSpPr>
            <p:cNvPr id="21" name="object 21"/>
            <p:cNvSpPr/>
            <p:nvPr/>
          </p:nvSpPr>
          <p:spPr>
            <a:xfrm>
              <a:off x="8171688" y="5644896"/>
              <a:ext cx="1447800" cy="475615"/>
            </a:xfrm>
            <a:custGeom>
              <a:avLst/>
              <a:gdLst/>
              <a:ahLst/>
              <a:cxnLst/>
              <a:rect l="l" t="t" r="r" b="b"/>
              <a:pathLst>
                <a:path w="1447800" h="475614">
                  <a:moveTo>
                    <a:pt x="1368552" y="0"/>
                  </a:moveTo>
                  <a:lnTo>
                    <a:pt x="79247" y="0"/>
                  </a:lnTo>
                  <a:lnTo>
                    <a:pt x="48381" y="6228"/>
                  </a:lnTo>
                  <a:lnTo>
                    <a:pt x="23193" y="23212"/>
                  </a:lnTo>
                  <a:lnTo>
                    <a:pt x="6221" y="48402"/>
                  </a:lnTo>
                  <a:lnTo>
                    <a:pt x="0" y="79247"/>
                  </a:lnTo>
                  <a:lnTo>
                    <a:pt x="0" y="396239"/>
                  </a:lnTo>
                  <a:lnTo>
                    <a:pt x="6221" y="427085"/>
                  </a:lnTo>
                  <a:lnTo>
                    <a:pt x="23193" y="452275"/>
                  </a:lnTo>
                  <a:lnTo>
                    <a:pt x="48381" y="469259"/>
                  </a:lnTo>
                  <a:lnTo>
                    <a:pt x="79247" y="475487"/>
                  </a:lnTo>
                  <a:lnTo>
                    <a:pt x="1368552" y="475487"/>
                  </a:lnTo>
                  <a:lnTo>
                    <a:pt x="1399418" y="469259"/>
                  </a:lnTo>
                  <a:lnTo>
                    <a:pt x="1424606" y="452275"/>
                  </a:lnTo>
                  <a:lnTo>
                    <a:pt x="1441578" y="427085"/>
                  </a:lnTo>
                  <a:lnTo>
                    <a:pt x="1447800" y="396239"/>
                  </a:lnTo>
                  <a:lnTo>
                    <a:pt x="1447800" y="79247"/>
                  </a:lnTo>
                  <a:lnTo>
                    <a:pt x="1441578" y="48402"/>
                  </a:lnTo>
                  <a:lnTo>
                    <a:pt x="1424606" y="23212"/>
                  </a:lnTo>
                  <a:lnTo>
                    <a:pt x="1399418" y="6228"/>
                  </a:lnTo>
                  <a:lnTo>
                    <a:pt x="1368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71688" y="5644896"/>
              <a:ext cx="1447800" cy="475615"/>
            </a:xfrm>
            <a:custGeom>
              <a:avLst/>
              <a:gdLst/>
              <a:ahLst/>
              <a:cxnLst/>
              <a:rect l="l" t="t" r="r" b="b"/>
              <a:pathLst>
                <a:path w="1447800" h="475614">
                  <a:moveTo>
                    <a:pt x="0" y="79247"/>
                  </a:moveTo>
                  <a:lnTo>
                    <a:pt x="6221" y="48402"/>
                  </a:lnTo>
                  <a:lnTo>
                    <a:pt x="23193" y="23212"/>
                  </a:lnTo>
                  <a:lnTo>
                    <a:pt x="48381" y="6228"/>
                  </a:lnTo>
                  <a:lnTo>
                    <a:pt x="79247" y="0"/>
                  </a:lnTo>
                  <a:lnTo>
                    <a:pt x="1368552" y="0"/>
                  </a:lnTo>
                  <a:lnTo>
                    <a:pt x="1399418" y="6228"/>
                  </a:lnTo>
                  <a:lnTo>
                    <a:pt x="1424606" y="23212"/>
                  </a:lnTo>
                  <a:lnTo>
                    <a:pt x="1441578" y="48402"/>
                  </a:lnTo>
                  <a:lnTo>
                    <a:pt x="1447800" y="79247"/>
                  </a:lnTo>
                  <a:lnTo>
                    <a:pt x="1447800" y="396239"/>
                  </a:lnTo>
                  <a:lnTo>
                    <a:pt x="1441578" y="427085"/>
                  </a:lnTo>
                  <a:lnTo>
                    <a:pt x="1424606" y="452275"/>
                  </a:lnTo>
                  <a:lnTo>
                    <a:pt x="1399418" y="469259"/>
                  </a:lnTo>
                  <a:lnTo>
                    <a:pt x="1368552" y="475487"/>
                  </a:lnTo>
                  <a:lnTo>
                    <a:pt x="79247" y="475487"/>
                  </a:lnTo>
                  <a:lnTo>
                    <a:pt x="48381" y="469259"/>
                  </a:lnTo>
                  <a:lnTo>
                    <a:pt x="23193" y="452275"/>
                  </a:lnTo>
                  <a:lnTo>
                    <a:pt x="6221" y="427085"/>
                  </a:lnTo>
                  <a:lnTo>
                    <a:pt x="0" y="396239"/>
                  </a:lnTo>
                  <a:lnTo>
                    <a:pt x="0" y="79247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585961" y="5780938"/>
            <a:ext cx="6203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C00000"/>
                </a:solidFill>
                <a:latin typeface="Calibri"/>
                <a:cs typeface="Calibri"/>
              </a:rPr>
              <a:t>Méthodes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180578" y="3785361"/>
            <a:ext cx="1460500" cy="1814195"/>
            <a:chOff x="8180578" y="3785361"/>
            <a:chExt cx="1460500" cy="1814195"/>
          </a:xfrm>
        </p:grpSpPr>
        <p:sp>
          <p:nvSpPr>
            <p:cNvPr id="25" name="object 25"/>
            <p:cNvSpPr/>
            <p:nvPr/>
          </p:nvSpPr>
          <p:spPr>
            <a:xfrm>
              <a:off x="8761476" y="5096255"/>
              <a:ext cx="441959" cy="503555"/>
            </a:xfrm>
            <a:custGeom>
              <a:avLst/>
              <a:gdLst/>
              <a:ahLst/>
              <a:cxnLst/>
              <a:rect l="l" t="t" r="r" b="b"/>
              <a:pathLst>
                <a:path w="441959" h="503554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475488"/>
                  </a:lnTo>
                  <a:lnTo>
                    <a:pt x="47625" y="475488"/>
                  </a:lnTo>
                  <a:lnTo>
                    <a:pt x="47625" y="76200"/>
                  </a:lnTo>
                  <a:lnTo>
                    <a:pt x="76200" y="76200"/>
                  </a:lnTo>
                  <a:close/>
                </a:path>
                <a:path w="441959" h="503554">
                  <a:moveTo>
                    <a:pt x="441960" y="426847"/>
                  </a:moveTo>
                  <a:lnTo>
                    <a:pt x="413385" y="426847"/>
                  </a:lnTo>
                  <a:lnTo>
                    <a:pt x="413385" y="0"/>
                  </a:lnTo>
                  <a:lnTo>
                    <a:pt x="394335" y="0"/>
                  </a:lnTo>
                  <a:lnTo>
                    <a:pt x="394335" y="426847"/>
                  </a:lnTo>
                  <a:lnTo>
                    <a:pt x="365760" y="426847"/>
                  </a:lnTo>
                  <a:lnTo>
                    <a:pt x="403860" y="503034"/>
                  </a:lnTo>
                  <a:lnTo>
                    <a:pt x="435597" y="439547"/>
                  </a:lnTo>
                  <a:lnTo>
                    <a:pt x="441960" y="4268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86928" y="3791711"/>
              <a:ext cx="1447800" cy="533400"/>
            </a:xfrm>
            <a:custGeom>
              <a:avLst/>
              <a:gdLst/>
              <a:ahLst/>
              <a:cxnLst/>
              <a:rect l="l" t="t" r="r" b="b"/>
              <a:pathLst>
                <a:path w="1447800" h="533400">
                  <a:moveTo>
                    <a:pt x="13589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1358900" y="533400"/>
                  </a:lnTo>
                  <a:lnTo>
                    <a:pt x="1393525" y="526420"/>
                  </a:lnTo>
                  <a:lnTo>
                    <a:pt x="1421780" y="507380"/>
                  </a:lnTo>
                  <a:lnTo>
                    <a:pt x="1440820" y="479125"/>
                  </a:lnTo>
                  <a:lnTo>
                    <a:pt x="1447800" y="444500"/>
                  </a:lnTo>
                  <a:lnTo>
                    <a:pt x="1447800" y="88900"/>
                  </a:lnTo>
                  <a:lnTo>
                    <a:pt x="1440820" y="54274"/>
                  </a:lnTo>
                  <a:lnTo>
                    <a:pt x="1421780" y="26019"/>
                  </a:lnTo>
                  <a:lnTo>
                    <a:pt x="1393525" y="6979"/>
                  </a:lnTo>
                  <a:lnTo>
                    <a:pt x="135890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86928" y="3791711"/>
              <a:ext cx="1447800" cy="533400"/>
            </a:xfrm>
            <a:custGeom>
              <a:avLst/>
              <a:gdLst/>
              <a:ahLst/>
              <a:cxnLst/>
              <a:rect l="l" t="t" r="r" b="b"/>
              <a:pathLst>
                <a:path w="14478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1358900" y="0"/>
                  </a:lnTo>
                  <a:lnTo>
                    <a:pt x="1393525" y="6979"/>
                  </a:lnTo>
                  <a:lnTo>
                    <a:pt x="1421780" y="26019"/>
                  </a:lnTo>
                  <a:lnTo>
                    <a:pt x="1440820" y="54274"/>
                  </a:lnTo>
                  <a:lnTo>
                    <a:pt x="1447800" y="88900"/>
                  </a:lnTo>
                  <a:lnTo>
                    <a:pt x="1447800" y="444500"/>
                  </a:lnTo>
                  <a:lnTo>
                    <a:pt x="1440820" y="479125"/>
                  </a:lnTo>
                  <a:lnTo>
                    <a:pt x="1421780" y="507380"/>
                  </a:lnTo>
                  <a:lnTo>
                    <a:pt x="1393525" y="526420"/>
                  </a:lnTo>
                  <a:lnTo>
                    <a:pt x="13589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635365" y="3954856"/>
            <a:ext cx="54991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Calibri"/>
                <a:cs typeface="Calibri"/>
              </a:rPr>
              <a:t>Interface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17205" y="3119120"/>
            <a:ext cx="37655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C00000"/>
                </a:solidFill>
                <a:latin typeface="Calibri"/>
                <a:cs typeface="Calibri"/>
              </a:rPr>
              <a:t>Public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85886" y="4644462"/>
            <a:ext cx="165735" cy="3149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spc="-10" dirty="0">
                <a:solidFill>
                  <a:srgbClr val="C00000"/>
                </a:solidFill>
                <a:latin typeface="Calibri"/>
                <a:cs typeface="Calibri"/>
              </a:rPr>
              <a:t>Privé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584692" y="3154679"/>
            <a:ext cx="927100" cy="639445"/>
          </a:xfrm>
          <a:custGeom>
            <a:avLst/>
            <a:gdLst/>
            <a:ahLst/>
            <a:cxnLst/>
            <a:rect l="l" t="t" r="r" b="b"/>
            <a:pathLst>
              <a:path w="927100" h="639445">
                <a:moveTo>
                  <a:pt x="76200" y="560705"/>
                </a:moveTo>
                <a:lnTo>
                  <a:pt x="44450" y="560705"/>
                </a:lnTo>
                <a:lnTo>
                  <a:pt x="44450" y="0"/>
                </a:lnTo>
                <a:lnTo>
                  <a:pt x="31750" y="0"/>
                </a:lnTo>
                <a:lnTo>
                  <a:pt x="31750" y="560705"/>
                </a:lnTo>
                <a:lnTo>
                  <a:pt x="0" y="560705"/>
                </a:lnTo>
                <a:lnTo>
                  <a:pt x="38100" y="636905"/>
                </a:lnTo>
                <a:lnTo>
                  <a:pt x="69850" y="573405"/>
                </a:lnTo>
                <a:lnTo>
                  <a:pt x="76200" y="560705"/>
                </a:lnTo>
                <a:close/>
              </a:path>
              <a:path w="927100" h="639445">
                <a:moveTo>
                  <a:pt x="927100" y="134112"/>
                </a:moveTo>
                <a:lnTo>
                  <a:pt x="920750" y="121412"/>
                </a:lnTo>
                <a:lnTo>
                  <a:pt x="889000" y="57912"/>
                </a:lnTo>
                <a:lnTo>
                  <a:pt x="850900" y="134112"/>
                </a:lnTo>
                <a:lnTo>
                  <a:pt x="882650" y="134112"/>
                </a:lnTo>
                <a:lnTo>
                  <a:pt x="882650" y="342138"/>
                </a:lnTo>
                <a:lnTo>
                  <a:pt x="318262" y="342138"/>
                </a:lnTo>
                <a:lnTo>
                  <a:pt x="318262" y="639064"/>
                </a:lnTo>
                <a:lnTo>
                  <a:pt x="330962" y="639064"/>
                </a:lnTo>
                <a:lnTo>
                  <a:pt x="330962" y="354838"/>
                </a:lnTo>
                <a:lnTo>
                  <a:pt x="895350" y="354838"/>
                </a:lnTo>
                <a:lnTo>
                  <a:pt x="895350" y="342138"/>
                </a:lnTo>
                <a:lnTo>
                  <a:pt x="895350" y="134112"/>
                </a:lnTo>
                <a:lnTo>
                  <a:pt x="927100" y="134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86144" y="2304287"/>
            <a:ext cx="4356100" cy="1256030"/>
            <a:chOff x="6486144" y="2304287"/>
            <a:chExt cx="4356100" cy="1256030"/>
          </a:xfrm>
        </p:grpSpPr>
        <p:sp>
          <p:nvSpPr>
            <p:cNvPr id="10" name="object 10"/>
            <p:cNvSpPr/>
            <p:nvPr/>
          </p:nvSpPr>
          <p:spPr>
            <a:xfrm>
              <a:off x="6486144" y="2304287"/>
              <a:ext cx="4356100" cy="1256030"/>
            </a:xfrm>
            <a:custGeom>
              <a:avLst/>
              <a:gdLst/>
              <a:ahLst/>
              <a:cxnLst/>
              <a:rect l="l" t="t" r="r" b="b"/>
              <a:pathLst>
                <a:path w="4356100" h="1256029">
                  <a:moveTo>
                    <a:pt x="4355592" y="0"/>
                  </a:moveTo>
                  <a:lnTo>
                    <a:pt x="0" y="0"/>
                  </a:lnTo>
                  <a:lnTo>
                    <a:pt x="0" y="1255776"/>
                  </a:lnTo>
                  <a:lnTo>
                    <a:pt x="4355592" y="1255776"/>
                  </a:lnTo>
                  <a:lnTo>
                    <a:pt x="4355592" y="0"/>
                  </a:lnTo>
                  <a:close/>
                </a:path>
              </a:pathLst>
            </a:custGeom>
            <a:solidFill>
              <a:srgbClr val="5B9BD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2863" y="2566415"/>
              <a:ext cx="3785615" cy="6492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912863" y="2566415"/>
              <a:ext cx="3785870" cy="649605"/>
            </a:xfrm>
            <a:custGeom>
              <a:avLst/>
              <a:gdLst/>
              <a:ahLst/>
              <a:cxnLst/>
              <a:rect l="l" t="t" r="r" b="b"/>
              <a:pathLst>
                <a:path w="3785870" h="649605">
                  <a:moveTo>
                    <a:pt x="0" y="324612"/>
                  </a:moveTo>
                  <a:lnTo>
                    <a:pt x="13357" y="285838"/>
                  </a:lnTo>
                  <a:lnTo>
                    <a:pt x="52411" y="248419"/>
                  </a:lnTo>
                  <a:lnTo>
                    <a:pt x="91970" y="224355"/>
                  </a:lnTo>
                  <a:lnTo>
                    <a:pt x="141818" y="201087"/>
                  </a:lnTo>
                  <a:lnTo>
                    <a:pt x="201504" y="178693"/>
                  </a:lnTo>
                  <a:lnTo>
                    <a:pt x="270575" y="157249"/>
                  </a:lnTo>
                  <a:lnTo>
                    <a:pt x="308488" y="146907"/>
                  </a:lnTo>
                  <a:lnTo>
                    <a:pt x="348578" y="136833"/>
                  </a:lnTo>
                  <a:lnTo>
                    <a:pt x="390788" y="127035"/>
                  </a:lnTo>
                  <a:lnTo>
                    <a:pt x="435062" y="117523"/>
                  </a:lnTo>
                  <a:lnTo>
                    <a:pt x="481342" y="108307"/>
                  </a:lnTo>
                  <a:lnTo>
                    <a:pt x="529573" y="99397"/>
                  </a:lnTo>
                  <a:lnTo>
                    <a:pt x="579698" y="90801"/>
                  </a:lnTo>
                  <a:lnTo>
                    <a:pt x="631660" y="82531"/>
                  </a:lnTo>
                  <a:lnTo>
                    <a:pt x="685402" y="74595"/>
                  </a:lnTo>
                  <a:lnTo>
                    <a:pt x="740869" y="67003"/>
                  </a:lnTo>
                  <a:lnTo>
                    <a:pt x="798004" y="59766"/>
                  </a:lnTo>
                  <a:lnTo>
                    <a:pt x="856749" y="52892"/>
                  </a:lnTo>
                  <a:lnTo>
                    <a:pt x="917050" y="46391"/>
                  </a:lnTo>
                  <a:lnTo>
                    <a:pt x="978848" y="40273"/>
                  </a:lnTo>
                  <a:lnTo>
                    <a:pt x="1042087" y="34548"/>
                  </a:lnTo>
                  <a:lnTo>
                    <a:pt x="1106712" y="29225"/>
                  </a:lnTo>
                  <a:lnTo>
                    <a:pt x="1172664" y="24314"/>
                  </a:lnTo>
                  <a:lnTo>
                    <a:pt x="1239889" y="19825"/>
                  </a:lnTo>
                  <a:lnTo>
                    <a:pt x="1308329" y="15767"/>
                  </a:lnTo>
                  <a:lnTo>
                    <a:pt x="1377927" y="12151"/>
                  </a:lnTo>
                  <a:lnTo>
                    <a:pt x="1448627" y="8985"/>
                  </a:lnTo>
                  <a:lnTo>
                    <a:pt x="1520373" y="6280"/>
                  </a:lnTo>
                  <a:lnTo>
                    <a:pt x="1593108" y="4045"/>
                  </a:lnTo>
                  <a:lnTo>
                    <a:pt x="1666776" y="2290"/>
                  </a:lnTo>
                  <a:lnTo>
                    <a:pt x="1741319" y="1024"/>
                  </a:lnTo>
                  <a:lnTo>
                    <a:pt x="1816682" y="257"/>
                  </a:lnTo>
                  <a:lnTo>
                    <a:pt x="1892807" y="0"/>
                  </a:lnTo>
                  <a:lnTo>
                    <a:pt x="1968933" y="257"/>
                  </a:lnTo>
                  <a:lnTo>
                    <a:pt x="2044296" y="1024"/>
                  </a:lnTo>
                  <a:lnTo>
                    <a:pt x="2118839" y="2290"/>
                  </a:lnTo>
                  <a:lnTo>
                    <a:pt x="2192507" y="4045"/>
                  </a:lnTo>
                  <a:lnTo>
                    <a:pt x="2265242" y="6280"/>
                  </a:lnTo>
                  <a:lnTo>
                    <a:pt x="2336988" y="8985"/>
                  </a:lnTo>
                  <a:lnTo>
                    <a:pt x="2407688" y="12151"/>
                  </a:lnTo>
                  <a:lnTo>
                    <a:pt x="2477286" y="15767"/>
                  </a:lnTo>
                  <a:lnTo>
                    <a:pt x="2545726" y="19825"/>
                  </a:lnTo>
                  <a:lnTo>
                    <a:pt x="2612951" y="24314"/>
                  </a:lnTo>
                  <a:lnTo>
                    <a:pt x="2678903" y="29225"/>
                  </a:lnTo>
                  <a:lnTo>
                    <a:pt x="2743528" y="34548"/>
                  </a:lnTo>
                  <a:lnTo>
                    <a:pt x="2806767" y="40273"/>
                  </a:lnTo>
                  <a:lnTo>
                    <a:pt x="2868565" y="46391"/>
                  </a:lnTo>
                  <a:lnTo>
                    <a:pt x="2928866" y="52892"/>
                  </a:lnTo>
                  <a:lnTo>
                    <a:pt x="2987611" y="59766"/>
                  </a:lnTo>
                  <a:lnTo>
                    <a:pt x="3044746" y="67003"/>
                  </a:lnTo>
                  <a:lnTo>
                    <a:pt x="3100213" y="74595"/>
                  </a:lnTo>
                  <a:lnTo>
                    <a:pt x="3153955" y="82531"/>
                  </a:lnTo>
                  <a:lnTo>
                    <a:pt x="3205917" y="90801"/>
                  </a:lnTo>
                  <a:lnTo>
                    <a:pt x="3256042" y="99397"/>
                  </a:lnTo>
                  <a:lnTo>
                    <a:pt x="3304273" y="108307"/>
                  </a:lnTo>
                  <a:lnTo>
                    <a:pt x="3350553" y="117523"/>
                  </a:lnTo>
                  <a:lnTo>
                    <a:pt x="3394827" y="127035"/>
                  </a:lnTo>
                  <a:lnTo>
                    <a:pt x="3437037" y="136833"/>
                  </a:lnTo>
                  <a:lnTo>
                    <a:pt x="3477127" y="146907"/>
                  </a:lnTo>
                  <a:lnTo>
                    <a:pt x="3515040" y="157249"/>
                  </a:lnTo>
                  <a:lnTo>
                    <a:pt x="3584111" y="178693"/>
                  </a:lnTo>
                  <a:lnTo>
                    <a:pt x="3643797" y="201087"/>
                  </a:lnTo>
                  <a:lnTo>
                    <a:pt x="3693645" y="224355"/>
                  </a:lnTo>
                  <a:lnTo>
                    <a:pt x="3733204" y="248419"/>
                  </a:lnTo>
                  <a:lnTo>
                    <a:pt x="3772258" y="285838"/>
                  </a:lnTo>
                  <a:lnTo>
                    <a:pt x="3785615" y="324612"/>
                  </a:lnTo>
                  <a:lnTo>
                    <a:pt x="3784112" y="337670"/>
                  </a:lnTo>
                  <a:lnTo>
                    <a:pt x="3762020" y="376021"/>
                  </a:lnTo>
                  <a:lnTo>
                    <a:pt x="3714739" y="412930"/>
                  </a:lnTo>
                  <a:lnTo>
                    <a:pt x="3669979" y="436606"/>
                  </a:lnTo>
                  <a:lnTo>
                    <a:pt x="3615155" y="459447"/>
                  </a:lnTo>
                  <a:lnTo>
                    <a:pt x="3550721" y="481376"/>
                  </a:lnTo>
                  <a:lnTo>
                    <a:pt x="3477127" y="502316"/>
                  </a:lnTo>
                  <a:lnTo>
                    <a:pt x="3437037" y="512390"/>
                  </a:lnTo>
                  <a:lnTo>
                    <a:pt x="3394827" y="522188"/>
                  </a:lnTo>
                  <a:lnTo>
                    <a:pt x="3350553" y="531700"/>
                  </a:lnTo>
                  <a:lnTo>
                    <a:pt x="3304273" y="540916"/>
                  </a:lnTo>
                  <a:lnTo>
                    <a:pt x="3256042" y="549826"/>
                  </a:lnTo>
                  <a:lnTo>
                    <a:pt x="3205917" y="558422"/>
                  </a:lnTo>
                  <a:lnTo>
                    <a:pt x="3153955" y="566692"/>
                  </a:lnTo>
                  <a:lnTo>
                    <a:pt x="3100213" y="574628"/>
                  </a:lnTo>
                  <a:lnTo>
                    <a:pt x="3044746" y="582220"/>
                  </a:lnTo>
                  <a:lnTo>
                    <a:pt x="2987611" y="589457"/>
                  </a:lnTo>
                  <a:lnTo>
                    <a:pt x="2928866" y="596331"/>
                  </a:lnTo>
                  <a:lnTo>
                    <a:pt x="2868565" y="602832"/>
                  </a:lnTo>
                  <a:lnTo>
                    <a:pt x="2806767" y="608950"/>
                  </a:lnTo>
                  <a:lnTo>
                    <a:pt x="2743528" y="614675"/>
                  </a:lnTo>
                  <a:lnTo>
                    <a:pt x="2678903" y="619998"/>
                  </a:lnTo>
                  <a:lnTo>
                    <a:pt x="2612951" y="624909"/>
                  </a:lnTo>
                  <a:lnTo>
                    <a:pt x="2545726" y="629398"/>
                  </a:lnTo>
                  <a:lnTo>
                    <a:pt x="2477286" y="633456"/>
                  </a:lnTo>
                  <a:lnTo>
                    <a:pt x="2407688" y="637072"/>
                  </a:lnTo>
                  <a:lnTo>
                    <a:pt x="2336988" y="640238"/>
                  </a:lnTo>
                  <a:lnTo>
                    <a:pt x="2265242" y="642943"/>
                  </a:lnTo>
                  <a:lnTo>
                    <a:pt x="2192507" y="645178"/>
                  </a:lnTo>
                  <a:lnTo>
                    <a:pt x="2118839" y="646933"/>
                  </a:lnTo>
                  <a:lnTo>
                    <a:pt x="2044296" y="648199"/>
                  </a:lnTo>
                  <a:lnTo>
                    <a:pt x="1968933" y="648966"/>
                  </a:lnTo>
                  <a:lnTo>
                    <a:pt x="1892807" y="649224"/>
                  </a:lnTo>
                  <a:lnTo>
                    <a:pt x="1816682" y="648966"/>
                  </a:lnTo>
                  <a:lnTo>
                    <a:pt x="1741319" y="648199"/>
                  </a:lnTo>
                  <a:lnTo>
                    <a:pt x="1666776" y="646933"/>
                  </a:lnTo>
                  <a:lnTo>
                    <a:pt x="1593108" y="645178"/>
                  </a:lnTo>
                  <a:lnTo>
                    <a:pt x="1520373" y="642943"/>
                  </a:lnTo>
                  <a:lnTo>
                    <a:pt x="1448627" y="640238"/>
                  </a:lnTo>
                  <a:lnTo>
                    <a:pt x="1377927" y="637072"/>
                  </a:lnTo>
                  <a:lnTo>
                    <a:pt x="1308329" y="633456"/>
                  </a:lnTo>
                  <a:lnTo>
                    <a:pt x="1239889" y="629398"/>
                  </a:lnTo>
                  <a:lnTo>
                    <a:pt x="1172664" y="624909"/>
                  </a:lnTo>
                  <a:lnTo>
                    <a:pt x="1106712" y="619998"/>
                  </a:lnTo>
                  <a:lnTo>
                    <a:pt x="1042087" y="614675"/>
                  </a:lnTo>
                  <a:lnTo>
                    <a:pt x="978848" y="608950"/>
                  </a:lnTo>
                  <a:lnTo>
                    <a:pt x="917050" y="602832"/>
                  </a:lnTo>
                  <a:lnTo>
                    <a:pt x="856749" y="596331"/>
                  </a:lnTo>
                  <a:lnTo>
                    <a:pt x="798004" y="589457"/>
                  </a:lnTo>
                  <a:lnTo>
                    <a:pt x="740869" y="582220"/>
                  </a:lnTo>
                  <a:lnTo>
                    <a:pt x="685402" y="574628"/>
                  </a:lnTo>
                  <a:lnTo>
                    <a:pt x="631660" y="566692"/>
                  </a:lnTo>
                  <a:lnTo>
                    <a:pt x="579698" y="558422"/>
                  </a:lnTo>
                  <a:lnTo>
                    <a:pt x="529573" y="549826"/>
                  </a:lnTo>
                  <a:lnTo>
                    <a:pt x="481342" y="540916"/>
                  </a:lnTo>
                  <a:lnTo>
                    <a:pt x="435062" y="531700"/>
                  </a:lnTo>
                  <a:lnTo>
                    <a:pt x="390788" y="522188"/>
                  </a:lnTo>
                  <a:lnTo>
                    <a:pt x="348578" y="512390"/>
                  </a:lnTo>
                  <a:lnTo>
                    <a:pt x="308488" y="502316"/>
                  </a:lnTo>
                  <a:lnTo>
                    <a:pt x="270575" y="491974"/>
                  </a:lnTo>
                  <a:lnTo>
                    <a:pt x="201504" y="470530"/>
                  </a:lnTo>
                  <a:lnTo>
                    <a:pt x="141818" y="448136"/>
                  </a:lnTo>
                  <a:lnTo>
                    <a:pt x="91970" y="424868"/>
                  </a:lnTo>
                  <a:lnTo>
                    <a:pt x="52411" y="400804"/>
                  </a:lnTo>
                  <a:lnTo>
                    <a:pt x="13357" y="363385"/>
                  </a:lnTo>
                  <a:lnTo>
                    <a:pt x="0" y="324612"/>
                  </a:lnTo>
                  <a:close/>
                </a:path>
              </a:pathLst>
            </a:custGeom>
            <a:ln w="634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4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Connaitre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l’encapsulation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Principe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l’encapsulation</a:t>
            </a:r>
            <a:endParaRPr sz="1600"/>
          </a:p>
        </p:txBody>
      </p:sp>
      <p:sp>
        <p:nvSpPr>
          <p:cNvPr id="14" name="object 14"/>
          <p:cNvSpPr txBox="1"/>
          <p:nvPr/>
        </p:nvSpPr>
        <p:spPr>
          <a:xfrm>
            <a:off x="798982" y="1955673"/>
            <a:ext cx="4500245" cy="441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restreignent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leur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accès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qu’aux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méthodes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982" y="2440686"/>
            <a:ext cx="22421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-90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Ils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protègent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leurs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8982" y="2718054"/>
            <a:ext cx="38836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d’avoir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un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contrôle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accès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8982" y="2998724"/>
            <a:ext cx="7391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8982" y="3214329"/>
            <a:ext cx="4504690" cy="988694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97180" indent="-284480" algn="just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compte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privés</a:t>
            </a:r>
            <a:endParaRPr sz="1400">
              <a:latin typeface="Calibri"/>
              <a:cs typeface="Calibri"/>
            </a:endParaRPr>
          </a:p>
          <a:p>
            <a:pPr marL="297180" marR="5080" indent="-285115" algn="just">
              <a:lnSpc>
                <a:spcPts val="161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Ainsi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solde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compte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n’est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accessible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client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qu’à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travers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retirer()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déposer()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qui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publiques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8982" y="4245990"/>
            <a:ext cx="4500245" cy="438784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25"/>
              </a:spcBef>
            </a:pP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-15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client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modifier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solde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qu’en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effectuant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opération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dépôt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retrait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59648" y="2763138"/>
            <a:ext cx="189483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Numéro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compte;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solde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647688" y="3398520"/>
            <a:ext cx="1417320" cy="457200"/>
          </a:xfrm>
          <a:custGeom>
            <a:avLst/>
            <a:gdLst/>
            <a:ahLst/>
            <a:cxnLst/>
            <a:rect l="l" t="t" r="r" b="b"/>
            <a:pathLst>
              <a:path w="1417320" h="457200">
                <a:moveTo>
                  <a:pt x="1417320" y="0"/>
                </a:moveTo>
                <a:lnTo>
                  <a:pt x="0" y="0"/>
                </a:lnTo>
                <a:lnTo>
                  <a:pt x="0" y="457199"/>
                </a:lnTo>
                <a:lnTo>
                  <a:pt x="1417320" y="457199"/>
                </a:lnTo>
                <a:lnTo>
                  <a:pt x="1417320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013193" y="3478225"/>
            <a:ext cx="69405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retirer()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44000" y="3425952"/>
            <a:ext cx="1417320" cy="454659"/>
          </a:xfrm>
          <a:custGeom>
            <a:avLst/>
            <a:gdLst/>
            <a:ahLst/>
            <a:cxnLst/>
            <a:rect l="l" t="t" r="r" b="b"/>
            <a:pathLst>
              <a:path w="1417320" h="454660">
                <a:moveTo>
                  <a:pt x="1417320" y="0"/>
                </a:moveTo>
                <a:lnTo>
                  <a:pt x="0" y="0"/>
                </a:lnTo>
                <a:lnTo>
                  <a:pt x="0" y="454152"/>
                </a:lnTo>
                <a:lnTo>
                  <a:pt x="1417320" y="454152"/>
                </a:lnTo>
                <a:lnTo>
                  <a:pt x="1417320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432417" y="3505327"/>
            <a:ext cx="84391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déposer()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354696" y="4462145"/>
            <a:ext cx="2847340" cy="576580"/>
            <a:chOff x="7354696" y="4462145"/>
            <a:chExt cx="2847340" cy="57658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7871" y="4465320"/>
              <a:ext cx="2840735" cy="56997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357871" y="4465320"/>
              <a:ext cx="2840990" cy="570230"/>
            </a:xfrm>
            <a:custGeom>
              <a:avLst/>
              <a:gdLst/>
              <a:ahLst/>
              <a:cxnLst/>
              <a:rect l="l" t="t" r="r" b="b"/>
              <a:pathLst>
                <a:path w="2840990" h="570229">
                  <a:moveTo>
                    <a:pt x="0" y="569975"/>
                  </a:moveTo>
                  <a:lnTo>
                    <a:pt x="2840735" y="569975"/>
                  </a:lnTo>
                  <a:lnTo>
                    <a:pt x="2840735" y="0"/>
                  </a:lnTo>
                  <a:lnTo>
                    <a:pt x="0" y="0"/>
                  </a:lnTo>
                  <a:lnTo>
                    <a:pt x="0" y="569975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463153" y="4572761"/>
            <a:ext cx="63119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rgbClr val="555555"/>
                </a:solidFill>
                <a:latin typeface="Calibri"/>
                <a:cs typeface="Calibri"/>
              </a:rPr>
              <a:t>Client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206615" y="3121151"/>
            <a:ext cx="2777490" cy="1447800"/>
            <a:chOff x="7206615" y="3121151"/>
            <a:chExt cx="2777490" cy="1447800"/>
          </a:xfrm>
        </p:grpSpPr>
        <p:sp>
          <p:nvSpPr>
            <p:cNvPr id="30" name="object 30"/>
            <p:cNvSpPr/>
            <p:nvPr/>
          </p:nvSpPr>
          <p:spPr>
            <a:xfrm>
              <a:off x="7645908" y="3215639"/>
              <a:ext cx="2243455" cy="1353820"/>
            </a:xfrm>
            <a:custGeom>
              <a:avLst/>
              <a:gdLst/>
              <a:ahLst/>
              <a:cxnLst/>
              <a:rect l="l" t="t" r="r" b="b"/>
              <a:pathLst>
                <a:path w="2243454" h="1353820">
                  <a:moveTo>
                    <a:pt x="76200" y="716280"/>
                  </a:moveTo>
                  <a:lnTo>
                    <a:pt x="69850" y="703580"/>
                  </a:lnTo>
                  <a:lnTo>
                    <a:pt x="38100" y="640080"/>
                  </a:lnTo>
                  <a:lnTo>
                    <a:pt x="0" y="716280"/>
                  </a:lnTo>
                  <a:lnTo>
                    <a:pt x="28575" y="716280"/>
                  </a:lnTo>
                  <a:lnTo>
                    <a:pt x="28575" y="1328928"/>
                  </a:lnTo>
                  <a:lnTo>
                    <a:pt x="47625" y="1328928"/>
                  </a:lnTo>
                  <a:lnTo>
                    <a:pt x="47625" y="716280"/>
                  </a:lnTo>
                  <a:lnTo>
                    <a:pt x="76200" y="716280"/>
                  </a:lnTo>
                  <a:close/>
                </a:path>
                <a:path w="2243454" h="1353820">
                  <a:moveTo>
                    <a:pt x="1170432" y="76200"/>
                  </a:moveTo>
                  <a:lnTo>
                    <a:pt x="1164082" y="63500"/>
                  </a:lnTo>
                  <a:lnTo>
                    <a:pt x="1132332" y="0"/>
                  </a:lnTo>
                  <a:lnTo>
                    <a:pt x="1094232" y="76200"/>
                  </a:lnTo>
                  <a:lnTo>
                    <a:pt x="1122807" y="76200"/>
                  </a:lnTo>
                  <a:lnTo>
                    <a:pt x="1122807" y="1250061"/>
                  </a:lnTo>
                  <a:lnTo>
                    <a:pt x="1141857" y="1250061"/>
                  </a:lnTo>
                  <a:lnTo>
                    <a:pt x="1141857" y="76200"/>
                  </a:lnTo>
                  <a:lnTo>
                    <a:pt x="1170432" y="76200"/>
                  </a:lnTo>
                  <a:close/>
                </a:path>
                <a:path w="2243454" h="1353820">
                  <a:moveTo>
                    <a:pt x="2243328" y="740664"/>
                  </a:moveTo>
                  <a:lnTo>
                    <a:pt x="2236978" y="727964"/>
                  </a:lnTo>
                  <a:lnTo>
                    <a:pt x="2205228" y="664464"/>
                  </a:lnTo>
                  <a:lnTo>
                    <a:pt x="2167128" y="740664"/>
                  </a:lnTo>
                  <a:lnTo>
                    <a:pt x="2195703" y="740664"/>
                  </a:lnTo>
                  <a:lnTo>
                    <a:pt x="2195703" y="1353312"/>
                  </a:lnTo>
                  <a:lnTo>
                    <a:pt x="2214753" y="1353312"/>
                  </a:lnTo>
                  <a:lnTo>
                    <a:pt x="2214753" y="740664"/>
                  </a:lnTo>
                  <a:lnTo>
                    <a:pt x="2243328" y="7406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53958" y="3363467"/>
              <a:ext cx="418465" cy="360045"/>
            </a:xfrm>
            <a:custGeom>
              <a:avLst/>
              <a:gdLst/>
              <a:ahLst/>
              <a:cxnLst/>
              <a:rect l="l" t="t" r="r" b="b"/>
              <a:pathLst>
                <a:path w="418465" h="360045">
                  <a:moveTo>
                    <a:pt x="345313" y="0"/>
                  </a:moveTo>
                  <a:lnTo>
                    <a:pt x="209042" y="104394"/>
                  </a:lnTo>
                  <a:lnTo>
                    <a:pt x="72771" y="0"/>
                  </a:lnTo>
                  <a:lnTo>
                    <a:pt x="0" y="95123"/>
                  </a:lnTo>
                  <a:lnTo>
                    <a:pt x="110617" y="179832"/>
                  </a:lnTo>
                  <a:lnTo>
                    <a:pt x="0" y="264541"/>
                  </a:lnTo>
                  <a:lnTo>
                    <a:pt x="72771" y="359664"/>
                  </a:lnTo>
                  <a:lnTo>
                    <a:pt x="209042" y="255270"/>
                  </a:lnTo>
                  <a:lnTo>
                    <a:pt x="345313" y="359664"/>
                  </a:lnTo>
                  <a:lnTo>
                    <a:pt x="418084" y="264541"/>
                  </a:lnTo>
                  <a:lnTo>
                    <a:pt x="307467" y="179832"/>
                  </a:lnTo>
                  <a:lnTo>
                    <a:pt x="418084" y="95123"/>
                  </a:lnTo>
                  <a:lnTo>
                    <a:pt x="34531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553958" y="3363467"/>
              <a:ext cx="418465" cy="360045"/>
            </a:xfrm>
            <a:custGeom>
              <a:avLst/>
              <a:gdLst/>
              <a:ahLst/>
              <a:cxnLst/>
              <a:rect l="l" t="t" r="r" b="b"/>
              <a:pathLst>
                <a:path w="418465" h="360045">
                  <a:moveTo>
                    <a:pt x="0" y="95123"/>
                  </a:moveTo>
                  <a:lnTo>
                    <a:pt x="72771" y="0"/>
                  </a:lnTo>
                  <a:lnTo>
                    <a:pt x="209042" y="104394"/>
                  </a:lnTo>
                  <a:lnTo>
                    <a:pt x="345313" y="0"/>
                  </a:lnTo>
                  <a:lnTo>
                    <a:pt x="418084" y="95123"/>
                  </a:lnTo>
                  <a:lnTo>
                    <a:pt x="307467" y="179832"/>
                  </a:lnTo>
                  <a:lnTo>
                    <a:pt x="418084" y="264541"/>
                  </a:lnTo>
                  <a:lnTo>
                    <a:pt x="345313" y="359664"/>
                  </a:lnTo>
                  <a:lnTo>
                    <a:pt x="209042" y="255270"/>
                  </a:lnTo>
                  <a:lnTo>
                    <a:pt x="72771" y="359664"/>
                  </a:lnTo>
                  <a:lnTo>
                    <a:pt x="0" y="264541"/>
                  </a:lnTo>
                  <a:lnTo>
                    <a:pt x="110617" y="179832"/>
                  </a:lnTo>
                  <a:lnTo>
                    <a:pt x="0" y="95123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06615" y="3121151"/>
              <a:ext cx="2777490" cy="384810"/>
            </a:xfrm>
            <a:custGeom>
              <a:avLst/>
              <a:gdLst/>
              <a:ahLst/>
              <a:cxnLst/>
              <a:rect l="l" t="t" r="r" b="b"/>
              <a:pathLst>
                <a:path w="2777490" h="384810">
                  <a:moveTo>
                    <a:pt x="299593" y="0"/>
                  </a:moveTo>
                  <a:lnTo>
                    <a:pt x="221615" y="34417"/>
                  </a:lnTo>
                  <a:lnTo>
                    <a:pt x="246100" y="54686"/>
                  </a:lnTo>
                  <a:lnTo>
                    <a:pt x="0" y="352298"/>
                  </a:lnTo>
                  <a:lnTo>
                    <a:pt x="9906" y="360426"/>
                  </a:lnTo>
                  <a:lnTo>
                    <a:pt x="255905" y="62788"/>
                  </a:lnTo>
                  <a:lnTo>
                    <a:pt x="280416" y="83058"/>
                  </a:lnTo>
                  <a:lnTo>
                    <a:pt x="289229" y="44831"/>
                  </a:lnTo>
                  <a:lnTo>
                    <a:pt x="299593" y="0"/>
                  </a:lnTo>
                  <a:close/>
                </a:path>
                <a:path w="2777490" h="384810">
                  <a:moveTo>
                    <a:pt x="2777490" y="376047"/>
                  </a:moveTo>
                  <a:lnTo>
                    <a:pt x="2490673" y="66802"/>
                  </a:lnTo>
                  <a:lnTo>
                    <a:pt x="2500668" y="57531"/>
                  </a:lnTo>
                  <a:lnTo>
                    <a:pt x="2513965" y="45212"/>
                  </a:lnTo>
                  <a:lnTo>
                    <a:pt x="2434209" y="15240"/>
                  </a:lnTo>
                  <a:lnTo>
                    <a:pt x="2458085" y="97028"/>
                  </a:lnTo>
                  <a:lnTo>
                    <a:pt x="2481326" y="75476"/>
                  </a:lnTo>
                  <a:lnTo>
                    <a:pt x="2768219" y="384683"/>
                  </a:lnTo>
                  <a:lnTo>
                    <a:pt x="2777490" y="376047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588245" y="2343657"/>
            <a:ext cx="11639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privés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35" name="object 35"/>
          <p:cNvSpPr txBox="1"/>
          <p:nvPr/>
        </p:nvSpPr>
        <p:spPr>
          <a:xfrm>
            <a:off x="6775195" y="2343657"/>
            <a:ext cx="5994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782817" y="3990213"/>
            <a:ext cx="17602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600" b="1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publiques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8200" y="316406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466456" y="1105280"/>
            <a:ext cx="324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Connaitre</a:t>
            </a:r>
            <a:r>
              <a:rPr sz="2400" b="1" spc="-12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l’encapsulation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4367530" cy="6654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l’encapsulation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Modificateurs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 et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 accesseurs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(getters, setters,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…)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9263" y="5455919"/>
            <a:ext cx="1847214" cy="1057910"/>
          </a:xfrm>
          <a:custGeom>
            <a:avLst/>
            <a:gdLst/>
            <a:ahLst/>
            <a:cxnLst/>
            <a:rect l="l" t="t" r="r" b="b"/>
            <a:pathLst>
              <a:path w="1847214" h="1057909">
                <a:moveTo>
                  <a:pt x="1847088" y="0"/>
                </a:moveTo>
                <a:lnTo>
                  <a:pt x="0" y="0"/>
                </a:lnTo>
                <a:lnTo>
                  <a:pt x="0" y="1057655"/>
                </a:lnTo>
                <a:lnTo>
                  <a:pt x="1847088" y="1057655"/>
                </a:lnTo>
                <a:lnTo>
                  <a:pt x="184708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4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Connaitre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l’encapsulation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Modificateurs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4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accesseurs</a:t>
            </a:r>
            <a:r>
              <a:rPr sz="1600" spc="-7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(getters,</a:t>
            </a:r>
            <a:r>
              <a:rPr sz="1600" spc="-7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setters,</a:t>
            </a:r>
            <a:r>
              <a:rPr sz="1600" spc="-25" dirty="0">
                <a:solidFill>
                  <a:srgbClr val="007842"/>
                </a:solidFill>
              </a:rPr>
              <a:t> …)</a:t>
            </a:r>
            <a:endParaRPr sz="1600"/>
          </a:p>
        </p:txBody>
      </p:sp>
      <p:sp>
        <p:nvSpPr>
          <p:cNvPr id="12" name="object 12"/>
          <p:cNvSpPr txBox="1"/>
          <p:nvPr/>
        </p:nvSpPr>
        <p:spPr>
          <a:xfrm>
            <a:off x="798982" y="1955673"/>
            <a:ext cx="8838565" cy="156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interagir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l'extérieur,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suffit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créer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publiques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Accesseurs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et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Modificateurs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Accesseurs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(getters):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retournent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(un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généralement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privé)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notation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utilisée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getXXX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XXX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l’attribut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retourné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Modificateurs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(setters):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modifient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40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3845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notation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utilisée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setXXX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XXX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l’attribut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modifié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1602105"/>
            <a:ext cx="236410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Modificateurs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accesseurs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15500" y="2625851"/>
            <a:ext cx="1640205" cy="350520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300"/>
              </a:spcBef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Voiture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15500" y="2976372"/>
            <a:ext cx="1640205" cy="701040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520"/>
              </a:spcBef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Couleur:</a:t>
            </a:r>
            <a:r>
              <a:rPr sz="12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chaine</a:t>
            </a:r>
            <a:endParaRPr sz="12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Marque:</a:t>
            </a:r>
            <a:r>
              <a:rPr sz="12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chaine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9263" y="3874008"/>
            <a:ext cx="1847214" cy="1054735"/>
          </a:xfrm>
          <a:prstGeom prst="rect">
            <a:avLst/>
          </a:prstGeom>
          <a:solidFill>
            <a:srgbClr val="F1F1F1"/>
          </a:solidFill>
          <a:ln w="12700">
            <a:solidFill>
              <a:srgbClr val="2E528F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382905" marR="379730" indent="-266065">
              <a:lnSpc>
                <a:spcPts val="2560"/>
              </a:lnSpc>
              <a:spcBef>
                <a:spcPts val="2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Première_Voiture Couleur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=rouge</a:t>
            </a:r>
            <a:endParaRPr sz="1400">
              <a:latin typeface="Calibri"/>
              <a:cs typeface="Calibri"/>
            </a:endParaRPr>
          </a:p>
          <a:p>
            <a:pPr marL="291465">
              <a:lnSpc>
                <a:spcPts val="1450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Marque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=Peugeot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9263" y="5455920"/>
            <a:ext cx="1847214" cy="105791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0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Première_Voiture</a:t>
            </a:r>
            <a:endParaRPr sz="1400">
              <a:latin typeface="Calibri"/>
              <a:cs typeface="Calibri"/>
            </a:endParaRPr>
          </a:p>
          <a:p>
            <a:pPr marL="291465" marR="283845" indent="90805">
              <a:lnSpc>
                <a:spcPct val="100000"/>
              </a:lnSpc>
              <a:spcBef>
                <a:spcPts val="128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Couleur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=rouge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Marque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=Peugeot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18792" y="4344670"/>
            <a:ext cx="6499860" cy="1955164"/>
            <a:chOff x="2018792" y="4344670"/>
            <a:chExt cx="6499860" cy="1955164"/>
          </a:xfrm>
        </p:grpSpPr>
        <p:sp>
          <p:nvSpPr>
            <p:cNvPr id="19" name="object 19"/>
            <p:cNvSpPr/>
            <p:nvPr/>
          </p:nvSpPr>
          <p:spPr>
            <a:xfrm>
              <a:off x="3080004" y="4344669"/>
              <a:ext cx="5438775" cy="1722755"/>
            </a:xfrm>
            <a:custGeom>
              <a:avLst/>
              <a:gdLst/>
              <a:ahLst/>
              <a:cxnLst/>
              <a:rect l="l" t="t" r="r" b="b"/>
              <a:pathLst>
                <a:path w="5438775" h="1722754">
                  <a:moveTo>
                    <a:pt x="5310505" y="372110"/>
                  </a:moveTo>
                  <a:lnTo>
                    <a:pt x="5281841" y="357759"/>
                  </a:lnTo>
                  <a:lnTo>
                    <a:pt x="5224780" y="329184"/>
                  </a:lnTo>
                  <a:lnTo>
                    <a:pt x="5224780" y="357759"/>
                  </a:lnTo>
                  <a:lnTo>
                    <a:pt x="0" y="357759"/>
                  </a:lnTo>
                  <a:lnTo>
                    <a:pt x="0" y="386334"/>
                  </a:lnTo>
                  <a:lnTo>
                    <a:pt x="5224780" y="386334"/>
                  </a:lnTo>
                  <a:lnTo>
                    <a:pt x="5224780" y="414909"/>
                  </a:lnTo>
                  <a:lnTo>
                    <a:pt x="5282006" y="386334"/>
                  </a:lnTo>
                  <a:lnTo>
                    <a:pt x="5310505" y="372110"/>
                  </a:lnTo>
                  <a:close/>
                </a:path>
                <a:path w="5438775" h="1722754">
                  <a:moveTo>
                    <a:pt x="5310505" y="28575"/>
                  </a:moveTo>
                  <a:lnTo>
                    <a:pt x="85725" y="28575"/>
                  </a:lnTo>
                  <a:lnTo>
                    <a:pt x="85725" y="0"/>
                  </a:lnTo>
                  <a:lnTo>
                    <a:pt x="0" y="42926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5310505" y="57150"/>
                  </a:lnTo>
                  <a:lnTo>
                    <a:pt x="5310505" y="28575"/>
                  </a:lnTo>
                  <a:close/>
                </a:path>
                <a:path w="5438775" h="1722754">
                  <a:moveTo>
                    <a:pt x="5438521" y="1665414"/>
                  </a:moveTo>
                  <a:lnTo>
                    <a:pt x="213741" y="1665414"/>
                  </a:lnTo>
                  <a:lnTo>
                    <a:pt x="213741" y="1636839"/>
                  </a:lnTo>
                  <a:lnTo>
                    <a:pt x="128016" y="1679702"/>
                  </a:lnTo>
                  <a:lnTo>
                    <a:pt x="213741" y="1722564"/>
                  </a:lnTo>
                  <a:lnTo>
                    <a:pt x="213741" y="1693989"/>
                  </a:lnTo>
                  <a:lnTo>
                    <a:pt x="5438521" y="1693989"/>
                  </a:lnTo>
                  <a:lnTo>
                    <a:pt x="5438521" y="1665414"/>
                  </a:lnTo>
                  <a:close/>
                </a:path>
              </a:pathLst>
            </a:custGeom>
            <a:solidFill>
              <a:srgbClr val="FF7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25142" y="5855957"/>
              <a:ext cx="354330" cy="437515"/>
            </a:xfrm>
            <a:custGeom>
              <a:avLst/>
              <a:gdLst/>
              <a:ahLst/>
              <a:cxnLst/>
              <a:rect l="l" t="t" r="r" b="b"/>
              <a:pathLst>
                <a:path w="354330" h="437514">
                  <a:moveTo>
                    <a:pt x="258190" y="0"/>
                  </a:moveTo>
                  <a:lnTo>
                    <a:pt x="177037" y="116484"/>
                  </a:lnTo>
                  <a:lnTo>
                    <a:pt x="95884" y="0"/>
                  </a:lnTo>
                  <a:lnTo>
                    <a:pt x="0" y="66789"/>
                  </a:lnTo>
                  <a:lnTo>
                    <a:pt x="105790" y="218706"/>
                  </a:lnTo>
                  <a:lnTo>
                    <a:pt x="0" y="370624"/>
                  </a:lnTo>
                  <a:lnTo>
                    <a:pt x="95884" y="437413"/>
                  </a:lnTo>
                  <a:lnTo>
                    <a:pt x="177037" y="320929"/>
                  </a:lnTo>
                  <a:lnTo>
                    <a:pt x="258190" y="437413"/>
                  </a:lnTo>
                  <a:lnTo>
                    <a:pt x="354075" y="370624"/>
                  </a:lnTo>
                  <a:lnTo>
                    <a:pt x="248284" y="218706"/>
                  </a:lnTo>
                  <a:lnTo>
                    <a:pt x="354075" y="66789"/>
                  </a:lnTo>
                  <a:lnTo>
                    <a:pt x="25819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25142" y="5855957"/>
              <a:ext cx="354330" cy="437515"/>
            </a:xfrm>
            <a:custGeom>
              <a:avLst/>
              <a:gdLst/>
              <a:ahLst/>
              <a:cxnLst/>
              <a:rect l="l" t="t" r="r" b="b"/>
              <a:pathLst>
                <a:path w="354330" h="437514">
                  <a:moveTo>
                    <a:pt x="0" y="66789"/>
                  </a:moveTo>
                  <a:lnTo>
                    <a:pt x="95884" y="0"/>
                  </a:lnTo>
                  <a:lnTo>
                    <a:pt x="177037" y="116484"/>
                  </a:lnTo>
                  <a:lnTo>
                    <a:pt x="258190" y="0"/>
                  </a:lnTo>
                  <a:lnTo>
                    <a:pt x="354075" y="66789"/>
                  </a:lnTo>
                  <a:lnTo>
                    <a:pt x="248284" y="218706"/>
                  </a:lnTo>
                  <a:lnTo>
                    <a:pt x="354075" y="370624"/>
                  </a:lnTo>
                  <a:lnTo>
                    <a:pt x="258190" y="437413"/>
                  </a:lnTo>
                  <a:lnTo>
                    <a:pt x="177037" y="320929"/>
                  </a:lnTo>
                  <a:lnTo>
                    <a:pt x="95884" y="437413"/>
                  </a:lnTo>
                  <a:lnTo>
                    <a:pt x="0" y="370624"/>
                  </a:lnTo>
                  <a:lnTo>
                    <a:pt x="105790" y="218706"/>
                  </a:lnTo>
                  <a:lnTo>
                    <a:pt x="0" y="6678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068436" y="4037152"/>
            <a:ext cx="317500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Quelle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couleur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Première_Voiture?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47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32679" y="3920997"/>
            <a:ext cx="9404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u="sng" spc="-1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getCouleur()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60663" y="4507738"/>
            <a:ext cx="48323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Rouge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26551" y="5894019"/>
            <a:ext cx="109537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Couleur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Bleu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62220" y="5573064"/>
            <a:ext cx="12547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u="sng" spc="-1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setCouleur(Bleu)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6616" y="5709615"/>
            <a:ext cx="10890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Couleur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bleu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0479" y="2358897"/>
            <a:ext cx="5325110" cy="113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que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apprendre</a:t>
            </a:r>
            <a:r>
              <a:rPr sz="18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chapitre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Différencier</a:t>
            </a:r>
            <a:r>
              <a:rPr sz="16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entre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d’instance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7" name="object 7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30668" y="202769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5</a:t>
            </a:r>
            <a:endParaRPr sz="2800" dirty="0"/>
          </a:p>
        </p:txBody>
      </p:sp>
      <p:sp>
        <p:nvSpPr>
          <p:cNvPr id="10" name="object 10"/>
          <p:cNvSpPr txBox="1"/>
          <p:nvPr/>
        </p:nvSpPr>
        <p:spPr>
          <a:xfrm>
            <a:off x="7539608" y="1105280"/>
            <a:ext cx="3100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méthodes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57666" y="6263436"/>
            <a:ext cx="11417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heure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02587" y="232180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5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539608" y="1105280"/>
            <a:ext cx="3100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méthodes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624455" cy="16262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Définition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d’une</a:t>
            </a:r>
            <a:r>
              <a:rPr sz="1600" b="1" spc="-6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Visibilité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13988" y="4024883"/>
            <a:ext cx="4559935" cy="1478280"/>
          </a:xfrm>
          <a:custGeom>
            <a:avLst/>
            <a:gdLst/>
            <a:ahLst/>
            <a:cxnLst/>
            <a:rect l="l" t="t" r="r" b="b"/>
            <a:pathLst>
              <a:path w="4559934" h="1478279">
                <a:moveTo>
                  <a:pt x="0" y="1478280"/>
                </a:moveTo>
                <a:lnTo>
                  <a:pt x="4559808" y="1478280"/>
                </a:lnTo>
                <a:lnTo>
                  <a:pt x="4559808" y="0"/>
                </a:lnTo>
                <a:lnTo>
                  <a:pt x="0" y="0"/>
                </a:lnTo>
                <a:lnTo>
                  <a:pt x="0" y="1478280"/>
                </a:lnTo>
                <a:close/>
              </a:path>
            </a:pathLst>
          </a:custGeom>
          <a:ln w="28575">
            <a:solidFill>
              <a:srgbClr val="FF7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05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Manipuler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les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méthodes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Définition</a:t>
            </a:r>
            <a:r>
              <a:rPr sz="1600" spc="-5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d’une</a:t>
            </a:r>
            <a:r>
              <a:rPr sz="1600" spc="-6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méthode</a:t>
            </a:r>
            <a:endParaRPr sz="1600"/>
          </a:p>
        </p:txBody>
      </p:sp>
      <p:sp>
        <p:nvSpPr>
          <p:cNvPr id="12" name="object 12"/>
          <p:cNvSpPr txBox="1"/>
          <p:nvPr/>
        </p:nvSpPr>
        <p:spPr>
          <a:xfrm>
            <a:off x="798982" y="1492300"/>
            <a:ext cx="9198610" cy="1983739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ressemble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à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celle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procédure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fonction.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compose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entête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bloc.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L’entête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précise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nom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retour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(éventuellement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vide)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typés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entrée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constitué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suite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d’instructions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(un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d’instructions)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constituent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corps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09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0816" y="4042917"/>
            <a:ext cx="372935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Entier</a:t>
            </a:r>
            <a:r>
              <a:rPr sz="18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CalculSomme(x: </a:t>
            </a:r>
            <a:r>
              <a:rPr sz="1800" b="1" spc="-20" dirty="0">
                <a:solidFill>
                  <a:srgbClr val="555555"/>
                </a:solidFill>
                <a:latin typeface="Calibri"/>
                <a:cs typeface="Calibri"/>
              </a:rPr>
              <a:t>entier,</a:t>
            </a:r>
            <a:r>
              <a:rPr sz="18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y:</a:t>
            </a:r>
            <a:r>
              <a:rPr sz="18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entier)</a:t>
            </a:r>
            <a:endParaRPr sz="1800">
              <a:latin typeface="Calibri"/>
              <a:cs typeface="Calibri"/>
            </a:endParaRPr>
          </a:p>
          <a:p>
            <a:pPr marL="326390" marR="2353945">
              <a:lnSpc>
                <a:spcPct val="100000"/>
              </a:lnSpc>
            </a:pPr>
            <a:r>
              <a:rPr sz="1800" dirty="0">
                <a:solidFill>
                  <a:srgbClr val="555555"/>
                </a:solidFill>
                <a:latin typeface="Calibri"/>
                <a:cs typeface="Calibri"/>
              </a:rPr>
              <a:t>z:</a:t>
            </a:r>
            <a:r>
              <a:rPr sz="18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55555"/>
                </a:solidFill>
                <a:latin typeface="Calibri"/>
                <a:cs typeface="Calibri"/>
              </a:rPr>
              <a:t>entier z=x+y retourner</a:t>
            </a:r>
            <a:r>
              <a:rPr sz="18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555555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12620" y="4643628"/>
            <a:ext cx="1560830" cy="372110"/>
          </a:xfrm>
          <a:prstGeom prst="rect">
            <a:avLst/>
          </a:prstGeom>
          <a:ln w="28575">
            <a:solidFill>
              <a:srgbClr val="FF78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50"/>
              </a:spcBef>
            </a:pPr>
            <a:r>
              <a:rPr sz="1800" spc="-1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8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8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55555"/>
                </a:solidFill>
                <a:latin typeface="Calibri"/>
                <a:cs typeface="Calibri"/>
              </a:rPr>
              <a:t>retour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28747" y="4163948"/>
            <a:ext cx="1214755" cy="473709"/>
          </a:xfrm>
          <a:custGeom>
            <a:avLst/>
            <a:gdLst/>
            <a:ahLst/>
            <a:cxnLst/>
            <a:rect l="l" t="t" r="r" b="b"/>
            <a:pathLst>
              <a:path w="1214754" h="473710">
                <a:moveTo>
                  <a:pt x="1128994" y="26816"/>
                </a:moveTo>
                <a:lnTo>
                  <a:pt x="0" y="446658"/>
                </a:lnTo>
                <a:lnTo>
                  <a:pt x="9905" y="473456"/>
                </a:lnTo>
                <a:lnTo>
                  <a:pt x="1138990" y="53626"/>
                </a:lnTo>
                <a:lnTo>
                  <a:pt x="1128994" y="26816"/>
                </a:lnTo>
                <a:close/>
              </a:path>
              <a:path w="1214754" h="473710">
                <a:moveTo>
                  <a:pt x="1203591" y="21843"/>
                </a:moveTo>
                <a:lnTo>
                  <a:pt x="1142364" y="21843"/>
                </a:lnTo>
                <a:lnTo>
                  <a:pt x="1152398" y="48640"/>
                </a:lnTo>
                <a:lnTo>
                  <a:pt x="1138990" y="53626"/>
                </a:lnTo>
                <a:lnTo>
                  <a:pt x="1148968" y="80390"/>
                </a:lnTo>
                <a:lnTo>
                  <a:pt x="1203591" y="21843"/>
                </a:lnTo>
                <a:close/>
              </a:path>
              <a:path w="1214754" h="473710">
                <a:moveTo>
                  <a:pt x="1142364" y="21843"/>
                </a:moveTo>
                <a:lnTo>
                  <a:pt x="1128994" y="26816"/>
                </a:lnTo>
                <a:lnTo>
                  <a:pt x="1138990" y="53626"/>
                </a:lnTo>
                <a:lnTo>
                  <a:pt x="1152398" y="48640"/>
                </a:lnTo>
                <a:lnTo>
                  <a:pt x="1142364" y="21843"/>
                </a:lnTo>
                <a:close/>
              </a:path>
              <a:path w="1214754" h="473710">
                <a:moveTo>
                  <a:pt x="1118997" y="0"/>
                </a:moveTo>
                <a:lnTo>
                  <a:pt x="1128994" y="26816"/>
                </a:lnTo>
                <a:lnTo>
                  <a:pt x="1142364" y="21843"/>
                </a:lnTo>
                <a:lnTo>
                  <a:pt x="1203591" y="21843"/>
                </a:lnTo>
                <a:lnTo>
                  <a:pt x="1214374" y="10287"/>
                </a:lnTo>
                <a:lnTo>
                  <a:pt x="111899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256276" y="3525011"/>
            <a:ext cx="612775" cy="368935"/>
          </a:xfrm>
          <a:prstGeom prst="rect">
            <a:avLst/>
          </a:prstGeom>
          <a:ln w="28575">
            <a:solidFill>
              <a:srgbClr val="FF78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spc="-25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24500" y="3892296"/>
            <a:ext cx="76200" cy="280035"/>
          </a:xfrm>
          <a:custGeom>
            <a:avLst/>
            <a:gdLst/>
            <a:ahLst/>
            <a:cxnLst/>
            <a:rect l="l" t="t" r="r" b="b"/>
            <a:pathLst>
              <a:path w="76200" h="280035">
                <a:moveTo>
                  <a:pt x="31750" y="203707"/>
                </a:moveTo>
                <a:lnTo>
                  <a:pt x="0" y="203707"/>
                </a:lnTo>
                <a:lnTo>
                  <a:pt x="38100" y="279907"/>
                </a:lnTo>
                <a:lnTo>
                  <a:pt x="69850" y="216407"/>
                </a:lnTo>
                <a:lnTo>
                  <a:pt x="31750" y="216407"/>
                </a:lnTo>
                <a:lnTo>
                  <a:pt x="31750" y="203707"/>
                </a:lnTo>
                <a:close/>
              </a:path>
              <a:path w="76200" h="280035">
                <a:moveTo>
                  <a:pt x="44450" y="0"/>
                </a:moveTo>
                <a:lnTo>
                  <a:pt x="31750" y="0"/>
                </a:lnTo>
                <a:lnTo>
                  <a:pt x="31750" y="216407"/>
                </a:lnTo>
                <a:lnTo>
                  <a:pt x="44450" y="216407"/>
                </a:lnTo>
                <a:lnTo>
                  <a:pt x="44450" y="0"/>
                </a:lnTo>
                <a:close/>
              </a:path>
              <a:path w="76200" h="280035">
                <a:moveTo>
                  <a:pt x="76200" y="203707"/>
                </a:moveTo>
                <a:lnTo>
                  <a:pt x="44450" y="203707"/>
                </a:lnTo>
                <a:lnTo>
                  <a:pt x="44450" y="216407"/>
                </a:lnTo>
                <a:lnTo>
                  <a:pt x="69850" y="216407"/>
                </a:lnTo>
                <a:lnTo>
                  <a:pt x="76200" y="203707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508492" y="4646676"/>
            <a:ext cx="1252855" cy="372110"/>
          </a:xfrm>
          <a:prstGeom prst="rect">
            <a:avLst/>
          </a:prstGeom>
          <a:ln w="28575">
            <a:solidFill>
              <a:srgbClr val="FF78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0"/>
              </a:spcBef>
            </a:pPr>
            <a:r>
              <a:rPr sz="1800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65195" y="4364164"/>
            <a:ext cx="5025390" cy="1268095"/>
            <a:chOff x="3465195" y="4364164"/>
            <a:chExt cx="5025390" cy="1268095"/>
          </a:xfrm>
        </p:grpSpPr>
        <p:sp>
          <p:nvSpPr>
            <p:cNvPr id="20" name="object 20"/>
            <p:cNvSpPr/>
            <p:nvPr/>
          </p:nvSpPr>
          <p:spPr>
            <a:xfrm>
              <a:off x="7392923" y="4370070"/>
              <a:ext cx="1097915" cy="452755"/>
            </a:xfrm>
            <a:custGeom>
              <a:avLst/>
              <a:gdLst/>
              <a:ahLst/>
              <a:cxnLst/>
              <a:rect l="l" t="t" r="r" b="b"/>
              <a:pathLst>
                <a:path w="1097915" h="452754">
                  <a:moveTo>
                    <a:pt x="85012" y="26566"/>
                  </a:moveTo>
                  <a:lnTo>
                    <a:pt x="74522" y="53129"/>
                  </a:lnTo>
                  <a:lnTo>
                    <a:pt x="1086866" y="452500"/>
                  </a:lnTo>
                  <a:lnTo>
                    <a:pt x="1097406" y="425957"/>
                  </a:lnTo>
                  <a:lnTo>
                    <a:pt x="85012" y="26566"/>
                  </a:lnTo>
                  <a:close/>
                </a:path>
                <a:path w="1097915" h="452754">
                  <a:moveTo>
                    <a:pt x="95503" y="0"/>
                  </a:moveTo>
                  <a:lnTo>
                    <a:pt x="0" y="8381"/>
                  </a:lnTo>
                  <a:lnTo>
                    <a:pt x="64007" y="79755"/>
                  </a:lnTo>
                  <a:lnTo>
                    <a:pt x="74522" y="53129"/>
                  </a:lnTo>
                  <a:lnTo>
                    <a:pt x="61214" y="47878"/>
                  </a:lnTo>
                  <a:lnTo>
                    <a:pt x="71754" y="21335"/>
                  </a:lnTo>
                  <a:lnTo>
                    <a:pt x="87078" y="21335"/>
                  </a:lnTo>
                  <a:lnTo>
                    <a:pt x="95503" y="0"/>
                  </a:lnTo>
                  <a:close/>
                </a:path>
                <a:path w="1097915" h="452754">
                  <a:moveTo>
                    <a:pt x="71754" y="21335"/>
                  </a:moveTo>
                  <a:lnTo>
                    <a:pt x="61214" y="47878"/>
                  </a:lnTo>
                  <a:lnTo>
                    <a:pt x="74522" y="53129"/>
                  </a:lnTo>
                  <a:lnTo>
                    <a:pt x="85012" y="26566"/>
                  </a:lnTo>
                  <a:lnTo>
                    <a:pt x="71754" y="21335"/>
                  </a:lnTo>
                  <a:close/>
                </a:path>
                <a:path w="1097915" h="452754">
                  <a:moveTo>
                    <a:pt x="87078" y="21335"/>
                  </a:moveTo>
                  <a:lnTo>
                    <a:pt x="71754" y="21335"/>
                  </a:lnTo>
                  <a:lnTo>
                    <a:pt x="85012" y="26566"/>
                  </a:lnTo>
                  <a:lnTo>
                    <a:pt x="87078" y="2133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56532" y="4378452"/>
              <a:ext cx="195580" cy="847725"/>
            </a:xfrm>
            <a:custGeom>
              <a:avLst/>
              <a:gdLst/>
              <a:ahLst/>
              <a:cxnLst/>
              <a:rect l="l" t="t" r="r" b="b"/>
              <a:pathLst>
                <a:path w="195579" h="847725">
                  <a:moveTo>
                    <a:pt x="195071" y="847344"/>
                  </a:moveTo>
                  <a:lnTo>
                    <a:pt x="157114" y="846072"/>
                  </a:lnTo>
                  <a:lnTo>
                    <a:pt x="126110" y="842597"/>
                  </a:lnTo>
                  <a:lnTo>
                    <a:pt x="105203" y="837432"/>
                  </a:lnTo>
                  <a:lnTo>
                    <a:pt x="97535" y="831088"/>
                  </a:lnTo>
                  <a:lnTo>
                    <a:pt x="97535" y="439928"/>
                  </a:lnTo>
                  <a:lnTo>
                    <a:pt x="89868" y="433583"/>
                  </a:lnTo>
                  <a:lnTo>
                    <a:pt x="68960" y="428418"/>
                  </a:lnTo>
                  <a:lnTo>
                    <a:pt x="37957" y="424943"/>
                  </a:lnTo>
                  <a:lnTo>
                    <a:pt x="0" y="423672"/>
                  </a:lnTo>
                  <a:lnTo>
                    <a:pt x="37957" y="422400"/>
                  </a:lnTo>
                  <a:lnTo>
                    <a:pt x="68960" y="418925"/>
                  </a:lnTo>
                  <a:lnTo>
                    <a:pt x="89868" y="413760"/>
                  </a:lnTo>
                  <a:lnTo>
                    <a:pt x="97535" y="407416"/>
                  </a:lnTo>
                  <a:lnTo>
                    <a:pt x="97535" y="16256"/>
                  </a:lnTo>
                  <a:lnTo>
                    <a:pt x="105203" y="9911"/>
                  </a:lnTo>
                  <a:lnTo>
                    <a:pt x="126110" y="4746"/>
                  </a:lnTo>
                  <a:lnTo>
                    <a:pt x="157114" y="1271"/>
                  </a:lnTo>
                  <a:lnTo>
                    <a:pt x="195071" y="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65195" y="5091684"/>
              <a:ext cx="789940" cy="540385"/>
            </a:xfrm>
            <a:custGeom>
              <a:avLst/>
              <a:gdLst/>
              <a:ahLst/>
              <a:cxnLst/>
              <a:rect l="l" t="t" r="r" b="b"/>
              <a:pathLst>
                <a:path w="789939" h="540385">
                  <a:moveTo>
                    <a:pt x="710703" y="36170"/>
                  </a:moveTo>
                  <a:lnTo>
                    <a:pt x="0" y="516597"/>
                  </a:lnTo>
                  <a:lnTo>
                    <a:pt x="16001" y="540270"/>
                  </a:lnTo>
                  <a:lnTo>
                    <a:pt x="726666" y="59819"/>
                  </a:lnTo>
                  <a:lnTo>
                    <a:pt x="710703" y="36170"/>
                  </a:lnTo>
                  <a:close/>
                </a:path>
                <a:path w="789939" h="540385">
                  <a:moveTo>
                    <a:pt x="773832" y="28194"/>
                  </a:moveTo>
                  <a:lnTo>
                    <a:pt x="722502" y="28194"/>
                  </a:lnTo>
                  <a:lnTo>
                    <a:pt x="738504" y="51816"/>
                  </a:lnTo>
                  <a:lnTo>
                    <a:pt x="726666" y="59819"/>
                  </a:lnTo>
                  <a:lnTo>
                    <a:pt x="742695" y="83566"/>
                  </a:lnTo>
                  <a:lnTo>
                    <a:pt x="773832" y="28194"/>
                  </a:lnTo>
                  <a:close/>
                </a:path>
                <a:path w="789939" h="540385">
                  <a:moveTo>
                    <a:pt x="722502" y="28194"/>
                  </a:moveTo>
                  <a:lnTo>
                    <a:pt x="710703" y="36170"/>
                  </a:lnTo>
                  <a:lnTo>
                    <a:pt x="726666" y="59819"/>
                  </a:lnTo>
                  <a:lnTo>
                    <a:pt x="738504" y="51816"/>
                  </a:lnTo>
                  <a:lnTo>
                    <a:pt x="722502" y="28194"/>
                  </a:lnTo>
                  <a:close/>
                </a:path>
                <a:path w="789939" h="540385">
                  <a:moveTo>
                    <a:pt x="789685" y="0"/>
                  </a:moveTo>
                  <a:lnTo>
                    <a:pt x="694689" y="12446"/>
                  </a:lnTo>
                  <a:lnTo>
                    <a:pt x="710703" y="36170"/>
                  </a:lnTo>
                  <a:lnTo>
                    <a:pt x="722502" y="28194"/>
                  </a:lnTo>
                  <a:lnTo>
                    <a:pt x="773832" y="28194"/>
                  </a:lnTo>
                  <a:lnTo>
                    <a:pt x="78968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708404" y="5618988"/>
            <a:ext cx="2136775" cy="368935"/>
          </a:xfrm>
          <a:prstGeom prst="rect">
            <a:avLst/>
          </a:prstGeom>
          <a:ln w="28575">
            <a:solidFill>
              <a:srgbClr val="FF78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555555"/>
                </a:solidFill>
                <a:latin typeface="Calibri"/>
                <a:cs typeface="Calibri"/>
              </a:rPr>
              <a:t>Corps</a:t>
            </a:r>
            <a:r>
              <a:rPr sz="18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8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8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40941" y="232180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5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539608" y="1105280"/>
            <a:ext cx="3100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méthodes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624455" cy="16262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Visibilité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d’une</a:t>
            </a:r>
            <a:r>
              <a:rPr sz="16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6560" y="3931919"/>
            <a:ext cx="6086855" cy="264871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05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Manipuler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les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méthodes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7842"/>
                </a:solidFill>
              </a:rPr>
              <a:t>Visibilité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d’une</a:t>
            </a:r>
            <a:r>
              <a:rPr sz="1600" spc="-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méthode</a:t>
            </a:r>
            <a:endParaRPr sz="1600"/>
          </a:p>
        </p:txBody>
      </p:sp>
      <p:sp>
        <p:nvSpPr>
          <p:cNvPr id="14" name="object 14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52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1583487"/>
            <a:ext cx="7265670" cy="226377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visibilité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droits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d'accès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autorisant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l'appel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Publique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(+)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L’appel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autorisé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 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Protégée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(#)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L’appel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réservé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héritières</a:t>
            </a:r>
            <a:endParaRPr sz="1400">
              <a:latin typeface="Calibri"/>
              <a:cs typeface="Calibri"/>
            </a:endParaRPr>
          </a:p>
          <a:p>
            <a:pPr marL="747395">
              <a:lnSpc>
                <a:spcPct val="100000"/>
              </a:lnSpc>
              <a:spcBef>
                <a:spcPts val="53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voir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ultérieurement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Héritage)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Privée(-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)</a:t>
            </a:r>
            <a:r>
              <a:rPr sz="1400" b="1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L’appel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limité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elle-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40941" y="232180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5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539608" y="1105280"/>
            <a:ext cx="3100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méthodes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675255" cy="16262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Visibilité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Paramètres</a:t>
            </a:r>
            <a:r>
              <a:rPr sz="1600" b="1" spc="-9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79420" y="3348227"/>
            <a:ext cx="4556760" cy="1478280"/>
          </a:xfrm>
          <a:custGeom>
            <a:avLst/>
            <a:gdLst/>
            <a:ahLst/>
            <a:cxnLst/>
            <a:rect l="l" t="t" r="r" b="b"/>
            <a:pathLst>
              <a:path w="4556759" h="1478279">
                <a:moveTo>
                  <a:pt x="0" y="1478280"/>
                </a:moveTo>
                <a:lnTo>
                  <a:pt x="4556759" y="1478280"/>
                </a:lnTo>
                <a:lnTo>
                  <a:pt x="4556759" y="0"/>
                </a:lnTo>
                <a:lnTo>
                  <a:pt x="0" y="0"/>
                </a:lnTo>
                <a:lnTo>
                  <a:pt x="0" y="1478280"/>
                </a:lnTo>
                <a:close/>
              </a:path>
            </a:pathLst>
          </a:custGeom>
          <a:ln w="28575">
            <a:solidFill>
              <a:srgbClr val="FF7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05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Manipuler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les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méthodes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7842"/>
                </a:solidFill>
              </a:rPr>
              <a:t>Paramètres</a:t>
            </a:r>
            <a:r>
              <a:rPr sz="1600" spc="-9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d’une</a:t>
            </a:r>
            <a:r>
              <a:rPr sz="1600" spc="-2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méthode</a:t>
            </a:r>
            <a:endParaRPr sz="1600"/>
          </a:p>
        </p:txBody>
      </p:sp>
      <p:sp>
        <p:nvSpPr>
          <p:cNvPr id="12" name="object 12"/>
          <p:cNvSpPr txBox="1"/>
          <p:nvPr/>
        </p:nvSpPr>
        <p:spPr>
          <a:xfrm>
            <a:off x="798982" y="1955673"/>
            <a:ext cx="10451465" cy="441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passer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arguments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(appelés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aussi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)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c'est-à-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dire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lui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fournir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variable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afin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puisse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effectuer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opérations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ces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arguments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bien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grâce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arguments.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3582" y="3367278"/>
            <a:ext cx="37287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Entier</a:t>
            </a:r>
            <a:r>
              <a:rPr sz="18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CalculSomme(x:</a:t>
            </a:r>
            <a:r>
              <a:rPr sz="18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555555"/>
                </a:solidFill>
                <a:latin typeface="Calibri"/>
                <a:cs typeface="Calibri"/>
              </a:rPr>
              <a:t>entier,</a:t>
            </a:r>
            <a:r>
              <a:rPr sz="18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y:</a:t>
            </a:r>
            <a:r>
              <a:rPr sz="18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entier)</a:t>
            </a:r>
            <a:endParaRPr sz="1800">
              <a:latin typeface="Calibri"/>
              <a:cs typeface="Calibri"/>
            </a:endParaRPr>
          </a:p>
          <a:p>
            <a:pPr marL="326390" marR="2352675">
              <a:lnSpc>
                <a:spcPct val="100000"/>
              </a:lnSpc>
            </a:pPr>
            <a:r>
              <a:rPr sz="1800" dirty="0">
                <a:solidFill>
                  <a:srgbClr val="555555"/>
                </a:solidFill>
                <a:latin typeface="Calibri"/>
                <a:cs typeface="Calibri"/>
              </a:rPr>
              <a:t>z:</a:t>
            </a:r>
            <a:r>
              <a:rPr sz="18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55555"/>
                </a:solidFill>
                <a:latin typeface="Calibri"/>
                <a:cs typeface="Calibri"/>
              </a:rPr>
              <a:t>entier z=x+y </a:t>
            </a:r>
            <a:r>
              <a:rPr sz="1800" dirty="0">
                <a:solidFill>
                  <a:srgbClr val="555555"/>
                </a:solidFill>
                <a:latin typeface="Calibri"/>
                <a:cs typeface="Calibri"/>
              </a:rPr>
              <a:t>retourner</a:t>
            </a:r>
            <a:r>
              <a:rPr sz="1800" spc="-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555555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31835" y="4061459"/>
            <a:ext cx="1252855" cy="368935"/>
          </a:xfrm>
          <a:prstGeom prst="rect">
            <a:avLst/>
          </a:prstGeom>
          <a:ln w="28575">
            <a:solidFill>
              <a:srgbClr val="FF78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45"/>
              </a:spcBef>
            </a:pPr>
            <a:r>
              <a:rPr sz="1800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09004" y="3751834"/>
            <a:ext cx="1329690" cy="507365"/>
          </a:xfrm>
          <a:custGeom>
            <a:avLst/>
            <a:gdLst/>
            <a:ahLst/>
            <a:cxnLst/>
            <a:rect l="l" t="t" r="r" b="b"/>
            <a:pathLst>
              <a:path w="1329690" h="507364">
                <a:moveTo>
                  <a:pt x="85458" y="26874"/>
                </a:moveTo>
                <a:lnTo>
                  <a:pt x="75692" y="53676"/>
                </a:lnTo>
                <a:lnTo>
                  <a:pt x="1319784" y="507238"/>
                </a:lnTo>
                <a:lnTo>
                  <a:pt x="1329563" y="480441"/>
                </a:lnTo>
                <a:lnTo>
                  <a:pt x="85458" y="26874"/>
                </a:lnTo>
                <a:close/>
              </a:path>
              <a:path w="1329690" h="507364">
                <a:moveTo>
                  <a:pt x="95250" y="0"/>
                </a:moveTo>
                <a:lnTo>
                  <a:pt x="0" y="10922"/>
                </a:lnTo>
                <a:lnTo>
                  <a:pt x="65913" y="80518"/>
                </a:lnTo>
                <a:lnTo>
                  <a:pt x="75692" y="53676"/>
                </a:lnTo>
                <a:lnTo>
                  <a:pt x="62229" y="48768"/>
                </a:lnTo>
                <a:lnTo>
                  <a:pt x="72009" y="21971"/>
                </a:lnTo>
                <a:lnTo>
                  <a:pt x="87244" y="21971"/>
                </a:lnTo>
                <a:lnTo>
                  <a:pt x="95250" y="0"/>
                </a:lnTo>
                <a:close/>
              </a:path>
              <a:path w="1329690" h="507364">
                <a:moveTo>
                  <a:pt x="72009" y="21971"/>
                </a:moveTo>
                <a:lnTo>
                  <a:pt x="62229" y="48768"/>
                </a:lnTo>
                <a:lnTo>
                  <a:pt x="75692" y="53676"/>
                </a:lnTo>
                <a:lnTo>
                  <a:pt x="85458" y="26874"/>
                </a:lnTo>
                <a:lnTo>
                  <a:pt x="72009" y="21971"/>
                </a:lnTo>
                <a:close/>
              </a:path>
              <a:path w="1329690" h="507364">
                <a:moveTo>
                  <a:pt x="87244" y="21971"/>
                </a:moveTo>
                <a:lnTo>
                  <a:pt x="72009" y="21971"/>
                </a:lnTo>
                <a:lnTo>
                  <a:pt x="85458" y="26874"/>
                </a:lnTo>
                <a:lnTo>
                  <a:pt x="87244" y="2197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54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40942" y="316406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5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539608" y="1105280"/>
            <a:ext cx="3100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méthodes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624455" cy="16262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Visibilité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Appel</a:t>
            </a:r>
            <a:r>
              <a:rPr sz="1600" b="1" spc="-6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d’une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64563"/>
            <a:ext cx="11657457" cy="5154295"/>
            <a:chOff x="0" y="1464563"/>
            <a:chExt cx="11657457" cy="5154295"/>
          </a:xfrm>
        </p:grpSpPr>
        <p:sp>
          <p:nvSpPr>
            <p:cNvPr id="4" name="object 4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11119104" y="0"/>
                  </a:moveTo>
                  <a:lnTo>
                    <a:pt x="0" y="0"/>
                  </a:lnTo>
                  <a:lnTo>
                    <a:pt x="0" y="5154168"/>
                  </a:lnTo>
                  <a:lnTo>
                    <a:pt x="11119104" y="5154168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0" y="5154168"/>
                  </a:moveTo>
                  <a:lnTo>
                    <a:pt x="11119104" y="5154168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54168"/>
                  </a:lnTo>
                  <a:close/>
                </a:path>
              </a:pathLst>
            </a:custGeom>
            <a:ln w="9524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870448"/>
              <a:ext cx="536575" cy="536575"/>
            </a:xfrm>
            <a:custGeom>
              <a:avLst/>
              <a:gdLst/>
              <a:ahLst/>
              <a:cxnLst/>
              <a:rect l="l" t="t" r="r" b="b"/>
              <a:pathLst>
                <a:path w="536575" h="536575">
                  <a:moveTo>
                    <a:pt x="268224" y="0"/>
                  </a:moveTo>
                  <a:lnTo>
                    <a:pt x="220010" y="4321"/>
                  </a:lnTo>
                  <a:lnTo>
                    <a:pt x="174631" y="16781"/>
                  </a:lnTo>
                  <a:lnTo>
                    <a:pt x="132845" y="36621"/>
                  </a:lnTo>
                  <a:lnTo>
                    <a:pt x="95410" y="63083"/>
                  </a:lnTo>
                  <a:lnTo>
                    <a:pt x="63082" y="95412"/>
                  </a:lnTo>
                  <a:lnTo>
                    <a:pt x="36620" y="132847"/>
                  </a:lnTo>
                  <a:lnTo>
                    <a:pt x="16780" y="174633"/>
                  </a:lnTo>
                  <a:lnTo>
                    <a:pt x="4321" y="220011"/>
                  </a:lnTo>
                  <a:lnTo>
                    <a:pt x="0" y="268223"/>
                  </a:lnTo>
                  <a:lnTo>
                    <a:pt x="4321" y="316436"/>
                  </a:lnTo>
                  <a:lnTo>
                    <a:pt x="16780" y="361814"/>
                  </a:lnTo>
                  <a:lnTo>
                    <a:pt x="36620" y="403600"/>
                  </a:lnTo>
                  <a:lnTo>
                    <a:pt x="63082" y="441035"/>
                  </a:lnTo>
                  <a:lnTo>
                    <a:pt x="95410" y="473364"/>
                  </a:lnTo>
                  <a:lnTo>
                    <a:pt x="132845" y="499826"/>
                  </a:lnTo>
                  <a:lnTo>
                    <a:pt x="174631" y="519666"/>
                  </a:lnTo>
                  <a:lnTo>
                    <a:pt x="220010" y="532126"/>
                  </a:lnTo>
                  <a:lnTo>
                    <a:pt x="268224" y="536447"/>
                  </a:lnTo>
                  <a:lnTo>
                    <a:pt x="536448" y="536447"/>
                  </a:lnTo>
                  <a:lnTo>
                    <a:pt x="536448" y="268223"/>
                  </a:lnTo>
                  <a:lnTo>
                    <a:pt x="532126" y="220011"/>
                  </a:lnTo>
                  <a:lnTo>
                    <a:pt x="519666" y="174633"/>
                  </a:lnTo>
                  <a:lnTo>
                    <a:pt x="499826" y="132847"/>
                  </a:lnTo>
                  <a:lnTo>
                    <a:pt x="473364" y="95412"/>
                  </a:lnTo>
                  <a:lnTo>
                    <a:pt x="441036" y="63083"/>
                  </a:lnTo>
                  <a:lnTo>
                    <a:pt x="403600" y="36621"/>
                  </a:lnTo>
                  <a:lnTo>
                    <a:pt x="361814" y="16781"/>
                  </a:lnTo>
                  <a:lnTo>
                    <a:pt x="316436" y="4321"/>
                  </a:lnTo>
                  <a:lnTo>
                    <a:pt x="26822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00911" y="4251959"/>
            <a:ext cx="4861560" cy="2225422"/>
            <a:chOff x="1200911" y="4251959"/>
            <a:chExt cx="4861560" cy="2225422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0911" y="4251959"/>
              <a:ext cx="4861560" cy="22250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00855" y="4288536"/>
              <a:ext cx="2197735" cy="2188845"/>
            </a:xfrm>
            <a:custGeom>
              <a:avLst/>
              <a:gdLst/>
              <a:ahLst/>
              <a:cxnLst/>
              <a:rect l="l" t="t" r="r" b="b"/>
              <a:pathLst>
                <a:path w="2197735" h="2188845">
                  <a:moveTo>
                    <a:pt x="2197607" y="0"/>
                  </a:moveTo>
                  <a:lnTo>
                    <a:pt x="0" y="0"/>
                  </a:lnTo>
                  <a:lnTo>
                    <a:pt x="0" y="2188464"/>
                  </a:lnTo>
                  <a:lnTo>
                    <a:pt x="2197607" y="2188464"/>
                  </a:lnTo>
                  <a:lnTo>
                    <a:pt x="2197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0855" y="4288536"/>
              <a:ext cx="2197735" cy="2188845"/>
            </a:xfrm>
            <a:custGeom>
              <a:avLst/>
              <a:gdLst/>
              <a:ahLst/>
              <a:cxnLst/>
              <a:rect l="l" t="t" r="r" b="b"/>
              <a:pathLst>
                <a:path w="2197735" h="2188845">
                  <a:moveTo>
                    <a:pt x="0" y="2188464"/>
                  </a:moveTo>
                  <a:lnTo>
                    <a:pt x="2197607" y="2188464"/>
                  </a:lnTo>
                  <a:lnTo>
                    <a:pt x="2197607" y="0"/>
                  </a:lnTo>
                  <a:lnTo>
                    <a:pt x="0" y="0"/>
                  </a:lnTo>
                  <a:lnTo>
                    <a:pt x="0" y="218846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05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Manipuler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les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méthodes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Appel</a:t>
            </a:r>
            <a:r>
              <a:rPr sz="1600" spc="-6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d’une</a:t>
            </a:r>
            <a:r>
              <a:rPr sz="1600" spc="-5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méthode</a:t>
            </a:r>
            <a:endParaRPr sz="1600"/>
          </a:p>
        </p:txBody>
      </p:sp>
      <p:sp>
        <p:nvSpPr>
          <p:cNvPr id="14" name="object 14"/>
          <p:cNvSpPr txBox="1"/>
          <p:nvPr/>
        </p:nvSpPr>
        <p:spPr>
          <a:xfrm>
            <a:off x="798982" y="1887016"/>
            <a:ext cx="10085070" cy="86741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peuvent être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composantes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classe.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objet.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d’instance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L’appel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réalise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nommant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l’objet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suivi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point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suivi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d’arguments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1682" y="3355339"/>
            <a:ext cx="2089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Où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1682" y="3564686"/>
            <a:ext cx="3257550" cy="5867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863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863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nomObjet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référence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l’objet</a:t>
            </a:r>
            <a:endParaRPr sz="1400">
              <a:latin typeface="Calibri"/>
              <a:cs typeface="Calibri"/>
            </a:endParaRPr>
          </a:p>
          <a:p>
            <a:pPr marL="286385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863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nomMéthode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4546" y="5006492"/>
            <a:ext cx="2632075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0375" marR="5080" indent="-447675">
              <a:lnSpc>
                <a:spcPct val="138300"/>
              </a:lnSpc>
              <a:spcBef>
                <a:spcPts val="100"/>
              </a:spcBef>
            </a:pP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v</a:t>
            </a:r>
            <a:r>
              <a:rPr sz="18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8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objet de</a:t>
            </a:r>
            <a:r>
              <a:rPr sz="18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8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Véhicule v.Démarrer()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51603" y="4878323"/>
            <a:ext cx="3374390" cy="1310640"/>
          </a:xfrm>
          <a:custGeom>
            <a:avLst/>
            <a:gdLst/>
            <a:ahLst/>
            <a:cxnLst/>
            <a:rect l="l" t="t" r="r" b="b"/>
            <a:pathLst>
              <a:path w="3374390" h="1310639">
                <a:moveTo>
                  <a:pt x="0" y="218439"/>
                </a:moveTo>
                <a:lnTo>
                  <a:pt x="5768" y="168350"/>
                </a:lnTo>
                <a:lnTo>
                  <a:pt x="22200" y="122371"/>
                </a:lnTo>
                <a:lnTo>
                  <a:pt x="47986" y="81813"/>
                </a:lnTo>
                <a:lnTo>
                  <a:pt x="81813" y="47986"/>
                </a:lnTo>
                <a:lnTo>
                  <a:pt x="122371" y="22200"/>
                </a:lnTo>
                <a:lnTo>
                  <a:pt x="168350" y="5768"/>
                </a:lnTo>
                <a:lnTo>
                  <a:pt x="218440" y="0"/>
                </a:lnTo>
                <a:lnTo>
                  <a:pt x="3155696" y="0"/>
                </a:lnTo>
                <a:lnTo>
                  <a:pt x="3205785" y="5768"/>
                </a:lnTo>
                <a:lnTo>
                  <a:pt x="3251764" y="22200"/>
                </a:lnTo>
                <a:lnTo>
                  <a:pt x="3292322" y="47986"/>
                </a:lnTo>
                <a:lnTo>
                  <a:pt x="3326149" y="81813"/>
                </a:lnTo>
                <a:lnTo>
                  <a:pt x="3351935" y="122371"/>
                </a:lnTo>
                <a:lnTo>
                  <a:pt x="3368367" y="168350"/>
                </a:lnTo>
                <a:lnTo>
                  <a:pt x="3374136" y="218439"/>
                </a:lnTo>
                <a:lnTo>
                  <a:pt x="3374136" y="1092200"/>
                </a:lnTo>
                <a:lnTo>
                  <a:pt x="3368367" y="1142285"/>
                </a:lnTo>
                <a:lnTo>
                  <a:pt x="3351935" y="1188262"/>
                </a:lnTo>
                <a:lnTo>
                  <a:pt x="3326149" y="1228821"/>
                </a:lnTo>
                <a:lnTo>
                  <a:pt x="3292322" y="1262649"/>
                </a:lnTo>
                <a:lnTo>
                  <a:pt x="3251764" y="1288436"/>
                </a:lnTo>
                <a:lnTo>
                  <a:pt x="3205785" y="1304870"/>
                </a:lnTo>
                <a:lnTo>
                  <a:pt x="3155696" y="1310639"/>
                </a:lnTo>
                <a:lnTo>
                  <a:pt x="218440" y="1310639"/>
                </a:lnTo>
                <a:lnTo>
                  <a:pt x="168350" y="1304870"/>
                </a:lnTo>
                <a:lnTo>
                  <a:pt x="122371" y="1288436"/>
                </a:lnTo>
                <a:lnTo>
                  <a:pt x="81813" y="1262649"/>
                </a:lnTo>
                <a:lnTo>
                  <a:pt x="47986" y="1228821"/>
                </a:lnTo>
                <a:lnTo>
                  <a:pt x="22200" y="1188262"/>
                </a:lnTo>
                <a:lnTo>
                  <a:pt x="5768" y="1142285"/>
                </a:lnTo>
                <a:lnTo>
                  <a:pt x="0" y="1092200"/>
                </a:lnTo>
                <a:lnTo>
                  <a:pt x="0" y="218439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979164" y="2951988"/>
            <a:ext cx="4316095" cy="49720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590"/>
              </a:spcBef>
            </a:pP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nomObjet.nomMethode(arg1,</a:t>
            </a:r>
            <a:r>
              <a:rPr sz="1800" b="1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arg2,..)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56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40942" y="316406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5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539608" y="1105280"/>
            <a:ext cx="3100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méthodes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624455" cy="16262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Visibilité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Méthodes</a:t>
            </a:r>
            <a:r>
              <a:rPr sz="1600" b="1" spc="-7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64563"/>
            <a:ext cx="11657457" cy="5154295"/>
            <a:chOff x="0" y="1464563"/>
            <a:chExt cx="11657457" cy="5154295"/>
          </a:xfrm>
        </p:grpSpPr>
        <p:sp>
          <p:nvSpPr>
            <p:cNvPr id="4" name="object 4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11119104" y="0"/>
                  </a:moveTo>
                  <a:lnTo>
                    <a:pt x="0" y="0"/>
                  </a:lnTo>
                  <a:lnTo>
                    <a:pt x="0" y="5154168"/>
                  </a:lnTo>
                  <a:lnTo>
                    <a:pt x="11119104" y="5154168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0" y="5154168"/>
                  </a:moveTo>
                  <a:lnTo>
                    <a:pt x="11119104" y="5154168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54168"/>
                  </a:lnTo>
                  <a:close/>
                </a:path>
              </a:pathLst>
            </a:custGeom>
            <a:ln w="9524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870448"/>
              <a:ext cx="536575" cy="536575"/>
            </a:xfrm>
            <a:custGeom>
              <a:avLst/>
              <a:gdLst/>
              <a:ahLst/>
              <a:cxnLst/>
              <a:rect l="l" t="t" r="r" b="b"/>
              <a:pathLst>
                <a:path w="536575" h="536575">
                  <a:moveTo>
                    <a:pt x="268224" y="0"/>
                  </a:moveTo>
                  <a:lnTo>
                    <a:pt x="220010" y="4321"/>
                  </a:lnTo>
                  <a:lnTo>
                    <a:pt x="174631" y="16781"/>
                  </a:lnTo>
                  <a:lnTo>
                    <a:pt x="132845" y="36621"/>
                  </a:lnTo>
                  <a:lnTo>
                    <a:pt x="95410" y="63083"/>
                  </a:lnTo>
                  <a:lnTo>
                    <a:pt x="63082" y="95412"/>
                  </a:lnTo>
                  <a:lnTo>
                    <a:pt x="36620" y="132847"/>
                  </a:lnTo>
                  <a:lnTo>
                    <a:pt x="16780" y="174633"/>
                  </a:lnTo>
                  <a:lnTo>
                    <a:pt x="4321" y="220011"/>
                  </a:lnTo>
                  <a:lnTo>
                    <a:pt x="0" y="268223"/>
                  </a:lnTo>
                  <a:lnTo>
                    <a:pt x="4321" y="316436"/>
                  </a:lnTo>
                  <a:lnTo>
                    <a:pt x="16780" y="361814"/>
                  </a:lnTo>
                  <a:lnTo>
                    <a:pt x="36620" y="403600"/>
                  </a:lnTo>
                  <a:lnTo>
                    <a:pt x="63082" y="441035"/>
                  </a:lnTo>
                  <a:lnTo>
                    <a:pt x="95410" y="473364"/>
                  </a:lnTo>
                  <a:lnTo>
                    <a:pt x="132845" y="499826"/>
                  </a:lnTo>
                  <a:lnTo>
                    <a:pt x="174631" y="519666"/>
                  </a:lnTo>
                  <a:lnTo>
                    <a:pt x="220010" y="532126"/>
                  </a:lnTo>
                  <a:lnTo>
                    <a:pt x="268224" y="536447"/>
                  </a:lnTo>
                  <a:lnTo>
                    <a:pt x="536448" y="536447"/>
                  </a:lnTo>
                  <a:lnTo>
                    <a:pt x="536448" y="268223"/>
                  </a:lnTo>
                  <a:lnTo>
                    <a:pt x="532126" y="220011"/>
                  </a:lnTo>
                  <a:lnTo>
                    <a:pt x="519666" y="174633"/>
                  </a:lnTo>
                  <a:lnTo>
                    <a:pt x="499826" y="132847"/>
                  </a:lnTo>
                  <a:lnTo>
                    <a:pt x="473364" y="95412"/>
                  </a:lnTo>
                  <a:lnTo>
                    <a:pt x="441036" y="63083"/>
                  </a:lnTo>
                  <a:lnTo>
                    <a:pt x="403600" y="36621"/>
                  </a:lnTo>
                  <a:lnTo>
                    <a:pt x="361814" y="16781"/>
                  </a:lnTo>
                  <a:lnTo>
                    <a:pt x="316436" y="4321"/>
                  </a:lnTo>
                  <a:lnTo>
                    <a:pt x="26822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7842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59" y="3547871"/>
            <a:ext cx="1048512" cy="69494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7842"/>
                </a:solidFill>
              </a:rPr>
              <a:t>05</a:t>
            </a:r>
            <a:r>
              <a:rPr spc="-35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-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Manipuler</a:t>
            </a:r>
            <a:r>
              <a:rPr spc="-3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les</a:t>
            </a:r>
            <a:r>
              <a:rPr spc="-15" dirty="0">
                <a:solidFill>
                  <a:srgbClr val="007842"/>
                </a:solidFill>
              </a:rPr>
              <a:t> </a:t>
            </a:r>
            <a:r>
              <a:rPr spc="-10" dirty="0">
                <a:solidFill>
                  <a:srgbClr val="007842"/>
                </a:solidFill>
              </a:rPr>
              <a:t>méthodes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7842"/>
                </a:solidFill>
              </a:rPr>
              <a:t>Méthodes</a:t>
            </a:r>
            <a:r>
              <a:rPr sz="1600" spc="-8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2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classe</a:t>
            </a:r>
            <a:endParaRPr sz="1600"/>
          </a:p>
        </p:txBody>
      </p:sp>
      <p:sp>
        <p:nvSpPr>
          <p:cNvPr id="21" name="object 21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58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1773519"/>
            <a:ext cx="8771890" cy="5861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déclarée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l’exécution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dépend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Étant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qu'elle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liée 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instances,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préfixe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 par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2960624"/>
            <a:ext cx="7391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51468" y="4637658"/>
            <a:ext cx="22091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3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d’instances</a:t>
            </a:r>
            <a:r>
              <a:rPr sz="1400" spc="3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982" y="4637658"/>
            <a:ext cx="8001000" cy="15582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9085" marR="5080" indent="-287020">
              <a:lnSpc>
                <a:spcPts val="1610"/>
              </a:lnSpc>
              <a:spcBef>
                <a:spcPts val="2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Puisque</a:t>
            </a:r>
            <a:r>
              <a:rPr sz="1400" spc="3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3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3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appartiennent</a:t>
            </a:r>
            <a:r>
              <a:rPr sz="1400" spc="3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3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3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classe,</a:t>
            </a:r>
            <a:r>
              <a:rPr sz="1400" spc="3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elles</a:t>
            </a:r>
            <a:r>
              <a:rPr sz="1400" spc="3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3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400" spc="3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3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aucun</a:t>
            </a:r>
            <a:r>
              <a:rPr sz="1400" spc="3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cas</a:t>
            </a:r>
            <a:r>
              <a:rPr sz="1400" spc="3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accéder appartiennent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instances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 d’instances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accèdent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d’instance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 d’instance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d’instances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accèdent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accèdent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attributs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n’accèdent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d’instance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 d’instance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32076" y="3351276"/>
            <a:ext cx="3380740" cy="350520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2000" b="1" spc="-50" dirty="0">
                <a:solidFill>
                  <a:srgbClr val="555555"/>
                </a:solidFill>
                <a:latin typeface="Calibri"/>
                <a:cs typeface="Calibri"/>
              </a:rPr>
              <a:t>X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32076" y="3701796"/>
            <a:ext cx="3380740" cy="701040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535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Entier</a:t>
            </a:r>
            <a:r>
              <a:rPr sz="12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CalculSomme(x: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entier,</a:t>
            </a:r>
            <a:r>
              <a:rPr sz="12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y: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 entier)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58814" y="3730244"/>
            <a:ext cx="1972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X.CalculSomme</a:t>
            </a:r>
            <a:r>
              <a:rPr sz="1800" b="1" spc="-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555555"/>
                </a:solidFill>
                <a:latin typeface="Calibri"/>
                <a:cs typeface="Calibri"/>
              </a:rPr>
              <a:t>(2,5)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79164" y="2485644"/>
            <a:ext cx="4316095" cy="497205"/>
          </a:xfrm>
          <a:prstGeom prst="rect">
            <a:avLst/>
          </a:prstGeom>
          <a:ln w="28575">
            <a:solidFill>
              <a:srgbClr val="2E528F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745"/>
              </a:spcBef>
            </a:pP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nomClasse.nomMethode(arg1,</a:t>
            </a:r>
            <a:r>
              <a:rPr sz="1800" b="1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arg2,..)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4" name="object 4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84115" y="119531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8188959">
              <a:lnSpc>
                <a:spcPct val="100000"/>
              </a:lnSpc>
              <a:spcBef>
                <a:spcPts val="105"/>
              </a:spcBef>
            </a:pPr>
            <a:r>
              <a:rPr sz="2800" spc="-20" dirty="0">
                <a:solidFill>
                  <a:srgbClr val="007842"/>
                </a:solidFill>
              </a:rPr>
              <a:t>PARTIE</a:t>
            </a:r>
            <a:r>
              <a:rPr sz="2800" spc="-12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6469507" y="1105280"/>
            <a:ext cx="5236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Connaître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principaux</a:t>
            </a:r>
            <a:r>
              <a:rPr sz="2400" b="1" spc="-11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piliers</a:t>
            </a:r>
            <a:r>
              <a:rPr sz="2400" b="1" spc="-8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2400" b="1" spc="-2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la</a:t>
            </a:r>
            <a:r>
              <a:rPr sz="24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7842"/>
                </a:solidFill>
                <a:latin typeface="Calibri"/>
                <a:cs typeface="Calibri"/>
              </a:rPr>
              <a:t>POO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80479" y="2358897"/>
            <a:ext cx="5092700" cy="177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module,</a:t>
            </a:r>
            <a:r>
              <a:rPr sz="18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d’héritage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endParaRPr sz="16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</a:t>
            </a:r>
            <a:r>
              <a:rPr sz="16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concept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polymorphisme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endParaRPr sz="16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</a:t>
            </a:r>
            <a:r>
              <a:rPr sz="16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l’abstraction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son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utilité</a:t>
            </a:r>
            <a:endParaRPr sz="16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interfaces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(définition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implémentation)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41080" y="4526279"/>
            <a:ext cx="899159" cy="89916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696325" y="6339713"/>
            <a:ext cx="126492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0479" y="2358897"/>
            <a:ext cx="5281295" cy="177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que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apprendre</a:t>
            </a:r>
            <a:r>
              <a:rPr sz="18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chapitre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Comprendre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l’héritage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distinguer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ses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Comprendre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surcharge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 le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chainage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constructeurs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visibilité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membres</a:t>
            </a:r>
            <a:r>
              <a:rPr sz="16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dérivée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7" name="object 7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0" y="187452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1</a:t>
            </a:r>
            <a:endParaRPr sz="2800" dirty="0"/>
          </a:p>
        </p:txBody>
      </p:sp>
      <p:sp>
        <p:nvSpPr>
          <p:cNvPr id="11" name="object 11"/>
          <p:cNvSpPr txBox="1"/>
          <p:nvPr/>
        </p:nvSpPr>
        <p:spPr>
          <a:xfrm>
            <a:off x="8696325" y="6339713"/>
            <a:ext cx="126492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06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05953" y="1105280"/>
            <a:ext cx="2168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6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l’héritage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0" y="316406"/>
            <a:ext cx="10515600" cy="1180034"/>
          </a:xfrm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1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8012048" y="1105280"/>
            <a:ext cx="2157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9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l’héritage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4907280" cy="13061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Principe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l’héritage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d’héritage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Surcharge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constructeurs</a:t>
            </a:r>
            <a:r>
              <a:rPr sz="16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chaînage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Visibilité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attributs et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fille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01</a:t>
            </a:r>
            <a:r>
              <a:rPr spc="-4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l’héritage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FF7800"/>
                </a:solidFill>
              </a:rPr>
              <a:t>Principe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l’héritage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1085494" y="2159584"/>
            <a:ext cx="214312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spécialisation/généralisation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65423" y="2159584"/>
            <a:ext cx="191008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985" algn="r">
              <a:lnSpc>
                <a:spcPts val="1645"/>
              </a:lnSpc>
              <a:spcBef>
                <a:spcPts val="95"/>
              </a:spcBef>
              <a:tabLst>
                <a:tab pos="676275" algn="l"/>
                <a:tab pos="1158240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entre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endParaRPr sz="1400">
              <a:latin typeface="Calibri"/>
              <a:cs typeface="Calibri"/>
            </a:endParaRPr>
          </a:p>
          <a:p>
            <a:pPr marR="5080" algn="r">
              <a:lnSpc>
                <a:spcPts val="1645"/>
              </a:lnSpc>
              <a:tabLst>
                <a:tab pos="1024255" algn="l"/>
                <a:tab pos="1228090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…/Personne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étudiant,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5494" y="2364486"/>
            <a:ext cx="2051050" cy="438784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25"/>
              </a:spcBef>
              <a:tabLst>
                <a:tab pos="957580" algn="l"/>
                <a:tab pos="1162050" algn="l"/>
                <a:tab pos="1671320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(document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livre,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revu,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employé…)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2777178"/>
            <a:ext cx="4377690" cy="58737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Lorsqu'une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 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</a:t>
            </a:r>
            <a:r>
              <a:rPr sz="1400" spc="3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possède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3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3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caractéristiques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</a:t>
            </a:r>
            <a:r>
              <a:rPr sz="1400" spc="3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3050" y="3327907"/>
            <a:ext cx="36328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46430" algn="l"/>
                <a:tab pos="1469390" algn="l"/>
                <a:tab pos="2844165" algn="l"/>
                <a:tab pos="3304540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aussi,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d'autres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caractéristiques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6182" y="3463232"/>
            <a:ext cx="3924300" cy="162750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63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spécifiques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D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spécialisation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(un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particulier)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généralisation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(cas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général)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dérivée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(fille)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30"/>
              </a:lnSpc>
              <a:spcBef>
                <a:spcPts val="5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</a:t>
            </a:r>
            <a:r>
              <a:rPr sz="1400" spc="3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3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appelée</a:t>
            </a:r>
            <a:r>
              <a:rPr sz="1400" spc="3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sz="1400" spc="3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(classe</a:t>
            </a:r>
            <a:r>
              <a:rPr sz="1400" spc="3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mère</a:t>
            </a:r>
            <a:r>
              <a:rPr sz="1400" spc="3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30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super-classe)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8982" y="5133213"/>
            <a:ext cx="4377055" cy="92392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9085" marR="5715" indent="-287020">
              <a:lnSpc>
                <a:spcPts val="1610"/>
              </a:lnSpc>
              <a:spcBef>
                <a:spcPts val="2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Tout</a:t>
            </a:r>
            <a:r>
              <a:rPr sz="1400" b="1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instancié</a:t>
            </a:r>
            <a:r>
              <a:rPr sz="1400" b="1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</a:t>
            </a:r>
            <a:r>
              <a:rPr sz="1400" b="1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considéré,</a:t>
            </a:r>
            <a:r>
              <a:rPr sz="1400" b="1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aussi,</a:t>
            </a:r>
            <a:r>
              <a:rPr sz="1400" b="1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comme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B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57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b="1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instancié</a:t>
            </a:r>
            <a:r>
              <a:rPr sz="1400" b="1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B</a:t>
            </a:r>
            <a:r>
              <a:rPr sz="1400" b="1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n'est</a:t>
            </a:r>
            <a:r>
              <a:rPr sz="1400" b="1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b="1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forcément</a:t>
            </a:r>
            <a:r>
              <a:rPr sz="1400" b="1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objet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type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8982" y="1476758"/>
            <a:ext cx="437769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Principe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l’héritage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  <a:tab pos="588645" algn="l"/>
                <a:tab pos="1292860" algn="l"/>
                <a:tab pos="1600835" algn="l"/>
                <a:tab pos="2408555" algn="l"/>
                <a:tab pos="3088640" algn="l"/>
                <a:tab pos="3493770" algn="l"/>
                <a:tab pos="4179570" algn="l"/>
              </a:tabLst>
            </a:pP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concept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l'héritage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spécifie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relation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798982" y="4967401"/>
            <a:ext cx="7105650" cy="86106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Problème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Duplication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endParaRPr sz="14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modification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faite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doit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refaite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autres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6142990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Principe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l’héritage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Considérons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3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Personne,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Employé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864804" y="3144964"/>
          <a:ext cx="2160905" cy="14655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784">
                <a:tc>
                  <a:txBody>
                    <a:bodyPr/>
                    <a:lstStyle/>
                    <a:p>
                      <a:pPr marL="68135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Personne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382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34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Nom:</a:t>
                      </a: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CIN:</a:t>
                      </a:r>
                      <a:r>
                        <a:rPr sz="1200" spc="-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anneeNaiss:</a:t>
                      </a:r>
                      <a:r>
                        <a:rPr sz="1200" spc="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age()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812220" y="3090100"/>
          <a:ext cx="2060575" cy="18586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pPr marL="67183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Etudiant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2E528F"/>
                      </a:solidFill>
                      <a:prstDash val="solid"/>
                    </a:lnL>
                    <a:lnR w="28575">
                      <a:solidFill>
                        <a:srgbClr val="2E528F"/>
                      </a:solidFill>
                      <a:prstDash val="solid"/>
                    </a:lnR>
                    <a:lnT w="28575">
                      <a:solidFill>
                        <a:srgbClr val="2E528F"/>
                      </a:solidFill>
                      <a:prstDash val="solid"/>
                    </a:lnT>
                    <a:lnB w="38100">
                      <a:solidFill>
                        <a:srgbClr val="2E528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335">
                <a:tc>
                  <a:txBody>
                    <a:bodyPr/>
                    <a:lstStyle/>
                    <a:p>
                      <a:pPr marL="92075" marR="117729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Nom:</a:t>
                      </a: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chaine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CIN:</a:t>
                      </a:r>
                      <a:r>
                        <a:rPr sz="1200" spc="-3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anneeNaiss:</a:t>
                      </a:r>
                      <a:r>
                        <a:rPr sz="1200" spc="-6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ts val="1305"/>
                        </a:lnSpc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note1,</a:t>
                      </a:r>
                      <a:r>
                        <a:rPr sz="1200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note2:</a:t>
                      </a: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réel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2E528F"/>
                      </a:solidFill>
                      <a:prstDash val="solid"/>
                    </a:lnL>
                    <a:lnR w="28575">
                      <a:solidFill>
                        <a:srgbClr val="2E528F"/>
                      </a:solidFill>
                      <a:prstDash val="solid"/>
                    </a:lnR>
                    <a:lnT w="38100">
                      <a:solidFill>
                        <a:srgbClr val="2E528F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92075" marR="12865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age()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moyenne()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28575">
                      <a:solidFill>
                        <a:srgbClr val="2E528F"/>
                      </a:solidFill>
                      <a:prstDash val="solid"/>
                    </a:lnL>
                    <a:lnR w="28575">
                      <a:solidFill>
                        <a:srgbClr val="2E528F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2E528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406068" y="3084004"/>
          <a:ext cx="2176145" cy="213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6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719455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Employé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86055" marB="0">
                    <a:lnL w="28575">
                      <a:solidFill>
                        <a:srgbClr val="2E528F"/>
                      </a:solidFill>
                      <a:prstDash val="solid"/>
                    </a:lnL>
                    <a:lnR w="28575">
                      <a:solidFill>
                        <a:srgbClr val="2E528F"/>
                      </a:solidFill>
                      <a:prstDash val="solid"/>
                    </a:lnR>
                    <a:lnT w="28575">
                      <a:solidFill>
                        <a:srgbClr val="2E528F"/>
                      </a:solidFill>
                      <a:prstDash val="solid"/>
                    </a:lnT>
                    <a:lnB w="57150">
                      <a:solidFill>
                        <a:srgbClr val="2E528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 marL="91440" marR="129349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Nom:</a:t>
                      </a: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chaine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CIN:</a:t>
                      </a:r>
                      <a:r>
                        <a:rPr sz="1200" spc="-3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 marR="960119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anneeNaiss</a:t>
                      </a:r>
                      <a:r>
                        <a:rPr sz="1200" spc="-6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 prixHeure:</a:t>
                      </a:r>
                      <a:r>
                        <a:rPr sz="12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réel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nbreHeure: </a:t>
                      </a: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réel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28575">
                      <a:solidFill>
                        <a:srgbClr val="2E528F"/>
                      </a:solidFill>
                      <a:prstDash val="solid"/>
                    </a:lnL>
                    <a:lnR w="28575">
                      <a:solidFill>
                        <a:srgbClr val="2E528F"/>
                      </a:solidFill>
                      <a:prstDash val="solid"/>
                    </a:lnR>
                    <a:lnT w="57150">
                      <a:solidFill>
                        <a:srgbClr val="2E528F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age()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Salaire()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28575">
                      <a:solidFill>
                        <a:srgbClr val="2E528F"/>
                      </a:solidFill>
                      <a:prstDash val="solid"/>
                    </a:lnL>
                    <a:lnR w="28575">
                      <a:solidFill>
                        <a:srgbClr val="2E528F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2E528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01</a:t>
            </a:r>
            <a:r>
              <a:rPr spc="-4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l’héritage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FF7800"/>
                </a:solidFill>
              </a:rPr>
              <a:t>Principe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l’héritage</a:t>
            </a:r>
            <a:endParaRPr sz="16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955673"/>
            <a:ext cx="729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Solution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2236469"/>
            <a:ext cx="4507230" cy="14052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9085" marR="13335" indent="-287020">
              <a:lnSpc>
                <a:spcPts val="1610"/>
              </a:lnSpc>
              <a:spcBef>
                <a:spcPts val="20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Placer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15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mère</a:t>
            </a:r>
            <a:r>
              <a:rPr sz="1400" b="1" spc="15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informations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communes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classes.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5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filles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comportent</a:t>
            </a:r>
            <a:r>
              <a:rPr sz="1400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ou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spécifiques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30"/>
              </a:lnSpc>
              <a:spcBef>
                <a:spcPts val="48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filles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héritent</a:t>
            </a:r>
            <a:r>
              <a:rPr sz="1400" b="1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automatiquement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3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méthodes)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n'ont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besoin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d'être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réécrits.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482268" y="2142172"/>
          <a:ext cx="2081530" cy="1489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6407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Personne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Nom:</a:t>
                      </a: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CIN:</a:t>
                      </a:r>
                      <a:r>
                        <a:rPr sz="1200" spc="-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anneeNaiss:</a:t>
                      </a:r>
                      <a:r>
                        <a:rPr sz="1200" spc="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age()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118859" y="4576571"/>
            <a:ext cx="1981200" cy="47561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633095">
              <a:lnSpc>
                <a:spcPct val="100000"/>
              </a:lnSpc>
              <a:spcBef>
                <a:spcPts val="785"/>
              </a:spcBef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18859" y="5049011"/>
            <a:ext cx="1981200" cy="978535"/>
          </a:xfrm>
          <a:custGeom>
            <a:avLst/>
            <a:gdLst/>
            <a:ahLst/>
            <a:cxnLst/>
            <a:rect l="l" t="t" r="r" b="b"/>
            <a:pathLst>
              <a:path w="1981200" h="978535">
                <a:moveTo>
                  <a:pt x="0" y="978407"/>
                </a:moveTo>
                <a:lnTo>
                  <a:pt x="1981199" y="978407"/>
                </a:lnTo>
                <a:lnTo>
                  <a:pt x="1981199" y="0"/>
                </a:lnTo>
                <a:lnTo>
                  <a:pt x="0" y="0"/>
                </a:lnTo>
                <a:lnTo>
                  <a:pt x="0" y="978407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18859" y="5052059"/>
            <a:ext cx="1981200" cy="59436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note1,</a:t>
            </a:r>
            <a:r>
              <a:rPr sz="12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note2:</a:t>
            </a:r>
            <a:r>
              <a:rPr sz="12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réel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18859" y="5646420"/>
            <a:ext cx="1981200" cy="38100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moyenne()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8571" y="4576571"/>
            <a:ext cx="1755775" cy="47561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825"/>
              </a:spcBef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Employé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148571" y="5055108"/>
            <a:ext cx="1755775" cy="1100455"/>
          </a:xfrm>
          <a:custGeom>
            <a:avLst/>
            <a:gdLst/>
            <a:ahLst/>
            <a:cxnLst/>
            <a:rect l="l" t="t" r="r" b="b"/>
            <a:pathLst>
              <a:path w="1755775" h="1100454">
                <a:moveTo>
                  <a:pt x="0" y="1100328"/>
                </a:moveTo>
                <a:lnTo>
                  <a:pt x="1755648" y="1100328"/>
                </a:lnTo>
                <a:lnTo>
                  <a:pt x="1755648" y="0"/>
                </a:lnTo>
                <a:lnTo>
                  <a:pt x="0" y="0"/>
                </a:lnTo>
                <a:lnTo>
                  <a:pt x="0" y="1100328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148571" y="5052059"/>
            <a:ext cx="1755775" cy="59436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92710" marR="680720">
              <a:lnSpc>
                <a:spcPct val="100000"/>
              </a:lnSpc>
              <a:spcBef>
                <a:spcPts val="690"/>
              </a:spcBef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prixHeure:</a:t>
            </a:r>
            <a:r>
              <a:rPr sz="1200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réel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nbreHeure: 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réel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8571" y="5646420"/>
            <a:ext cx="1755775" cy="50927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30"/>
              </a:spcBef>
            </a:pP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Salaire()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09459" y="4344923"/>
            <a:ext cx="2916555" cy="233679"/>
          </a:xfrm>
          <a:custGeom>
            <a:avLst/>
            <a:gdLst/>
            <a:ahLst/>
            <a:cxnLst/>
            <a:rect l="l" t="t" r="r" b="b"/>
            <a:pathLst>
              <a:path w="2916554" h="233679">
                <a:moveTo>
                  <a:pt x="2916428" y="233680"/>
                </a:moveTo>
                <a:lnTo>
                  <a:pt x="2916428" y="0"/>
                </a:lnTo>
                <a:lnTo>
                  <a:pt x="0" y="0"/>
                </a:lnTo>
                <a:lnTo>
                  <a:pt x="0" y="228600"/>
                </a:lnTo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613138" y="2717037"/>
            <a:ext cx="108585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Super-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67192" y="6168948"/>
            <a:ext cx="107315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51595" y="3913759"/>
            <a:ext cx="98044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Héritent</a:t>
            </a:r>
            <a:r>
              <a:rPr sz="1600" b="1" spc="-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01</a:t>
            </a:r>
            <a:r>
              <a:rPr spc="-4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l’héritage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FF7800"/>
                </a:solidFill>
              </a:rPr>
              <a:t>Principe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l’héritage</a:t>
            </a:r>
            <a:endParaRPr sz="1600"/>
          </a:p>
        </p:txBody>
      </p:sp>
      <p:sp>
        <p:nvSpPr>
          <p:cNvPr id="25" name="object 25"/>
          <p:cNvSpPr/>
          <p:nvPr/>
        </p:nvSpPr>
        <p:spPr>
          <a:xfrm>
            <a:off x="8328406" y="3646932"/>
            <a:ext cx="85725" cy="704215"/>
          </a:xfrm>
          <a:custGeom>
            <a:avLst/>
            <a:gdLst/>
            <a:ahLst/>
            <a:cxnLst/>
            <a:rect l="l" t="t" r="r" b="b"/>
            <a:pathLst>
              <a:path w="85725" h="704214">
                <a:moveTo>
                  <a:pt x="57150" y="71501"/>
                </a:moveTo>
                <a:lnTo>
                  <a:pt x="28575" y="71501"/>
                </a:lnTo>
                <a:lnTo>
                  <a:pt x="28575" y="703961"/>
                </a:lnTo>
                <a:lnTo>
                  <a:pt x="57150" y="703961"/>
                </a:lnTo>
                <a:lnTo>
                  <a:pt x="57150" y="71501"/>
                </a:lnTo>
                <a:close/>
              </a:path>
              <a:path w="85725" h="704214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501"/>
                </a:lnTo>
                <a:lnTo>
                  <a:pt x="78623" y="71501"/>
                </a:lnTo>
                <a:lnTo>
                  <a:pt x="42925" y="0"/>
                </a:lnTo>
                <a:close/>
              </a:path>
              <a:path w="85725" h="704214">
                <a:moveTo>
                  <a:pt x="78623" y="71501"/>
                </a:moveTo>
                <a:lnTo>
                  <a:pt x="57150" y="71501"/>
                </a:lnTo>
                <a:lnTo>
                  <a:pt x="57150" y="85725"/>
                </a:lnTo>
                <a:lnTo>
                  <a:pt x="85725" y="85725"/>
                </a:lnTo>
                <a:lnTo>
                  <a:pt x="78623" y="71501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4502785" cy="30556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Intérêt</a:t>
            </a:r>
            <a:r>
              <a:rPr sz="1600" b="1" spc="-6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l’héritage</a:t>
            </a:r>
            <a:endParaRPr sz="1600">
              <a:latin typeface="Calibri"/>
              <a:cs typeface="Calibri"/>
            </a:endParaRPr>
          </a:p>
          <a:p>
            <a:pPr marL="296545" marR="5715" indent="-284480" algn="just">
              <a:lnSpc>
                <a:spcPct val="95800"/>
              </a:lnSpc>
              <a:spcBef>
                <a:spcPts val="9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L'héritage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minimise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l'écriture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regroupant</a:t>
            </a:r>
            <a:r>
              <a:rPr sz="1400" b="1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les 	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caractéristiques</a:t>
            </a:r>
            <a:r>
              <a:rPr sz="1400" b="1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communes</a:t>
            </a:r>
            <a:r>
              <a:rPr sz="1400" b="1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entre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sein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d’une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seule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base)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sans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duplication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rectification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endroits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uniques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grâce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non-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redondance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description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580"/>
              </a:lnSpc>
              <a:spcBef>
                <a:spcPts val="66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L’extension</a:t>
            </a:r>
            <a:r>
              <a:rPr sz="1400" b="1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l’ajout</a:t>
            </a:r>
            <a:r>
              <a:rPr sz="1400" b="1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nouvelles</a:t>
            </a:r>
            <a:r>
              <a:rPr sz="1400" b="1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b="1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favorisée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surtout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cas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hiérarchie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bien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conçue</a:t>
            </a:r>
            <a:endParaRPr sz="1400">
              <a:latin typeface="Calibri"/>
              <a:cs typeface="Calibri"/>
            </a:endParaRPr>
          </a:p>
          <a:p>
            <a:pPr marL="299085" marR="6985" indent="-287020">
              <a:lnSpc>
                <a:spcPts val="1610"/>
              </a:lnSpc>
              <a:spcBef>
                <a:spcPts val="61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informations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comportements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aux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niveaux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opportuns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459"/>
              </a:spcBef>
              <a:buFont typeface="Arial MT"/>
              <a:buChar char="•"/>
              <a:tabLst>
                <a:tab pos="299085" algn="l"/>
                <a:tab pos="1649730" algn="l"/>
                <a:tab pos="2000250" algn="l"/>
                <a:tab pos="2296160" algn="l"/>
                <a:tab pos="3408679" algn="l"/>
                <a:tab pos="3826510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Rapprochement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modélisation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systèmes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d’information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cas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réels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01</a:t>
            </a:r>
            <a:r>
              <a:rPr spc="-4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l’héritage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FF7800"/>
                </a:solidFill>
              </a:rPr>
              <a:t>Principe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l’héritage</a:t>
            </a:r>
            <a:endParaRPr sz="16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1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8012048" y="1105280"/>
            <a:ext cx="2157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9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l’héritage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4907280" cy="13061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l’héritage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Types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d’héritage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Surcharge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constructeurs</a:t>
            </a:r>
            <a:r>
              <a:rPr sz="16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chaînage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Visibilité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attributs et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fille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01</a:t>
            </a:r>
            <a:r>
              <a:rPr spc="-4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l’héritage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FF7800"/>
                </a:solidFill>
              </a:rPr>
              <a:t>Types</a:t>
            </a:r>
            <a:r>
              <a:rPr sz="1600" spc="-45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d’héritage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2236469"/>
            <a:ext cx="7391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2452075"/>
            <a:ext cx="4499610" cy="106489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fois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EtreVivant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endParaRPr sz="140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3845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deux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3559251"/>
            <a:ext cx="366395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-80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deviennent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propres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1476758"/>
            <a:ext cx="3441065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Héritage</a:t>
            </a:r>
            <a:r>
              <a:rPr sz="1600" b="1" spc="-9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multiple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hériter 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92925" y="3336035"/>
            <a:ext cx="2608580" cy="1177290"/>
            <a:chOff x="6892925" y="3336035"/>
            <a:chExt cx="2608580" cy="1177290"/>
          </a:xfrm>
        </p:grpSpPr>
        <p:sp>
          <p:nvSpPr>
            <p:cNvPr id="15" name="object 15"/>
            <p:cNvSpPr/>
            <p:nvPr/>
          </p:nvSpPr>
          <p:spPr>
            <a:xfrm>
              <a:off x="6892925" y="3336035"/>
              <a:ext cx="2608580" cy="434340"/>
            </a:xfrm>
            <a:custGeom>
              <a:avLst/>
              <a:gdLst/>
              <a:ahLst/>
              <a:cxnLst/>
              <a:rect l="l" t="t" r="r" b="b"/>
              <a:pathLst>
                <a:path w="2608579" h="434339">
                  <a:moveTo>
                    <a:pt x="57150" y="262509"/>
                  </a:moveTo>
                  <a:lnTo>
                    <a:pt x="28575" y="262509"/>
                  </a:lnTo>
                  <a:lnTo>
                    <a:pt x="28575" y="433958"/>
                  </a:lnTo>
                  <a:lnTo>
                    <a:pt x="2579878" y="433958"/>
                  </a:lnTo>
                  <a:lnTo>
                    <a:pt x="2579878" y="419607"/>
                  </a:lnTo>
                  <a:lnTo>
                    <a:pt x="57150" y="419607"/>
                  </a:lnTo>
                  <a:lnTo>
                    <a:pt x="42799" y="405383"/>
                  </a:lnTo>
                  <a:lnTo>
                    <a:pt x="57150" y="405383"/>
                  </a:lnTo>
                  <a:lnTo>
                    <a:pt x="57150" y="262509"/>
                  </a:lnTo>
                  <a:close/>
                </a:path>
                <a:path w="2608579" h="434339">
                  <a:moveTo>
                    <a:pt x="57150" y="405383"/>
                  </a:moveTo>
                  <a:lnTo>
                    <a:pt x="42799" y="405383"/>
                  </a:lnTo>
                  <a:lnTo>
                    <a:pt x="57150" y="419607"/>
                  </a:lnTo>
                  <a:lnTo>
                    <a:pt x="57150" y="405383"/>
                  </a:lnTo>
                  <a:close/>
                </a:path>
                <a:path w="2608579" h="434339">
                  <a:moveTo>
                    <a:pt x="2551303" y="405383"/>
                  </a:moveTo>
                  <a:lnTo>
                    <a:pt x="57150" y="405383"/>
                  </a:lnTo>
                  <a:lnTo>
                    <a:pt x="57150" y="419607"/>
                  </a:lnTo>
                  <a:lnTo>
                    <a:pt x="2551303" y="419607"/>
                  </a:lnTo>
                  <a:lnTo>
                    <a:pt x="2551303" y="405383"/>
                  </a:lnTo>
                  <a:close/>
                </a:path>
                <a:path w="2608579" h="434339">
                  <a:moveTo>
                    <a:pt x="2579878" y="71374"/>
                  </a:moveTo>
                  <a:lnTo>
                    <a:pt x="2551303" y="71374"/>
                  </a:lnTo>
                  <a:lnTo>
                    <a:pt x="2551303" y="419607"/>
                  </a:lnTo>
                  <a:lnTo>
                    <a:pt x="2565527" y="405383"/>
                  </a:lnTo>
                  <a:lnTo>
                    <a:pt x="2579878" y="405383"/>
                  </a:lnTo>
                  <a:lnTo>
                    <a:pt x="2579878" y="71374"/>
                  </a:lnTo>
                  <a:close/>
                </a:path>
                <a:path w="2608579" h="434339">
                  <a:moveTo>
                    <a:pt x="2579878" y="405383"/>
                  </a:moveTo>
                  <a:lnTo>
                    <a:pt x="2565527" y="405383"/>
                  </a:lnTo>
                  <a:lnTo>
                    <a:pt x="2551303" y="419607"/>
                  </a:lnTo>
                  <a:lnTo>
                    <a:pt x="2579878" y="419607"/>
                  </a:lnTo>
                  <a:lnTo>
                    <a:pt x="2579878" y="405383"/>
                  </a:lnTo>
                  <a:close/>
                </a:path>
                <a:path w="2608579" h="434339">
                  <a:moveTo>
                    <a:pt x="42799" y="191008"/>
                  </a:moveTo>
                  <a:lnTo>
                    <a:pt x="0" y="276732"/>
                  </a:lnTo>
                  <a:lnTo>
                    <a:pt x="28575" y="276732"/>
                  </a:lnTo>
                  <a:lnTo>
                    <a:pt x="28575" y="262509"/>
                  </a:lnTo>
                  <a:lnTo>
                    <a:pt x="78602" y="262509"/>
                  </a:lnTo>
                  <a:lnTo>
                    <a:pt x="42799" y="191008"/>
                  </a:lnTo>
                  <a:close/>
                </a:path>
                <a:path w="2608579" h="434339">
                  <a:moveTo>
                    <a:pt x="78602" y="262509"/>
                  </a:moveTo>
                  <a:lnTo>
                    <a:pt x="57150" y="262509"/>
                  </a:lnTo>
                  <a:lnTo>
                    <a:pt x="57150" y="276732"/>
                  </a:lnTo>
                  <a:lnTo>
                    <a:pt x="85725" y="276732"/>
                  </a:lnTo>
                  <a:lnTo>
                    <a:pt x="78602" y="262509"/>
                  </a:lnTo>
                  <a:close/>
                </a:path>
                <a:path w="2608579" h="434339">
                  <a:moveTo>
                    <a:pt x="2565527" y="0"/>
                  </a:moveTo>
                  <a:lnTo>
                    <a:pt x="2522728" y="85725"/>
                  </a:lnTo>
                  <a:lnTo>
                    <a:pt x="2551303" y="85725"/>
                  </a:lnTo>
                  <a:lnTo>
                    <a:pt x="2551303" y="71374"/>
                  </a:lnTo>
                  <a:lnTo>
                    <a:pt x="2601266" y="71374"/>
                  </a:lnTo>
                  <a:lnTo>
                    <a:pt x="2565527" y="0"/>
                  </a:lnTo>
                  <a:close/>
                </a:path>
                <a:path w="2608579" h="434339">
                  <a:moveTo>
                    <a:pt x="2601266" y="71374"/>
                  </a:moveTo>
                  <a:lnTo>
                    <a:pt x="2579878" y="71374"/>
                  </a:lnTo>
                  <a:lnTo>
                    <a:pt x="2579878" y="85725"/>
                  </a:lnTo>
                  <a:lnTo>
                    <a:pt x="2608453" y="85725"/>
                  </a:lnTo>
                  <a:lnTo>
                    <a:pt x="2601266" y="71374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00644" y="3744467"/>
              <a:ext cx="0" cy="768985"/>
            </a:xfrm>
            <a:custGeom>
              <a:avLst/>
              <a:gdLst/>
              <a:ahLst/>
              <a:cxnLst/>
              <a:rect l="l" t="t" r="r" b="b"/>
              <a:pathLst>
                <a:path h="768985">
                  <a:moveTo>
                    <a:pt x="0" y="0"/>
                  </a:moveTo>
                  <a:lnTo>
                    <a:pt x="0" y="768857"/>
                  </a:lnTo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201852" y="4510468"/>
          <a:ext cx="2096770" cy="15620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6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0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Etudiant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018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3810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Note1,</a:t>
                      </a:r>
                      <a:r>
                        <a:rPr sz="1400" spc="-4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note2</a:t>
                      </a:r>
                      <a:r>
                        <a:rPr sz="1400" spc="-5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réel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700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38100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4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Moyenne()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8396668" y="1739836"/>
          <a:ext cx="2096770" cy="15652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6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5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Personne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620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3810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465">
                <a:tc>
                  <a:txBody>
                    <a:bodyPr/>
                    <a:lstStyle/>
                    <a:p>
                      <a:pPr marL="90170" marR="10902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Nom:</a:t>
                      </a:r>
                      <a:r>
                        <a:rPr sz="1400" spc="-4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chaine </a:t>
                      </a: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CIN</a:t>
                      </a:r>
                      <a:r>
                        <a:rPr sz="1400" spc="-3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dateNaiss:</a:t>
                      </a:r>
                      <a:r>
                        <a:rPr sz="1400" spc="-6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38100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age()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5887211" y="2260092"/>
            <a:ext cx="2097405" cy="451484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667385">
              <a:lnSpc>
                <a:spcPct val="100000"/>
              </a:lnSpc>
              <a:spcBef>
                <a:spcPts val="855"/>
              </a:spcBef>
            </a:pPr>
            <a:r>
              <a:rPr sz="1400" b="1" spc="-10" dirty="0">
                <a:latin typeface="Calibri"/>
                <a:cs typeface="Calibri"/>
              </a:rPr>
              <a:t>ÊtreVivant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87211" y="2711195"/>
            <a:ext cx="2097405" cy="35052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65"/>
              </a:spcBef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Taille:</a:t>
            </a:r>
            <a:r>
              <a:rPr sz="14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entier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87211" y="3061716"/>
            <a:ext cx="2097405" cy="454659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1479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65"/>
              </a:spcBef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respirer()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4699635" cy="18357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Héritage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en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cascade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 être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elle-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super-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EtudiantDeuxièmeCycle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475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EtudiantDeuxièmeCycle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305484" y="3717988"/>
          <a:ext cx="2096770" cy="1343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6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6235">
                <a:tc>
                  <a:txBody>
                    <a:bodyPr/>
                    <a:lstStyle/>
                    <a:p>
                      <a:pPr marL="68961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Etudiant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2544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Note1,</a:t>
                      </a:r>
                      <a:r>
                        <a:rPr sz="1400" spc="-6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note2</a:t>
                      </a:r>
                      <a:r>
                        <a:rPr sz="1400" spc="-7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réel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256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Moyenne()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305484" y="1651444"/>
          <a:ext cx="2096770" cy="1663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6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70">
                <a:tc>
                  <a:txBody>
                    <a:bodyPr/>
                    <a:lstStyle/>
                    <a:p>
                      <a:pPr marL="64960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Personne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826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5715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Nom:</a:t>
                      </a:r>
                      <a:r>
                        <a:rPr sz="1400" spc="-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 marR="78105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CIN</a:t>
                      </a:r>
                      <a:r>
                        <a:rPr sz="1400" spc="-4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 dateNaiss:</a:t>
                      </a:r>
                      <a:r>
                        <a:rPr sz="14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57150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4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age()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7319771" y="5478779"/>
            <a:ext cx="2036445" cy="914400"/>
          </a:xfrm>
          <a:custGeom>
            <a:avLst/>
            <a:gdLst/>
            <a:ahLst/>
            <a:cxnLst/>
            <a:rect l="l" t="t" r="r" b="b"/>
            <a:pathLst>
              <a:path w="2036445" h="914400">
                <a:moveTo>
                  <a:pt x="0" y="530352"/>
                </a:moveTo>
                <a:lnTo>
                  <a:pt x="2036064" y="530352"/>
                </a:lnTo>
                <a:lnTo>
                  <a:pt x="2036064" y="0"/>
                </a:lnTo>
                <a:lnTo>
                  <a:pt x="0" y="0"/>
                </a:lnTo>
                <a:lnTo>
                  <a:pt x="0" y="530352"/>
                </a:lnTo>
                <a:close/>
              </a:path>
              <a:path w="2036445" h="914400">
                <a:moveTo>
                  <a:pt x="0" y="914400"/>
                </a:moveTo>
                <a:lnTo>
                  <a:pt x="2036064" y="914400"/>
                </a:lnTo>
                <a:lnTo>
                  <a:pt x="2036064" y="536448"/>
                </a:lnTo>
                <a:lnTo>
                  <a:pt x="0" y="536448"/>
                </a:lnTo>
                <a:lnTo>
                  <a:pt x="0" y="914400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334059" y="5509361"/>
            <a:ext cx="2007870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3230" marR="437515" indent="249554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Etudiant DeuxiemeCycle</a:t>
            </a:r>
            <a:endParaRPr sz="1400">
              <a:latin typeface="Calibri"/>
              <a:cs typeface="Calibri"/>
            </a:endParaRPr>
          </a:p>
          <a:p>
            <a:pPr marL="76835">
              <a:lnSpc>
                <a:spcPct val="100000"/>
              </a:lnSpc>
              <a:spcBef>
                <a:spcPts val="1110"/>
              </a:spcBef>
            </a:pP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Option:</a:t>
            </a:r>
            <a:r>
              <a:rPr sz="1400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chaine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01</a:t>
            </a:r>
            <a:r>
              <a:rPr spc="-4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l’héritage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FF7800"/>
                </a:solidFill>
              </a:rPr>
              <a:t>Types</a:t>
            </a:r>
            <a:r>
              <a:rPr sz="1600" spc="-45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d’héritage</a:t>
            </a:r>
            <a:endParaRPr sz="1600"/>
          </a:p>
        </p:txBody>
      </p:sp>
      <p:sp>
        <p:nvSpPr>
          <p:cNvPr id="15" name="object 15"/>
          <p:cNvSpPr/>
          <p:nvPr/>
        </p:nvSpPr>
        <p:spPr>
          <a:xfrm>
            <a:off x="8307070" y="3329939"/>
            <a:ext cx="104139" cy="2149475"/>
          </a:xfrm>
          <a:custGeom>
            <a:avLst/>
            <a:gdLst/>
            <a:ahLst/>
            <a:cxnLst/>
            <a:rect l="l" t="t" r="r" b="b"/>
            <a:pathLst>
              <a:path w="104140" h="2149475">
                <a:moveTo>
                  <a:pt x="85725" y="1832229"/>
                </a:moveTo>
                <a:lnTo>
                  <a:pt x="78613" y="1818005"/>
                </a:lnTo>
                <a:lnTo>
                  <a:pt x="42926" y="1746504"/>
                </a:lnTo>
                <a:lnTo>
                  <a:pt x="0" y="1832229"/>
                </a:lnTo>
                <a:lnTo>
                  <a:pt x="28575" y="1832229"/>
                </a:lnTo>
                <a:lnTo>
                  <a:pt x="28575" y="2148967"/>
                </a:lnTo>
                <a:lnTo>
                  <a:pt x="57150" y="2148967"/>
                </a:lnTo>
                <a:lnTo>
                  <a:pt x="57150" y="1832229"/>
                </a:lnTo>
                <a:lnTo>
                  <a:pt x="85725" y="1832229"/>
                </a:lnTo>
                <a:close/>
              </a:path>
              <a:path w="104140" h="2149475">
                <a:moveTo>
                  <a:pt x="104013" y="85725"/>
                </a:moveTo>
                <a:lnTo>
                  <a:pt x="96901" y="71501"/>
                </a:lnTo>
                <a:lnTo>
                  <a:pt x="61214" y="0"/>
                </a:lnTo>
                <a:lnTo>
                  <a:pt x="18288" y="85725"/>
                </a:lnTo>
                <a:lnTo>
                  <a:pt x="46863" y="85725"/>
                </a:lnTo>
                <a:lnTo>
                  <a:pt x="46863" y="402463"/>
                </a:lnTo>
                <a:lnTo>
                  <a:pt x="75438" y="402463"/>
                </a:lnTo>
                <a:lnTo>
                  <a:pt x="75438" y="85725"/>
                </a:lnTo>
                <a:lnTo>
                  <a:pt x="104013" y="85725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1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8012048" y="1105280"/>
            <a:ext cx="2157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9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l’héritage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4907280" cy="13061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l’héritage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d’héritage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Surcharge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constructeurs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chaînage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Visibilité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attributs et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fille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01</a:t>
            </a:r>
            <a:r>
              <a:rPr spc="-4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l’héritage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FF7800"/>
                </a:solidFill>
              </a:rPr>
              <a:t>Surcharge</a:t>
            </a:r>
            <a:r>
              <a:rPr sz="1600" spc="-1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des</a:t>
            </a:r>
            <a:r>
              <a:rPr sz="1600" spc="-15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constructeurs</a:t>
            </a:r>
            <a:r>
              <a:rPr sz="1600" spc="-1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et</a:t>
            </a:r>
            <a:r>
              <a:rPr sz="1600" spc="-25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chaînage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0106660" cy="19640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Surcharge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du</a:t>
            </a:r>
            <a:r>
              <a:rPr sz="16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constructeur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portant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mais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signature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différente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appelés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surchargés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signature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comprend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types des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endParaRPr sz="1400">
              <a:latin typeface="Calibri"/>
              <a:cs typeface="Calibri"/>
            </a:endParaRPr>
          </a:p>
          <a:p>
            <a:pPr marL="299085" marR="8890" indent="-287020">
              <a:lnSpc>
                <a:spcPts val="1580"/>
              </a:lnSpc>
              <a:spcBef>
                <a:spcPts val="66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classe,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constructeurs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avoir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différents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nombres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d'arguments,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différentes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séquences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d'arguments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différents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d'arguments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61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pouvons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avoir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plusieurs constructeurs mais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création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objet,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compilateur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choisit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 doit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appelée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 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arguments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745420" y="3815524"/>
          <a:ext cx="5888990" cy="19069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8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Personne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marL="89535" marR="45745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Nom:</a:t>
                      </a:r>
                      <a:r>
                        <a:rPr sz="1400" spc="-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CIN:</a:t>
                      </a:r>
                      <a:r>
                        <a:rPr sz="1400" spc="-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 dateNaiss:</a:t>
                      </a: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3810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age()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89535" marR="30753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CréerPersonne(chaine,</a:t>
                      </a:r>
                      <a:r>
                        <a:rPr sz="1400" b="1" spc="4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entier,</a:t>
                      </a:r>
                      <a:r>
                        <a:rPr sz="1400" b="1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entier) CréerPersonne(chaine,</a:t>
                      </a:r>
                      <a:r>
                        <a:rPr sz="1400" b="1" spc="4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entier) </a:t>
                      </a:r>
                      <a:r>
                        <a:rPr sz="14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CréerPersonne(entier,</a:t>
                      </a:r>
                      <a:r>
                        <a:rPr sz="1400" b="1" spc="7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chaine,</a:t>
                      </a:r>
                      <a:r>
                        <a:rPr sz="1400" b="1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38100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101339" y="5061203"/>
            <a:ext cx="658495" cy="676910"/>
          </a:xfrm>
          <a:custGeom>
            <a:avLst/>
            <a:gdLst/>
            <a:ahLst/>
            <a:cxnLst/>
            <a:rect l="l" t="t" r="r" b="b"/>
            <a:pathLst>
              <a:path w="658495" h="676910">
                <a:moveTo>
                  <a:pt x="658368" y="676656"/>
                </a:moveTo>
                <a:lnTo>
                  <a:pt x="582870" y="675207"/>
                </a:lnTo>
                <a:lnTo>
                  <a:pt x="513574" y="671079"/>
                </a:lnTo>
                <a:lnTo>
                  <a:pt x="452454" y="664603"/>
                </a:lnTo>
                <a:lnTo>
                  <a:pt x="401482" y="656107"/>
                </a:lnTo>
                <a:lnTo>
                  <a:pt x="362632" y="645920"/>
                </a:lnTo>
                <a:lnTo>
                  <a:pt x="329184" y="621792"/>
                </a:lnTo>
                <a:lnTo>
                  <a:pt x="329184" y="393192"/>
                </a:lnTo>
                <a:lnTo>
                  <a:pt x="320493" y="380595"/>
                </a:lnTo>
                <a:lnTo>
                  <a:pt x="256885" y="358855"/>
                </a:lnTo>
                <a:lnTo>
                  <a:pt x="205913" y="350364"/>
                </a:lnTo>
                <a:lnTo>
                  <a:pt x="144793" y="343895"/>
                </a:lnTo>
                <a:lnTo>
                  <a:pt x="75497" y="339774"/>
                </a:lnTo>
                <a:lnTo>
                  <a:pt x="0" y="338328"/>
                </a:lnTo>
                <a:lnTo>
                  <a:pt x="75497" y="336881"/>
                </a:lnTo>
                <a:lnTo>
                  <a:pt x="144793" y="332760"/>
                </a:lnTo>
                <a:lnTo>
                  <a:pt x="205913" y="326291"/>
                </a:lnTo>
                <a:lnTo>
                  <a:pt x="256885" y="317800"/>
                </a:lnTo>
                <a:lnTo>
                  <a:pt x="295735" y="307614"/>
                </a:lnTo>
                <a:lnTo>
                  <a:pt x="329184" y="283464"/>
                </a:lnTo>
                <a:lnTo>
                  <a:pt x="329184" y="54864"/>
                </a:lnTo>
                <a:lnTo>
                  <a:pt x="337874" y="42267"/>
                </a:lnTo>
                <a:lnTo>
                  <a:pt x="401482" y="20527"/>
                </a:lnTo>
                <a:lnTo>
                  <a:pt x="452454" y="12036"/>
                </a:lnTo>
                <a:lnTo>
                  <a:pt x="513574" y="5567"/>
                </a:lnTo>
                <a:lnTo>
                  <a:pt x="582870" y="1446"/>
                </a:lnTo>
                <a:lnTo>
                  <a:pt x="658368" y="0"/>
                </a:lnTo>
              </a:path>
            </a:pathLst>
          </a:custGeom>
          <a:ln w="28575">
            <a:solidFill>
              <a:srgbClr val="FF7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80972" y="5030723"/>
            <a:ext cx="1280160" cy="737870"/>
          </a:xfrm>
          <a:prstGeom prst="rect">
            <a:avLst/>
          </a:prstGeom>
          <a:ln w="28575">
            <a:solidFill>
              <a:srgbClr val="FF78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0170" marR="102235">
              <a:lnSpc>
                <a:spcPct val="100000"/>
              </a:lnSpc>
              <a:spcBef>
                <a:spcPts val="28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Surcharge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du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constructeur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CréerPersonne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10086975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Chainage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constructeurs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chaînage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technique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d’appel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mère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partir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fille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chaînage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d’éviter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duplication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d'initialisation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hérités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fille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093660" y="3080956"/>
          <a:ext cx="4946650" cy="1337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Personne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3810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Nom:</a:t>
                      </a:r>
                      <a:r>
                        <a:rPr sz="1400" spc="-5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CIN</a:t>
                      </a:r>
                      <a:r>
                        <a:rPr sz="1400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dateNaiss:</a:t>
                      </a:r>
                      <a:r>
                        <a:rPr sz="14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38100">
                      <a:solidFill>
                        <a:srgbClr val="0058A0"/>
                      </a:solidFill>
                      <a:prstDash val="solid"/>
                    </a:lnT>
                    <a:lnB w="3810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CréerPersonne(chaine,entier,</a:t>
                      </a:r>
                      <a:r>
                        <a:rPr sz="1400" b="1" spc="2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38100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093660" y="4742116"/>
          <a:ext cx="4946650" cy="970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Etudiant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3810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Note1,</a:t>
                      </a:r>
                      <a:r>
                        <a:rPr sz="1400" spc="-6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note2:</a:t>
                      </a:r>
                      <a:r>
                        <a:rPr sz="1400" spc="-6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réel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38100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CréerEtudiant(chaine,entier,entier,</a:t>
                      </a:r>
                      <a:r>
                        <a:rPr sz="1400" b="1" spc="1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réel,</a:t>
                      </a:r>
                      <a:r>
                        <a:rPr sz="1400" b="1" spc="3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réel)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6360604" y="4024884"/>
            <a:ext cx="3282950" cy="1179830"/>
            <a:chOff x="6360604" y="4024884"/>
            <a:chExt cx="3282950" cy="1179830"/>
          </a:xfrm>
        </p:grpSpPr>
        <p:sp>
          <p:nvSpPr>
            <p:cNvPr id="13" name="object 13"/>
            <p:cNvSpPr/>
            <p:nvPr/>
          </p:nvSpPr>
          <p:spPr>
            <a:xfrm>
              <a:off x="6360667" y="4104132"/>
              <a:ext cx="575310" cy="1100455"/>
            </a:xfrm>
            <a:custGeom>
              <a:avLst/>
              <a:gdLst/>
              <a:ahLst/>
              <a:cxnLst/>
              <a:rect l="l" t="t" r="r" b="b"/>
              <a:pathLst>
                <a:path w="575309" h="1100454">
                  <a:moveTo>
                    <a:pt x="488314" y="1014476"/>
                  </a:moveTo>
                  <a:lnTo>
                    <a:pt x="489712" y="1100201"/>
                  </a:lnTo>
                  <a:lnTo>
                    <a:pt x="545043" y="1071379"/>
                  </a:lnTo>
                  <a:lnTo>
                    <a:pt x="503301" y="1071379"/>
                  </a:lnTo>
                  <a:lnTo>
                    <a:pt x="503301" y="1042804"/>
                  </a:lnTo>
                  <a:lnTo>
                    <a:pt x="547492" y="1042804"/>
                  </a:lnTo>
                  <a:lnTo>
                    <a:pt x="488314" y="1014476"/>
                  </a:lnTo>
                  <a:close/>
                </a:path>
                <a:path w="575309" h="1100454">
                  <a:moveTo>
                    <a:pt x="28575" y="0"/>
                  </a:moveTo>
                  <a:lnTo>
                    <a:pt x="0" y="0"/>
                  </a:lnTo>
                  <a:lnTo>
                    <a:pt x="0" y="1071626"/>
                  </a:lnTo>
                  <a:lnTo>
                    <a:pt x="489242" y="1071379"/>
                  </a:lnTo>
                  <a:lnTo>
                    <a:pt x="489014" y="1057402"/>
                  </a:lnTo>
                  <a:lnTo>
                    <a:pt x="28575" y="1057402"/>
                  </a:lnTo>
                  <a:lnTo>
                    <a:pt x="14224" y="1043051"/>
                  </a:lnTo>
                  <a:lnTo>
                    <a:pt x="28575" y="1043051"/>
                  </a:lnTo>
                  <a:lnTo>
                    <a:pt x="28575" y="0"/>
                  </a:lnTo>
                  <a:close/>
                </a:path>
                <a:path w="575309" h="1100454">
                  <a:moveTo>
                    <a:pt x="547492" y="1042804"/>
                  </a:moveTo>
                  <a:lnTo>
                    <a:pt x="503301" y="1042804"/>
                  </a:lnTo>
                  <a:lnTo>
                    <a:pt x="503301" y="1071379"/>
                  </a:lnTo>
                  <a:lnTo>
                    <a:pt x="545043" y="1071379"/>
                  </a:lnTo>
                  <a:lnTo>
                    <a:pt x="574802" y="1055878"/>
                  </a:lnTo>
                  <a:lnTo>
                    <a:pt x="547492" y="1042804"/>
                  </a:lnTo>
                  <a:close/>
                </a:path>
                <a:path w="575309" h="1100454">
                  <a:moveTo>
                    <a:pt x="488776" y="1042804"/>
                  </a:moveTo>
                  <a:lnTo>
                    <a:pt x="14224" y="1043051"/>
                  </a:lnTo>
                  <a:lnTo>
                    <a:pt x="28575" y="1057402"/>
                  </a:lnTo>
                  <a:lnTo>
                    <a:pt x="28575" y="1043051"/>
                  </a:lnTo>
                  <a:lnTo>
                    <a:pt x="488780" y="1043051"/>
                  </a:lnTo>
                  <a:lnTo>
                    <a:pt x="488776" y="1042804"/>
                  </a:lnTo>
                  <a:close/>
                </a:path>
                <a:path w="575309" h="1100454">
                  <a:moveTo>
                    <a:pt x="488780" y="1043051"/>
                  </a:moveTo>
                  <a:lnTo>
                    <a:pt x="28575" y="1043051"/>
                  </a:lnTo>
                  <a:lnTo>
                    <a:pt x="28575" y="1057402"/>
                  </a:lnTo>
                  <a:lnTo>
                    <a:pt x="489014" y="1057402"/>
                  </a:lnTo>
                  <a:lnTo>
                    <a:pt x="488780" y="1043051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74891" y="4113276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>
                  <a:moveTo>
                    <a:pt x="0" y="0"/>
                  </a:moveTo>
                  <a:lnTo>
                    <a:pt x="280288" y="0"/>
                  </a:lnTo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66859" y="4024884"/>
              <a:ext cx="476250" cy="425450"/>
            </a:xfrm>
            <a:custGeom>
              <a:avLst/>
              <a:gdLst/>
              <a:ahLst/>
              <a:cxnLst/>
              <a:rect l="l" t="t" r="r" b="b"/>
              <a:pathLst>
                <a:path w="476250" h="425450">
                  <a:moveTo>
                    <a:pt x="52195" y="27246"/>
                  </a:moveTo>
                  <a:lnTo>
                    <a:pt x="33267" y="48580"/>
                  </a:lnTo>
                  <a:lnTo>
                    <a:pt x="457200" y="424942"/>
                  </a:lnTo>
                  <a:lnTo>
                    <a:pt x="476250" y="403606"/>
                  </a:lnTo>
                  <a:lnTo>
                    <a:pt x="52195" y="27246"/>
                  </a:lnTo>
                  <a:close/>
                </a:path>
                <a:path w="476250" h="425450">
                  <a:moveTo>
                    <a:pt x="0" y="0"/>
                  </a:moveTo>
                  <a:lnTo>
                    <a:pt x="23749" y="59309"/>
                  </a:lnTo>
                  <a:lnTo>
                    <a:pt x="33267" y="48580"/>
                  </a:lnTo>
                  <a:lnTo>
                    <a:pt x="22606" y="39116"/>
                  </a:lnTo>
                  <a:lnTo>
                    <a:pt x="41529" y="17780"/>
                  </a:lnTo>
                  <a:lnTo>
                    <a:pt x="60595" y="17780"/>
                  </a:lnTo>
                  <a:lnTo>
                    <a:pt x="61722" y="16510"/>
                  </a:lnTo>
                  <a:lnTo>
                    <a:pt x="0" y="0"/>
                  </a:lnTo>
                  <a:close/>
                </a:path>
                <a:path w="476250" h="425450">
                  <a:moveTo>
                    <a:pt x="41529" y="17780"/>
                  </a:moveTo>
                  <a:lnTo>
                    <a:pt x="22606" y="39116"/>
                  </a:lnTo>
                  <a:lnTo>
                    <a:pt x="33267" y="48580"/>
                  </a:lnTo>
                  <a:lnTo>
                    <a:pt x="52195" y="27246"/>
                  </a:lnTo>
                  <a:lnTo>
                    <a:pt x="41529" y="17780"/>
                  </a:lnTo>
                  <a:close/>
                </a:path>
                <a:path w="476250" h="425450">
                  <a:moveTo>
                    <a:pt x="60595" y="17780"/>
                  </a:moveTo>
                  <a:lnTo>
                    <a:pt x="41529" y="17780"/>
                  </a:lnTo>
                  <a:lnTo>
                    <a:pt x="52195" y="27246"/>
                  </a:lnTo>
                  <a:lnTo>
                    <a:pt x="60595" y="17780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372859" y="3201111"/>
            <a:ext cx="5061585" cy="2097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CréerEtudiant(Nom: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chaine,CIN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entier,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dateNaiss: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entier,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note1: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réel,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note2: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réel)</a:t>
            </a:r>
            <a:endParaRPr sz="1400">
              <a:latin typeface="Calibri"/>
              <a:cs typeface="Calibri"/>
            </a:endParaRPr>
          </a:p>
          <a:p>
            <a:pPr marL="408305">
              <a:lnSpc>
                <a:spcPct val="100000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CréerPersonne(Nom,CIN,dateNaiss)</a:t>
            </a:r>
            <a:endParaRPr sz="1400">
              <a:latin typeface="Calibri"/>
              <a:cs typeface="Calibri"/>
            </a:endParaRPr>
          </a:p>
          <a:p>
            <a:pPr marL="448309">
              <a:lnSpc>
                <a:spcPct val="100000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note1=15</a:t>
            </a:r>
            <a:endParaRPr sz="1400">
              <a:latin typeface="Calibri"/>
              <a:cs typeface="Calibri"/>
            </a:endParaRPr>
          </a:p>
          <a:p>
            <a:pPr marL="448309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note2=13.5</a:t>
            </a:r>
            <a:endParaRPr sz="1400">
              <a:latin typeface="Calibri"/>
              <a:cs typeface="Calibri"/>
            </a:endParaRPr>
          </a:p>
          <a:p>
            <a:pPr marL="1774825">
              <a:lnSpc>
                <a:spcPct val="100000"/>
              </a:lnSpc>
              <a:spcBef>
                <a:spcPts val="157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b="1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400">
              <a:latin typeface="Calibri"/>
              <a:cs typeface="Calibri"/>
            </a:endParaRPr>
          </a:p>
          <a:p>
            <a:pPr marL="653415">
              <a:lnSpc>
                <a:spcPct val="100000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Corps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b="1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01</a:t>
            </a:r>
            <a:r>
              <a:rPr spc="-4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l’héritage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FF7800"/>
                </a:solidFill>
              </a:rPr>
              <a:t>Surcharge</a:t>
            </a:r>
            <a:r>
              <a:rPr sz="1600" spc="-1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des</a:t>
            </a:r>
            <a:r>
              <a:rPr sz="1600" spc="-15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constructeurs</a:t>
            </a:r>
            <a:r>
              <a:rPr sz="1600" spc="-1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et</a:t>
            </a:r>
            <a:r>
              <a:rPr sz="1600" spc="-25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chaînage</a:t>
            </a:r>
            <a:endParaRPr sz="1600"/>
          </a:p>
        </p:txBody>
      </p:sp>
      <p:sp>
        <p:nvSpPr>
          <p:cNvPr id="18" name="object 18"/>
          <p:cNvSpPr/>
          <p:nvPr/>
        </p:nvSpPr>
        <p:spPr>
          <a:xfrm>
            <a:off x="3539997" y="4433315"/>
            <a:ext cx="85725" cy="323215"/>
          </a:xfrm>
          <a:custGeom>
            <a:avLst/>
            <a:gdLst/>
            <a:ahLst/>
            <a:cxnLst/>
            <a:rect l="l" t="t" r="r" b="b"/>
            <a:pathLst>
              <a:path w="85725" h="323214">
                <a:moveTo>
                  <a:pt x="57150" y="71373"/>
                </a:moveTo>
                <a:lnTo>
                  <a:pt x="28575" y="71373"/>
                </a:lnTo>
                <a:lnTo>
                  <a:pt x="28575" y="323087"/>
                </a:lnTo>
                <a:lnTo>
                  <a:pt x="57150" y="323087"/>
                </a:lnTo>
                <a:lnTo>
                  <a:pt x="57150" y="71373"/>
                </a:lnTo>
                <a:close/>
              </a:path>
              <a:path w="85725" h="323214">
                <a:moveTo>
                  <a:pt x="42925" y="0"/>
                </a:moveTo>
                <a:lnTo>
                  <a:pt x="0" y="85724"/>
                </a:lnTo>
                <a:lnTo>
                  <a:pt x="28575" y="85724"/>
                </a:lnTo>
                <a:lnTo>
                  <a:pt x="28575" y="71373"/>
                </a:lnTo>
                <a:lnTo>
                  <a:pt x="78560" y="71373"/>
                </a:lnTo>
                <a:lnTo>
                  <a:pt x="42925" y="0"/>
                </a:lnTo>
                <a:close/>
              </a:path>
              <a:path w="85725" h="323214">
                <a:moveTo>
                  <a:pt x="78560" y="71373"/>
                </a:moveTo>
                <a:lnTo>
                  <a:pt x="57150" y="71373"/>
                </a:lnTo>
                <a:lnTo>
                  <a:pt x="57150" y="85724"/>
                </a:lnTo>
                <a:lnTo>
                  <a:pt x="85725" y="85724"/>
                </a:lnTo>
                <a:lnTo>
                  <a:pt x="78560" y="71373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1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8012048" y="1105280"/>
            <a:ext cx="2157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9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l’héritage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5016500" cy="13061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l’héritage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d’héritage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Surcharge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constructeurs</a:t>
            </a:r>
            <a:r>
              <a:rPr sz="16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chaînage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Visibilité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attributs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méthodes</a:t>
            </a:r>
            <a:r>
              <a:rPr sz="1600" b="1" spc="-7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la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fille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01</a:t>
            </a:r>
            <a:r>
              <a:rPr spc="-4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l’héritage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FF7800"/>
                </a:solidFill>
              </a:rPr>
              <a:t>Visibilité</a:t>
            </a:r>
            <a:r>
              <a:rPr sz="1600" spc="-3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des</a:t>
            </a:r>
            <a:r>
              <a:rPr sz="1600" spc="-30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attributs et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des</a:t>
            </a:r>
            <a:r>
              <a:rPr sz="1600" spc="-30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méthodes</a:t>
            </a:r>
            <a:r>
              <a:rPr sz="1600" spc="-7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</a:t>
            </a:r>
            <a:r>
              <a:rPr sz="1600" spc="-2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la</a:t>
            </a:r>
            <a:r>
              <a:rPr sz="1600" spc="-1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classe</a:t>
            </a:r>
            <a:r>
              <a:rPr sz="1600" spc="-30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fille</a:t>
            </a:r>
            <a:endParaRPr sz="1600"/>
          </a:p>
        </p:txBody>
      </p:sp>
      <p:grpSp>
        <p:nvGrpSpPr>
          <p:cNvPr id="10" name="object 10"/>
          <p:cNvGrpSpPr/>
          <p:nvPr/>
        </p:nvGrpSpPr>
        <p:grpSpPr>
          <a:xfrm>
            <a:off x="840676" y="4059364"/>
            <a:ext cx="587375" cy="1576705"/>
            <a:chOff x="840676" y="4059364"/>
            <a:chExt cx="587375" cy="1576705"/>
          </a:xfrm>
        </p:grpSpPr>
        <p:sp>
          <p:nvSpPr>
            <p:cNvPr id="11" name="object 11"/>
            <p:cNvSpPr/>
            <p:nvPr/>
          </p:nvSpPr>
          <p:spPr>
            <a:xfrm>
              <a:off x="852868" y="4067556"/>
              <a:ext cx="575310" cy="1568450"/>
            </a:xfrm>
            <a:custGeom>
              <a:avLst/>
              <a:gdLst/>
              <a:ahLst/>
              <a:cxnLst/>
              <a:rect l="l" t="t" r="r" b="b"/>
              <a:pathLst>
                <a:path w="575310" h="1568450">
                  <a:moveTo>
                    <a:pt x="483171" y="1483614"/>
                  </a:moveTo>
                  <a:lnTo>
                    <a:pt x="497395" y="1568145"/>
                  </a:lnTo>
                  <a:lnTo>
                    <a:pt x="538960" y="1537850"/>
                  </a:lnTo>
                  <a:lnTo>
                    <a:pt x="504380" y="1537850"/>
                  </a:lnTo>
                  <a:lnTo>
                    <a:pt x="504253" y="1509346"/>
                  </a:lnTo>
                  <a:lnTo>
                    <a:pt x="567237" y="1509346"/>
                  </a:lnTo>
                  <a:lnTo>
                    <a:pt x="483171" y="1483614"/>
                  </a:lnTo>
                  <a:close/>
                </a:path>
                <a:path w="575310" h="1568450">
                  <a:moveTo>
                    <a:pt x="14351" y="1511681"/>
                  </a:moveTo>
                  <a:lnTo>
                    <a:pt x="0" y="1511681"/>
                  </a:lnTo>
                  <a:lnTo>
                    <a:pt x="0" y="1540230"/>
                  </a:lnTo>
                  <a:lnTo>
                    <a:pt x="492297" y="1537850"/>
                  </a:lnTo>
                  <a:lnTo>
                    <a:pt x="490281" y="1525866"/>
                  </a:lnTo>
                  <a:lnTo>
                    <a:pt x="28575" y="1525866"/>
                  </a:lnTo>
                  <a:lnTo>
                    <a:pt x="14351" y="1511681"/>
                  </a:lnTo>
                  <a:close/>
                </a:path>
                <a:path w="575310" h="1568450">
                  <a:moveTo>
                    <a:pt x="574865" y="1511681"/>
                  </a:moveTo>
                  <a:lnTo>
                    <a:pt x="504264" y="1511681"/>
                  </a:lnTo>
                  <a:lnTo>
                    <a:pt x="504380" y="1537850"/>
                  </a:lnTo>
                  <a:lnTo>
                    <a:pt x="538960" y="1537850"/>
                  </a:lnTo>
                  <a:lnTo>
                    <a:pt x="574865" y="1511681"/>
                  </a:lnTo>
                  <a:close/>
                </a:path>
                <a:path w="575310" h="1568450">
                  <a:moveTo>
                    <a:pt x="28575" y="0"/>
                  </a:moveTo>
                  <a:lnTo>
                    <a:pt x="0" y="0"/>
                  </a:lnTo>
                  <a:lnTo>
                    <a:pt x="0" y="1511554"/>
                  </a:lnTo>
                  <a:lnTo>
                    <a:pt x="14224" y="1511554"/>
                  </a:lnTo>
                  <a:lnTo>
                    <a:pt x="28575" y="1525866"/>
                  </a:lnTo>
                  <a:lnTo>
                    <a:pt x="28575" y="0"/>
                  </a:lnTo>
                  <a:close/>
                </a:path>
                <a:path w="575310" h="1568450">
                  <a:moveTo>
                    <a:pt x="487894" y="1511681"/>
                  </a:moveTo>
                  <a:lnTo>
                    <a:pt x="28575" y="1511681"/>
                  </a:lnTo>
                  <a:lnTo>
                    <a:pt x="28575" y="1525866"/>
                  </a:lnTo>
                  <a:lnTo>
                    <a:pt x="490281" y="1525866"/>
                  </a:lnTo>
                  <a:lnTo>
                    <a:pt x="487894" y="1511681"/>
                  </a:lnTo>
                  <a:close/>
                </a:path>
                <a:path w="575310" h="1568450">
                  <a:moveTo>
                    <a:pt x="487501" y="1509346"/>
                  </a:moveTo>
                  <a:lnTo>
                    <a:pt x="14224" y="1511554"/>
                  </a:lnTo>
                  <a:lnTo>
                    <a:pt x="487872" y="1511554"/>
                  </a:lnTo>
                  <a:lnTo>
                    <a:pt x="487501" y="1509346"/>
                  </a:lnTo>
                  <a:close/>
                </a:path>
                <a:path w="575310" h="1568450">
                  <a:moveTo>
                    <a:pt x="567237" y="1509346"/>
                  </a:moveTo>
                  <a:lnTo>
                    <a:pt x="504253" y="1509346"/>
                  </a:lnTo>
                  <a:lnTo>
                    <a:pt x="504263" y="1511554"/>
                  </a:lnTo>
                  <a:lnTo>
                    <a:pt x="574450" y="1511554"/>
                  </a:lnTo>
                  <a:lnTo>
                    <a:pt x="567237" y="1509346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4963" y="4073652"/>
              <a:ext cx="483234" cy="0"/>
            </a:xfrm>
            <a:custGeom>
              <a:avLst/>
              <a:gdLst/>
              <a:ahLst/>
              <a:cxnLst/>
              <a:rect l="l" t="t" r="r" b="b"/>
              <a:pathLst>
                <a:path w="483234">
                  <a:moveTo>
                    <a:pt x="0" y="0"/>
                  </a:moveTo>
                  <a:lnTo>
                    <a:pt x="482854" y="0"/>
                  </a:lnTo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04314" y="5405729"/>
            <a:ext cx="154432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Corps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8982" y="1476758"/>
            <a:ext cx="9264650" cy="312229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Visibilité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membres</a:t>
            </a:r>
            <a:r>
              <a:rPr sz="1600" b="1" spc="-6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héritage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membres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(attributs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b="1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méthodes)</a:t>
            </a:r>
            <a:r>
              <a:rPr sz="140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hérités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déclarés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privés</a:t>
            </a:r>
            <a:r>
              <a:rPr sz="1400" b="1" spc="3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mère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fille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n'a</a:t>
            </a:r>
            <a:r>
              <a:rPr sz="1400" b="1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droit</a:t>
            </a:r>
            <a:r>
              <a:rPr sz="1400" b="1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directement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malgré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qu'ils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fassent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description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580"/>
              </a:lnSpc>
              <a:spcBef>
                <a:spcPts val="6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b="1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b="1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membres</a:t>
            </a:r>
            <a:r>
              <a:rPr sz="1400" b="1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(attributs</a:t>
            </a:r>
            <a:r>
              <a:rPr sz="1400" b="1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b="1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méthodes)</a:t>
            </a:r>
            <a:r>
              <a:rPr sz="1400" b="1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déclarés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protégés</a:t>
            </a:r>
            <a:r>
              <a:rPr sz="1400" b="1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mère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fille</a:t>
            </a:r>
            <a:r>
              <a:rPr sz="1400" b="1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b="1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droit</a:t>
            </a:r>
            <a:r>
              <a:rPr sz="1400" b="1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les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directement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56845">
              <a:lnSpc>
                <a:spcPct val="100000"/>
              </a:lnSpc>
              <a:spcBef>
                <a:spcPts val="1215"/>
              </a:spcBef>
            </a:pPr>
            <a:r>
              <a:rPr sz="1400" b="1" spc="-10" dirty="0">
                <a:solidFill>
                  <a:srgbClr val="0058A0"/>
                </a:solidFill>
                <a:latin typeface="Calibri"/>
                <a:cs typeface="Calibri"/>
              </a:rPr>
              <a:t>meth1Etudiant()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Calibri"/>
              <a:cs typeface="Calibri"/>
            </a:endParaRPr>
          </a:p>
          <a:p>
            <a:pPr marL="640080" marR="3732529">
              <a:lnSpc>
                <a:spcPct val="100000"/>
              </a:lnSpc>
            </a:pP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Nom=‘’X’’</a:t>
            </a:r>
            <a:r>
              <a:rPr sz="1400" dirty="0">
                <a:solidFill>
                  <a:srgbClr val="FF7800"/>
                </a:solidFill>
                <a:latin typeface="Wingdings"/>
                <a:cs typeface="Wingdings"/>
              </a:rPr>
              <a:t></a:t>
            </a:r>
            <a:r>
              <a:rPr sz="1400" spc="-25" dirty="0">
                <a:solidFill>
                  <a:srgbClr val="FF78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incorrect</a:t>
            </a:r>
            <a:r>
              <a:rPr sz="14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car</a:t>
            </a:r>
            <a:r>
              <a:rPr sz="14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Nom</a:t>
            </a:r>
            <a:r>
              <a:rPr sz="14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est</a:t>
            </a:r>
            <a:r>
              <a:rPr sz="14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un</a:t>
            </a:r>
            <a:r>
              <a:rPr sz="14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attribut</a:t>
            </a:r>
            <a:r>
              <a:rPr sz="14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privé</a:t>
            </a:r>
            <a:r>
              <a:rPr sz="14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4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Personne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CIN=12365</a:t>
            </a:r>
            <a:r>
              <a:rPr sz="1400" spc="-1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20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Correct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car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CIN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déclaré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protégé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Personne meth1Personne()</a:t>
            </a:r>
            <a:r>
              <a:rPr sz="1400" spc="-1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incorrect</a:t>
            </a:r>
            <a:r>
              <a:rPr sz="1400" b="1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car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privée meth2Personne()</a:t>
            </a:r>
            <a:r>
              <a:rPr sz="1400" spc="-1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-10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correct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car</a:t>
            </a:r>
            <a:r>
              <a:rPr sz="1400" b="1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protégée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482268" y="3181540"/>
          <a:ext cx="2642870" cy="1550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2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Personne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3810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205">
                <a:tc>
                  <a:txBody>
                    <a:bodyPr/>
                    <a:lstStyle/>
                    <a:p>
                      <a:pPr marL="91440" marR="13271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(-</a:t>
                      </a:r>
                      <a:r>
                        <a:rPr sz="1400" spc="-4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)Nom: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chaine </a:t>
                      </a: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(#)</a:t>
                      </a:r>
                      <a:r>
                        <a:rPr sz="14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CIN</a:t>
                      </a:r>
                      <a:r>
                        <a:rPr sz="1400" spc="-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 dateNaiss:</a:t>
                      </a: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38100">
                      <a:solidFill>
                        <a:srgbClr val="0058A0"/>
                      </a:solidFill>
                      <a:prstDash val="solid"/>
                    </a:lnT>
                    <a:lnB w="3810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(-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) </a:t>
                      </a:r>
                      <a:r>
                        <a:rPr sz="1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meth1Personne()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(#)</a:t>
                      </a:r>
                      <a:r>
                        <a:rPr sz="1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meth2Personne()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38100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482268" y="5208460"/>
          <a:ext cx="2642870" cy="901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2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Etudiant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3810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Note1,</a:t>
                      </a:r>
                      <a:r>
                        <a:rPr sz="1400" spc="-6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note2:</a:t>
                      </a:r>
                      <a:r>
                        <a:rPr sz="1400" spc="-6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réel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38100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meth1Etudiant()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8768968" y="4756403"/>
            <a:ext cx="85725" cy="467359"/>
          </a:xfrm>
          <a:custGeom>
            <a:avLst/>
            <a:gdLst/>
            <a:ahLst/>
            <a:cxnLst/>
            <a:rect l="l" t="t" r="r" b="b"/>
            <a:pathLst>
              <a:path w="85725" h="467360">
                <a:moveTo>
                  <a:pt x="57153" y="85470"/>
                </a:moveTo>
                <a:lnTo>
                  <a:pt x="28578" y="85978"/>
                </a:lnTo>
                <a:lnTo>
                  <a:pt x="35423" y="466725"/>
                </a:lnTo>
                <a:lnTo>
                  <a:pt x="35432" y="467233"/>
                </a:lnTo>
                <a:lnTo>
                  <a:pt x="64007" y="466725"/>
                </a:lnTo>
                <a:lnTo>
                  <a:pt x="57172" y="86487"/>
                </a:lnTo>
                <a:lnTo>
                  <a:pt x="57153" y="85470"/>
                </a:lnTo>
                <a:close/>
              </a:path>
              <a:path w="85725" h="467360">
                <a:moveTo>
                  <a:pt x="41275" y="0"/>
                </a:moveTo>
                <a:lnTo>
                  <a:pt x="0" y="86487"/>
                </a:lnTo>
                <a:lnTo>
                  <a:pt x="28578" y="85978"/>
                </a:lnTo>
                <a:lnTo>
                  <a:pt x="28321" y="71628"/>
                </a:lnTo>
                <a:lnTo>
                  <a:pt x="56896" y="71120"/>
                </a:lnTo>
                <a:lnTo>
                  <a:pt x="78482" y="71120"/>
                </a:lnTo>
                <a:lnTo>
                  <a:pt x="41275" y="0"/>
                </a:lnTo>
                <a:close/>
              </a:path>
              <a:path w="85725" h="467360">
                <a:moveTo>
                  <a:pt x="56896" y="71120"/>
                </a:moveTo>
                <a:lnTo>
                  <a:pt x="28321" y="71628"/>
                </a:lnTo>
                <a:lnTo>
                  <a:pt x="28560" y="84963"/>
                </a:lnTo>
                <a:lnTo>
                  <a:pt x="28578" y="85978"/>
                </a:lnTo>
                <a:lnTo>
                  <a:pt x="57153" y="85470"/>
                </a:lnTo>
                <a:lnTo>
                  <a:pt x="56905" y="71628"/>
                </a:lnTo>
                <a:lnTo>
                  <a:pt x="56896" y="71120"/>
                </a:lnTo>
                <a:close/>
              </a:path>
              <a:path w="85725" h="467360">
                <a:moveTo>
                  <a:pt x="78482" y="71120"/>
                </a:moveTo>
                <a:lnTo>
                  <a:pt x="56896" y="71120"/>
                </a:lnTo>
                <a:lnTo>
                  <a:pt x="57144" y="84963"/>
                </a:lnTo>
                <a:lnTo>
                  <a:pt x="57153" y="85470"/>
                </a:lnTo>
                <a:lnTo>
                  <a:pt x="85725" y="84963"/>
                </a:lnTo>
                <a:lnTo>
                  <a:pt x="78482" y="71120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73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0479" y="2358897"/>
            <a:ext cx="4389755" cy="113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que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apprendre</a:t>
            </a:r>
            <a:r>
              <a:rPr sz="18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chapitre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Comprendre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polymorphisme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Savoir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redéfinir et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surcharger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7" name="object 7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/>
          </a:p>
        </p:txBody>
      </p:sp>
      <p:sp>
        <p:nvSpPr>
          <p:cNvPr id="10" name="object 10"/>
          <p:cNvSpPr txBox="1"/>
          <p:nvPr/>
        </p:nvSpPr>
        <p:spPr>
          <a:xfrm>
            <a:off x="7466456" y="1105280"/>
            <a:ext cx="3244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7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</a:t>
            </a:r>
            <a:r>
              <a:rPr sz="24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polymorphisme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96325" y="6263436"/>
            <a:ext cx="1264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466456" y="1105280"/>
            <a:ext cx="3244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7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</a:t>
            </a:r>
            <a:r>
              <a:rPr sz="24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polymorphisme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70256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Principe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du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polymorphisme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Redéfinition</a:t>
            </a:r>
            <a:r>
              <a:rPr sz="16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Surcharge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02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1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le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polymorphisme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FF7800"/>
                </a:solidFill>
              </a:rPr>
              <a:t>Principe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du</a:t>
            </a:r>
            <a:r>
              <a:rPr sz="1600" spc="-15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polymorphisme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5445296"/>
            <a:ext cx="5362575" cy="58737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  <a:tabLst>
                <a:tab pos="299085" algn="l"/>
              </a:tabLst>
            </a:pPr>
            <a:r>
              <a:rPr sz="1400" spc="-50" dirty="0">
                <a:solidFill>
                  <a:srgbClr val="555555"/>
                </a:solidFill>
                <a:latin typeface="Arial MT"/>
                <a:cs typeface="Arial MT"/>
              </a:rPr>
              <a:t>•</a:t>
            </a:r>
            <a:r>
              <a:rPr sz="1400" dirty="0">
                <a:solidFill>
                  <a:srgbClr val="555555"/>
                </a:solidFill>
                <a:latin typeface="Arial MT"/>
                <a:cs typeface="Arial MT"/>
              </a:rPr>
              <a:t>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-50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autorisé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 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générique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 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</a:t>
            </a: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-55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autorisé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spécifique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1476758"/>
            <a:ext cx="10048240" cy="1478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Principe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polymorphisme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polymorphisme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désigne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concept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théorie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types,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selon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lequel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d'objet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désigner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instances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différentes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issues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arborescence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instance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 «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vue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»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instance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(Pas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l’inverse!!)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1304" y="3036188"/>
            <a:ext cx="6991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Variables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53761" y="3002025"/>
            <a:ext cx="29527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5935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Références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50220" y="3019996"/>
            <a:ext cx="4064000" cy="2362835"/>
            <a:chOff x="4050220" y="3019996"/>
            <a:chExt cx="4064000" cy="236283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1296" y="3273551"/>
              <a:ext cx="792479" cy="7955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4928" y="4553711"/>
              <a:ext cx="597407" cy="8290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064508" y="3034283"/>
              <a:ext cx="2627630" cy="2218690"/>
            </a:xfrm>
            <a:custGeom>
              <a:avLst/>
              <a:gdLst/>
              <a:ahLst/>
              <a:cxnLst/>
              <a:rect l="l" t="t" r="r" b="b"/>
              <a:pathLst>
                <a:path w="2627629" h="2218690">
                  <a:moveTo>
                    <a:pt x="0" y="0"/>
                  </a:moveTo>
                  <a:lnTo>
                    <a:pt x="0" y="2218309"/>
                  </a:lnTo>
                </a:path>
                <a:path w="2627629" h="2218690">
                  <a:moveTo>
                    <a:pt x="2627375" y="0"/>
                  </a:moveTo>
                  <a:lnTo>
                    <a:pt x="2627375" y="2218309"/>
                  </a:lnTo>
                </a:path>
              </a:pathLst>
            </a:custGeom>
            <a:ln w="28575">
              <a:solidFill>
                <a:srgbClr val="FF780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344549" y="3559301"/>
            <a:ext cx="11347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53689" y="3559301"/>
            <a:ext cx="1187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44549" y="4898516"/>
            <a:ext cx="10674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89682" y="4898516"/>
            <a:ext cx="11366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73752" y="3532632"/>
            <a:ext cx="1186180" cy="372110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56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0x304021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19471" y="4782311"/>
            <a:ext cx="1186180" cy="372110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55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0x304055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46215" y="3663060"/>
            <a:ext cx="1344930" cy="1360805"/>
            <a:chOff x="6046215" y="3663060"/>
            <a:chExt cx="1344930" cy="1360805"/>
          </a:xfrm>
        </p:grpSpPr>
        <p:sp>
          <p:nvSpPr>
            <p:cNvPr id="25" name="object 25"/>
            <p:cNvSpPr/>
            <p:nvPr/>
          </p:nvSpPr>
          <p:spPr>
            <a:xfrm>
              <a:off x="6060948" y="3663060"/>
              <a:ext cx="1330325" cy="1360805"/>
            </a:xfrm>
            <a:custGeom>
              <a:avLst/>
              <a:gdLst/>
              <a:ahLst/>
              <a:cxnLst/>
              <a:rect l="l" t="t" r="r" b="b"/>
              <a:pathLst>
                <a:path w="1330325" h="1360804">
                  <a:moveTo>
                    <a:pt x="1284224" y="57023"/>
                  </a:moveTo>
                  <a:lnTo>
                    <a:pt x="1246060" y="37998"/>
                  </a:lnTo>
                  <a:lnTo>
                    <a:pt x="1169924" y="0"/>
                  </a:lnTo>
                  <a:lnTo>
                    <a:pt x="1169924" y="37998"/>
                  </a:lnTo>
                  <a:lnTo>
                    <a:pt x="0" y="38862"/>
                  </a:lnTo>
                  <a:lnTo>
                    <a:pt x="0" y="76962"/>
                  </a:lnTo>
                  <a:lnTo>
                    <a:pt x="1169924" y="76098"/>
                  </a:lnTo>
                  <a:lnTo>
                    <a:pt x="1169924" y="114300"/>
                  </a:lnTo>
                  <a:lnTo>
                    <a:pt x="1246174" y="76098"/>
                  </a:lnTo>
                  <a:lnTo>
                    <a:pt x="1284224" y="57023"/>
                  </a:lnTo>
                  <a:close/>
                </a:path>
                <a:path w="1330325" h="1360804">
                  <a:moveTo>
                    <a:pt x="1329944" y="1303655"/>
                  </a:moveTo>
                  <a:lnTo>
                    <a:pt x="1291844" y="1284605"/>
                  </a:lnTo>
                  <a:lnTo>
                    <a:pt x="1215644" y="1246505"/>
                  </a:lnTo>
                  <a:lnTo>
                    <a:pt x="1215644" y="1284605"/>
                  </a:lnTo>
                  <a:lnTo>
                    <a:pt x="45720" y="1284605"/>
                  </a:lnTo>
                  <a:lnTo>
                    <a:pt x="45720" y="1322705"/>
                  </a:lnTo>
                  <a:lnTo>
                    <a:pt x="1215644" y="1322705"/>
                  </a:lnTo>
                  <a:lnTo>
                    <a:pt x="1215644" y="1360805"/>
                  </a:lnTo>
                  <a:lnTo>
                    <a:pt x="1291844" y="1322705"/>
                  </a:lnTo>
                  <a:lnTo>
                    <a:pt x="1329944" y="130365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46215" y="3702684"/>
              <a:ext cx="1297940" cy="1078865"/>
            </a:xfrm>
            <a:custGeom>
              <a:avLst/>
              <a:gdLst/>
              <a:ahLst/>
              <a:cxnLst/>
              <a:rect l="l" t="t" r="r" b="b"/>
              <a:pathLst>
                <a:path w="1297940" h="1078864">
                  <a:moveTo>
                    <a:pt x="1188930" y="1015653"/>
                  </a:moveTo>
                  <a:lnTo>
                    <a:pt x="1162558" y="1047495"/>
                  </a:lnTo>
                  <a:lnTo>
                    <a:pt x="1297432" y="1078738"/>
                  </a:lnTo>
                  <a:lnTo>
                    <a:pt x="1275405" y="1028826"/>
                  </a:lnTo>
                  <a:lnTo>
                    <a:pt x="1204849" y="1028826"/>
                  </a:lnTo>
                  <a:lnTo>
                    <a:pt x="1188930" y="1015653"/>
                  </a:lnTo>
                  <a:close/>
                </a:path>
                <a:path w="1297940" h="1078864">
                  <a:moveTo>
                    <a:pt x="1215224" y="983906"/>
                  </a:moveTo>
                  <a:lnTo>
                    <a:pt x="1188930" y="1015653"/>
                  </a:lnTo>
                  <a:lnTo>
                    <a:pt x="1204849" y="1028826"/>
                  </a:lnTo>
                  <a:lnTo>
                    <a:pt x="1231138" y="997076"/>
                  </a:lnTo>
                  <a:lnTo>
                    <a:pt x="1215224" y="983906"/>
                  </a:lnTo>
                  <a:close/>
                </a:path>
                <a:path w="1297940" h="1078864">
                  <a:moveTo>
                    <a:pt x="1241552" y="952119"/>
                  </a:moveTo>
                  <a:lnTo>
                    <a:pt x="1215224" y="983906"/>
                  </a:lnTo>
                  <a:lnTo>
                    <a:pt x="1231138" y="997076"/>
                  </a:lnTo>
                  <a:lnTo>
                    <a:pt x="1204849" y="1028826"/>
                  </a:lnTo>
                  <a:lnTo>
                    <a:pt x="1275405" y="1028826"/>
                  </a:lnTo>
                  <a:lnTo>
                    <a:pt x="1241552" y="952119"/>
                  </a:lnTo>
                  <a:close/>
                </a:path>
                <a:path w="1297940" h="1078864">
                  <a:moveTo>
                    <a:pt x="26416" y="0"/>
                  </a:moveTo>
                  <a:lnTo>
                    <a:pt x="0" y="31750"/>
                  </a:lnTo>
                  <a:lnTo>
                    <a:pt x="1188930" y="1015653"/>
                  </a:lnTo>
                  <a:lnTo>
                    <a:pt x="1215224" y="983906"/>
                  </a:lnTo>
                  <a:lnTo>
                    <a:pt x="2641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94222" y="3902963"/>
              <a:ext cx="1251585" cy="1079500"/>
            </a:xfrm>
            <a:custGeom>
              <a:avLst/>
              <a:gdLst/>
              <a:ahLst/>
              <a:cxnLst/>
              <a:rect l="l" t="t" r="r" b="b"/>
              <a:pathLst>
                <a:path w="1251584" h="1079500">
                  <a:moveTo>
                    <a:pt x="1251585" y="0"/>
                  </a:moveTo>
                  <a:lnTo>
                    <a:pt x="1127633" y="31115"/>
                  </a:lnTo>
                  <a:lnTo>
                    <a:pt x="1152436" y="60032"/>
                  </a:lnTo>
                  <a:lnTo>
                    <a:pt x="567829" y="562241"/>
                  </a:lnTo>
                  <a:lnTo>
                    <a:pt x="526402" y="526796"/>
                  </a:lnTo>
                  <a:lnTo>
                    <a:pt x="462026" y="602234"/>
                  </a:lnTo>
                  <a:lnTo>
                    <a:pt x="397637" y="526796"/>
                  </a:lnTo>
                  <a:lnTo>
                    <a:pt x="330073" y="584581"/>
                  </a:lnTo>
                  <a:lnTo>
                    <a:pt x="403606" y="670560"/>
                  </a:lnTo>
                  <a:lnTo>
                    <a:pt x="330073" y="756539"/>
                  </a:lnTo>
                  <a:lnTo>
                    <a:pt x="335864" y="761504"/>
                  </a:lnTo>
                  <a:lnTo>
                    <a:pt x="0" y="1050036"/>
                  </a:lnTo>
                  <a:lnTo>
                    <a:pt x="24892" y="1078992"/>
                  </a:lnTo>
                  <a:lnTo>
                    <a:pt x="365239" y="786625"/>
                  </a:lnTo>
                  <a:lnTo>
                    <a:pt x="397637" y="814324"/>
                  </a:lnTo>
                  <a:lnTo>
                    <a:pt x="462026" y="738886"/>
                  </a:lnTo>
                  <a:lnTo>
                    <a:pt x="526402" y="814324"/>
                  </a:lnTo>
                  <a:lnTo>
                    <a:pt x="593979" y="756539"/>
                  </a:lnTo>
                  <a:lnTo>
                    <a:pt x="520446" y="670560"/>
                  </a:lnTo>
                  <a:lnTo>
                    <a:pt x="576122" y="605459"/>
                  </a:lnTo>
                  <a:lnTo>
                    <a:pt x="1177302" y="89014"/>
                  </a:lnTo>
                  <a:lnTo>
                    <a:pt x="1202055" y="117856"/>
                  </a:lnTo>
                  <a:lnTo>
                    <a:pt x="1231569" y="47625"/>
                  </a:lnTo>
                  <a:lnTo>
                    <a:pt x="125158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24294" y="4429759"/>
              <a:ext cx="264160" cy="287655"/>
            </a:xfrm>
            <a:custGeom>
              <a:avLst/>
              <a:gdLst/>
              <a:ahLst/>
              <a:cxnLst/>
              <a:rect l="l" t="t" r="r" b="b"/>
              <a:pathLst>
                <a:path w="264159" h="287654">
                  <a:moveTo>
                    <a:pt x="0" y="57784"/>
                  </a:moveTo>
                  <a:lnTo>
                    <a:pt x="67563" y="0"/>
                  </a:lnTo>
                  <a:lnTo>
                    <a:pt x="131952" y="75437"/>
                  </a:lnTo>
                  <a:lnTo>
                    <a:pt x="196341" y="0"/>
                  </a:lnTo>
                  <a:lnTo>
                    <a:pt x="263905" y="57784"/>
                  </a:lnTo>
                  <a:lnTo>
                    <a:pt x="190373" y="143763"/>
                  </a:lnTo>
                  <a:lnTo>
                    <a:pt x="263905" y="229742"/>
                  </a:lnTo>
                  <a:lnTo>
                    <a:pt x="196341" y="287527"/>
                  </a:lnTo>
                  <a:lnTo>
                    <a:pt x="131952" y="212089"/>
                  </a:lnTo>
                  <a:lnTo>
                    <a:pt x="67563" y="287527"/>
                  </a:lnTo>
                  <a:lnTo>
                    <a:pt x="0" y="229742"/>
                  </a:lnTo>
                  <a:lnTo>
                    <a:pt x="73532" y="143763"/>
                  </a:lnTo>
                  <a:lnTo>
                    <a:pt x="0" y="5778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506969" y="3977132"/>
            <a:ext cx="17945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  <p:sp>
        <p:nvSpPr>
          <p:cNvPr id="30" name="object 30"/>
          <p:cNvSpPr txBox="1"/>
          <p:nvPr/>
        </p:nvSpPr>
        <p:spPr>
          <a:xfrm>
            <a:off x="7423150" y="5387797"/>
            <a:ext cx="172720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02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1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le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polymorphisme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FF7800"/>
                </a:solidFill>
              </a:rPr>
              <a:t>Principe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polymorphisme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955673"/>
            <a:ext cx="91986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type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variable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utilisé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par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le</a:t>
            </a: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compilateur</a:t>
            </a:r>
            <a:r>
              <a:rPr sz="1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pour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 déterminer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si</a:t>
            </a:r>
            <a:r>
              <a:rPr sz="1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accède</a:t>
            </a:r>
            <a:r>
              <a:rPr sz="1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1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membre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(attribut</a:t>
            </a:r>
            <a:r>
              <a:rPr sz="14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ou</a:t>
            </a:r>
            <a:r>
              <a:rPr sz="1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méthode)</a:t>
            </a:r>
            <a:r>
              <a:rPr sz="1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valide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3590" y="2711323"/>
            <a:ext cx="6991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Variables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56046" y="2677160"/>
            <a:ext cx="8274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Références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03209" y="2677160"/>
            <a:ext cx="50545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64614" y="3362325"/>
            <a:ext cx="480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2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03067" y="3362325"/>
            <a:ext cx="176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55555"/>
                </a:solidFill>
                <a:latin typeface="Calibri"/>
                <a:cs typeface="Calibri"/>
              </a:rPr>
              <a:t>a1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92300" y="4181678"/>
            <a:ext cx="47370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2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555555"/>
                </a:solidFill>
                <a:latin typeface="Calibri"/>
                <a:cs typeface="Calibri"/>
              </a:rPr>
              <a:t>B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88082" y="4181678"/>
            <a:ext cx="1816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55555"/>
                </a:solidFill>
                <a:latin typeface="Calibri"/>
                <a:cs typeface="Calibri"/>
              </a:rPr>
              <a:t>b1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82667" y="2839211"/>
            <a:ext cx="2627630" cy="2530475"/>
          </a:xfrm>
          <a:custGeom>
            <a:avLst/>
            <a:gdLst/>
            <a:ahLst/>
            <a:cxnLst/>
            <a:rect l="l" t="t" r="r" b="b"/>
            <a:pathLst>
              <a:path w="2627629" h="2530475">
                <a:moveTo>
                  <a:pt x="0" y="0"/>
                </a:moveTo>
                <a:lnTo>
                  <a:pt x="0" y="2530348"/>
                </a:lnTo>
              </a:path>
              <a:path w="2627629" h="2530475">
                <a:moveTo>
                  <a:pt x="2627376" y="0"/>
                </a:moveTo>
                <a:lnTo>
                  <a:pt x="2627376" y="2530348"/>
                </a:lnTo>
              </a:path>
            </a:pathLst>
          </a:custGeom>
          <a:ln w="28575">
            <a:solidFill>
              <a:srgbClr val="FF780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394959" y="3337559"/>
            <a:ext cx="1186180" cy="368935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675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0x304021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65064" y="4093464"/>
            <a:ext cx="1188720" cy="368935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670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0x304055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582156" y="3255264"/>
            <a:ext cx="2095500" cy="1405255"/>
            <a:chOff x="6582156" y="3255264"/>
            <a:chExt cx="2095500" cy="1405255"/>
          </a:xfrm>
        </p:grpSpPr>
        <p:sp>
          <p:nvSpPr>
            <p:cNvPr id="22" name="object 22"/>
            <p:cNvSpPr/>
            <p:nvPr/>
          </p:nvSpPr>
          <p:spPr>
            <a:xfrm>
              <a:off x="6582156" y="3464940"/>
              <a:ext cx="1357630" cy="870585"/>
            </a:xfrm>
            <a:custGeom>
              <a:avLst/>
              <a:gdLst/>
              <a:ahLst/>
              <a:cxnLst/>
              <a:rect l="l" t="t" r="r" b="b"/>
              <a:pathLst>
                <a:path w="1357629" h="870585">
                  <a:moveTo>
                    <a:pt x="1284224" y="57023"/>
                  </a:moveTo>
                  <a:lnTo>
                    <a:pt x="1246060" y="37998"/>
                  </a:lnTo>
                  <a:lnTo>
                    <a:pt x="1169924" y="0"/>
                  </a:lnTo>
                  <a:lnTo>
                    <a:pt x="1169924" y="37998"/>
                  </a:lnTo>
                  <a:lnTo>
                    <a:pt x="0" y="38862"/>
                  </a:lnTo>
                  <a:lnTo>
                    <a:pt x="0" y="76962"/>
                  </a:lnTo>
                  <a:lnTo>
                    <a:pt x="1169924" y="76098"/>
                  </a:lnTo>
                  <a:lnTo>
                    <a:pt x="1169924" y="114300"/>
                  </a:lnTo>
                  <a:lnTo>
                    <a:pt x="1246174" y="76098"/>
                  </a:lnTo>
                  <a:lnTo>
                    <a:pt x="1284224" y="57023"/>
                  </a:lnTo>
                  <a:close/>
                </a:path>
                <a:path w="1357629" h="870585">
                  <a:moveTo>
                    <a:pt x="1357376" y="812927"/>
                  </a:moveTo>
                  <a:lnTo>
                    <a:pt x="1319276" y="793877"/>
                  </a:lnTo>
                  <a:lnTo>
                    <a:pt x="1243076" y="755777"/>
                  </a:lnTo>
                  <a:lnTo>
                    <a:pt x="1243076" y="793877"/>
                  </a:lnTo>
                  <a:lnTo>
                    <a:pt x="73139" y="793877"/>
                  </a:lnTo>
                  <a:lnTo>
                    <a:pt x="73139" y="831977"/>
                  </a:lnTo>
                  <a:lnTo>
                    <a:pt x="1243076" y="831977"/>
                  </a:lnTo>
                  <a:lnTo>
                    <a:pt x="1243076" y="870077"/>
                  </a:lnTo>
                  <a:lnTo>
                    <a:pt x="1319276" y="831977"/>
                  </a:lnTo>
                  <a:lnTo>
                    <a:pt x="1357376" y="812927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71104" y="3947160"/>
              <a:ext cx="606551" cy="7132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1688" y="3255264"/>
              <a:ext cx="505968" cy="56388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881632" y="5023561"/>
            <a:ext cx="4806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2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19832" y="5023561"/>
            <a:ext cx="1771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55555"/>
                </a:solidFill>
                <a:latin typeface="Calibri"/>
                <a:cs typeface="Calibri"/>
              </a:rPr>
              <a:t>a2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37632" y="5017008"/>
            <a:ext cx="1186180" cy="372110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680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0x304555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72780" y="3830764"/>
            <a:ext cx="8025765" cy="1768475"/>
            <a:chOff x="1672780" y="3830764"/>
            <a:chExt cx="8025765" cy="1768475"/>
          </a:xfrm>
        </p:grpSpPr>
        <p:sp>
          <p:nvSpPr>
            <p:cNvPr id="29" name="object 29"/>
            <p:cNvSpPr/>
            <p:nvPr/>
          </p:nvSpPr>
          <p:spPr>
            <a:xfrm>
              <a:off x="6655308" y="5186934"/>
              <a:ext cx="1284605" cy="114300"/>
            </a:xfrm>
            <a:custGeom>
              <a:avLst/>
              <a:gdLst/>
              <a:ahLst/>
              <a:cxnLst/>
              <a:rect l="l" t="t" r="r" b="b"/>
              <a:pathLst>
                <a:path w="1284604" h="114300">
                  <a:moveTo>
                    <a:pt x="1169924" y="0"/>
                  </a:moveTo>
                  <a:lnTo>
                    <a:pt x="1169924" y="114300"/>
                  </a:lnTo>
                  <a:lnTo>
                    <a:pt x="1246124" y="76200"/>
                  </a:lnTo>
                  <a:lnTo>
                    <a:pt x="1188974" y="76200"/>
                  </a:lnTo>
                  <a:lnTo>
                    <a:pt x="1188974" y="38100"/>
                  </a:lnTo>
                  <a:lnTo>
                    <a:pt x="1246124" y="38100"/>
                  </a:lnTo>
                  <a:lnTo>
                    <a:pt x="1169924" y="0"/>
                  </a:lnTo>
                  <a:close/>
                </a:path>
                <a:path w="1284604" h="114300">
                  <a:moveTo>
                    <a:pt x="116992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169924" y="76200"/>
                  </a:lnTo>
                  <a:lnTo>
                    <a:pt x="1169924" y="38100"/>
                  </a:lnTo>
                  <a:close/>
                </a:path>
                <a:path w="1284604" h="114300">
                  <a:moveTo>
                    <a:pt x="1246124" y="38100"/>
                  </a:moveTo>
                  <a:lnTo>
                    <a:pt x="1188974" y="38100"/>
                  </a:lnTo>
                  <a:lnTo>
                    <a:pt x="1188974" y="76200"/>
                  </a:lnTo>
                  <a:lnTo>
                    <a:pt x="1246124" y="76200"/>
                  </a:lnTo>
                  <a:lnTo>
                    <a:pt x="1284224" y="57150"/>
                  </a:lnTo>
                  <a:lnTo>
                    <a:pt x="1246124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87067" y="3845052"/>
              <a:ext cx="7997190" cy="942340"/>
            </a:xfrm>
            <a:custGeom>
              <a:avLst/>
              <a:gdLst/>
              <a:ahLst/>
              <a:cxnLst/>
              <a:rect l="l" t="t" r="r" b="b"/>
              <a:pathLst>
                <a:path w="7997190" h="942339">
                  <a:moveTo>
                    <a:pt x="0" y="0"/>
                  </a:moveTo>
                  <a:lnTo>
                    <a:pt x="7996808" y="0"/>
                  </a:lnTo>
                </a:path>
                <a:path w="7997190" h="942339">
                  <a:moveTo>
                    <a:pt x="0" y="941832"/>
                  </a:moveTo>
                  <a:lnTo>
                    <a:pt x="7996808" y="941832"/>
                  </a:lnTo>
                </a:path>
              </a:pathLst>
            </a:custGeom>
            <a:ln w="28575">
              <a:solidFill>
                <a:srgbClr val="0058A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71103" y="4885944"/>
              <a:ext cx="606551" cy="713232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0029443" y="3293364"/>
            <a:ext cx="1103630" cy="457200"/>
          </a:xfrm>
          <a:prstGeom prst="rect">
            <a:avLst/>
          </a:prstGeom>
          <a:ln w="38100">
            <a:solidFill>
              <a:srgbClr val="4471C4"/>
            </a:solidFill>
          </a:ln>
        </p:spPr>
        <p:txBody>
          <a:bodyPr vert="horz" wrap="square" lIns="0" tIns="12763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5"/>
              </a:spcBef>
            </a:pPr>
            <a:r>
              <a:rPr sz="1200" b="1" spc="-5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029443" y="3750564"/>
            <a:ext cx="1103630" cy="600710"/>
          </a:xfrm>
          <a:custGeom>
            <a:avLst/>
            <a:gdLst/>
            <a:ahLst/>
            <a:cxnLst/>
            <a:rect l="l" t="t" r="r" b="b"/>
            <a:pathLst>
              <a:path w="1103629" h="600710">
                <a:moveTo>
                  <a:pt x="1103376" y="0"/>
                </a:moveTo>
                <a:lnTo>
                  <a:pt x="0" y="0"/>
                </a:lnTo>
                <a:lnTo>
                  <a:pt x="0" y="600456"/>
                </a:lnTo>
                <a:lnTo>
                  <a:pt x="1103376" y="600456"/>
                </a:lnTo>
                <a:lnTo>
                  <a:pt x="11033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0029443" y="3750564"/>
            <a:ext cx="1103630" cy="600710"/>
          </a:xfrm>
          <a:prstGeom prst="rect">
            <a:avLst/>
          </a:prstGeom>
          <a:ln w="38100">
            <a:solidFill>
              <a:srgbClr val="4471C4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</a:pP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MethodeA()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072116" y="5018532"/>
            <a:ext cx="1100455" cy="460375"/>
          </a:xfrm>
          <a:prstGeom prst="rect">
            <a:avLst/>
          </a:prstGeom>
          <a:ln w="38100">
            <a:solidFill>
              <a:srgbClr val="4471C4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35"/>
              </a:spcBef>
            </a:pPr>
            <a:r>
              <a:rPr sz="1200" b="1" spc="-50" dirty="0">
                <a:solidFill>
                  <a:srgbClr val="555555"/>
                </a:solidFill>
                <a:latin typeface="Calibri"/>
                <a:cs typeface="Calibri"/>
              </a:rPr>
              <a:t>B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072116" y="5478779"/>
            <a:ext cx="1100455" cy="597535"/>
          </a:xfrm>
          <a:custGeom>
            <a:avLst/>
            <a:gdLst/>
            <a:ahLst/>
            <a:cxnLst/>
            <a:rect l="l" t="t" r="r" b="b"/>
            <a:pathLst>
              <a:path w="1100454" h="597535">
                <a:moveTo>
                  <a:pt x="1100327" y="0"/>
                </a:moveTo>
                <a:lnTo>
                  <a:pt x="0" y="0"/>
                </a:lnTo>
                <a:lnTo>
                  <a:pt x="0" y="597408"/>
                </a:lnTo>
                <a:lnTo>
                  <a:pt x="1100327" y="597408"/>
                </a:lnTo>
                <a:lnTo>
                  <a:pt x="11003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0072116" y="5478779"/>
            <a:ext cx="1100455" cy="597535"/>
          </a:xfrm>
          <a:prstGeom prst="rect">
            <a:avLst/>
          </a:prstGeom>
          <a:ln w="38100">
            <a:solidFill>
              <a:srgbClr val="4471C4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Times New Roman"/>
              <a:cs typeface="Times New Roman"/>
            </a:endParaRPr>
          </a:p>
          <a:p>
            <a:pPr marL="17653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MethodeB()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0396156" y="3349752"/>
            <a:ext cx="729615" cy="2087880"/>
            <a:chOff x="10396156" y="3349752"/>
            <a:chExt cx="729615" cy="2087880"/>
          </a:xfrm>
        </p:grpSpPr>
        <p:sp>
          <p:nvSpPr>
            <p:cNvPr id="39" name="object 39"/>
            <p:cNvSpPr/>
            <p:nvPr/>
          </p:nvSpPr>
          <p:spPr>
            <a:xfrm>
              <a:off x="10410443" y="4375404"/>
              <a:ext cx="402590" cy="216535"/>
            </a:xfrm>
            <a:custGeom>
              <a:avLst/>
              <a:gdLst/>
              <a:ahLst/>
              <a:cxnLst/>
              <a:rect l="l" t="t" r="r" b="b"/>
              <a:pathLst>
                <a:path w="402590" h="216535">
                  <a:moveTo>
                    <a:pt x="201167" y="0"/>
                  </a:moveTo>
                  <a:lnTo>
                    <a:pt x="0" y="216408"/>
                  </a:lnTo>
                  <a:lnTo>
                    <a:pt x="402335" y="216408"/>
                  </a:lnTo>
                  <a:lnTo>
                    <a:pt x="2011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410443" y="4375404"/>
              <a:ext cx="402590" cy="216535"/>
            </a:xfrm>
            <a:custGeom>
              <a:avLst/>
              <a:gdLst/>
              <a:ahLst/>
              <a:cxnLst/>
              <a:rect l="l" t="t" r="r" b="b"/>
              <a:pathLst>
                <a:path w="402590" h="216535">
                  <a:moveTo>
                    <a:pt x="0" y="216408"/>
                  </a:moveTo>
                  <a:lnTo>
                    <a:pt x="201167" y="0"/>
                  </a:lnTo>
                  <a:lnTo>
                    <a:pt x="402335" y="216408"/>
                  </a:lnTo>
                  <a:lnTo>
                    <a:pt x="0" y="216408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568685" y="4591812"/>
              <a:ext cx="85725" cy="429259"/>
            </a:xfrm>
            <a:custGeom>
              <a:avLst/>
              <a:gdLst/>
              <a:ahLst/>
              <a:cxnLst/>
              <a:rect l="l" t="t" r="r" b="b"/>
              <a:pathLst>
                <a:path w="85725" h="429260">
                  <a:moveTo>
                    <a:pt x="28575" y="343026"/>
                  </a:moveTo>
                  <a:lnTo>
                    <a:pt x="0" y="343026"/>
                  </a:lnTo>
                  <a:lnTo>
                    <a:pt x="42925" y="428751"/>
                  </a:lnTo>
                  <a:lnTo>
                    <a:pt x="78560" y="357377"/>
                  </a:lnTo>
                  <a:lnTo>
                    <a:pt x="28575" y="357377"/>
                  </a:lnTo>
                  <a:lnTo>
                    <a:pt x="28575" y="343026"/>
                  </a:lnTo>
                  <a:close/>
                </a:path>
                <a:path w="85725" h="429260">
                  <a:moveTo>
                    <a:pt x="57150" y="0"/>
                  </a:moveTo>
                  <a:lnTo>
                    <a:pt x="28575" y="0"/>
                  </a:lnTo>
                  <a:lnTo>
                    <a:pt x="28575" y="357377"/>
                  </a:lnTo>
                  <a:lnTo>
                    <a:pt x="57150" y="357377"/>
                  </a:lnTo>
                  <a:lnTo>
                    <a:pt x="57150" y="0"/>
                  </a:lnTo>
                  <a:close/>
                </a:path>
                <a:path w="85725" h="429260">
                  <a:moveTo>
                    <a:pt x="85725" y="343026"/>
                  </a:moveTo>
                  <a:lnTo>
                    <a:pt x="57150" y="343026"/>
                  </a:lnTo>
                  <a:lnTo>
                    <a:pt x="57150" y="357377"/>
                  </a:lnTo>
                  <a:lnTo>
                    <a:pt x="78560" y="357377"/>
                  </a:lnTo>
                  <a:lnTo>
                    <a:pt x="85725" y="343026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56391" y="3349752"/>
              <a:ext cx="332231" cy="37185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6391" y="5062728"/>
              <a:ext cx="368807" cy="374904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807516" y="5538012"/>
            <a:ext cx="6386195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653539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b1.MethodeA()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-60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OK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b1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déclaré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A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b1.MethodeB()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-55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OK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b1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déclaré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B</a:t>
            </a:r>
            <a:r>
              <a:rPr sz="1400" spc="5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a2.MethodeA()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-85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OK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a2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déclaré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a2.MethodeB()</a:t>
            </a:r>
            <a:r>
              <a:rPr sz="1400" spc="-10" dirty="0">
                <a:solidFill>
                  <a:srgbClr val="FF7800"/>
                </a:solidFill>
                <a:latin typeface="Wingdings"/>
                <a:cs typeface="Wingdings"/>
              </a:rPr>
              <a:t></a:t>
            </a:r>
            <a:r>
              <a:rPr sz="1400" spc="-15" dirty="0">
                <a:solidFill>
                  <a:srgbClr val="FF78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ERREUR</a:t>
            </a:r>
            <a:r>
              <a:rPr sz="14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car</a:t>
            </a:r>
            <a:r>
              <a:rPr sz="14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a2</a:t>
            </a:r>
            <a:r>
              <a:rPr sz="14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est</a:t>
            </a:r>
            <a:r>
              <a:rPr sz="14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4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type</a:t>
            </a:r>
            <a:r>
              <a:rPr sz="14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A</a:t>
            </a:r>
            <a:r>
              <a:rPr sz="14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(même</a:t>
            </a:r>
            <a:r>
              <a:rPr sz="14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si</a:t>
            </a:r>
            <a:r>
              <a:rPr sz="14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le</a:t>
            </a:r>
            <a:r>
              <a:rPr sz="14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type</a:t>
            </a:r>
            <a:r>
              <a:rPr sz="14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l’objet référencé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est</a:t>
            </a:r>
            <a:r>
              <a:rPr sz="14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B)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466456" y="1105280"/>
            <a:ext cx="3244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7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</a:t>
            </a:r>
            <a:r>
              <a:rPr sz="24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polymorphisme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640965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polymorphisme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Redéfinition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méthodes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Surcharge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02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1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le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polymorphisme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FF7800"/>
                </a:solidFill>
              </a:rPr>
              <a:t>Redéfinition</a:t>
            </a:r>
            <a:r>
              <a:rPr sz="1600" spc="-2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des</a:t>
            </a:r>
            <a:r>
              <a:rPr sz="1600" spc="5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méthodes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7307580" cy="432752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Redéfinition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méthodes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héritées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héritée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redéfinie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version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initiale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n'est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satisfaisante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dérivée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redéfinition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consiste 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conserver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l'entête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proposer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différent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62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redéfinition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méthode,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l'appel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l'ancienne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version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(celle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base)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possible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30"/>
              </a:lnSpc>
              <a:spcBef>
                <a:spcPts val="48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héritée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redéfinie,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c'est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uniquement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nouvelle</a:t>
            </a:r>
            <a:r>
              <a:rPr sz="1400" b="1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version</a:t>
            </a:r>
            <a:r>
              <a:rPr sz="14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b="1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partie</a:t>
            </a:r>
            <a:r>
              <a:rPr sz="14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30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description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dérivée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64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définie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niveau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dérivée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différent,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paramètres différents,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alors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s’agit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nouvelle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s’ajoute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héritée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Soit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afficher()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affiche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Nom,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CIN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 la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afficher()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redéfinit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propose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nouveau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ajoute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l’affichage</a:t>
            </a:r>
            <a:endParaRPr sz="140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3845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notes1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note2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l’étudiant)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802052" y="1788604"/>
          <a:ext cx="1600200" cy="1656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Personne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6446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200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Nom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age()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afficher()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802052" y="4236148"/>
          <a:ext cx="1600200" cy="169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Etudiant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176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3810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note1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Note2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38100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Moyenne()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afficher()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9575038" y="3470147"/>
            <a:ext cx="85725" cy="781685"/>
          </a:xfrm>
          <a:custGeom>
            <a:avLst/>
            <a:gdLst/>
            <a:ahLst/>
            <a:cxnLst/>
            <a:rect l="l" t="t" r="r" b="b"/>
            <a:pathLst>
              <a:path w="85725" h="781685">
                <a:moveTo>
                  <a:pt x="57150" y="71374"/>
                </a:moveTo>
                <a:lnTo>
                  <a:pt x="28575" y="71374"/>
                </a:lnTo>
                <a:lnTo>
                  <a:pt x="28575" y="781303"/>
                </a:lnTo>
                <a:lnTo>
                  <a:pt x="57150" y="781303"/>
                </a:lnTo>
                <a:lnTo>
                  <a:pt x="57150" y="71374"/>
                </a:lnTo>
                <a:close/>
              </a:path>
              <a:path w="85725" h="781685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374"/>
                </a:lnTo>
                <a:lnTo>
                  <a:pt x="78560" y="71374"/>
                </a:lnTo>
                <a:lnTo>
                  <a:pt x="42925" y="0"/>
                </a:lnTo>
                <a:close/>
              </a:path>
              <a:path w="85725" h="781685">
                <a:moveTo>
                  <a:pt x="78560" y="71374"/>
                </a:moveTo>
                <a:lnTo>
                  <a:pt x="57150" y="71374"/>
                </a:lnTo>
                <a:lnTo>
                  <a:pt x="57150" y="85725"/>
                </a:lnTo>
                <a:lnTo>
                  <a:pt x="85725" y="85725"/>
                </a:lnTo>
                <a:lnTo>
                  <a:pt x="78560" y="71374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02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1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le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polymorphisme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FF7800"/>
                </a:solidFill>
              </a:rPr>
              <a:t>Redéfinition</a:t>
            </a:r>
            <a:r>
              <a:rPr sz="1600" spc="-2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des</a:t>
            </a:r>
            <a:r>
              <a:rPr sz="1600" spc="5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méthodes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0443845" cy="20402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Mécanisme</a:t>
            </a:r>
            <a:r>
              <a:rPr sz="1600" b="1" spc="-8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la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liaison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 retardée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Soit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réelle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envoie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message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«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o.m()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»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o.m()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appeler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m()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n’importe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quelle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C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contient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(ou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redéfinition)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m(),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c’est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exécutée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Sinon, la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recherche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m()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poursuit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mère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C,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puis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mère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mère, et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ainsi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suite,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jusqu’à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trouver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m()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alors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exécutée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Soit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etc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EtudiantTroisièmeCycle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53384" y="4698491"/>
            <a:ext cx="2270760" cy="28702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53384" y="4985003"/>
            <a:ext cx="2270760" cy="448309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985"/>
              </a:spcBef>
            </a:pPr>
            <a:r>
              <a:rPr sz="1200" b="1" spc="-10" dirty="0">
                <a:solidFill>
                  <a:srgbClr val="C00000"/>
                </a:solidFill>
                <a:latin typeface="Calibri"/>
                <a:cs typeface="Calibri"/>
              </a:rPr>
              <a:t>afficher()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42715" y="3619500"/>
            <a:ext cx="2255520" cy="48768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4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42715" y="4107179"/>
            <a:ext cx="2255520" cy="28702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40"/>
              </a:spcBef>
            </a:pPr>
            <a:r>
              <a:rPr sz="1200" b="1" spc="-10" dirty="0">
                <a:solidFill>
                  <a:srgbClr val="C00000"/>
                </a:solidFill>
                <a:latin typeface="Calibri"/>
                <a:cs typeface="Calibri"/>
              </a:rPr>
              <a:t>afficher()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61003" y="5698235"/>
            <a:ext cx="2265045" cy="451484"/>
          </a:xfrm>
          <a:custGeom>
            <a:avLst/>
            <a:gdLst/>
            <a:ahLst/>
            <a:cxnLst/>
            <a:rect l="l" t="t" r="r" b="b"/>
            <a:pathLst>
              <a:path w="2265045" h="451485">
                <a:moveTo>
                  <a:pt x="0" y="451103"/>
                </a:moveTo>
                <a:lnTo>
                  <a:pt x="2264664" y="451103"/>
                </a:lnTo>
                <a:lnTo>
                  <a:pt x="2264664" y="0"/>
                </a:lnTo>
                <a:lnTo>
                  <a:pt x="0" y="0"/>
                </a:lnTo>
                <a:lnTo>
                  <a:pt x="0" y="451103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5291" y="5795264"/>
            <a:ext cx="223647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EtudiantTroisième</a:t>
            </a:r>
            <a:r>
              <a:rPr sz="1400" b="1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Cycle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61003" y="6146291"/>
            <a:ext cx="2265045" cy="338455"/>
          </a:xfrm>
          <a:custGeom>
            <a:avLst/>
            <a:gdLst/>
            <a:ahLst/>
            <a:cxnLst/>
            <a:rect l="l" t="t" r="r" b="b"/>
            <a:pathLst>
              <a:path w="2265045" h="338454">
                <a:moveTo>
                  <a:pt x="0" y="338328"/>
                </a:moveTo>
                <a:lnTo>
                  <a:pt x="2264664" y="338328"/>
                </a:lnTo>
                <a:lnTo>
                  <a:pt x="2264664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ln w="28574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475291" y="6188455"/>
            <a:ext cx="223647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C00000"/>
                </a:solidFill>
                <a:latin typeface="Calibri"/>
                <a:cs typeface="Calibri"/>
              </a:rPr>
              <a:t>afficher()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9157" y="6090615"/>
            <a:ext cx="8394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etc.afficher()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41565" y="4122420"/>
            <a:ext cx="597535" cy="15240"/>
          </a:xfrm>
          <a:custGeom>
            <a:avLst/>
            <a:gdLst/>
            <a:ahLst/>
            <a:cxnLst/>
            <a:rect l="l" t="t" r="r" b="b"/>
            <a:pathLst>
              <a:path w="597535" h="15239">
                <a:moveTo>
                  <a:pt x="597344" y="0"/>
                </a:moveTo>
                <a:lnTo>
                  <a:pt x="0" y="0"/>
                </a:lnTo>
                <a:lnTo>
                  <a:pt x="0" y="15239"/>
                </a:lnTo>
                <a:lnTo>
                  <a:pt x="597344" y="15239"/>
                </a:lnTo>
                <a:lnTo>
                  <a:pt x="597344" y="0"/>
                </a:lnTo>
                <a:close/>
              </a:path>
            </a:pathLst>
          </a:custGeom>
          <a:solidFill>
            <a:srgbClr val="5555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03757" y="3858209"/>
            <a:ext cx="674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1</a:t>
            </a:r>
            <a:r>
              <a:rPr sz="1800" b="1" baseline="25462" dirty="0">
                <a:solidFill>
                  <a:srgbClr val="555555"/>
                </a:solidFill>
                <a:latin typeface="Calibri"/>
                <a:cs typeface="Calibri"/>
              </a:rPr>
              <a:t>er</a:t>
            </a:r>
            <a:r>
              <a:rPr sz="1800" b="1" spc="195" baseline="25462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555555"/>
                </a:solidFill>
                <a:latin typeface="Calibri"/>
                <a:cs typeface="Calibri"/>
              </a:rPr>
              <a:t>cas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18004" y="3440620"/>
            <a:ext cx="3973829" cy="3013075"/>
            <a:chOff x="2318004" y="3440620"/>
            <a:chExt cx="3973829" cy="3013075"/>
          </a:xfrm>
        </p:grpSpPr>
        <p:sp>
          <p:nvSpPr>
            <p:cNvPr id="23" name="object 23"/>
            <p:cNvSpPr/>
            <p:nvPr/>
          </p:nvSpPr>
          <p:spPr>
            <a:xfrm>
              <a:off x="2318004" y="6259830"/>
              <a:ext cx="1143000" cy="114300"/>
            </a:xfrm>
            <a:custGeom>
              <a:avLst/>
              <a:gdLst/>
              <a:ahLst/>
              <a:cxnLst/>
              <a:rect l="l" t="t" r="r" b="b"/>
              <a:pathLst>
                <a:path w="1143000" h="114300">
                  <a:moveTo>
                    <a:pt x="1028192" y="0"/>
                  </a:moveTo>
                  <a:lnTo>
                    <a:pt x="1028192" y="114300"/>
                  </a:lnTo>
                  <a:lnTo>
                    <a:pt x="1104392" y="76200"/>
                  </a:lnTo>
                  <a:lnTo>
                    <a:pt x="1047242" y="76200"/>
                  </a:lnTo>
                  <a:lnTo>
                    <a:pt x="1047242" y="38100"/>
                  </a:lnTo>
                  <a:lnTo>
                    <a:pt x="1104392" y="38100"/>
                  </a:lnTo>
                  <a:lnTo>
                    <a:pt x="1028192" y="0"/>
                  </a:lnTo>
                  <a:close/>
                </a:path>
                <a:path w="1143000" h="114300">
                  <a:moveTo>
                    <a:pt x="1028192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028192" y="76200"/>
                  </a:lnTo>
                  <a:lnTo>
                    <a:pt x="1028192" y="38100"/>
                  </a:lnTo>
                  <a:close/>
                </a:path>
                <a:path w="1143000" h="114300">
                  <a:moveTo>
                    <a:pt x="1104392" y="38100"/>
                  </a:moveTo>
                  <a:lnTo>
                    <a:pt x="1047242" y="38100"/>
                  </a:lnTo>
                  <a:lnTo>
                    <a:pt x="1047242" y="76200"/>
                  </a:lnTo>
                  <a:lnTo>
                    <a:pt x="1104392" y="76200"/>
                  </a:lnTo>
                  <a:lnTo>
                    <a:pt x="1142492" y="57150"/>
                  </a:lnTo>
                  <a:lnTo>
                    <a:pt x="1104392" y="38100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77356" y="3454908"/>
              <a:ext cx="0" cy="2984500"/>
            </a:xfrm>
            <a:custGeom>
              <a:avLst/>
              <a:gdLst/>
              <a:ahLst/>
              <a:cxnLst/>
              <a:rect l="l" t="t" r="r" b="b"/>
              <a:pathLst>
                <a:path h="2984500">
                  <a:moveTo>
                    <a:pt x="0" y="0"/>
                  </a:moveTo>
                  <a:lnTo>
                    <a:pt x="0" y="2984258"/>
                  </a:lnTo>
                </a:path>
              </a:pathLst>
            </a:custGeom>
            <a:ln w="28575">
              <a:solidFill>
                <a:srgbClr val="FF7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29157" y="4271009"/>
            <a:ext cx="2214880" cy="664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afficher()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la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EtudiantTroisièmeCycle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sera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exécutée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08719" y="4686300"/>
            <a:ext cx="2278380" cy="28702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20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Etudiant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804147" y="4972811"/>
            <a:ext cx="2283460" cy="448309"/>
          </a:xfrm>
          <a:custGeom>
            <a:avLst/>
            <a:gdLst/>
            <a:ahLst/>
            <a:cxnLst/>
            <a:rect l="l" t="t" r="r" b="b"/>
            <a:pathLst>
              <a:path w="2283459" h="448310">
                <a:moveTo>
                  <a:pt x="0" y="448056"/>
                </a:moveTo>
                <a:lnTo>
                  <a:pt x="2282952" y="448056"/>
                </a:lnTo>
                <a:lnTo>
                  <a:pt x="2282952" y="0"/>
                </a:lnTo>
                <a:lnTo>
                  <a:pt x="0" y="0"/>
                </a:lnTo>
                <a:lnTo>
                  <a:pt x="0" y="448056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804147" y="3604259"/>
            <a:ext cx="2258695" cy="48768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12827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1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804147" y="4091940"/>
            <a:ext cx="2258695" cy="289560"/>
          </a:xfrm>
          <a:custGeom>
            <a:avLst/>
            <a:gdLst/>
            <a:ahLst/>
            <a:cxnLst/>
            <a:rect l="l" t="t" r="r" b="b"/>
            <a:pathLst>
              <a:path w="2258695" h="289560">
                <a:moveTo>
                  <a:pt x="0" y="289560"/>
                </a:moveTo>
                <a:lnTo>
                  <a:pt x="2258568" y="289560"/>
                </a:lnTo>
                <a:lnTo>
                  <a:pt x="2258568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818435" y="4124070"/>
            <a:ext cx="2230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C00000"/>
                </a:solidFill>
                <a:latin typeface="Calibri"/>
                <a:cs typeface="Calibri"/>
              </a:rPr>
              <a:t>afficher()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822435" y="5682996"/>
            <a:ext cx="2265045" cy="451484"/>
          </a:xfrm>
          <a:custGeom>
            <a:avLst/>
            <a:gdLst/>
            <a:ahLst/>
            <a:cxnLst/>
            <a:rect l="l" t="t" r="r" b="b"/>
            <a:pathLst>
              <a:path w="2265045" h="451485">
                <a:moveTo>
                  <a:pt x="0" y="451103"/>
                </a:moveTo>
                <a:lnTo>
                  <a:pt x="2264664" y="451103"/>
                </a:lnTo>
                <a:lnTo>
                  <a:pt x="2264664" y="0"/>
                </a:lnTo>
                <a:lnTo>
                  <a:pt x="0" y="0"/>
                </a:lnTo>
                <a:lnTo>
                  <a:pt x="0" y="451103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836723" y="5781852"/>
            <a:ext cx="223647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0"/>
              </a:spcBef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EtudiantTroisième</a:t>
            </a:r>
            <a:r>
              <a:rPr sz="1400" b="1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Cycle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987667" y="3604259"/>
            <a:ext cx="4380230" cy="2984500"/>
            <a:chOff x="6987667" y="3604259"/>
            <a:chExt cx="4380230" cy="2984500"/>
          </a:xfrm>
        </p:grpSpPr>
        <p:sp>
          <p:nvSpPr>
            <p:cNvPr id="34" name="object 34"/>
            <p:cNvSpPr/>
            <p:nvPr/>
          </p:nvSpPr>
          <p:spPr>
            <a:xfrm>
              <a:off x="8822436" y="6131051"/>
              <a:ext cx="2265045" cy="341630"/>
            </a:xfrm>
            <a:custGeom>
              <a:avLst/>
              <a:gdLst/>
              <a:ahLst/>
              <a:cxnLst/>
              <a:rect l="l" t="t" r="r" b="b"/>
              <a:pathLst>
                <a:path w="2265045" h="341629">
                  <a:moveTo>
                    <a:pt x="0" y="341376"/>
                  </a:moveTo>
                  <a:lnTo>
                    <a:pt x="2264664" y="341376"/>
                  </a:lnTo>
                  <a:lnTo>
                    <a:pt x="2264664" y="0"/>
                  </a:lnTo>
                  <a:lnTo>
                    <a:pt x="0" y="0"/>
                  </a:lnTo>
                  <a:lnTo>
                    <a:pt x="0" y="341376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281918" y="3604259"/>
              <a:ext cx="85725" cy="2984500"/>
            </a:xfrm>
            <a:custGeom>
              <a:avLst/>
              <a:gdLst/>
              <a:ahLst/>
              <a:cxnLst/>
              <a:rect l="l" t="t" r="r" b="b"/>
              <a:pathLst>
                <a:path w="85725" h="2984500">
                  <a:moveTo>
                    <a:pt x="57150" y="71373"/>
                  </a:moveTo>
                  <a:lnTo>
                    <a:pt x="28575" y="71373"/>
                  </a:lnTo>
                  <a:lnTo>
                    <a:pt x="28575" y="2984258"/>
                  </a:lnTo>
                  <a:lnTo>
                    <a:pt x="57150" y="2984258"/>
                  </a:lnTo>
                  <a:lnTo>
                    <a:pt x="57150" y="71373"/>
                  </a:lnTo>
                  <a:close/>
                </a:path>
                <a:path w="85725" h="2984500">
                  <a:moveTo>
                    <a:pt x="42925" y="0"/>
                  </a:moveTo>
                  <a:lnTo>
                    <a:pt x="0" y="85725"/>
                  </a:lnTo>
                  <a:lnTo>
                    <a:pt x="28575" y="85725"/>
                  </a:lnTo>
                  <a:lnTo>
                    <a:pt x="28575" y="71373"/>
                  </a:lnTo>
                  <a:lnTo>
                    <a:pt x="78560" y="71373"/>
                  </a:lnTo>
                  <a:lnTo>
                    <a:pt x="42925" y="0"/>
                  </a:lnTo>
                  <a:close/>
                </a:path>
                <a:path w="85725" h="2984500">
                  <a:moveTo>
                    <a:pt x="78560" y="71373"/>
                  </a:moveTo>
                  <a:lnTo>
                    <a:pt x="57150" y="71373"/>
                  </a:lnTo>
                  <a:lnTo>
                    <a:pt x="57150" y="85725"/>
                  </a:lnTo>
                  <a:lnTo>
                    <a:pt x="85725" y="85725"/>
                  </a:lnTo>
                  <a:lnTo>
                    <a:pt x="78560" y="71373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87667" y="3749420"/>
              <a:ext cx="744220" cy="15240"/>
            </a:xfrm>
            <a:custGeom>
              <a:avLst/>
              <a:gdLst/>
              <a:ahLst/>
              <a:cxnLst/>
              <a:rect l="l" t="t" r="r" b="b"/>
              <a:pathLst>
                <a:path w="744220" h="15239">
                  <a:moveTo>
                    <a:pt x="743711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743711" y="15239"/>
                  </a:lnTo>
                  <a:lnTo>
                    <a:pt x="743711" y="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951218" y="3485515"/>
            <a:ext cx="8204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2</a:t>
            </a:r>
            <a:r>
              <a:rPr sz="1800" b="1" baseline="25462" dirty="0">
                <a:solidFill>
                  <a:srgbClr val="555555"/>
                </a:solidFill>
                <a:latin typeface="Calibri"/>
                <a:cs typeface="Calibri"/>
              </a:rPr>
              <a:t>ème</a:t>
            </a:r>
            <a:r>
              <a:rPr sz="1800" b="1" spc="179" baseline="25462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555555"/>
                </a:solidFill>
                <a:latin typeface="Calibri"/>
                <a:cs typeface="Calibri"/>
              </a:rPr>
              <a:t>cas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98360" y="4131005"/>
            <a:ext cx="83946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etc.afficher()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472685" y="4138421"/>
            <a:ext cx="5522595" cy="1546225"/>
            <a:chOff x="4472685" y="4138421"/>
            <a:chExt cx="5522595" cy="1546225"/>
          </a:xfrm>
        </p:grpSpPr>
        <p:sp>
          <p:nvSpPr>
            <p:cNvPr id="40" name="object 40"/>
            <p:cNvSpPr/>
            <p:nvPr/>
          </p:nvSpPr>
          <p:spPr>
            <a:xfrm>
              <a:off x="4515358" y="4138421"/>
              <a:ext cx="4370705" cy="578485"/>
            </a:xfrm>
            <a:custGeom>
              <a:avLst/>
              <a:gdLst/>
              <a:ahLst/>
              <a:cxnLst/>
              <a:rect l="l" t="t" r="r" b="b"/>
              <a:pathLst>
                <a:path w="4370705" h="578485">
                  <a:moveTo>
                    <a:pt x="85725" y="340995"/>
                  </a:moveTo>
                  <a:lnTo>
                    <a:pt x="78613" y="326771"/>
                  </a:lnTo>
                  <a:lnTo>
                    <a:pt x="42926" y="255270"/>
                  </a:lnTo>
                  <a:lnTo>
                    <a:pt x="0" y="340995"/>
                  </a:lnTo>
                  <a:lnTo>
                    <a:pt x="28575" y="340995"/>
                  </a:lnTo>
                  <a:lnTo>
                    <a:pt x="28575" y="578358"/>
                  </a:lnTo>
                  <a:lnTo>
                    <a:pt x="57150" y="578358"/>
                  </a:lnTo>
                  <a:lnTo>
                    <a:pt x="57150" y="340995"/>
                  </a:lnTo>
                  <a:lnTo>
                    <a:pt x="85725" y="340995"/>
                  </a:lnTo>
                  <a:close/>
                </a:path>
                <a:path w="4370705" h="578485">
                  <a:moveTo>
                    <a:pt x="4370578" y="57150"/>
                  </a:moveTo>
                  <a:lnTo>
                    <a:pt x="4332478" y="38100"/>
                  </a:lnTo>
                  <a:lnTo>
                    <a:pt x="4256278" y="0"/>
                  </a:lnTo>
                  <a:lnTo>
                    <a:pt x="4256278" y="38100"/>
                  </a:lnTo>
                  <a:lnTo>
                    <a:pt x="3228086" y="38100"/>
                  </a:lnTo>
                  <a:lnTo>
                    <a:pt x="3228086" y="76200"/>
                  </a:lnTo>
                  <a:lnTo>
                    <a:pt x="4256278" y="76200"/>
                  </a:lnTo>
                  <a:lnTo>
                    <a:pt x="4256278" y="114300"/>
                  </a:lnTo>
                  <a:lnTo>
                    <a:pt x="4332478" y="76200"/>
                  </a:lnTo>
                  <a:lnTo>
                    <a:pt x="4370578" y="57150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2685" y="5433059"/>
              <a:ext cx="85725" cy="24966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903333" y="4384547"/>
              <a:ext cx="92075" cy="1300480"/>
            </a:xfrm>
            <a:custGeom>
              <a:avLst/>
              <a:gdLst/>
              <a:ahLst/>
              <a:cxnLst/>
              <a:rect l="l" t="t" r="r" b="b"/>
              <a:pathLst>
                <a:path w="92075" h="1300479">
                  <a:moveTo>
                    <a:pt x="85725" y="84709"/>
                  </a:moveTo>
                  <a:lnTo>
                    <a:pt x="78511" y="71120"/>
                  </a:lnTo>
                  <a:lnTo>
                    <a:pt x="40767" y="0"/>
                  </a:lnTo>
                  <a:lnTo>
                    <a:pt x="0" y="86741"/>
                  </a:lnTo>
                  <a:lnTo>
                    <a:pt x="28549" y="86067"/>
                  </a:lnTo>
                  <a:lnTo>
                    <a:pt x="33883" y="300355"/>
                  </a:lnTo>
                  <a:lnTo>
                    <a:pt x="33909" y="301117"/>
                  </a:lnTo>
                  <a:lnTo>
                    <a:pt x="62484" y="300355"/>
                  </a:lnTo>
                  <a:lnTo>
                    <a:pt x="57150" y="86741"/>
                  </a:lnTo>
                  <a:lnTo>
                    <a:pt x="57124" y="85394"/>
                  </a:lnTo>
                  <a:lnTo>
                    <a:pt x="85725" y="84709"/>
                  </a:lnTo>
                  <a:close/>
                </a:path>
                <a:path w="92075" h="1300479">
                  <a:moveTo>
                    <a:pt x="91567" y="1121156"/>
                  </a:moveTo>
                  <a:lnTo>
                    <a:pt x="84328" y="1107440"/>
                  </a:lnTo>
                  <a:lnTo>
                    <a:pt x="46863" y="1036320"/>
                  </a:lnTo>
                  <a:lnTo>
                    <a:pt x="5842" y="1122934"/>
                  </a:lnTo>
                  <a:lnTo>
                    <a:pt x="34455" y="1122349"/>
                  </a:lnTo>
                  <a:lnTo>
                    <a:pt x="38201" y="1299413"/>
                  </a:lnTo>
                  <a:lnTo>
                    <a:pt x="38227" y="1300035"/>
                  </a:lnTo>
                  <a:lnTo>
                    <a:pt x="66802" y="1299413"/>
                  </a:lnTo>
                  <a:lnTo>
                    <a:pt x="63055" y="1122934"/>
                  </a:lnTo>
                  <a:lnTo>
                    <a:pt x="63030" y="1121752"/>
                  </a:lnTo>
                  <a:lnTo>
                    <a:pt x="91567" y="1121156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782816" y="4483353"/>
            <a:ext cx="1831975" cy="664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afficher()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de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Personne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est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exécutée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466456" y="1105280"/>
            <a:ext cx="3244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Définir</a:t>
            </a:r>
            <a:r>
              <a:rPr sz="2400" b="1" spc="-7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</a:t>
            </a:r>
            <a:r>
              <a:rPr sz="24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polymorphisme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638425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polymorphisme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Redéfinition</a:t>
            </a:r>
            <a:r>
              <a:rPr sz="16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Surcharge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méthodes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02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Définir</a:t>
            </a:r>
            <a:r>
              <a:rPr spc="1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le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polymorphisme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FF7800"/>
                </a:solidFill>
              </a:rPr>
              <a:t>Surcharge</a:t>
            </a:r>
            <a:r>
              <a:rPr sz="1600" spc="-3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des</a:t>
            </a:r>
            <a:r>
              <a:rPr sz="1600" spc="-30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méthodes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887016"/>
            <a:ext cx="9192260" cy="86741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surcharge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 permet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fois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arguments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différents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compilateur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choisi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doit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arguments.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 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surchargée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lorsqu'elle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exécute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actions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différentes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selon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transmis.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504628" y="3312604"/>
          <a:ext cx="5888990" cy="1657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8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0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Personne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3810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90170" marR="474091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Nom:</a:t>
                      </a: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r>
                        <a:rPr sz="1200" spc="5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CIN:</a:t>
                      </a:r>
                      <a:r>
                        <a:rPr sz="1200" spc="-3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 dateNaiss:</a:t>
                      </a:r>
                      <a:r>
                        <a:rPr sz="1200" spc="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38100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meth1Personne(chaine,entier,</a:t>
                      </a:r>
                      <a:r>
                        <a:rPr sz="1200" b="1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entier)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meth1Personn(chaine,</a:t>
                      </a:r>
                      <a:r>
                        <a:rPr sz="1200" b="1" spc="5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entier)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2756916" y="4521708"/>
            <a:ext cx="658495" cy="463550"/>
          </a:xfrm>
          <a:custGeom>
            <a:avLst/>
            <a:gdLst/>
            <a:ahLst/>
            <a:cxnLst/>
            <a:rect l="l" t="t" r="r" b="b"/>
            <a:pathLst>
              <a:path w="658495" h="463550">
                <a:moveTo>
                  <a:pt x="658368" y="463296"/>
                </a:moveTo>
                <a:lnTo>
                  <a:pt x="582870" y="462277"/>
                </a:lnTo>
                <a:lnTo>
                  <a:pt x="513574" y="459374"/>
                </a:lnTo>
                <a:lnTo>
                  <a:pt x="452454" y="454818"/>
                </a:lnTo>
                <a:lnTo>
                  <a:pt x="401482" y="448840"/>
                </a:lnTo>
                <a:lnTo>
                  <a:pt x="362632" y="441672"/>
                </a:lnTo>
                <a:lnTo>
                  <a:pt x="329183" y="424688"/>
                </a:lnTo>
                <a:lnTo>
                  <a:pt x="329183" y="270256"/>
                </a:lnTo>
                <a:lnTo>
                  <a:pt x="320493" y="261399"/>
                </a:lnTo>
                <a:lnTo>
                  <a:pt x="256885" y="246103"/>
                </a:lnTo>
                <a:lnTo>
                  <a:pt x="205913" y="240125"/>
                </a:lnTo>
                <a:lnTo>
                  <a:pt x="144793" y="235569"/>
                </a:lnTo>
                <a:lnTo>
                  <a:pt x="75497" y="232666"/>
                </a:lnTo>
                <a:lnTo>
                  <a:pt x="0" y="231648"/>
                </a:lnTo>
                <a:lnTo>
                  <a:pt x="75497" y="230629"/>
                </a:lnTo>
                <a:lnTo>
                  <a:pt x="144793" y="227726"/>
                </a:lnTo>
                <a:lnTo>
                  <a:pt x="205913" y="223170"/>
                </a:lnTo>
                <a:lnTo>
                  <a:pt x="256885" y="217192"/>
                </a:lnTo>
                <a:lnTo>
                  <a:pt x="295735" y="210024"/>
                </a:lnTo>
                <a:lnTo>
                  <a:pt x="329183" y="193040"/>
                </a:lnTo>
                <a:lnTo>
                  <a:pt x="329183" y="38608"/>
                </a:lnTo>
                <a:lnTo>
                  <a:pt x="337874" y="29751"/>
                </a:lnTo>
                <a:lnTo>
                  <a:pt x="401482" y="14455"/>
                </a:lnTo>
                <a:lnTo>
                  <a:pt x="452454" y="8477"/>
                </a:lnTo>
                <a:lnTo>
                  <a:pt x="513574" y="3921"/>
                </a:lnTo>
                <a:lnTo>
                  <a:pt x="582870" y="1018"/>
                </a:lnTo>
                <a:lnTo>
                  <a:pt x="658368" y="0"/>
                </a:lnTo>
              </a:path>
            </a:pathLst>
          </a:custGeom>
          <a:ln w="28575">
            <a:solidFill>
              <a:srgbClr val="FF7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79932" y="4430267"/>
            <a:ext cx="1728470" cy="737870"/>
          </a:xfrm>
          <a:prstGeom prst="rect">
            <a:avLst/>
          </a:prstGeom>
          <a:ln w="28575">
            <a:solidFill>
              <a:srgbClr val="FF78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0805" marR="470534">
              <a:lnSpc>
                <a:spcPct val="100000"/>
              </a:lnSpc>
              <a:spcBef>
                <a:spcPts val="28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Surcharge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de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la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méthode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meth1Personne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82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0479" y="2358897"/>
            <a:ext cx="4994910" cy="1375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que</a:t>
            </a:r>
            <a:r>
              <a:rPr sz="18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 allez</a:t>
            </a:r>
            <a:r>
              <a:rPr sz="18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apprendre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chapitre</a:t>
            </a:r>
            <a:r>
              <a:rPr sz="18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Comprendre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d’abstraction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concepts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endParaRPr sz="16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7" name="object 7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3</a:t>
            </a:r>
            <a:endParaRPr sz="2800"/>
          </a:p>
        </p:txBody>
      </p:sp>
      <p:sp>
        <p:nvSpPr>
          <p:cNvPr id="10" name="object 10"/>
          <p:cNvSpPr txBox="1"/>
          <p:nvPr/>
        </p:nvSpPr>
        <p:spPr>
          <a:xfrm>
            <a:off x="7503032" y="1105280"/>
            <a:ext cx="3176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Caractériser</a:t>
            </a:r>
            <a:r>
              <a:rPr sz="2400" b="1" spc="-8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l’abstraction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96325" y="6263436"/>
            <a:ext cx="1264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3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503032" y="1105280"/>
            <a:ext cx="3176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Caractériser</a:t>
            </a:r>
            <a:r>
              <a:rPr sz="2400" b="1" spc="-8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l’abstraction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06248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Principes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85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03</a:t>
            </a:r>
            <a:r>
              <a:rPr spc="-3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3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Caractériser</a:t>
            </a:r>
            <a:r>
              <a:rPr spc="-1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l’abstraction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FF7800"/>
                </a:solidFill>
              </a:rPr>
              <a:t>Principes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631690" cy="29794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Principe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l’abstraction</a:t>
            </a:r>
            <a:endParaRPr sz="16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800"/>
              </a:lnSpc>
              <a:spcBef>
                <a:spcPts val="9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L’abstraction est un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 consiste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ignorer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certains 	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aspects</a:t>
            </a:r>
            <a:r>
              <a:rPr sz="1400" b="1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importants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problème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dans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but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concentrer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ceux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endParaRPr sz="1400">
              <a:latin typeface="Calibri"/>
              <a:cs typeface="Calibri"/>
            </a:endParaRPr>
          </a:p>
          <a:p>
            <a:pPr marL="296545" marR="6985" indent="-284480" algn="just">
              <a:lnSpc>
                <a:spcPct val="95800"/>
              </a:lnSpc>
              <a:spcBef>
                <a:spcPts val="57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POO,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c’est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2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b="1" spc="31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concentrer</a:t>
            </a:r>
            <a:r>
              <a:rPr sz="1400" b="1" spc="31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b="1" spc="32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les 	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caractéristiques</a:t>
            </a:r>
            <a:r>
              <a:rPr sz="1400" b="1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importantes</a:t>
            </a:r>
            <a:r>
              <a:rPr sz="1400" b="1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selon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point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vue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l’observateur</a:t>
            </a:r>
            <a:endParaRPr sz="1400">
              <a:latin typeface="Calibri"/>
              <a:cs typeface="Calibri"/>
            </a:endParaRPr>
          </a:p>
          <a:p>
            <a:pPr marL="755015" lvl="1" indent="-285115" algn="just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75501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objectif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principal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gérer</a:t>
            </a:r>
            <a:r>
              <a:rPr sz="1400" b="1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complexité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endParaRPr sz="1400">
              <a:latin typeface="Calibri"/>
              <a:cs typeface="Calibri"/>
            </a:endParaRPr>
          </a:p>
          <a:p>
            <a:pPr marL="756285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masquant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détails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inutiles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l’utilisateur</a:t>
            </a:r>
            <a:endParaRPr sz="1400">
              <a:latin typeface="Calibri"/>
              <a:cs typeface="Calibri"/>
            </a:endParaRPr>
          </a:p>
          <a:p>
            <a:pPr marL="756285" marR="295275" lvl="1" indent="-287020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l’utilisateur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d’implémenter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logique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complexe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sans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comprendre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ni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même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penser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complexité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cachée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3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503032" y="1105280"/>
            <a:ext cx="3176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Caractériser</a:t>
            </a:r>
            <a:r>
              <a:rPr sz="2400" b="1" spc="-8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l’abstraction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06248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Principes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Classes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abstraites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03</a:t>
            </a:r>
            <a:r>
              <a:rPr spc="-5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5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Caractériser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l’abstraction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FF7800"/>
                </a:solidFill>
              </a:rPr>
              <a:t>Classes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abstraites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955673"/>
            <a:ext cx="4500880" cy="38969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7180" indent="-284480" algn="just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opposition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 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concrète,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instanciée</a:t>
            </a:r>
            <a:endParaRPr sz="1400">
              <a:latin typeface="Calibri"/>
              <a:cs typeface="Calibri"/>
            </a:endParaRPr>
          </a:p>
          <a:p>
            <a:pPr marL="296545" marR="5715" indent="-284480" algn="just">
              <a:lnSpc>
                <a:spcPts val="1580"/>
              </a:lnSpc>
              <a:spcBef>
                <a:spcPts val="6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servir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base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dérivation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000"/>
              </a:lnSpc>
              <a:spcBef>
                <a:spcPts val="5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L'utilité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3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type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regroupe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caractéristiques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communes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à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d'autres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types.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effet,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86385" marR="356870" lvl="1" indent="-286385" algn="r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863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racine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arbre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d’héritage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86385" marR="367665" lvl="2" indent="-286385" algn="r">
              <a:lnSpc>
                <a:spcPts val="1630"/>
              </a:lnSpc>
              <a:spcBef>
                <a:spcPts val="530"/>
              </a:spcBef>
              <a:buFont typeface="Arial MT"/>
              <a:buChar char="•"/>
              <a:tabLst>
                <a:tab pos="2863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lequel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apporteront</a:t>
            </a:r>
            <a:endParaRPr sz="1400">
              <a:latin typeface="Calibri"/>
              <a:cs typeface="Calibri"/>
            </a:endParaRPr>
          </a:p>
          <a:p>
            <a:pPr marL="1213485">
              <a:lnSpc>
                <a:spcPts val="163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leurs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particularités</a:t>
            </a:r>
            <a:endParaRPr sz="1400">
              <a:latin typeface="Calibri"/>
              <a:cs typeface="Calibri"/>
            </a:endParaRPr>
          </a:p>
          <a:p>
            <a:pPr marL="1213485" lvl="2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12134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Favorise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polymorphisme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partage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certaines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descriptions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213485" lvl="2" indent="-286385">
              <a:lnSpc>
                <a:spcPts val="1645"/>
              </a:lnSpc>
              <a:spcBef>
                <a:spcPts val="509"/>
              </a:spcBef>
              <a:buFont typeface="Arial MT"/>
              <a:buChar char="•"/>
              <a:tabLst>
                <a:tab pos="12134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Variables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d’instances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(ou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classes)</a:t>
            </a:r>
            <a:endParaRPr sz="1400">
              <a:latin typeface="Calibri"/>
              <a:cs typeface="Calibri"/>
            </a:endParaRPr>
          </a:p>
          <a:p>
            <a:pPr marL="12134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communes</a:t>
            </a:r>
            <a:endParaRPr sz="1400">
              <a:latin typeface="Calibri"/>
              <a:cs typeface="Calibri"/>
            </a:endParaRPr>
          </a:p>
          <a:p>
            <a:pPr marL="1213485" lvl="2" indent="-286385">
              <a:lnSpc>
                <a:spcPts val="1635"/>
              </a:lnSpc>
              <a:spcBef>
                <a:spcPts val="525"/>
              </a:spcBef>
              <a:buFont typeface="Arial MT"/>
              <a:buChar char="•"/>
              <a:tabLst>
                <a:tab pos="12134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définissant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comportement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endParaRPr sz="1400">
              <a:latin typeface="Calibri"/>
              <a:cs typeface="Calibri"/>
            </a:endParaRPr>
          </a:p>
          <a:p>
            <a:pPr marL="1213485">
              <a:lnSpc>
                <a:spcPts val="163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défaut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6458" y="1952370"/>
            <a:ext cx="5699760" cy="20186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6385" indent="-286385" algn="ctr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863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permettent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4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fonctionnalités</a:t>
            </a:r>
            <a:r>
              <a:rPr sz="1400" spc="4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(des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méthodes)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devront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impérativement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implémenter</a:t>
            </a:r>
            <a:endParaRPr sz="1400">
              <a:latin typeface="Calibri"/>
              <a:cs typeface="Calibri"/>
            </a:endParaRPr>
          </a:p>
          <a:p>
            <a:pPr marL="296545" marR="635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utilisateurs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donc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assurés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trouver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définies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dans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chacune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concrètes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300"/>
              </a:lnSpc>
              <a:spcBef>
                <a:spcPts val="61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constituent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donc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sorte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contrat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(spécification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contraignante)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garantit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certaines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seront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disponibles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oblige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programmeurs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implémenter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concrètes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03</a:t>
            </a:r>
            <a:r>
              <a:rPr spc="-3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3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Caractériser</a:t>
            </a:r>
            <a:r>
              <a:rPr spc="-1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l’abstraction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FF7800"/>
                </a:solidFill>
              </a:rPr>
              <a:t>Classes</a:t>
            </a:r>
            <a:r>
              <a:rPr sz="1600" spc="-40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abstraites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887016"/>
            <a:ext cx="4501515" cy="23647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6545" marR="5715" indent="-284480" algn="just">
              <a:lnSpc>
                <a:spcPct val="952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Sachant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formes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possèdent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propriétés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périmètre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surface,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judicieux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placer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périmètre()et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surface()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à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racine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l'arborescence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(Forme)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000"/>
              </a:lnSpc>
              <a:spcBef>
                <a:spcPts val="61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surface()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périmètre()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définies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r>
              <a:rPr sz="14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4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présentent</a:t>
            </a:r>
            <a:r>
              <a:rPr sz="1400" spc="4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4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doivent 	impérativement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implémentées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filles</a:t>
            </a:r>
            <a:endParaRPr sz="1400">
              <a:latin typeface="Calibri"/>
              <a:cs typeface="Calibri"/>
            </a:endParaRPr>
          </a:p>
          <a:p>
            <a:pPr marL="296545" marR="6985" indent="-284480" algn="just">
              <a:lnSpc>
                <a:spcPts val="1580"/>
              </a:lnSpc>
              <a:spcBef>
                <a:spcPts val="6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surface() et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périmètre()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 des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 	abstraites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214044" y="2123884"/>
          <a:ext cx="2331720" cy="1979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892175" marR="297180" indent="-58864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6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&lt;&lt;classe</a:t>
                      </a:r>
                      <a:r>
                        <a:rPr sz="1600" b="1" spc="-5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Abstraite&gt;&gt; </a:t>
                      </a:r>
                      <a:r>
                        <a:rPr sz="1600" b="1" spc="-2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Forme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033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38100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Couleur:</a:t>
                      </a:r>
                      <a:r>
                        <a:rPr sz="1400" spc="-5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748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38100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645">
                <a:tc>
                  <a:txBody>
                    <a:bodyPr/>
                    <a:lstStyle/>
                    <a:p>
                      <a:pPr marL="90170" marR="104457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Surface():</a:t>
                      </a:r>
                      <a:r>
                        <a:rPr sz="14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réel </a:t>
                      </a:r>
                      <a:r>
                        <a:rPr sz="14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Périmètre(): </a:t>
                      </a:r>
                      <a:r>
                        <a:rPr sz="14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réel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398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28575">
                      <a:solidFill>
                        <a:srgbClr val="0058A0"/>
                      </a:solidFill>
                      <a:prstDash val="solid"/>
                    </a:lnB>
                    <a:solidFill>
                      <a:srgbClr val="4471C4">
                        <a:alpha val="3294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5914644" y="4604956"/>
            <a:ext cx="4034154" cy="764540"/>
            <a:chOff x="5914644" y="4604956"/>
            <a:chExt cx="4034154" cy="764540"/>
          </a:xfrm>
        </p:grpSpPr>
        <p:sp>
          <p:nvSpPr>
            <p:cNvPr id="13" name="object 13"/>
            <p:cNvSpPr/>
            <p:nvPr/>
          </p:nvSpPr>
          <p:spPr>
            <a:xfrm>
              <a:off x="6996683" y="4619244"/>
              <a:ext cx="2938145" cy="486409"/>
            </a:xfrm>
            <a:custGeom>
              <a:avLst/>
              <a:gdLst/>
              <a:ahLst/>
              <a:cxnLst/>
              <a:rect l="l" t="t" r="r" b="b"/>
              <a:pathLst>
                <a:path w="2938145" h="486410">
                  <a:moveTo>
                    <a:pt x="2937637" y="228599"/>
                  </a:moveTo>
                  <a:lnTo>
                    <a:pt x="2937637" y="0"/>
                  </a:lnTo>
                  <a:lnTo>
                    <a:pt x="0" y="0"/>
                  </a:lnTo>
                  <a:lnTo>
                    <a:pt x="0" y="486282"/>
                  </a:lnTo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14644" y="4911852"/>
              <a:ext cx="2161540" cy="457200"/>
            </a:xfrm>
            <a:custGeom>
              <a:avLst/>
              <a:gdLst/>
              <a:ahLst/>
              <a:cxnLst/>
              <a:rect l="l" t="t" r="r" b="b"/>
              <a:pathLst>
                <a:path w="2161540" h="457200">
                  <a:moveTo>
                    <a:pt x="2161031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161031" y="457200"/>
                  </a:lnTo>
                  <a:lnTo>
                    <a:pt x="21610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914644" y="4911852"/>
            <a:ext cx="2161540" cy="45720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Cercle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14644" y="5369052"/>
            <a:ext cx="2161540" cy="716280"/>
          </a:xfrm>
          <a:custGeom>
            <a:avLst/>
            <a:gdLst/>
            <a:ahLst/>
            <a:cxnLst/>
            <a:rect l="l" t="t" r="r" b="b"/>
            <a:pathLst>
              <a:path w="2161540" h="716279">
                <a:moveTo>
                  <a:pt x="2161031" y="0"/>
                </a:moveTo>
                <a:lnTo>
                  <a:pt x="0" y="0"/>
                </a:lnTo>
                <a:lnTo>
                  <a:pt x="0" y="716280"/>
                </a:lnTo>
                <a:lnTo>
                  <a:pt x="2161031" y="716280"/>
                </a:lnTo>
                <a:lnTo>
                  <a:pt x="21610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14644" y="5369052"/>
            <a:ext cx="2161540" cy="71628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4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Rayon:</a:t>
            </a:r>
            <a:r>
              <a:rPr sz="14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01F5F"/>
                </a:solidFill>
                <a:latin typeface="Calibri"/>
                <a:cs typeface="Calibri"/>
              </a:rPr>
              <a:t>réel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26068" y="4905755"/>
            <a:ext cx="2161540" cy="46037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664845">
              <a:lnSpc>
                <a:spcPct val="100000"/>
              </a:lnSpc>
              <a:spcBef>
                <a:spcPts val="740"/>
              </a:spcBef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Rectangle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26068" y="5366003"/>
            <a:ext cx="2161540" cy="71374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55"/>
              </a:spcBef>
            </a:pP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Longueur:</a:t>
            </a:r>
            <a:r>
              <a:rPr sz="14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01F5F"/>
                </a:solidFill>
                <a:latin typeface="Calibri"/>
                <a:cs typeface="Calibri"/>
              </a:rPr>
              <a:t>réel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9366" y="4119371"/>
            <a:ext cx="85725" cy="485140"/>
          </a:xfrm>
          <a:custGeom>
            <a:avLst/>
            <a:gdLst/>
            <a:ahLst/>
            <a:cxnLst/>
            <a:rect l="l" t="t" r="r" b="b"/>
            <a:pathLst>
              <a:path w="85725" h="485139">
                <a:moveTo>
                  <a:pt x="57150" y="71500"/>
                </a:moveTo>
                <a:lnTo>
                  <a:pt x="28575" y="71500"/>
                </a:lnTo>
                <a:lnTo>
                  <a:pt x="28575" y="484758"/>
                </a:lnTo>
                <a:lnTo>
                  <a:pt x="57150" y="484758"/>
                </a:lnTo>
                <a:lnTo>
                  <a:pt x="57150" y="71500"/>
                </a:lnTo>
                <a:close/>
              </a:path>
              <a:path w="85725" h="485139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500"/>
                </a:lnTo>
                <a:lnTo>
                  <a:pt x="78623" y="71500"/>
                </a:lnTo>
                <a:lnTo>
                  <a:pt x="42925" y="0"/>
                </a:lnTo>
                <a:close/>
              </a:path>
              <a:path w="85725" h="485139">
                <a:moveTo>
                  <a:pt x="78623" y="71500"/>
                </a:moveTo>
                <a:lnTo>
                  <a:pt x="57150" y="71500"/>
                </a:lnTo>
                <a:lnTo>
                  <a:pt x="57150" y="85725"/>
                </a:lnTo>
                <a:lnTo>
                  <a:pt x="85725" y="85725"/>
                </a:lnTo>
                <a:lnTo>
                  <a:pt x="78623" y="71500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87</a:t>
            </a:fld>
            <a:endParaRPr spc="-25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3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503032" y="1105280"/>
            <a:ext cx="3176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Caractériser</a:t>
            </a:r>
            <a:r>
              <a:rPr sz="2400" b="1" spc="-8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l’abstraction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106295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Principes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Méthodes</a:t>
            </a:r>
            <a:r>
              <a:rPr sz="1600" b="1" spc="-6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abstraites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90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03</a:t>
            </a:r>
            <a:r>
              <a:rPr spc="-3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3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Caractériser</a:t>
            </a:r>
            <a:r>
              <a:rPr spc="-1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l’abstraction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FF7800"/>
                </a:solidFill>
              </a:rPr>
              <a:t>Méthodes</a:t>
            </a:r>
            <a:r>
              <a:rPr sz="1600" spc="-80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abstraites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955673"/>
            <a:ext cx="4501515" cy="209486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96545" marR="5080" indent="-284480" algn="just">
              <a:lnSpc>
                <a:spcPct val="95800"/>
              </a:lnSpc>
              <a:spcBef>
                <a:spcPts val="16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contient 	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b="1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corps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possède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simplement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signature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(pas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d'instructions)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déclarée</a:t>
            </a:r>
            <a:r>
              <a:rPr sz="1400" spc="43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endParaRPr sz="1400">
              <a:latin typeface="Calibri"/>
              <a:cs typeface="Calibri"/>
            </a:endParaRPr>
          </a:p>
          <a:p>
            <a:pPr marL="299085" marR="6985" indent="-287020">
              <a:lnSpc>
                <a:spcPts val="1580"/>
              </a:lnSpc>
              <a:spcBef>
                <a:spcPts val="665"/>
              </a:spcBef>
              <a:buFont typeface="Arial MT"/>
              <a:buChar char="•"/>
              <a:tabLst>
                <a:tab pos="299085" algn="l"/>
                <a:tab pos="737870" algn="l"/>
                <a:tab pos="1316990" algn="l"/>
                <a:tab pos="2210435" algn="l"/>
                <a:tab pos="2631440" algn="l"/>
                <a:tab pos="2963545" algn="l"/>
                <a:tab pos="3759200" algn="l"/>
              </a:tabLst>
            </a:pP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possédant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 abstraites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devient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obligatoirement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une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endParaRPr sz="1400">
              <a:latin typeface="Calibri"/>
              <a:cs typeface="Calibri"/>
            </a:endParaRPr>
          </a:p>
          <a:p>
            <a:pPr marL="299085" marR="6985" indent="-287020">
              <a:lnSpc>
                <a:spcPts val="1610"/>
              </a:lnSpc>
              <a:spcBef>
                <a:spcPts val="61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comporter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 abstraites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6458" y="1883841"/>
            <a:ext cx="5696585" cy="167830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3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règles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suivantes</a:t>
            </a:r>
            <a:r>
              <a:rPr sz="1400" b="1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s'appliquent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instanciée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elle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redéfinit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 abstraite de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 parente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 qu'elle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fournit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implémentation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corps)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chacune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endParaRPr sz="1400">
              <a:latin typeface="Calibri"/>
              <a:cs typeface="Calibri"/>
            </a:endParaRPr>
          </a:p>
          <a:p>
            <a:pPr marL="296545" marR="5715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n'implémente</a:t>
            </a:r>
            <a:r>
              <a:rPr sz="1400" spc="3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3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3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3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r>
              <a:rPr sz="1400" spc="3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dont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3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hérite,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elle-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même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(et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donc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instanciée)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0479" y="2358897"/>
            <a:ext cx="4772660" cy="113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que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apprendre</a:t>
            </a:r>
            <a:r>
              <a:rPr sz="18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chapitre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Comprendre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interfaces</a:t>
            </a:r>
            <a:r>
              <a:rPr sz="16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leurs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utilités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l’implémentation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interface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7" name="object 7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 dirty="0"/>
          </a:p>
        </p:txBody>
      </p:sp>
      <p:sp>
        <p:nvSpPr>
          <p:cNvPr id="10" name="object 10"/>
          <p:cNvSpPr txBox="1"/>
          <p:nvPr/>
        </p:nvSpPr>
        <p:spPr>
          <a:xfrm>
            <a:off x="7551801" y="1105280"/>
            <a:ext cx="3077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interfaces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96325" y="6263436"/>
            <a:ext cx="1264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545705" y="1105280"/>
            <a:ext cx="3088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interfaces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879725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Définition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interfaces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Utilité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interfaces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Implémentation</a:t>
            </a:r>
            <a:r>
              <a:rPr sz="16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interfaces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93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04</a:t>
            </a:r>
            <a:r>
              <a:rPr spc="-3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Manipuler</a:t>
            </a:r>
            <a:r>
              <a:rPr spc="-3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les</a:t>
            </a:r>
            <a:r>
              <a:rPr spc="-1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interfaces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FF7800"/>
                </a:solidFill>
              </a:rPr>
              <a:t>Définition</a:t>
            </a:r>
            <a:r>
              <a:rPr sz="1600" spc="-30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des</a:t>
            </a:r>
            <a:r>
              <a:rPr sz="1600" spc="-45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interfaces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955673"/>
            <a:ext cx="4507230" cy="923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abstraite,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interface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nouveau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(référence).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3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3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interface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r>
              <a:rPr sz="1400" spc="3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particulière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où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30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13804" y="1943100"/>
            <a:ext cx="3197860" cy="582295"/>
          </a:xfrm>
          <a:prstGeom prst="rect">
            <a:avLst/>
          </a:prstGeom>
          <a:solidFill>
            <a:srgbClr val="DEEBF7"/>
          </a:solidFill>
          <a:ln w="28575">
            <a:solidFill>
              <a:srgbClr val="0058A0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1161415" marR="1156970" algn="ctr">
              <a:lnSpc>
                <a:spcPct val="100000"/>
              </a:lnSpc>
              <a:spcBef>
                <a:spcPts val="819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&lt;&lt;interface&gt;&gt; imprimable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13804" y="2525267"/>
            <a:ext cx="3197860" cy="457200"/>
          </a:xfrm>
          <a:prstGeom prst="rect">
            <a:avLst/>
          </a:prstGeom>
          <a:solidFill>
            <a:srgbClr val="DEEBF7"/>
          </a:solidFill>
          <a:ln w="28575">
            <a:solidFill>
              <a:srgbClr val="0058A0"/>
            </a:solidFill>
          </a:ln>
        </p:spPr>
        <p:txBody>
          <a:bodyPr vert="horz" wrap="square" lIns="0" tIns="1282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10"/>
              </a:spcBef>
            </a:pP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Imprimer()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551801" y="1105280"/>
            <a:ext cx="3077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interfaces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879725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interfaces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Utilité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interfaces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Implémentation</a:t>
            </a:r>
            <a:r>
              <a:rPr sz="16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interfaces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70817" y="6709968"/>
            <a:ext cx="153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solidFill>
                  <a:srgbClr val="AEABAB"/>
                </a:solidFill>
                <a:latin typeface="Calibri"/>
                <a:cs typeface="Calibri"/>
              </a:rPr>
              <a:t>95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04</a:t>
            </a:r>
            <a:r>
              <a:rPr spc="-3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Manipuler</a:t>
            </a:r>
            <a:r>
              <a:rPr spc="-3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les</a:t>
            </a:r>
            <a:r>
              <a:rPr spc="-1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interfaces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FF7800"/>
                </a:solidFill>
              </a:rPr>
              <a:t>Utilité</a:t>
            </a:r>
            <a:r>
              <a:rPr sz="1600" spc="-30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des</a:t>
            </a:r>
            <a:r>
              <a:rPr sz="1600" spc="-45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interfaces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504055" cy="29794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Utilité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interfaces</a:t>
            </a:r>
            <a:endParaRPr sz="16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844"/>
              </a:spcBef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L’utilisation</a:t>
            </a:r>
            <a:r>
              <a:rPr sz="140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interfaces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permet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6545" marR="8255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(regrouper)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propriétés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être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transférées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45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4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4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mécanisme</a:t>
            </a:r>
            <a:r>
              <a:rPr sz="1400" spc="4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particulier 	(l’implémentation)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200"/>
              </a:lnSpc>
              <a:spcBef>
                <a:spcPts val="61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Garantir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«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clients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»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ses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instances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assurer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certains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services,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qu’elles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possèdent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certaines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propriétés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(par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exemple,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comparables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à 	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d’autres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instances)</a:t>
            </a:r>
            <a:endParaRPr sz="1400">
              <a:latin typeface="Calibri"/>
              <a:cs typeface="Calibri"/>
            </a:endParaRPr>
          </a:p>
          <a:p>
            <a:pPr marL="296545" marR="889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Faire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polymorphisme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n’appartiennent</a:t>
            </a:r>
            <a:r>
              <a:rPr sz="14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4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hiérarchie</a:t>
            </a:r>
            <a:r>
              <a:rPr sz="14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d’héritage 	(l’interface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joue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rôle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mère)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551801" y="1105280"/>
            <a:ext cx="3077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interfaces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94386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Définition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interfaces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Utilité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interfaces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Implémentation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interfaces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04</a:t>
            </a:r>
            <a:r>
              <a:rPr spc="-3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Manipuler</a:t>
            </a:r>
            <a:r>
              <a:rPr spc="-3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les</a:t>
            </a:r>
            <a:r>
              <a:rPr spc="-1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interfaces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FF7800"/>
                </a:solidFill>
              </a:rPr>
              <a:t>Implémentation</a:t>
            </a:r>
            <a:r>
              <a:rPr sz="1600" spc="-2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des</a:t>
            </a:r>
            <a:r>
              <a:rPr sz="1600" spc="10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interfaces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560956"/>
            <a:ext cx="10351770" cy="196723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9085" marR="10160" indent="-287020">
              <a:lnSpc>
                <a:spcPts val="1610"/>
              </a:lnSpc>
              <a:spcBef>
                <a:spcPts val="20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dit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qu'une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implémente</a:t>
            </a:r>
            <a:r>
              <a:rPr sz="1400" b="1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interface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fournit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implémentation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(c'est-à-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dire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corps)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chacune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 abstraites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interface.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implémente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interface,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doit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implémenter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chacune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interfaces.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Exemple1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9085" marR="6985" indent="-287020">
              <a:lnSpc>
                <a:spcPts val="1610"/>
              </a:lnSpc>
              <a:spcBef>
                <a:spcPts val="64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l'on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souhaite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caractériser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fonctionnalité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comparaison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commune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ont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relation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d'ordre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(plus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petit,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égal,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grand),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l'interface Comparable.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57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3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3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Outils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implémentent</a:t>
            </a:r>
            <a:r>
              <a:rPr sz="1400" spc="3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l'interface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Comparable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doivent</a:t>
            </a:r>
            <a:r>
              <a:rPr sz="1400" b="1" spc="3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présenter</a:t>
            </a:r>
            <a:r>
              <a:rPr sz="1400" b="1" spc="3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4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implémentation</a:t>
            </a:r>
            <a:r>
              <a:rPr sz="1400" b="1" spc="3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4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méthode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CompareTo()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sinon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elles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seront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abstraites.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51476" y="3573779"/>
            <a:ext cx="2917190" cy="1268095"/>
          </a:xfrm>
          <a:custGeom>
            <a:avLst/>
            <a:gdLst/>
            <a:ahLst/>
            <a:cxnLst/>
            <a:rect l="l" t="t" r="r" b="b"/>
            <a:pathLst>
              <a:path w="2917190" h="1268095">
                <a:moveTo>
                  <a:pt x="0" y="1267968"/>
                </a:moveTo>
                <a:lnTo>
                  <a:pt x="2916935" y="1267968"/>
                </a:lnTo>
                <a:lnTo>
                  <a:pt x="2916935" y="0"/>
                </a:lnTo>
                <a:lnTo>
                  <a:pt x="0" y="0"/>
                </a:lnTo>
                <a:lnTo>
                  <a:pt x="0" y="1267968"/>
                </a:lnTo>
                <a:close/>
              </a:path>
              <a:path w="2917190" h="1268095">
                <a:moveTo>
                  <a:pt x="0" y="633984"/>
                </a:moveTo>
                <a:lnTo>
                  <a:pt x="2915666" y="665480"/>
                </a:lnTo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51476" y="3573779"/>
            <a:ext cx="2917190" cy="61976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111125" rIns="0" bIns="0" rtlCol="0">
            <a:spAutoFit/>
          </a:bodyPr>
          <a:lstStyle/>
          <a:p>
            <a:pPr marL="857885" marR="1128395" indent="-79375">
              <a:lnSpc>
                <a:spcPct val="100000"/>
              </a:lnSpc>
              <a:spcBef>
                <a:spcPts val="875"/>
              </a:spcBef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&lt;&lt;Interface&gt;&gt;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Comparable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65763" y="4253547"/>
            <a:ext cx="2888615" cy="57404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119380" rIns="0" bIns="0" rtlCol="0">
            <a:spAutoFit/>
          </a:bodyPr>
          <a:lstStyle/>
          <a:p>
            <a:pPr marL="410209">
              <a:lnSpc>
                <a:spcPct val="100000"/>
              </a:lnSpc>
              <a:spcBef>
                <a:spcPts val="940"/>
              </a:spcBef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CompareTo():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boolean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90315" y="5673852"/>
            <a:ext cx="2273935" cy="417830"/>
          </a:xfrm>
          <a:custGeom>
            <a:avLst/>
            <a:gdLst/>
            <a:ahLst/>
            <a:cxnLst/>
            <a:rect l="l" t="t" r="r" b="b"/>
            <a:pathLst>
              <a:path w="2273935" h="417829">
                <a:moveTo>
                  <a:pt x="0" y="417576"/>
                </a:moveTo>
                <a:lnTo>
                  <a:pt x="2273808" y="417576"/>
                </a:lnTo>
                <a:lnTo>
                  <a:pt x="2273808" y="0"/>
                </a:lnTo>
                <a:lnTo>
                  <a:pt x="0" y="0"/>
                </a:lnTo>
                <a:lnTo>
                  <a:pt x="0" y="417576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04603" y="5754420"/>
            <a:ext cx="22453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Personne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90315" y="6097523"/>
            <a:ext cx="2273935" cy="314325"/>
          </a:xfrm>
          <a:custGeom>
            <a:avLst/>
            <a:gdLst/>
            <a:ahLst/>
            <a:cxnLst/>
            <a:rect l="l" t="t" r="r" b="b"/>
            <a:pathLst>
              <a:path w="2273935" h="314325">
                <a:moveTo>
                  <a:pt x="0" y="313944"/>
                </a:moveTo>
                <a:lnTo>
                  <a:pt x="2273808" y="313944"/>
                </a:lnTo>
                <a:lnTo>
                  <a:pt x="2273808" y="0"/>
                </a:lnTo>
                <a:lnTo>
                  <a:pt x="0" y="0"/>
                </a:lnTo>
                <a:lnTo>
                  <a:pt x="0" y="313944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04603" y="6126276"/>
            <a:ext cx="224536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CompareTo():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boolean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886956" y="5673852"/>
            <a:ext cx="2277110" cy="451484"/>
          </a:xfrm>
          <a:custGeom>
            <a:avLst/>
            <a:gdLst/>
            <a:ahLst/>
            <a:cxnLst/>
            <a:rect l="l" t="t" r="r" b="b"/>
            <a:pathLst>
              <a:path w="2277109" h="451485">
                <a:moveTo>
                  <a:pt x="0" y="451104"/>
                </a:moveTo>
                <a:lnTo>
                  <a:pt x="2276855" y="451104"/>
                </a:lnTo>
                <a:lnTo>
                  <a:pt x="2276855" y="0"/>
                </a:lnTo>
                <a:lnTo>
                  <a:pt x="0" y="0"/>
                </a:lnTo>
                <a:lnTo>
                  <a:pt x="0" y="451104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901243" y="5771794"/>
            <a:ext cx="22485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Outils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86956" y="6121908"/>
            <a:ext cx="2277110" cy="329565"/>
          </a:xfrm>
          <a:custGeom>
            <a:avLst/>
            <a:gdLst/>
            <a:ahLst/>
            <a:cxnLst/>
            <a:rect l="l" t="t" r="r" b="b"/>
            <a:pathLst>
              <a:path w="2277109" h="329564">
                <a:moveTo>
                  <a:pt x="0" y="329183"/>
                </a:moveTo>
                <a:lnTo>
                  <a:pt x="2276855" y="329183"/>
                </a:lnTo>
                <a:lnTo>
                  <a:pt x="2276855" y="0"/>
                </a:lnTo>
                <a:lnTo>
                  <a:pt x="0" y="0"/>
                </a:lnTo>
                <a:lnTo>
                  <a:pt x="0" y="329183"/>
                </a:lnTo>
                <a:close/>
              </a:path>
            </a:pathLst>
          </a:custGeom>
          <a:ln w="28575">
            <a:solidFill>
              <a:srgbClr val="005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901243" y="6157976"/>
            <a:ext cx="22485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90"/>
              </a:spcBef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CompareTo():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boolean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27220" y="4860035"/>
            <a:ext cx="3613785" cy="823594"/>
          </a:xfrm>
          <a:custGeom>
            <a:avLst/>
            <a:gdLst/>
            <a:ahLst/>
            <a:cxnLst/>
            <a:rect l="l" t="t" r="r" b="b"/>
            <a:pathLst>
              <a:path w="3613784" h="823595">
                <a:moveTo>
                  <a:pt x="3613531" y="392049"/>
                </a:moveTo>
                <a:lnTo>
                  <a:pt x="1791208" y="392049"/>
                </a:lnTo>
                <a:lnTo>
                  <a:pt x="1791208" y="85725"/>
                </a:lnTo>
                <a:lnTo>
                  <a:pt x="1818640" y="85725"/>
                </a:lnTo>
                <a:lnTo>
                  <a:pt x="1819783" y="85725"/>
                </a:lnTo>
                <a:lnTo>
                  <a:pt x="1812607" y="71374"/>
                </a:lnTo>
                <a:lnTo>
                  <a:pt x="1776984" y="0"/>
                </a:lnTo>
                <a:lnTo>
                  <a:pt x="1776336" y="1270"/>
                </a:lnTo>
                <a:lnTo>
                  <a:pt x="1775714" y="0"/>
                </a:lnTo>
                <a:lnTo>
                  <a:pt x="1732915" y="85725"/>
                </a:lnTo>
                <a:lnTo>
                  <a:pt x="1734058" y="85725"/>
                </a:lnTo>
                <a:lnTo>
                  <a:pt x="1761490" y="85725"/>
                </a:lnTo>
                <a:lnTo>
                  <a:pt x="1761490" y="794981"/>
                </a:lnTo>
                <a:lnTo>
                  <a:pt x="0" y="794981"/>
                </a:lnTo>
                <a:lnTo>
                  <a:pt x="0" y="823556"/>
                </a:lnTo>
                <a:lnTo>
                  <a:pt x="1790065" y="823556"/>
                </a:lnTo>
                <a:lnTo>
                  <a:pt x="1790065" y="809269"/>
                </a:lnTo>
                <a:lnTo>
                  <a:pt x="1790065" y="794981"/>
                </a:lnTo>
                <a:lnTo>
                  <a:pt x="1790065" y="420624"/>
                </a:lnTo>
                <a:lnTo>
                  <a:pt x="3584956" y="420624"/>
                </a:lnTo>
                <a:lnTo>
                  <a:pt x="3584956" y="812736"/>
                </a:lnTo>
                <a:lnTo>
                  <a:pt x="3613531" y="812736"/>
                </a:lnTo>
                <a:lnTo>
                  <a:pt x="3613531" y="420624"/>
                </a:lnTo>
                <a:lnTo>
                  <a:pt x="3613531" y="392049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318253" y="4918075"/>
            <a:ext cx="42310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36290" algn="l"/>
              </a:tabLst>
            </a:pPr>
            <a:r>
              <a:rPr sz="1400" b="1" u="sng" spc="-1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implémente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2100" b="1" u="sng" spc="-15" baseline="3968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implémente</a:t>
            </a:r>
            <a:endParaRPr sz="2100" baseline="3968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2763" y="4952745"/>
            <a:ext cx="1287145" cy="664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Comparaison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des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personnes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selon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l'âge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84451" y="5465317"/>
            <a:ext cx="7422515" cy="819150"/>
          </a:xfrm>
          <a:custGeom>
            <a:avLst/>
            <a:gdLst/>
            <a:ahLst/>
            <a:cxnLst/>
            <a:rect l="l" t="t" r="r" b="b"/>
            <a:pathLst>
              <a:path w="7422515" h="819150">
                <a:moveTo>
                  <a:pt x="1299718" y="489394"/>
                </a:moveTo>
                <a:lnTo>
                  <a:pt x="1289138" y="478155"/>
                </a:lnTo>
                <a:lnTo>
                  <a:pt x="1234059" y="419582"/>
                </a:lnTo>
                <a:lnTo>
                  <a:pt x="1224191" y="446405"/>
                </a:lnTo>
                <a:lnTo>
                  <a:pt x="9906" y="0"/>
                </a:lnTo>
                <a:lnTo>
                  <a:pt x="0" y="26924"/>
                </a:lnTo>
                <a:lnTo>
                  <a:pt x="1214335" y="473202"/>
                </a:lnTo>
                <a:lnTo>
                  <a:pt x="1204468" y="500049"/>
                </a:lnTo>
                <a:lnTo>
                  <a:pt x="1299718" y="489394"/>
                </a:lnTo>
                <a:close/>
              </a:path>
              <a:path w="7422515" h="819150">
                <a:moveTo>
                  <a:pt x="7422134" y="335381"/>
                </a:moveTo>
                <a:lnTo>
                  <a:pt x="7398385" y="319417"/>
                </a:lnTo>
                <a:lnTo>
                  <a:pt x="7115391" y="739546"/>
                </a:lnTo>
                <a:lnTo>
                  <a:pt x="7091680" y="723569"/>
                </a:lnTo>
                <a:lnTo>
                  <a:pt x="7079361" y="818616"/>
                </a:lnTo>
                <a:lnTo>
                  <a:pt x="7162800" y="771461"/>
                </a:lnTo>
                <a:lnTo>
                  <a:pt x="7156678" y="767346"/>
                </a:lnTo>
                <a:lnTo>
                  <a:pt x="7139127" y="755535"/>
                </a:lnTo>
                <a:lnTo>
                  <a:pt x="7422134" y="335381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509886" y="5235955"/>
            <a:ext cx="187007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Comparaison</a:t>
            </a:r>
            <a:r>
              <a:rPr sz="1400" b="1" spc="3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3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Outils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selon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longueur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96</a:t>
            </a:fld>
            <a:endParaRPr spc="-25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7800"/>
                </a:solidFill>
              </a:rPr>
              <a:t>04</a:t>
            </a:r>
            <a:r>
              <a:rPr spc="-35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-</a:t>
            </a:r>
            <a:r>
              <a:rPr spc="-4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Manipuler</a:t>
            </a:r>
            <a:r>
              <a:rPr spc="-30" dirty="0">
                <a:solidFill>
                  <a:srgbClr val="FF7800"/>
                </a:solidFill>
              </a:rPr>
              <a:t> </a:t>
            </a:r>
            <a:r>
              <a:rPr dirty="0">
                <a:solidFill>
                  <a:srgbClr val="FF7800"/>
                </a:solidFill>
              </a:rPr>
              <a:t>les</a:t>
            </a:r>
            <a:r>
              <a:rPr spc="-15" dirty="0">
                <a:solidFill>
                  <a:srgbClr val="FF7800"/>
                </a:solidFill>
              </a:rPr>
              <a:t> </a:t>
            </a:r>
            <a:r>
              <a:rPr spc="-10" dirty="0">
                <a:solidFill>
                  <a:srgbClr val="FF7800"/>
                </a:solidFill>
              </a:rPr>
              <a:t>interfaces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FF7800"/>
                </a:solidFill>
              </a:rPr>
              <a:t>Implémentation</a:t>
            </a:r>
            <a:r>
              <a:rPr sz="1600" spc="-25" dirty="0">
                <a:solidFill>
                  <a:srgbClr val="FF7800"/>
                </a:solidFill>
              </a:rPr>
              <a:t> </a:t>
            </a:r>
            <a:r>
              <a:rPr sz="1600" dirty="0">
                <a:solidFill>
                  <a:srgbClr val="FF7800"/>
                </a:solidFill>
              </a:rPr>
              <a:t>des</a:t>
            </a:r>
            <a:r>
              <a:rPr sz="1600" spc="10" dirty="0">
                <a:solidFill>
                  <a:srgbClr val="FF7800"/>
                </a:solidFill>
              </a:rPr>
              <a:t> </a:t>
            </a:r>
            <a:r>
              <a:rPr sz="1600" spc="-10" dirty="0">
                <a:solidFill>
                  <a:srgbClr val="FF7800"/>
                </a:solidFill>
              </a:rPr>
              <a:t>interfaces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955673"/>
            <a:ext cx="8705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2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2236469"/>
            <a:ext cx="4676140" cy="6432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96545" marR="5080" indent="-284480" algn="just">
              <a:lnSpc>
                <a:spcPct val="95000"/>
              </a:lnSpc>
              <a:spcBef>
                <a:spcPts val="17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Supposons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voulions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dérivées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disposent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imprimer() 	permettant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d'imprimer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formes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géométriques.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2922524"/>
            <a:ext cx="8185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Solution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1: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3202939"/>
            <a:ext cx="46742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Ajouter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Imprimer()à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5494" y="3403803"/>
            <a:ext cx="438912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325" algn="l"/>
                <a:tab pos="802005" algn="l"/>
                <a:tab pos="1564005" algn="l"/>
                <a:tab pos="1972945" algn="l"/>
                <a:tab pos="3009265" algn="l"/>
                <a:tab pos="3865879" algn="l"/>
              </a:tabLst>
            </a:pP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ainsi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chacune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sous-classes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concrètes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devrait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982" y="3540302"/>
            <a:ext cx="4672965" cy="175450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algn="just">
              <a:lnSpc>
                <a:spcPct val="100000"/>
              </a:lnSpc>
              <a:spcBef>
                <a:spcPts val="630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implémenter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méthode.</a:t>
            </a:r>
            <a:endParaRPr sz="1400">
              <a:latin typeface="Calibri"/>
              <a:cs typeface="Calibri"/>
            </a:endParaRPr>
          </a:p>
          <a:p>
            <a:pPr marL="12700" marR="5080" algn="just">
              <a:lnSpc>
                <a:spcPct val="95300"/>
              </a:lnSpc>
              <a:spcBef>
                <a:spcPts val="605"/>
              </a:spcBef>
            </a:pPr>
            <a:r>
              <a:rPr sz="1400" dirty="0">
                <a:solidFill>
                  <a:srgbClr val="555555"/>
                </a:solidFill>
                <a:latin typeface="Wingdings"/>
                <a:cs typeface="Wingdings"/>
              </a:rPr>
              <a:t></a:t>
            </a:r>
            <a:r>
              <a:rPr sz="1400" spc="15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d'autres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(qui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n'héritent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souhaitaient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également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disposer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400" spc="3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d'impression,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devraient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 nouveau déclarer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d'impression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dans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leur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arborescence.</a:t>
            </a:r>
            <a:endParaRPr sz="1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0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Solution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2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:</a:t>
            </a:r>
            <a:endParaRPr sz="1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3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implémente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l’interface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imprimable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8982" y="5337428"/>
            <a:ext cx="239268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ayant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Imprimer()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22692" y="3025139"/>
            <a:ext cx="1740535" cy="53657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algn="ctr">
              <a:lnSpc>
                <a:spcPts val="1300"/>
              </a:lnSpc>
              <a:spcBef>
                <a:spcPts val="420"/>
              </a:spcBef>
            </a:pPr>
            <a:r>
              <a:rPr sz="1100" b="1" dirty="0">
                <a:solidFill>
                  <a:srgbClr val="555555"/>
                </a:solidFill>
                <a:latin typeface="Calibri"/>
                <a:cs typeface="Calibri"/>
              </a:rPr>
              <a:t>&lt;&lt;class</a:t>
            </a:r>
            <a:r>
              <a:rPr sz="11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555555"/>
                </a:solidFill>
                <a:latin typeface="Calibri"/>
                <a:cs typeface="Calibri"/>
              </a:rPr>
              <a:t>Abstraite&gt;&gt;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ts val="1900"/>
              </a:lnSpc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08404" y="3547300"/>
            <a:ext cx="1769110" cy="1177925"/>
            <a:chOff x="7808404" y="3547300"/>
            <a:chExt cx="1769110" cy="1177925"/>
          </a:xfrm>
        </p:grpSpPr>
        <p:sp>
          <p:nvSpPr>
            <p:cNvPr id="19" name="object 19"/>
            <p:cNvSpPr/>
            <p:nvPr/>
          </p:nvSpPr>
          <p:spPr>
            <a:xfrm>
              <a:off x="7822692" y="3561588"/>
              <a:ext cx="1740535" cy="1149350"/>
            </a:xfrm>
            <a:custGeom>
              <a:avLst/>
              <a:gdLst/>
              <a:ahLst/>
              <a:cxnLst/>
              <a:rect l="l" t="t" r="r" b="b"/>
              <a:pathLst>
                <a:path w="1740534" h="1149350">
                  <a:moveTo>
                    <a:pt x="1740407" y="0"/>
                  </a:moveTo>
                  <a:lnTo>
                    <a:pt x="0" y="0"/>
                  </a:lnTo>
                  <a:lnTo>
                    <a:pt x="0" y="1149095"/>
                  </a:lnTo>
                  <a:lnTo>
                    <a:pt x="1740407" y="1149095"/>
                  </a:lnTo>
                  <a:lnTo>
                    <a:pt x="17404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22692" y="3561588"/>
              <a:ext cx="1740535" cy="1149350"/>
            </a:xfrm>
            <a:custGeom>
              <a:avLst/>
              <a:gdLst/>
              <a:ahLst/>
              <a:cxnLst/>
              <a:rect l="l" t="t" r="r" b="b"/>
              <a:pathLst>
                <a:path w="1740534" h="1149350">
                  <a:moveTo>
                    <a:pt x="0" y="1149095"/>
                  </a:moveTo>
                  <a:lnTo>
                    <a:pt x="1740407" y="1149095"/>
                  </a:lnTo>
                  <a:lnTo>
                    <a:pt x="1740407" y="0"/>
                  </a:lnTo>
                  <a:lnTo>
                    <a:pt x="0" y="0"/>
                  </a:lnTo>
                  <a:lnTo>
                    <a:pt x="0" y="1149095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578595" y="3649217"/>
            <a:ext cx="2393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X,</a:t>
            </a:r>
            <a:r>
              <a:rPr sz="12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555555"/>
                </a:solidFill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13878" y="3832097"/>
            <a:ext cx="654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Déplacer()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38792" y="5402579"/>
            <a:ext cx="1734820" cy="46672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770"/>
              </a:spcBef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Rectangle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636252" y="5868923"/>
            <a:ext cx="1737360" cy="692150"/>
          </a:xfrm>
          <a:custGeom>
            <a:avLst/>
            <a:gdLst/>
            <a:ahLst/>
            <a:cxnLst/>
            <a:rect l="l" t="t" r="r" b="b"/>
            <a:pathLst>
              <a:path w="1737359" h="692150">
                <a:moveTo>
                  <a:pt x="1737359" y="0"/>
                </a:moveTo>
                <a:lnTo>
                  <a:pt x="0" y="0"/>
                </a:lnTo>
                <a:lnTo>
                  <a:pt x="0" y="691896"/>
                </a:lnTo>
                <a:lnTo>
                  <a:pt x="1737359" y="691896"/>
                </a:lnTo>
                <a:lnTo>
                  <a:pt x="17373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638792" y="5868923"/>
            <a:ext cx="1734820" cy="69215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Surface():</a:t>
            </a:r>
            <a:r>
              <a:rPr sz="12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555555"/>
                </a:solidFill>
                <a:latin typeface="Calibri"/>
                <a:cs typeface="Calibri"/>
              </a:rPr>
              <a:t>réel</a:t>
            </a:r>
            <a:endParaRPr sz="120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Périmètre():</a:t>
            </a:r>
            <a:r>
              <a:rPr sz="12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555555"/>
                </a:solidFill>
                <a:latin typeface="Calibri"/>
                <a:cs typeface="Calibri"/>
              </a:rPr>
              <a:t>réel</a:t>
            </a:r>
            <a:endParaRPr sz="120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</a:pP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Imprimer()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97523" y="5436108"/>
            <a:ext cx="1701164" cy="37846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40"/>
              </a:spcBef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Cercle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097523" y="5814059"/>
            <a:ext cx="1701164" cy="762000"/>
          </a:xfrm>
          <a:custGeom>
            <a:avLst/>
            <a:gdLst/>
            <a:ahLst/>
            <a:cxnLst/>
            <a:rect l="l" t="t" r="r" b="b"/>
            <a:pathLst>
              <a:path w="1701165" h="762000">
                <a:moveTo>
                  <a:pt x="1700783" y="0"/>
                </a:moveTo>
                <a:lnTo>
                  <a:pt x="0" y="0"/>
                </a:lnTo>
                <a:lnTo>
                  <a:pt x="0" y="761999"/>
                </a:lnTo>
                <a:lnTo>
                  <a:pt x="1700783" y="761999"/>
                </a:lnTo>
                <a:lnTo>
                  <a:pt x="17007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097523" y="5814059"/>
            <a:ext cx="1701164" cy="76200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marL="90805" marR="582295">
              <a:lnSpc>
                <a:spcPct val="100000"/>
              </a:lnSpc>
              <a:spcBef>
                <a:spcPts val="770"/>
              </a:spcBef>
            </a:pP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Surface():</a:t>
            </a:r>
            <a:r>
              <a:rPr sz="12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555555"/>
                </a:solidFill>
                <a:latin typeface="Calibri"/>
                <a:cs typeface="Calibri"/>
              </a:rPr>
              <a:t>réel </a:t>
            </a: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Périmètre():</a:t>
            </a:r>
            <a:r>
              <a:rPr sz="12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555555"/>
                </a:solidFill>
                <a:latin typeface="Calibri"/>
                <a:cs typeface="Calibri"/>
              </a:rPr>
              <a:t>réel </a:t>
            </a: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Imprimer()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494396" y="4719828"/>
            <a:ext cx="2989580" cy="720090"/>
            <a:chOff x="7494396" y="4719828"/>
            <a:chExt cx="2989580" cy="720090"/>
          </a:xfrm>
        </p:grpSpPr>
        <p:sp>
          <p:nvSpPr>
            <p:cNvPr id="30" name="object 30"/>
            <p:cNvSpPr/>
            <p:nvPr/>
          </p:nvSpPr>
          <p:spPr>
            <a:xfrm>
              <a:off x="8813291" y="5079492"/>
              <a:ext cx="1656080" cy="324485"/>
            </a:xfrm>
            <a:custGeom>
              <a:avLst/>
              <a:gdLst/>
              <a:ahLst/>
              <a:cxnLst/>
              <a:rect l="l" t="t" r="r" b="b"/>
              <a:pathLst>
                <a:path w="1656079" h="324485">
                  <a:moveTo>
                    <a:pt x="0" y="0"/>
                  </a:moveTo>
                  <a:lnTo>
                    <a:pt x="828039" y="0"/>
                  </a:lnTo>
                  <a:lnTo>
                    <a:pt x="828039" y="323976"/>
                  </a:lnTo>
                  <a:lnTo>
                    <a:pt x="1655952" y="323976"/>
                  </a:lnTo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94396" y="4719828"/>
              <a:ext cx="1353185" cy="720090"/>
            </a:xfrm>
            <a:custGeom>
              <a:avLst/>
              <a:gdLst/>
              <a:ahLst/>
              <a:cxnLst/>
              <a:rect l="l" t="t" r="r" b="b"/>
              <a:pathLst>
                <a:path w="1353184" h="720089">
                  <a:moveTo>
                    <a:pt x="1296034" y="345694"/>
                  </a:moveTo>
                  <a:lnTo>
                    <a:pt x="0" y="345694"/>
                  </a:lnTo>
                  <a:lnTo>
                    <a:pt x="0" y="719963"/>
                  </a:lnTo>
                  <a:lnTo>
                    <a:pt x="28575" y="719963"/>
                  </a:lnTo>
                  <a:lnTo>
                    <a:pt x="28575" y="374269"/>
                  </a:lnTo>
                  <a:lnTo>
                    <a:pt x="14350" y="374269"/>
                  </a:lnTo>
                  <a:lnTo>
                    <a:pt x="28575" y="360045"/>
                  </a:lnTo>
                  <a:lnTo>
                    <a:pt x="1296034" y="360045"/>
                  </a:lnTo>
                  <a:lnTo>
                    <a:pt x="1296034" y="345694"/>
                  </a:lnTo>
                  <a:close/>
                </a:path>
                <a:path w="1353184" h="720089">
                  <a:moveTo>
                    <a:pt x="28575" y="360045"/>
                  </a:moveTo>
                  <a:lnTo>
                    <a:pt x="14350" y="374269"/>
                  </a:lnTo>
                  <a:lnTo>
                    <a:pt x="28575" y="374269"/>
                  </a:lnTo>
                  <a:lnTo>
                    <a:pt x="28575" y="360045"/>
                  </a:lnTo>
                  <a:close/>
                </a:path>
                <a:path w="1353184" h="720089">
                  <a:moveTo>
                    <a:pt x="1324609" y="345694"/>
                  </a:moveTo>
                  <a:lnTo>
                    <a:pt x="1310385" y="345694"/>
                  </a:lnTo>
                  <a:lnTo>
                    <a:pt x="1296034" y="360045"/>
                  </a:lnTo>
                  <a:lnTo>
                    <a:pt x="28575" y="360045"/>
                  </a:lnTo>
                  <a:lnTo>
                    <a:pt x="28575" y="374269"/>
                  </a:lnTo>
                  <a:lnTo>
                    <a:pt x="1324609" y="374269"/>
                  </a:lnTo>
                  <a:lnTo>
                    <a:pt x="1324609" y="345694"/>
                  </a:lnTo>
                  <a:close/>
                </a:path>
                <a:path w="1353184" h="720089">
                  <a:moveTo>
                    <a:pt x="1324609" y="71501"/>
                  </a:moveTo>
                  <a:lnTo>
                    <a:pt x="1296034" y="71501"/>
                  </a:lnTo>
                  <a:lnTo>
                    <a:pt x="1296034" y="360045"/>
                  </a:lnTo>
                  <a:lnTo>
                    <a:pt x="1310385" y="345694"/>
                  </a:lnTo>
                  <a:lnTo>
                    <a:pt x="1324609" y="345694"/>
                  </a:lnTo>
                  <a:lnTo>
                    <a:pt x="1324609" y="71501"/>
                  </a:lnTo>
                  <a:close/>
                </a:path>
                <a:path w="1353184" h="720089">
                  <a:moveTo>
                    <a:pt x="1310385" y="0"/>
                  </a:moveTo>
                  <a:lnTo>
                    <a:pt x="1267459" y="85725"/>
                  </a:lnTo>
                  <a:lnTo>
                    <a:pt x="1296034" y="85725"/>
                  </a:lnTo>
                  <a:lnTo>
                    <a:pt x="1296034" y="71501"/>
                  </a:lnTo>
                  <a:lnTo>
                    <a:pt x="1346083" y="71501"/>
                  </a:lnTo>
                  <a:lnTo>
                    <a:pt x="1310385" y="0"/>
                  </a:lnTo>
                  <a:close/>
                </a:path>
                <a:path w="1353184" h="720089">
                  <a:moveTo>
                    <a:pt x="1346083" y="71501"/>
                  </a:moveTo>
                  <a:lnTo>
                    <a:pt x="1324609" y="71501"/>
                  </a:lnTo>
                  <a:lnTo>
                    <a:pt x="1324609" y="85725"/>
                  </a:lnTo>
                  <a:lnTo>
                    <a:pt x="1353184" y="85725"/>
                  </a:lnTo>
                  <a:lnTo>
                    <a:pt x="1346083" y="71501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836979" y="4169664"/>
            <a:ext cx="1711960" cy="527050"/>
          </a:xfrm>
          <a:prstGeom prst="rect">
            <a:avLst/>
          </a:prstGeom>
          <a:solidFill>
            <a:srgbClr val="FFD966"/>
          </a:solidFill>
        </p:spPr>
        <p:txBody>
          <a:bodyPr vert="horz" wrap="square" lIns="0" tIns="6731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530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Surface():</a:t>
            </a:r>
            <a:r>
              <a:rPr sz="12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réel</a:t>
            </a:r>
            <a:endParaRPr sz="1200">
              <a:latin typeface="Calibri"/>
              <a:cs typeface="Calibri"/>
            </a:endParaRPr>
          </a:p>
          <a:p>
            <a:pPr marL="114935">
              <a:lnSpc>
                <a:spcPct val="100000"/>
              </a:lnSpc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Périmètre():</a:t>
            </a:r>
            <a:r>
              <a:rPr sz="12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réel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733915" y="4027423"/>
            <a:ext cx="15367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669271" y="3170885"/>
            <a:ext cx="117157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102345" y="6065926"/>
            <a:ext cx="12934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concrètes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61731" y="1589532"/>
            <a:ext cx="1740535" cy="481965"/>
          </a:xfrm>
          <a:prstGeom prst="rect">
            <a:avLst/>
          </a:prstGeom>
          <a:solidFill>
            <a:srgbClr val="DEEBF7"/>
          </a:solidFill>
          <a:ln w="28575">
            <a:solidFill>
              <a:srgbClr val="0058A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ts val="1300"/>
              </a:lnSpc>
              <a:spcBef>
                <a:spcPts val="244"/>
              </a:spcBef>
            </a:pPr>
            <a:r>
              <a:rPr sz="1100" b="1" spc="-10" dirty="0">
                <a:solidFill>
                  <a:srgbClr val="555555"/>
                </a:solidFill>
                <a:latin typeface="Calibri"/>
                <a:cs typeface="Calibri"/>
              </a:rPr>
              <a:t>&lt;&lt;interface&gt;&gt;</a:t>
            </a:r>
            <a:endParaRPr sz="1100">
              <a:latin typeface="Calibri"/>
              <a:cs typeface="Calibri"/>
            </a:endParaRPr>
          </a:p>
          <a:p>
            <a:pPr marL="1270" algn="ctr">
              <a:lnSpc>
                <a:spcPts val="1900"/>
              </a:lnSpc>
            </a:pP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imprimable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61731" y="2071116"/>
            <a:ext cx="1740535" cy="381000"/>
          </a:xfrm>
          <a:prstGeom prst="rect">
            <a:avLst/>
          </a:prstGeom>
          <a:solidFill>
            <a:srgbClr val="DEEBF7"/>
          </a:solidFill>
          <a:ln w="28575">
            <a:solidFill>
              <a:srgbClr val="0058A0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537210">
              <a:lnSpc>
                <a:spcPct val="100000"/>
              </a:lnSpc>
              <a:spcBef>
                <a:spcPts val="700"/>
              </a:spcBef>
            </a:pP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Imprimer()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608821" y="2452116"/>
            <a:ext cx="85725" cy="534035"/>
          </a:xfrm>
          <a:custGeom>
            <a:avLst/>
            <a:gdLst/>
            <a:ahLst/>
            <a:cxnLst/>
            <a:rect l="l" t="t" r="r" b="b"/>
            <a:pathLst>
              <a:path w="85725" h="534035">
                <a:moveTo>
                  <a:pt x="57150" y="71374"/>
                </a:moveTo>
                <a:lnTo>
                  <a:pt x="28575" y="71374"/>
                </a:lnTo>
                <a:lnTo>
                  <a:pt x="28575" y="533908"/>
                </a:lnTo>
                <a:lnTo>
                  <a:pt x="57150" y="533908"/>
                </a:lnTo>
                <a:lnTo>
                  <a:pt x="57150" y="71374"/>
                </a:lnTo>
                <a:close/>
              </a:path>
              <a:path w="85725" h="534035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374"/>
                </a:lnTo>
                <a:lnTo>
                  <a:pt x="78560" y="71374"/>
                </a:lnTo>
                <a:lnTo>
                  <a:pt x="42925" y="0"/>
                </a:lnTo>
                <a:close/>
              </a:path>
              <a:path w="85725" h="534035">
                <a:moveTo>
                  <a:pt x="78560" y="71374"/>
                </a:moveTo>
                <a:lnTo>
                  <a:pt x="57150" y="71374"/>
                </a:lnTo>
                <a:lnTo>
                  <a:pt x="57150" y="85725"/>
                </a:lnTo>
                <a:lnTo>
                  <a:pt x="85725" y="85725"/>
                </a:lnTo>
                <a:lnTo>
                  <a:pt x="78560" y="71374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851772" y="2581401"/>
            <a:ext cx="9074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implémente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97</a:t>
            </a:fld>
            <a:endParaRPr spc="-25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4" name="object 4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380479" y="2358897"/>
            <a:ext cx="5757545" cy="177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module,</a:t>
            </a:r>
            <a:r>
              <a:rPr sz="18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105" dirty="0">
                <a:solidFill>
                  <a:srgbClr val="555555"/>
                </a:solidFill>
                <a:latin typeface="Calibri"/>
                <a:cs typeface="Calibri"/>
              </a:rPr>
              <a:t>Explorer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8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5" dirty="0">
                <a:solidFill>
                  <a:srgbClr val="555555"/>
                </a:solidFill>
                <a:latin typeface="Calibri"/>
                <a:cs typeface="Calibri"/>
              </a:rPr>
              <a:t>concepts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85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sz="1600" spc="-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14" dirty="0">
                <a:solidFill>
                  <a:srgbClr val="555555"/>
                </a:solidFill>
                <a:latin typeface="Calibri"/>
                <a:cs typeface="Calibri"/>
              </a:rPr>
              <a:t>l’orienté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95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600" spc="-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95" dirty="0">
                <a:solidFill>
                  <a:srgbClr val="555555"/>
                </a:solidFill>
                <a:latin typeface="Calibri"/>
                <a:cs typeface="Calibri"/>
              </a:rPr>
              <a:t>langage</a:t>
            </a:r>
            <a:r>
              <a:rPr sz="1600" spc="-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10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600" spc="-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10" dirty="0">
                <a:solidFill>
                  <a:srgbClr val="555555"/>
                </a:solidFill>
                <a:latin typeface="Calibri"/>
                <a:cs typeface="Calibri"/>
              </a:rPr>
              <a:t>correctement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7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600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95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600" spc="-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5" dirty="0">
                <a:solidFill>
                  <a:srgbClr val="555555"/>
                </a:solidFill>
                <a:latin typeface="Calibri"/>
                <a:cs typeface="Calibri"/>
              </a:rPr>
              <a:t>(collections,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5" dirty="0">
                <a:solidFill>
                  <a:srgbClr val="555555"/>
                </a:solidFill>
                <a:latin typeface="Calibri"/>
                <a:cs typeface="Calibri"/>
              </a:rPr>
              <a:t>listes,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fichiers)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95" dirty="0">
                <a:solidFill>
                  <a:srgbClr val="555555"/>
                </a:solidFill>
                <a:latin typeface="Calibri"/>
                <a:cs typeface="Calibri"/>
              </a:rPr>
              <a:t>Manipuler </a:t>
            </a:r>
            <a:r>
              <a:rPr sz="1600" spc="-110" dirty="0">
                <a:solidFill>
                  <a:srgbClr val="555555"/>
                </a:solidFill>
                <a:latin typeface="Calibri"/>
                <a:cs typeface="Calibri"/>
              </a:rPr>
              <a:t>correctement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8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5" dirty="0">
                <a:solidFill>
                  <a:srgbClr val="555555"/>
                </a:solidFill>
                <a:latin typeface="Calibri"/>
                <a:cs typeface="Calibri"/>
              </a:rPr>
              <a:t>expressions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5" dirty="0">
                <a:solidFill>
                  <a:srgbClr val="555555"/>
                </a:solidFill>
                <a:latin typeface="Calibri"/>
                <a:cs typeface="Calibri"/>
              </a:rPr>
              <a:t>régulières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spc="-100" dirty="0">
                <a:solidFill>
                  <a:srgbClr val="555555"/>
                </a:solidFill>
                <a:latin typeface="Calibri"/>
                <a:cs typeface="Calibri"/>
              </a:rPr>
              <a:t>Gérer</a:t>
            </a:r>
            <a:r>
              <a:rPr sz="1600" spc="-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8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en</a:t>
            </a:r>
            <a:r>
              <a:rPr sz="1600" spc="-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8188959">
              <a:lnSpc>
                <a:spcPct val="100000"/>
              </a:lnSpc>
              <a:spcBef>
                <a:spcPts val="105"/>
              </a:spcBef>
            </a:pPr>
            <a:r>
              <a:rPr sz="2800" spc="-20" dirty="0">
                <a:solidFill>
                  <a:srgbClr val="007842"/>
                </a:solidFill>
              </a:rPr>
              <a:t>PARTIE</a:t>
            </a:r>
            <a:r>
              <a:rPr sz="2800" spc="-12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3</a:t>
            </a:r>
            <a:endParaRPr sz="2800"/>
          </a:p>
        </p:txBody>
      </p:sp>
      <p:sp>
        <p:nvSpPr>
          <p:cNvPr id="9" name="object 9"/>
          <p:cNvSpPr txBox="1"/>
          <p:nvPr/>
        </p:nvSpPr>
        <p:spPr>
          <a:xfrm>
            <a:off x="6841363" y="1105280"/>
            <a:ext cx="4495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Coder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des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solutions</a:t>
            </a:r>
            <a:r>
              <a:rPr sz="2400" b="1" spc="-10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orientées</a:t>
            </a:r>
            <a:r>
              <a:rPr sz="2400" b="1" spc="-6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objet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41080" y="4526279"/>
            <a:ext cx="899159" cy="89916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696325" y="6339713"/>
            <a:ext cx="126492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0479" y="2358897"/>
            <a:ext cx="5375275" cy="161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que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apprendre</a:t>
            </a:r>
            <a:r>
              <a:rPr sz="18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chapitre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codage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codage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principaux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paliers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en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savoir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l’encapsulation,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l’héritage,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polymorphisme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l’abstraction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7" name="object 7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1</a:t>
            </a:r>
            <a:endParaRPr sz="2800" dirty="0"/>
          </a:p>
        </p:txBody>
      </p:sp>
      <p:sp>
        <p:nvSpPr>
          <p:cNvPr id="11" name="object 11"/>
          <p:cNvSpPr txBox="1"/>
          <p:nvPr/>
        </p:nvSpPr>
        <p:spPr>
          <a:xfrm>
            <a:off x="8727185" y="6339713"/>
            <a:ext cx="126555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35851" y="1105280"/>
            <a:ext cx="4302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Coder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une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solution</a:t>
            </a:r>
            <a:r>
              <a:rPr sz="2400" b="1" spc="-8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orientée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objet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1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6941946" y="1105280"/>
            <a:ext cx="4293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Coder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une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solution</a:t>
            </a:r>
            <a:r>
              <a:rPr sz="2400" b="1" spc="-9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orientée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objet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81813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Création</a:t>
            </a:r>
            <a:r>
              <a:rPr sz="16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package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Codage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Intégration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concepts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67611"/>
            <a:ext cx="11657457" cy="5145405"/>
            <a:chOff x="0" y="1467611"/>
            <a:chExt cx="11657457" cy="5145405"/>
          </a:xfrm>
        </p:grpSpPr>
        <p:sp>
          <p:nvSpPr>
            <p:cNvPr id="4" name="object 4"/>
            <p:cNvSpPr/>
            <p:nvPr/>
          </p:nvSpPr>
          <p:spPr>
            <a:xfrm>
              <a:off x="537972" y="1467611"/>
              <a:ext cx="11119485" cy="5145405"/>
            </a:xfrm>
            <a:custGeom>
              <a:avLst/>
              <a:gdLst/>
              <a:ahLst/>
              <a:cxnLst/>
              <a:rect l="l" t="t" r="r" b="b"/>
              <a:pathLst>
                <a:path w="11119485" h="5145405">
                  <a:moveTo>
                    <a:pt x="11119104" y="0"/>
                  </a:moveTo>
                  <a:lnTo>
                    <a:pt x="0" y="0"/>
                  </a:lnTo>
                  <a:lnTo>
                    <a:pt x="0" y="5145024"/>
                  </a:lnTo>
                  <a:lnTo>
                    <a:pt x="11119104" y="5145024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7611"/>
              <a:ext cx="11119485" cy="5145405"/>
            </a:xfrm>
            <a:custGeom>
              <a:avLst/>
              <a:gdLst/>
              <a:ahLst/>
              <a:cxnLst/>
              <a:rect l="l" t="t" r="r" b="b"/>
              <a:pathLst>
                <a:path w="11119485" h="5145405">
                  <a:moveTo>
                    <a:pt x="0" y="5145024"/>
                  </a:moveTo>
                  <a:lnTo>
                    <a:pt x="11119104" y="5145024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45024"/>
                  </a:lnTo>
                  <a:close/>
                </a:path>
              </a:pathLst>
            </a:custGeom>
            <a:ln w="9525">
              <a:solidFill>
                <a:srgbClr val="9EC3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870447"/>
              <a:ext cx="536575" cy="536575"/>
            </a:xfrm>
            <a:custGeom>
              <a:avLst/>
              <a:gdLst/>
              <a:ahLst/>
              <a:cxnLst/>
              <a:rect l="l" t="t" r="r" b="b"/>
              <a:pathLst>
                <a:path w="536575" h="536575">
                  <a:moveTo>
                    <a:pt x="268224" y="0"/>
                  </a:moveTo>
                  <a:lnTo>
                    <a:pt x="220010" y="4321"/>
                  </a:lnTo>
                  <a:lnTo>
                    <a:pt x="174631" y="16781"/>
                  </a:lnTo>
                  <a:lnTo>
                    <a:pt x="132845" y="36621"/>
                  </a:lnTo>
                  <a:lnTo>
                    <a:pt x="95410" y="63083"/>
                  </a:lnTo>
                  <a:lnTo>
                    <a:pt x="63082" y="95412"/>
                  </a:lnTo>
                  <a:lnTo>
                    <a:pt x="36620" y="132847"/>
                  </a:lnTo>
                  <a:lnTo>
                    <a:pt x="16780" y="174633"/>
                  </a:lnTo>
                  <a:lnTo>
                    <a:pt x="4321" y="220011"/>
                  </a:lnTo>
                  <a:lnTo>
                    <a:pt x="0" y="268223"/>
                  </a:lnTo>
                  <a:lnTo>
                    <a:pt x="4321" y="316436"/>
                  </a:lnTo>
                  <a:lnTo>
                    <a:pt x="16780" y="361814"/>
                  </a:lnTo>
                  <a:lnTo>
                    <a:pt x="36620" y="403600"/>
                  </a:lnTo>
                  <a:lnTo>
                    <a:pt x="63082" y="441035"/>
                  </a:lnTo>
                  <a:lnTo>
                    <a:pt x="95410" y="473364"/>
                  </a:lnTo>
                  <a:lnTo>
                    <a:pt x="132845" y="499826"/>
                  </a:lnTo>
                  <a:lnTo>
                    <a:pt x="174631" y="519666"/>
                  </a:lnTo>
                  <a:lnTo>
                    <a:pt x="220010" y="532126"/>
                  </a:lnTo>
                  <a:lnTo>
                    <a:pt x="268224" y="536447"/>
                  </a:lnTo>
                  <a:lnTo>
                    <a:pt x="536448" y="536447"/>
                  </a:lnTo>
                  <a:lnTo>
                    <a:pt x="536448" y="268223"/>
                  </a:lnTo>
                  <a:lnTo>
                    <a:pt x="532126" y="220011"/>
                  </a:lnTo>
                  <a:lnTo>
                    <a:pt x="519666" y="174633"/>
                  </a:lnTo>
                  <a:lnTo>
                    <a:pt x="499826" y="132847"/>
                  </a:lnTo>
                  <a:lnTo>
                    <a:pt x="473364" y="95412"/>
                  </a:lnTo>
                  <a:lnTo>
                    <a:pt x="441036" y="63083"/>
                  </a:lnTo>
                  <a:lnTo>
                    <a:pt x="403600" y="36621"/>
                  </a:lnTo>
                  <a:lnTo>
                    <a:pt x="361814" y="16781"/>
                  </a:lnTo>
                  <a:lnTo>
                    <a:pt x="316436" y="4321"/>
                  </a:lnTo>
                  <a:lnTo>
                    <a:pt x="268224" y="0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Création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</a:t>
            </a:r>
            <a:r>
              <a:rPr sz="1600" spc="-5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package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887016"/>
            <a:ext cx="5048250" cy="195961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7180" indent="-284480" algn="just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répertoire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contenant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et/ou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répertoires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package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créer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votre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propre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package,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commencez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créer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dossier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votre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programme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principal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(exemple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main.py),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dossier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portant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votre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package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(exemple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src).</a:t>
            </a:r>
            <a:endParaRPr sz="1400">
              <a:latin typeface="Calibri"/>
              <a:cs typeface="Calibri"/>
            </a:endParaRPr>
          </a:p>
          <a:p>
            <a:pPr marL="296545" marR="7620" indent="-284480" algn="just">
              <a:lnSpc>
                <a:spcPts val="1610"/>
              </a:lnSpc>
              <a:spcBef>
                <a:spcPts val="64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package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src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contient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fichiers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sources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classés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sous-packages</a:t>
            </a:r>
            <a:endParaRPr sz="1400">
              <a:latin typeface="Calibri"/>
              <a:cs typeface="Calibri"/>
            </a:endParaRPr>
          </a:p>
          <a:p>
            <a:pPr marL="297815" indent="-285115" algn="just">
              <a:lnSpc>
                <a:spcPts val="1645"/>
              </a:lnSpc>
              <a:spcBef>
                <a:spcPts val="459"/>
              </a:spcBef>
              <a:buFont typeface="Arial MT"/>
              <a:buChar char="•"/>
              <a:tabLst>
                <a:tab pos="29781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Avant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3.3,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package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contenant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modules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doit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contenir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u="sng" spc="330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init</a:t>
            </a:r>
            <a:r>
              <a:rPr sz="1400" u="sng" spc="330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.py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73568" y="4421441"/>
            <a:ext cx="9311005" cy="1666875"/>
            <a:chOff x="1373568" y="4421441"/>
            <a:chExt cx="9311005" cy="16668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2079" y="4450079"/>
              <a:ext cx="5742432" cy="62788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87855" y="4435728"/>
              <a:ext cx="5771515" cy="656590"/>
            </a:xfrm>
            <a:custGeom>
              <a:avLst/>
              <a:gdLst/>
              <a:ahLst/>
              <a:cxnLst/>
              <a:rect l="l" t="t" r="r" b="b"/>
              <a:pathLst>
                <a:path w="5771515" h="656589">
                  <a:moveTo>
                    <a:pt x="0" y="656463"/>
                  </a:moveTo>
                  <a:lnTo>
                    <a:pt x="5771007" y="656463"/>
                  </a:lnTo>
                  <a:lnTo>
                    <a:pt x="5771007" y="0"/>
                  </a:lnTo>
                  <a:lnTo>
                    <a:pt x="0" y="0"/>
                  </a:lnTo>
                  <a:lnTo>
                    <a:pt x="0" y="656463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3376" y="5495543"/>
              <a:ext cx="5742432" cy="5638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99025" y="5481256"/>
              <a:ext cx="5771515" cy="592455"/>
            </a:xfrm>
            <a:custGeom>
              <a:avLst/>
              <a:gdLst/>
              <a:ahLst/>
              <a:cxnLst/>
              <a:rect l="l" t="t" r="r" b="b"/>
              <a:pathLst>
                <a:path w="5771515" h="592454">
                  <a:moveTo>
                    <a:pt x="0" y="592454"/>
                  </a:moveTo>
                  <a:lnTo>
                    <a:pt x="5771007" y="592454"/>
                  </a:lnTo>
                  <a:lnTo>
                    <a:pt x="5771007" y="0"/>
                  </a:lnTo>
                  <a:lnTo>
                    <a:pt x="0" y="0"/>
                  </a:lnTo>
                  <a:lnTo>
                    <a:pt x="0" y="592454"/>
                  </a:lnTo>
                  <a:close/>
                </a:path>
              </a:pathLst>
            </a:custGeom>
            <a:ln w="28574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82343" y="4742560"/>
              <a:ext cx="2790825" cy="727075"/>
            </a:xfrm>
            <a:custGeom>
              <a:avLst/>
              <a:gdLst/>
              <a:ahLst/>
              <a:cxnLst/>
              <a:rect l="l" t="t" r="r" b="b"/>
              <a:pathLst>
                <a:path w="2790825" h="727075">
                  <a:moveTo>
                    <a:pt x="2704243" y="699261"/>
                  </a:moveTo>
                  <a:lnTo>
                    <a:pt x="2697353" y="726947"/>
                  </a:lnTo>
                  <a:lnTo>
                    <a:pt x="2790824" y="705992"/>
                  </a:lnTo>
                  <a:lnTo>
                    <a:pt x="2786963" y="702691"/>
                  </a:lnTo>
                  <a:lnTo>
                    <a:pt x="2718054" y="702691"/>
                  </a:lnTo>
                  <a:lnTo>
                    <a:pt x="2704243" y="699261"/>
                  </a:lnTo>
                  <a:close/>
                </a:path>
                <a:path w="2790825" h="727075">
                  <a:moveTo>
                    <a:pt x="2711167" y="671434"/>
                  </a:moveTo>
                  <a:lnTo>
                    <a:pt x="2704243" y="699261"/>
                  </a:lnTo>
                  <a:lnTo>
                    <a:pt x="2718054" y="702691"/>
                  </a:lnTo>
                  <a:lnTo>
                    <a:pt x="2725039" y="674877"/>
                  </a:lnTo>
                  <a:lnTo>
                    <a:pt x="2711167" y="671434"/>
                  </a:lnTo>
                  <a:close/>
                </a:path>
                <a:path w="2790825" h="727075">
                  <a:moveTo>
                    <a:pt x="2718054" y="643763"/>
                  </a:moveTo>
                  <a:lnTo>
                    <a:pt x="2711167" y="671434"/>
                  </a:lnTo>
                  <a:lnTo>
                    <a:pt x="2725039" y="674877"/>
                  </a:lnTo>
                  <a:lnTo>
                    <a:pt x="2718054" y="702691"/>
                  </a:lnTo>
                  <a:lnTo>
                    <a:pt x="2786963" y="702691"/>
                  </a:lnTo>
                  <a:lnTo>
                    <a:pt x="2718054" y="643763"/>
                  </a:lnTo>
                  <a:close/>
                </a:path>
                <a:path w="2790825" h="727075">
                  <a:moveTo>
                    <a:pt x="6857" y="0"/>
                  </a:moveTo>
                  <a:lnTo>
                    <a:pt x="0" y="27686"/>
                  </a:lnTo>
                  <a:lnTo>
                    <a:pt x="2704243" y="699261"/>
                  </a:lnTo>
                  <a:lnTo>
                    <a:pt x="2711167" y="671434"/>
                  </a:lnTo>
                  <a:lnTo>
                    <a:pt x="6857" y="0"/>
                  </a:lnTo>
                  <a:close/>
                </a:path>
              </a:pathLst>
            </a:custGeom>
            <a:solidFill>
              <a:srgbClr val="FF7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994528" y="5097221"/>
            <a:ext cx="1114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package</a:t>
            </a:r>
            <a:r>
              <a:rPr sz="1800" b="1" spc="-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555555"/>
                </a:solidFill>
                <a:latin typeface="Calibri"/>
                <a:cs typeface="Calibri"/>
              </a:rPr>
              <a:t>src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101</a:t>
            </a:fld>
            <a:endParaRPr spc="-25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Création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</a:t>
            </a:r>
            <a:r>
              <a:rPr sz="1600" spc="-5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package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955673"/>
            <a:ext cx="98228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importer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(classe1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classe2)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ExempleClass.py,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faut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ajouter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main.py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3355339"/>
            <a:ext cx="810958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ExempleClass.py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subpackage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qui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src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faut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ajouter dans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main.py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05722" y="2608643"/>
            <a:ext cx="5725160" cy="1717039"/>
            <a:chOff x="2605722" y="2608643"/>
            <a:chExt cx="5725160" cy="1717039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4952" y="2618231"/>
              <a:ext cx="4157472" cy="3749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40253" y="2613405"/>
              <a:ext cx="4167504" cy="384810"/>
            </a:xfrm>
            <a:custGeom>
              <a:avLst/>
              <a:gdLst/>
              <a:ahLst/>
              <a:cxnLst/>
              <a:rect l="l" t="t" r="r" b="b"/>
              <a:pathLst>
                <a:path w="4167504" h="384810">
                  <a:moveTo>
                    <a:pt x="0" y="384428"/>
                  </a:moveTo>
                  <a:lnTo>
                    <a:pt x="4166997" y="384428"/>
                  </a:lnTo>
                  <a:lnTo>
                    <a:pt x="4166997" y="0"/>
                  </a:lnTo>
                  <a:lnTo>
                    <a:pt x="0" y="0"/>
                  </a:lnTo>
                  <a:lnTo>
                    <a:pt x="0" y="3844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5184" y="3944111"/>
              <a:ext cx="5705856" cy="37185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610485" y="3939286"/>
              <a:ext cx="5715635" cy="381635"/>
            </a:xfrm>
            <a:custGeom>
              <a:avLst/>
              <a:gdLst/>
              <a:ahLst/>
              <a:cxnLst/>
              <a:rect l="l" t="t" r="r" b="b"/>
              <a:pathLst>
                <a:path w="5715634" h="381635">
                  <a:moveTo>
                    <a:pt x="0" y="381381"/>
                  </a:moveTo>
                  <a:lnTo>
                    <a:pt x="5715380" y="381381"/>
                  </a:lnTo>
                  <a:lnTo>
                    <a:pt x="5715380" y="0"/>
                  </a:lnTo>
                  <a:lnTo>
                    <a:pt x="0" y="0"/>
                  </a:lnTo>
                  <a:lnTo>
                    <a:pt x="0" y="38138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102</a:t>
            </a:fld>
            <a:endParaRPr spc="-25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1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6941946" y="1105280"/>
            <a:ext cx="4293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Coder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une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solution</a:t>
            </a:r>
            <a:r>
              <a:rPr sz="2400" b="1" spc="-9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orientée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objet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83083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Création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package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Codage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d’une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Intégration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concepts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POO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5241391"/>
            <a:ext cx="5810885" cy="58737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convention</a:t>
            </a:r>
            <a:r>
              <a:rPr sz="1400" b="1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commence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majuscule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mot-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clé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pass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préciser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 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corps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contient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rien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1476758"/>
            <a:ext cx="253492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Présentation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d’une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Définition de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82252" y="2827972"/>
            <a:ext cx="4463415" cy="2244725"/>
            <a:chOff x="2782252" y="2827972"/>
            <a:chExt cx="4463415" cy="2244725"/>
          </a:xfrm>
        </p:grpSpPr>
        <p:sp>
          <p:nvSpPr>
            <p:cNvPr id="13" name="object 13"/>
            <p:cNvSpPr/>
            <p:nvPr/>
          </p:nvSpPr>
          <p:spPr>
            <a:xfrm>
              <a:off x="2796539" y="2842260"/>
              <a:ext cx="4434840" cy="2216150"/>
            </a:xfrm>
            <a:custGeom>
              <a:avLst/>
              <a:gdLst/>
              <a:ahLst/>
              <a:cxnLst/>
              <a:rect l="l" t="t" r="r" b="b"/>
              <a:pathLst>
                <a:path w="4434840" h="2216150">
                  <a:moveTo>
                    <a:pt x="4434840" y="0"/>
                  </a:moveTo>
                  <a:lnTo>
                    <a:pt x="0" y="0"/>
                  </a:lnTo>
                  <a:lnTo>
                    <a:pt x="0" y="2215896"/>
                  </a:lnTo>
                  <a:lnTo>
                    <a:pt x="4434840" y="2215896"/>
                  </a:lnTo>
                  <a:lnTo>
                    <a:pt x="443484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96539" y="2842260"/>
              <a:ext cx="4434840" cy="2216150"/>
            </a:xfrm>
            <a:custGeom>
              <a:avLst/>
              <a:gdLst/>
              <a:ahLst/>
              <a:cxnLst/>
              <a:rect l="l" t="t" r="r" b="b"/>
              <a:pathLst>
                <a:path w="4434840" h="2216150">
                  <a:moveTo>
                    <a:pt x="0" y="2215896"/>
                  </a:moveTo>
                  <a:lnTo>
                    <a:pt x="4434840" y="2215896"/>
                  </a:lnTo>
                  <a:lnTo>
                    <a:pt x="4434840" y="0"/>
                  </a:lnTo>
                  <a:lnTo>
                    <a:pt x="0" y="0"/>
                  </a:lnTo>
                  <a:lnTo>
                    <a:pt x="0" y="2215896"/>
                  </a:lnTo>
                  <a:close/>
                </a:path>
              </a:pathLst>
            </a:custGeom>
            <a:ln w="28574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74645" y="2838556"/>
            <a:ext cx="2794635" cy="167195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class</a:t>
            </a:r>
            <a:r>
              <a:rPr sz="12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ClassName</a:t>
            </a:r>
            <a:r>
              <a:rPr sz="1200" b="1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(superclass1,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superclass2):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def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u="heavy" spc="285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init</a:t>
            </a:r>
            <a:r>
              <a:rPr sz="1200" u="heavy" spc="280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(self,</a:t>
            </a:r>
            <a:r>
              <a:rPr sz="12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args):</a:t>
            </a:r>
            <a:endParaRPr sz="1200">
              <a:latin typeface="Calibri"/>
              <a:cs typeface="Calibri"/>
            </a:endParaRPr>
          </a:p>
          <a:p>
            <a:pPr marL="82550">
              <a:lnSpc>
                <a:spcPct val="100000"/>
              </a:lnSpc>
              <a:spcBef>
                <a:spcPts val="725"/>
              </a:spcBef>
            </a:pP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#inicialisation</a:t>
            </a:r>
            <a:r>
              <a:rPr sz="1200" b="1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des</a:t>
            </a:r>
            <a:r>
              <a:rPr sz="1200" b="1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attributs</a:t>
            </a:r>
            <a:endParaRPr sz="120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720"/>
              </a:spcBef>
            </a:pP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self.variable=0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spc="-635" dirty="0">
                <a:solidFill>
                  <a:srgbClr val="555555"/>
                </a:solidFill>
                <a:latin typeface="Calibri"/>
                <a:cs typeface="Calibri"/>
              </a:rPr>
              <a:t>…︎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def</a:t>
            </a:r>
            <a:r>
              <a:rPr sz="12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method_name(self,</a:t>
            </a:r>
            <a:r>
              <a:rPr sz="12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args):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4645" y="4575759"/>
            <a:ext cx="1314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555555"/>
                </a:solidFill>
                <a:latin typeface="Calibri"/>
                <a:cs typeface="Calibri"/>
              </a:rPr>
              <a:t>…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74645" y="2286076"/>
            <a:ext cx="20650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de la</a:t>
            </a:r>
            <a:r>
              <a:rPr sz="12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2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(identificateur)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19500" y="2486405"/>
            <a:ext cx="2353310" cy="1464945"/>
            <a:chOff x="3619500" y="2486405"/>
            <a:chExt cx="2353310" cy="1464945"/>
          </a:xfrm>
        </p:grpSpPr>
        <p:sp>
          <p:nvSpPr>
            <p:cNvPr id="19" name="object 19"/>
            <p:cNvSpPr/>
            <p:nvPr/>
          </p:nvSpPr>
          <p:spPr>
            <a:xfrm>
              <a:off x="3619500" y="2486405"/>
              <a:ext cx="2353310" cy="488950"/>
            </a:xfrm>
            <a:custGeom>
              <a:avLst/>
              <a:gdLst/>
              <a:ahLst/>
              <a:cxnLst/>
              <a:rect l="l" t="t" r="r" b="b"/>
              <a:pathLst>
                <a:path w="2353310" h="488950">
                  <a:moveTo>
                    <a:pt x="472694" y="22860"/>
                  </a:moveTo>
                  <a:lnTo>
                    <a:pt x="455803" y="0"/>
                  </a:lnTo>
                  <a:lnTo>
                    <a:pt x="60452" y="291922"/>
                  </a:lnTo>
                  <a:lnTo>
                    <a:pt x="43434" y="268859"/>
                  </a:lnTo>
                  <a:lnTo>
                    <a:pt x="0" y="354330"/>
                  </a:lnTo>
                  <a:lnTo>
                    <a:pt x="94361" y="337820"/>
                  </a:lnTo>
                  <a:lnTo>
                    <a:pt x="83667" y="323342"/>
                  </a:lnTo>
                  <a:lnTo>
                    <a:pt x="77393" y="314858"/>
                  </a:lnTo>
                  <a:lnTo>
                    <a:pt x="472694" y="22860"/>
                  </a:lnTo>
                  <a:close/>
                </a:path>
                <a:path w="2353310" h="488950">
                  <a:moveTo>
                    <a:pt x="2353310" y="156972"/>
                  </a:moveTo>
                  <a:lnTo>
                    <a:pt x="2336419" y="134112"/>
                  </a:lnTo>
                  <a:lnTo>
                    <a:pt x="1941068" y="426034"/>
                  </a:lnTo>
                  <a:lnTo>
                    <a:pt x="1924050" y="402971"/>
                  </a:lnTo>
                  <a:lnTo>
                    <a:pt x="1880616" y="488442"/>
                  </a:lnTo>
                  <a:lnTo>
                    <a:pt x="1974977" y="471932"/>
                  </a:lnTo>
                  <a:lnTo>
                    <a:pt x="1964283" y="457454"/>
                  </a:lnTo>
                  <a:lnTo>
                    <a:pt x="1958009" y="448970"/>
                  </a:lnTo>
                  <a:lnTo>
                    <a:pt x="2353310" y="15697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55108" y="3217163"/>
              <a:ext cx="619125" cy="719455"/>
            </a:xfrm>
            <a:custGeom>
              <a:avLst/>
              <a:gdLst/>
              <a:ahLst/>
              <a:cxnLst/>
              <a:rect l="l" t="t" r="r" b="b"/>
              <a:pathLst>
                <a:path w="619125" h="719454">
                  <a:moveTo>
                    <a:pt x="0" y="0"/>
                  </a:moveTo>
                  <a:lnTo>
                    <a:pt x="70921" y="1363"/>
                  </a:lnTo>
                  <a:lnTo>
                    <a:pt x="136033" y="5245"/>
                  </a:lnTo>
                  <a:lnTo>
                    <a:pt x="193476" y="11336"/>
                  </a:lnTo>
                  <a:lnTo>
                    <a:pt x="241391" y="19324"/>
                  </a:lnTo>
                  <a:lnTo>
                    <a:pt x="301198" y="39748"/>
                  </a:lnTo>
                  <a:lnTo>
                    <a:pt x="309371" y="51562"/>
                  </a:lnTo>
                  <a:lnTo>
                    <a:pt x="309371" y="308101"/>
                  </a:lnTo>
                  <a:lnTo>
                    <a:pt x="317545" y="319915"/>
                  </a:lnTo>
                  <a:lnTo>
                    <a:pt x="377352" y="340339"/>
                  </a:lnTo>
                  <a:lnTo>
                    <a:pt x="425267" y="348327"/>
                  </a:lnTo>
                  <a:lnTo>
                    <a:pt x="482710" y="354418"/>
                  </a:lnTo>
                  <a:lnTo>
                    <a:pt x="547822" y="358300"/>
                  </a:lnTo>
                  <a:lnTo>
                    <a:pt x="618743" y="359663"/>
                  </a:lnTo>
                  <a:lnTo>
                    <a:pt x="547822" y="361027"/>
                  </a:lnTo>
                  <a:lnTo>
                    <a:pt x="482710" y="364909"/>
                  </a:lnTo>
                  <a:lnTo>
                    <a:pt x="425267" y="371000"/>
                  </a:lnTo>
                  <a:lnTo>
                    <a:pt x="377352" y="378988"/>
                  </a:lnTo>
                  <a:lnTo>
                    <a:pt x="317545" y="399412"/>
                  </a:lnTo>
                  <a:lnTo>
                    <a:pt x="309371" y="411225"/>
                  </a:lnTo>
                  <a:lnTo>
                    <a:pt x="309371" y="667766"/>
                  </a:lnTo>
                  <a:lnTo>
                    <a:pt x="301198" y="679579"/>
                  </a:lnTo>
                  <a:lnTo>
                    <a:pt x="241391" y="700003"/>
                  </a:lnTo>
                  <a:lnTo>
                    <a:pt x="193476" y="707991"/>
                  </a:lnTo>
                  <a:lnTo>
                    <a:pt x="136033" y="714082"/>
                  </a:lnTo>
                  <a:lnTo>
                    <a:pt x="70921" y="717964"/>
                  </a:lnTo>
                  <a:lnTo>
                    <a:pt x="0" y="719328"/>
                  </a:lnTo>
                </a:path>
              </a:pathLst>
            </a:custGeom>
            <a:ln w="28575">
              <a:solidFill>
                <a:srgbClr val="FF7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609082" y="2296795"/>
            <a:ext cx="2496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Superclasses</a:t>
            </a:r>
            <a:r>
              <a:rPr sz="12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desquelles</a:t>
            </a:r>
            <a:r>
              <a:rPr sz="120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hérite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30570" y="3443732"/>
            <a:ext cx="1184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200" b="1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2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555555"/>
                </a:solidFill>
                <a:latin typeface="Calibri"/>
                <a:cs typeface="Calibri"/>
              </a:rPr>
              <a:t>la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2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(optionnel)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16908" y="2572385"/>
            <a:ext cx="3273425" cy="2521585"/>
            <a:chOff x="4216908" y="2572385"/>
            <a:chExt cx="3273425" cy="2521585"/>
          </a:xfrm>
        </p:grpSpPr>
        <p:sp>
          <p:nvSpPr>
            <p:cNvPr id="24" name="object 24"/>
            <p:cNvSpPr/>
            <p:nvPr/>
          </p:nvSpPr>
          <p:spPr>
            <a:xfrm>
              <a:off x="4594860" y="4223004"/>
              <a:ext cx="768350" cy="856615"/>
            </a:xfrm>
            <a:custGeom>
              <a:avLst/>
              <a:gdLst/>
              <a:ahLst/>
              <a:cxnLst/>
              <a:rect l="l" t="t" r="r" b="b"/>
              <a:pathLst>
                <a:path w="768350" h="856614">
                  <a:moveTo>
                    <a:pt x="0" y="0"/>
                  </a:moveTo>
                  <a:lnTo>
                    <a:pt x="77395" y="1302"/>
                  </a:lnTo>
                  <a:lnTo>
                    <a:pt x="149482" y="5036"/>
                  </a:lnTo>
                  <a:lnTo>
                    <a:pt x="214718" y="10943"/>
                  </a:lnTo>
                  <a:lnTo>
                    <a:pt x="271557" y="18764"/>
                  </a:lnTo>
                  <a:lnTo>
                    <a:pt x="318454" y="28240"/>
                  </a:lnTo>
                  <a:lnTo>
                    <a:pt x="376244" y="51120"/>
                  </a:lnTo>
                  <a:lnTo>
                    <a:pt x="384048" y="64008"/>
                  </a:lnTo>
                  <a:lnTo>
                    <a:pt x="384048" y="364236"/>
                  </a:lnTo>
                  <a:lnTo>
                    <a:pt x="391851" y="377123"/>
                  </a:lnTo>
                  <a:lnTo>
                    <a:pt x="449641" y="400003"/>
                  </a:lnTo>
                  <a:lnTo>
                    <a:pt x="496538" y="409479"/>
                  </a:lnTo>
                  <a:lnTo>
                    <a:pt x="553377" y="417300"/>
                  </a:lnTo>
                  <a:lnTo>
                    <a:pt x="618613" y="423207"/>
                  </a:lnTo>
                  <a:lnTo>
                    <a:pt x="690700" y="426941"/>
                  </a:lnTo>
                  <a:lnTo>
                    <a:pt x="768095" y="428244"/>
                  </a:lnTo>
                  <a:lnTo>
                    <a:pt x="690700" y="429546"/>
                  </a:lnTo>
                  <a:lnTo>
                    <a:pt x="618613" y="433280"/>
                  </a:lnTo>
                  <a:lnTo>
                    <a:pt x="553377" y="439187"/>
                  </a:lnTo>
                  <a:lnTo>
                    <a:pt x="496538" y="447008"/>
                  </a:lnTo>
                  <a:lnTo>
                    <a:pt x="449641" y="456484"/>
                  </a:lnTo>
                  <a:lnTo>
                    <a:pt x="391851" y="479364"/>
                  </a:lnTo>
                  <a:lnTo>
                    <a:pt x="384048" y="492252"/>
                  </a:lnTo>
                  <a:lnTo>
                    <a:pt x="384048" y="792480"/>
                  </a:lnTo>
                  <a:lnTo>
                    <a:pt x="376244" y="805367"/>
                  </a:lnTo>
                  <a:lnTo>
                    <a:pt x="318454" y="828247"/>
                  </a:lnTo>
                  <a:lnTo>
                    <a:pt x="271557" y="837723"/>
                  </a:lnTo>
                  <a:lnTo>
                    <a:pt x="214718" y="845544"/>
                  </a:lnTo>
                  <a:lnTo>
                    <a:pt x="149482" y="851451"/>
                  </a:lnTo>
                  <a:lnTo>
                    <a:pt x="77395" y="855185"/>
                  </a:lnTo>
                  <a:lnTo>
                    <a:pt x="0" y="856488"/>
                  </a:lnTo>
                </a:path>
              </a:pathLst>
            </a:custGeom>
            <a:ln w="28575">
              <a:solidFill>
                <a:srgbClr val="FF7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16908" y="2572384"/>
              <a:ext cx="3273425" cy="1797685"/>
            </a:xfrm>
            <a:custGeom>
              <a:avLst/>
              <a:gdLst/>
              <a:ahLst/>
              <a:cxnLst/>
              <a:rect l="l" t="t" r="r" b="b"/>
              <a:pathLst>
                <a:path w="3273425" h="1797685">
                  <a:moveTo>
                    <a:pt x="1687195" y="27686"/>
                  </a:moveTo>
                  <a:lnTo>
                    <a:pt x="1680210" y="0"/>
                  </a:lnTo>
                  <a:lnTo>
                    <a:pt x="472935" y="299339"/>
                  </a:lnTo>
                  <a:lnTo>
                    <a:pt x="466090" y="271653"/>
                  </a:lnTo>
                  <a:lnTo>
                    <a:pt x="393192" y="333883"/>
                  </a:lnTo>
                  <a:lnTo>
                    <a:pt x="486664" y="354838"/>
                  </a:lnTo>
                  <a:lnTo>
                    <a:pt x="480656" y="330581"/>
                  </a:lnTo>
                  <a:lnTo>
                    <a:pt x="479806" y="327152"/>
                  </a:lnTo>
                  <a:lnTo>
                    <a:pt x="1687195" y="27686"/>
                  </a:lnTo>
                  <a:close/>
                </a:path>
                <a:path w="3273425" h="1797685">
                  <a:moveTo>
                    <a:pt x="3273044" y="1769364"/>
                  </a:moveTo>
                  <a:lnTo>
                    <a:pt x="86880" y="1313307"/>
                  </a:lnTo>
                  <a:lnTo>
                    <a:pt x="87160" y="1311275"/>
                  </a:lnTo>
                  <a:lnTo>
                    <a:pt x="90932" y="1285113"/>
                  </a:lnTo>
                  <a:lnTo>
                    <a:pt x="0" y="1315339"/>
                  </a:lnTo>
                  <a:lnTo>
                    <a:pt x="78740" y="1369949"/>
                  </a:lnTo>
                  <a:lnTo>
                    <a:pt x="82804" y="1341615"/>
                  </a:lnTo>
                  <a:lnTo>
                    <a:pt x="3268980" y="1797685"/>
                  </a:lnTo>
                  <a:lnTo>
                    <a:pt x="3273044" y="17693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627623" y="4484623"/>
            <a:ext cx="1567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2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method_name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104</a:t>
            </a:fld>
            <a:endParaRPr spc="-25" dirty="0"/>
          </a:p>
        </p:txBody>
      </p:sp>
      <p:sp>
        <p:nvSpPr>
          <p:cNvPr id="27" name="object 27"/>
          <p:cNvSpPr txBox="1"/>
          <p:nvPr/>
        </p:nvSpPr>
        <p:spPr>
          <a:xfrm>
            <a:off x="7565897" y="4240529"/>
            <a:ext cx="3053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self.variable</a:t>
            </a:r>
            <a:r>
              <a:rPr sz="12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2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 attribut</a:t>
            </a:r>
            <a:r>
              <a:rPr sz="12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(variable)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de la </a:t>
            </a: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31380" y="5500115"/>
            <a:ext cx="2542540" cy="521334"/>
          </a:xfrm>
          <a:prstGeom prst="rect">
            <a:avLst/>
          </a:prstGeom>
          <a:solidFill>
            <a:srgbClr val="D5DCE4"/>
          </a:solidFill>
          <a:ln w="28575">
            <a:solidFill>
              <a:srgbClr val="4471C4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classe_vide:</a:t>
            </a:r>
            <a:endParaRPr sz="14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5"/>
              </a:spcBef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pass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3760977"/>
            <a:ext cx="20383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Déclaration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0490200" cy="19640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Méthodes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associées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manière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explicite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classe.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particularité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accès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privilégié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 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elle-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même.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3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lesquelles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contient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obligatoirement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paramètre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explicite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(self)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30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l’instance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laquelle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associée.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moyen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d’accéder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Déclaration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16292" y="4175188"/>
            <a:ext cx="5085715" cy="769620"/>
            <a:chOff x="816292" y="4175188"/>
            <a:chExt cx="5085715" cy="769620"/>
          </a:xfrm>
        </p:grpSpPr>
        <p:sp>
          <p:nvSpPr>
            <p:cNvPr id="12" name="object 12"/>
            <p:cNvSpPr/>
            <p:nvPr/>
          </p:nvSpPr>
          <p:spPr>
            <a:xfrm>
              <a:off x="830580" y="4189476"/>
              <a:ext cx="5057140" cy="741045"/>
            </a:xfrm>
            <a:custGeom>
              <a:avLst/>
              <a:gdLst/>
              <a:ahLst/>
              <a:cxnLst/>
              <a:rect l="l" t="t" r="r" b="b"/>
              <a:pathLst>
                <a:path w="5057140" h="741045">
                  <a:moveTo>
                    <a:pt x="5056632" y="0"/>
                  </a:moveTo>
                  <a:lnTo>
                    <a:pt x="0" y="0"/>
                  </a:lnTo>
                  <a:lnTo>
                    <a:pt x="0" y="740663"/>
                  </a:lnTo>
                  <a:lnTo>
                    <a:pt x="5056632" y="740663"/>
                  </a:lnTo>
                  <a:lnTo>
                    <a:pt x="5056632" y="0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0580" y="4189476"/>
              <a:ext cx="5057140" cy="741045"/>
            </a:xfrm>
            <a:custGeom>
              <a:avLst/>
              <a:gdLst/>
              <a:ahLst/>
              <a:cxnLst/>
              <a:rect l="l" t="t" r="r" b="b"/>
              <a:pathLst>
                <a:path w="5057140" h="741045">
                  <a:moveTo>
                    <a:pt x="0" y="740663"/>
                  </a:moveTo>
                  <a:lnTo>
                    <a:pt x="5056632" y="740663"/>
                  </a:lnTo>
                  <a:lnTo>
                    <a:pt x="5056632" y="0"/>
                  </a:lnTo>
                  <a:lnTo>
                    <a:pt x="0" y="0"/>
                  </a:lnTo>
                  <a:lnTo>
                    <a:pt x="0" y="740663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07491" y="4215129"/>
            <a:ext cx="3677920" cy="664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nom_classe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70815">
              <a:lnSpc>
                <a:spcPct val="100000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def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nom_methode(self,</a:t>
            </a:r>
            <a:r>
              <a:rPr sz="1400" b="1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param_1,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...,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param_n):</a:t>
            </a:r>
            <a:endParaRPr sz="1400">
              <a:latin typeface="Calibri"/>
              <a:cs typeface="Calibri"/>
            </a:endParaRPr>
          </a:p>
          <a:p>
            <a:pPr marL="329565">
              <a:lnSpc>
                <a:spcPct val="10000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#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corps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 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méthode...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07934" y="3880230"/>
            <a:ext cx="16198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57188" y="4253484"/>
            <a:ext cx="5057140" cy="737870"/>
          </a:xfrm>
          <a:prstGeom prst="rect">
            <a:avLst/>
          </a:prstGeom>
          <a:solidFill>
            <a:srgbClr val="D5DCE4"/>
          </a:solidFill>
          <a:ln w="28575">
            <a:solidFill>
              <a:srgbClr val="0058A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75"/>
              </a:spcBef>
              <a:tabLst>
                <a:tab pos="149034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nom_classe()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#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variable 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nom_classe</a:t>
            </a:r>
            <a:endParaRPr sz="14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</a:t>
            </a:r>
            <a:r>
              <a:rPr sz="1400" b="1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cl.nom_methode</a:t>
            </a:r>
            <a:r>
              <a:rPr sz="1400" b="1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(valeur_1,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...,</a:t>
            </a:r>
            <a:r>
              <a:rPr sz="1400" b="1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valeur_n)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02764" y="4831715"/>
            <a:ext cx="718185" cy="719455"/>
          </a:xfrm>
          <a:custGeom>
            <a:avLst/>
            <a:gdLst/>
            <a:ahLst/>
            <a:cxnLst/>
            <a:rect l="l" t="t" r="r" b="b"/>
            <a:pathLst>
              <a:path w="718185" h="719454">
                <a:moveTo>
                  <a:pt x="30225" y="628396"/>
                </a:moveTo>
                <a:lnTo>
                  <a:pt x="0" y="719328"/>
                </a:lnTo>
                <a:lnTo>
                  <a:pt x="90931" y="688848"/>
                </a:lnTo>
                <a:lnTo>
                  <a:pt x="80856" y="678815"/>
                </a:lnTo>
                <a:lnTo>
                  <a:pt x="60579" y="678815"/>
                </a:lnTo>
                <a:lnTo>
                  <a:pt x="40386" y="658622"/>
                </a:lnTo>
                <a:lnTo>
                  <a:pt x="50449" y="648535"/>
                </a:lnTo>
                <a:lnTo>
                  <a:pt x="30225" y="628396"/>
                </a:lnTo>
                <a:close/>
              </a:path>
              <a:path w="718185" h="719454">
                <a:moveTo>
                  <a:pt x="50449" y="648535"/>
                </a:moveTo>
                <a:lnTo>
                  <a:pt x="40386" y="658622"/>
                </a:lnTo>
                <a:lnTo>
                  <a:pt x="60579" y="678815"/>
                </a:lnTo>
                <a:lnTo>
                  <a:pt x="70683" y="668684"/>
                </a:lnTo>
                <a:lnTo>
                  <a:pt x="50449" y="648535"/>
                </a:lnTo>
                <a:close/>
              </a:path>
              <a:path w="718185" h="719454">
                <a:moveTo>
                  <a:pt x="70683" y="668684"/>
                </a:moveTo>
                <a:lnTo>
                  <a:pt x="60579" y="678815"/>
                </a:lnTo>
                <a:lnTo>
                  <a:pt x="80856" y="678815"/>
                </a:lnTo>
                <a:lnTo>
                  <a:pt x="70683" y="668684"/>
                </a:lnTo>
                <a:close/>
              </a:path>
              <a:path w="718185" h="719454">
                <a:moveTo>
                  <a:pt x="697484" y="0"/>
                </a:moveTo>
                <a:lnTo>
                  <a:pt x="50449" y="648535"/>
                </a:lnTo>
                <a:lnTo>
                  <a:pt x="70683" y="668684"/>
                </a:lnTo>
                <a:lnTo>
                  <a:pt x="717677" y="20066"/>
                </a:lnTo>
                <a:lnTo>
                  <a:pt x="697484" y="0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86611" y="5551932"/>
            <a:ext cx="4541520" cy="30797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Self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désigne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l’instance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courante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105</a:t>
            </a:fld>
            <a:endParaRPr spc="-25" dirty="0"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8396605" cy="12782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Attributs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variables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associées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manière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explicite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comportent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comme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variables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globales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Déclaration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091" y="3238500"/>
            <a:ext cx="4989830" cy="737870"/>
          </a:xfrm>
          <a:prstGeom prst="rect">
            <a:avLst/>
          </a:prstGeom>
          <a:solidFill>
            <a:srgbClr val="D5DCE4"/>
          </a:solidFill>
          <a:ln w="28575">
            <a:solidFill>
              <a:srgbClr val="0058A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80"/>
              </a:spcBef>
            </a:pPr>
            <a:r>
              <a:rPr sz="1400" dirty="0">
                <a:latin typeface="Calibri"/>
                <a:cs typeface="Calibri"/>
              </a:rPr>
              <a:t>class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nom_classe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4828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def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nom_methode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(self,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param_1,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...,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param_n) </a:t>
            </a:r>
            <a:r>
              <a:rPr sz="1400" spc="-50" dirty="0"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406400">
              <a:lnSpc>
                <a:spcPct val="100000"/>
              </a:lnSpc>
              <a:spcBef>
                <a:spcPts val="5"/>
              </a:spcBef>
            </a:pPr>
            <a:r>
              <a:rPr sz="1400" b="1" spc="-20" dirty="0">
                <a:latin typeface="Calibri"/>
                <a:cs typeface="Calibri"/>
              </a:rPr>
              <a:t>self.nom_attribut</a:t>
            </a:r>
            <a:r>
              <a:rPr sz="1400" b="1" spc="1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param_1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23715" y="3966083"/>
            <a:ext cx="718185" cy="719455"/>
          </a:xfrm>
          <a:custGeom>
            <a:avLst/>
            <a:gdLst/>
            <a:ahLst/>
            <a:cxnLst/>
            <a:rect l="l" t="t" r="r" b="b"/>
            <a:pathLst>
              <a:path w="718185" h="719454">
                <a:moveTo>
                  <a:pt x="30225" y="628396"/>
                </a:moveTo>
                <a:lnTo>
                  <a:pt x="0" y="719328"/>
                </a:lnTo>
                <a:lnTo>
                  <a:pt x="90932" y="688848"/>
                </a:lnTo>
                <a:lnTo>
                  <a:pt x="80856" y="678815"/>
                </a:lnTo>
                <a:lnTo>
                  <a:pt x="60579" y="678815"/>
                </a:lnTo>
                <a:lnTo>
                  <a:pt x="40386" y="658622"/>
                </a:lnTo>
                <a:lnTo>
                  <a:pt x="50449" y="648535"/>
                </a:lnTo>
                <a:lnTo>
                  <a:pt x="30225" y="628396"/>
                </a:lnTo>
                <a:close/>
              </a:path>
              <a:path w="718185" h="719454">
                <a:moveTo>
                  <a:pt x="50449" y="648535"/>
                </a:moveTo>
                <a:lnTo>
                  <a:pt x="40386" y="658622"/>
                </a:lnTo>
                <a:lnTo>
                  <a:pt x="60579" y="678815"/>
                </a:lnTo>
                <a:lnTo>
                  <a:pt x="70683" y="668684"/>
                </a:lnTo>
                <a:lnTo>
                  <a:pt x="50449" y="648535"/>
                </a:lnTo>
                <a:close/>
              </a:path>
              <a:path w="718185" h="719454">
                <a:moveTo>
                  <a:pt x="70683" y="668684"/>
                </a:moveTo>
                <a:lnTo>
                  <a:pt x="60579" y="678815"/>
                </a:lnTo>
                <a:lnTo>
                  <a:pt x="80856" y="678815"/>
                </a:lnTo>
                <a:lnTo>
                  <a:pt x="70683" y="668684"/>
                </a:lnTo>
                <a:close/>
              </a:path>
              <a:path w="718185" h="719454">
                <a:moveTo>
                  <a:pt x="697484" y="0"/>
                </a:moveTo>
                <a:lnTo>
                  <a:pt x="50449" y="648535"/>
                </a:lnTo>
                <a:lnTo>
                  <a:pt x="70683" y="668684"/>
                </a:lnTo>
                <a:lnTo>
                  <a:pt x="717676" y="20066"/>
                </a:lnTo>
                <a:lnTo>
                  <a:pt x="697484" y="0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92779" y="4738115"/>
            <a:ext cx="3572510" cy="52451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89535" marR="377825">
              <a:lnSpc>
                <a:spcPct val="100000"/>
              </a:lnSpc>
              <a:spcBef>
                <a:spcPts val="290"/>
              </a:spcBef>
            </a:pPr>
            <a:r>
              <a:rPr sz="1400" dirty="0">
                <a:latin typeface="Calibri"/>
                <a:cs typeface="Calibri"/>
              </a:rPr>
              <a:t>Déclaration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d’un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attribut en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précédant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son </a:t>
            </a:r>
            <a:r>
              <a:rPr sz="1400" dirty="0">
                <a:latin typeface="Calibri"/>
                <a:cs typeface="Calibri"/>
              </a:rPr>
              <a:t>nom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self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106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11098492" cy="5157181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Méthodes</a:t>
            </a:r>
            <a:r>
              <a:rPr sz="1600" b="1" spc="-7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attributs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fr-FR" sz="1400" dirty="0">
                <a:latin typeface="Calibri"/>
                <a:cs typeface="Calibri"/>
              </a:rPr>
              <a:t>import </a:t>
            </a:r>
            <a:r>
              <a:rPr lang="fr-FR" sz="1400" dirty="0" err="1">
                <a:latin typeface="Calibri"/>
                <a:cs typeface="Calibri"/>
              </a:rPr>
              <a:t>random</a:t>
            </a:r>
            <a:endParaRPr lang="fr-FR"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fr-FR" sz="1400" dirty="0">
                <a:latin typeface="Calibri"/>
                <a:cs typeface="Calibri"/>
              </a:rPr>
              <a:t>class </a:t>
            </a:r>
            <a:r>
              <a:rPr lang="fr-FR" sz="1400" dirty="0" err="1">
                <a:latin typeface="Calibri"/>
                <a:cs typeface="Calibri"/>
              </a:rPr>
              <a:t>ExempleClasse</a:t>
            </a:r>
            <a:r>
              <a:rPr lang="fr-FR" sz="1400" dirty="0">
                <a:latin typeface="Calibri"/>
                <a:cs typeface="Calibri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fr-FR" sz="1400" dirty="0">
                <a:latin typeface="Calibri"/>
                <a:cs typeface="Calibri"/>
              </a:rPr>
              <a:t>    </a:t>
            </a:r>
            <a:r>
              <a:rPr lang="fr-FR" sz="1400" dirty="0" err="1">
                <a:latin typeface="Calibri"/>
                <a:cs typeface="Calibri"/>
              </a:rPr>
              <a:t>def</a:t>
            </a:r>
            <a:r>
              <a:rPr lang="fr-FR" sz="1400" dirty="0">
                <a:latin typeface="Calibri"/>
                <a:cs typeface="Calibri"/>
              </a:rPr>
              <a:t> methode1(self, n):</a:t>
            </a: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fr-FR" sz="1400" dirty="0">
                <a:latin typeface="Calibri"/>
                <a:cs typeface="Calibri"/>
              </a:rPr>
              <a:t>        """Génère un nombre aléatoire entre 0 et n-1 inclus"""</a:t>
            </a: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fr-FR" sz="1400" dirty="0">
                <a:latin typeface="Calibri"/>
                <a:cs typeface="Calibri"/>
              </a:rPr>
              <a:t>        return </a:t>
            </a:r>
            <a:r>
              <a:rPr lang="fr-FR" sz="1400" dirty="0" err="1">
                <a:latin typeface="Calibri"/>
                <a:cs typeface="Calibri"/>
              </a:rPr>
              <a:t>random.randint</a:t>
            </a:r>
            <a:r>
              <a:rPr lang="fr-FR" sz="1400" dirty="0">
                <a:latin typeface="Calibri"/>
                <a:cs typeface="Calibri"/>
              </a:rPr>
              <a:t>(0, n-1)</a:t>
            </a: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endParaRPr lang="fr-FR"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fr-FR" sz="1400" dirty="0">
                <a:latin typeface="Calibri"/>
                <a:cs typeface="Calibri"/>
              </a:rPr>
              <a:t># Création d'une instance de la classe</a:t>
            </a: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fr-FR" sz="1400" dirty="0">
                <a:latin typeface="Calibri"/>
                <a:cs typeface="Calibri"/>
              </a:rPr>
              <a:t>nb = </a:t>
            </a:r>
            <a:r>
              <a:rPr lang="fr-FR" sz="1400" dirty="0" err="1">
                <a:latin typeface="Calibri"/>
                <a:cs typeface="Calibri"/>
              </a:rPr>
              <a:t>ExempleClasse</a:t>
            </a:r>
            <a:r>
              <a:rPr lang="fr-FR" sz="1400" dirty="0">
                <a:latin typeface="Calibri"/>
                <a:cs typeface="Calibri"/>
              </a:rPr>
              <a:t>()</a:t>
            </a: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endParaRPr lang="fr-FR"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fr-FR" sz="1400" dirty="0">
                <a:latin typeface="Calibri"/>
                <a:cs typeface="Calibri"/>
              </a:rPr>
              <a:t># Appel de la méthode</a:t>
            </a: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fr-FR" sz="1400" dirty="0">
                <a:latin typeface="Calibri"/>
                <a:cs typeface="Calibri"/>
              </a:rPr>
              <a:t>x = nb.methode1(100)</a:t>
            </a: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endParaRPr lang="fr-FR"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fr-FR" sz="1400" dirty="0">
                <a:latin typeface="Calibri"/>
                <a:cs typeface="Calibri"/>
              </a:rPr>
              <a:t># Affichage du résultat</a:t>
            </a: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fr-FR" sz="1400" dirty="0" err="1">
                <a:latin typeface="Calibri"/>
                <a:cs typeface="Calibri"/>
              </a:rPr>
              <a:t>print</a:t>
            </a:r>
            <a:r>
              <a:rPr lang="fr-FR" sz="1400" dirty="0">
                <a:latin typeface="Calibri"/>
                <a:cs typeface="Calibri"/>
              </a:rPr>
              <a:t>(x)</a:t>
            </a: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endParaRPr sz="14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107</a:t>
            </a:fld>
            <a:endParaRPr spc="-25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3837177"/>
            <a:ext cx="17926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4675758"/>
            <a:ext cx="7391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90484" y="3019996"/>
            <a:ext cx="4689475" cy="675005"/>
            <a:chOff x="1590484" y="3019996"/>
            <a:chExt cx="4689475" cy="675005"/>
          </a:xfrm>
        </p:grpSpPr>
        <p:sp>
          <p:nvSpPr>
            <p:cNvPr id="12" name="object 12"/>
            <p:cNvSpPr/>
            <p:nvPr/>
          </p:nvSpPr>
          <p:spPr>
            <a:xfrm>
              <a:off x="1604772" y="3034283"/>
              <a:ext cx="4660900" cy="646430"/>
            </a:xfrm>
            <a:custGeom>
              <a:avLst/>
              <a:gdLst/>
              <a:ahLst/>
              <a:cxnLst/>
              <a:rect l="l" t="t" r="r" b="b"/>
              <a:pathLst>
                <a:path w="4660900" h="646429">
                  <a:moveTo>
                    <a:pt x="4660392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4660392" y="646176"/>
                  </a:lnTo>
                  <a:lnTo>
                    <a:pt x="4660392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04772" y="3034283"/>
              <a:ext cx="4660900" cy="646430"/>
            </a:xfrm>
            <a:custGeom>
              <a:avLst/>
              <a:gdLst/>
              <a:ahLst/>
              <a:cxnLst/>
              <a:rect l="l" t="t" r="r" b="b"/>
              <a:pathLst>
                <a:path w="4660900" h="646429">
                  <a:moveTo>
                    <a:pt x="0" y="646176"/>
                  </a:moveTo>
                  <a:lnTo>
                    <a:pt x="4660392" y="646176"/>
                  </a:lnTo>
                  <a:lnTo>
                    <a:pt x="4660392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98982" y="1476758"/>
            <a:ext cx="10320020" cy="21545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Constructeur</a:t>
            </a:r>
            <a:r>
              <a:rPr sz="16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 instanciation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  <a:tab pos="9466580" algn="l"/>
                <a:tab pos="992060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présente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suit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ceci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près que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imposé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init</a:t>
            </a:r>
            <a:r>
              <a:rPr sz="1400" b="1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64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Hormis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premier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paramètre,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invariablement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self,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n’existe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contrainte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concernant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excepté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doit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retourner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résultat.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Déclaration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endParaRPr sz="1400">
              <a:latin typeface="Calibri"/>
              <a:cs typeface="Calibri"/>
            </a:endParaRPr>
          </a:p>
          <a:p>
            <a:pPr marL="895350">
              <a:lnSpc>
                <a:spcPct val="100000"/>
              </a:lnSpc>
              <a:spcBef>
                <a:spcPts val="995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class</a:t>
            </a:r>
            <a:r>
              <a:rPr sz="12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nom_classe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200">
              <a:latin typeface="Calibri"/>
              <a:cs typeface="Calibri"/>
            </a:endParaRPr>
          </a:p>
          <a:p>
            <a:pPr marL="1035685">
              <a:lnSpc>
                <a:spcPct val="100000"/>
              </a:lnSpc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def</a:t>
            </a:r>
            <a:r>
              <a:rPr sz="12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u="heavy" spc="290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 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init</a:t>
            </a:r>
            <a:r>
              <a:rPr sz="1200" b="1" u="heavy" spc="290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 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(self,</a:t>
            </a:r>
            <a:r>
              <a:rPr sz="12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param_1,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...,</a:t>
            </a:r>
            <a:r>
              <a:rPr sz="120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param_n):</a:t>
            </a:r>
            <a:endParaRPr sz="1200">
              <a:latin typeface="Calibri"/>
              <a:cs typeface="Calibri"/>
            </a:endParaRPr>
          </a:p>
          <a:p>
            <a:pPr marL="1176020">
              <a:lnSpc>
                <a:spcPct val="100000"/>
              </a:lnSpc>
            </a:pP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#</a:t>
            </a:r>
            <a:r>
              <a:rPr sz="12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2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2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4772" y="4192523"/>
            <a:ext cx="4456430" cy="277495"/>
          </a:xfrm>
          <a:prstGeom prst="rect">
            <a:avLst/>
          </a:prstGeom>
          <a:solidFill>
            <a:srgbClr val="DAE2F3"/>
          </a:solidFill>
          <a:ln w="28575">
            <a:solidFill>
              <a:srgbClr val="0058A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95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x =</a:t>
            </a:r>
            <a:r>
              <a:rPr sz="1200" b="1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nom_classe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(valeur_1,...,valeur_n)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10100" y="3414521"/>
            <a:ext cx="2096135" cy="322580"/>
          </a:xfrm>
          <a:custGeom>
            <a:avLst/>
            <a:gdLst/>
            <a:ahLst/>
            <a:cxnLst/>
            <a:rect l="l" t="t" r="r" b="b"/>
            <a:pathLst>
              <a:path w="2096134" h="322579">
                <a:moveTo>
                  <a:pt x="86829" y="28292"/>
                </a:moveTo>
                <a:lnTo>
                  <a:pt x="83104" y="56608"/>
                </a:lnTo>
                <a:lnTo>
                  <a:pt x="2092452" y="322452"/>
                </a:lnTo>
                <a:lnTo>
                  <a:pt x="2096134" y="294131"/>
                </a:lnTo>
                <a:lnTo>
                  <a:pt x="86829" y="28292"/>
                </a:lnTo>
                <a:close/>
              </a:path>
              <a:path w="2096134" h="322579">
                <a:moveTo>
                  <a:pt x="90550" y="0"/>
                </a:moveTo>
                <a:lnTo>
                  <a:pt x="0" y="31241"/>
                </a:lnTo>
                <a:lnTo>
                  <a:pt x="79375" y="84962"/>
                </a:lnTo>
                <a:lnTo>
                  <a:pt x="83104" y="56608"/>
                </a:lnTo>
                <a:lnTo>
                  <a:pt x="68961" y="54737"/>
                </a:lnTo>
                <a:lnTo>
                  <a:pt x="72644" y="26415"/>
                </a:lnTo>
                <a:lnTo>
                  <a:pt x="87076" y="26415"/>
                </a:lnTo>
                <a:lnTo>
                  <a:pt x="90550" y="0"/>
                </a:lnTo>
                <a:close/>
              </a:path>
              <a:path w="2096134" h="322579">
                <a:moveTo>
                  <a:pt x="72644" y="26415"/>
                </a:moveTo>
                <a:lnTo>
                  <a:pt x="68961" y="54737"/>
                </a:lnTo>
                <a:lnTo>
                  <a:pt x="83104" y="56608"/>
                </a:lnTo>
                <a:lnTo>
                  <a:pt x="86829" y="28292"/>
                </a:lnTo>
                <a:lnTo>
                  <a:pt x="72644" y="26415"/>
                </a:lnTo>
                <a:close/>
              </a:path>
              <a:path w="2096134" h="322579">
                <a:moveTo>
                  <a:pt x="87076" y="26415"/>
                </a:moveTo>
                <a:lnTo>
                  <a:pt x="72644" y="26415"/>
                </a:lnTo>
                <a:lnTo>
                  <a:pt x="86829" y="28292"/>
                </a:lnTo>
                <a:lnTo>
                  <a:pt x="87076" y="26415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25411" y="3582923"/>
            <a:ext cx="3572510" cy="27749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95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Déclaration</a:t>
            </a:r>
            <a:r>
              <a:rPr sz="12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2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2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2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n</a:t>
            </a:r>
            <a:r>
              <a:rPr sz="12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93659" y="5019675"/>
            <a:ext cx="9004935" cy="1518920"/>
            <a:chOff x="1593659" y="5019675"/>
            <a:chExt cx="9004935" cy="151892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3248" y="5029200"/>
              <a:ext cx="4325112" cy="149961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598422" y="5024437"/>
              <a:ext cx="4335145" cy="1509395"/>
            </a:xfrm>
            <a:custGeom>
              <a:avLst/>
              <a:gdLst/>
              <a:ahLst/>
              <a:cxnLst/>
              <a:rect l="l" t="t" r="r" b="b"/>
              <a:pathLst>
                <a:path w="4335145" h="1509395">
                  <a:moveTo>
                    <a:pt x="0" y="1509141"/>
                  </a:moveTo>
                  <a:lnTo>
                    <a:pt x="4334637" y="1509141"/>
                  </a:lnTo>
                  <a:lnTo>
                    <a:pt x="4334637" y="0"/>
                  </a:lnTo>
                  <a:lnTo>
                    <a:pt x="0" y="0"/>
                  </a:lnTo>
                  <a:lnTo>
                    <a:pt x="0" y="150914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3639" y="5029200"/>
              <a:ext cx="4325112" cy="149961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258813" y="5024437"/>
              <a:ext cx="4335145" cy="1509395"/>
            </a:xfrm>
            <a:custGeom>
              <a:avLst/>
              <a:gdLst/>
              <a:ahLst/>
              <a:cxnLst/>
              <a:rect l="l" t="t" r="r" b="b"/>
              <a:pathLst>
                <a:path w="4335145" h="1509395">
                  <a:moveTo>
                    <a:pt x="0" y="1509141"/>
                  </a:moveTo>
                  <a:lnTo>
                    <a:pt x="4334637" y="1509141"/>
                  </a:lnTo>
                  <a:lnTo>
                    <a:pt x="4334637" y="0"/>
                  </a:lnTo>
                  <a:lnTo>
                    <a:pt x="0" y="0"/>
                  </a:lnTo>
                  <a:lnTo>
                    <a:pt x="0" y="150914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108</a:t>
            </a:fld>
            <a:endParaRPr spc="-25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10435590" cy="231775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Constructeur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instanciation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défaut,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 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défaut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sans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défaut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n’existe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 si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présente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580"/>
              </a:lnSpc>
              <a:spcBef>
                <a:spcPts val="66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Contrairement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d'autres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langues,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n'a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qu'un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seul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constructeur.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Cependant,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paramètre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prendre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défaut.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Remarque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: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Tous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requis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doivent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précéder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valeurs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par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défaut.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08507" y="4306442"/>
            <a:ext cx="9900920" cy="2009775"/>
            <a:chOff x="1008507" y="4306442"/>
            <a:chExt cx="9900920" cy="200977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8032" y="4315967"/>
              <a:ext cx="5529072" cy="197205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13269" y="4311205"/>
              <a:ext cx="5539105" cy="1981835"/>
            </a:xfrm>
            <a:custGeom>
              <a:avLst/>
              <a:gdLst/>
              <a:ahLst/>
              <a:cxnLst/>
              <a:rect l="l" t="t" r="r" b="b"/>
              <a:pathLst>
                <a:path w="5539105" h="1981835">
                  <a:moveTo>
                    <a:pt x="0" y="1981580"/>
                  </a:moveTo>
                  <a:lnTo>
                    <a:pt x="5538597" y="1981580"/>
                  </a:lnTo>
                  <a:lnTo>
                    <a:pt x="5538597" y="0"/>
                  </a:lnTo>
                  <a:lnTo>
                    <a:pt x="0" y="0"/>
                  </a:lnTo>
                  <a:lnTo>
                    <a:pt x="0" y="198158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0503" y="4315967"/>
              <a:ext cx="3819144" cy="19903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075678" y="4311205"/>
              <a:ext cx="3829050" cy="2000250"/>
            </a:xfrm>
            <a:custGeom>
              <a:avLst/>
              <a:gdLst/>
              <a:ahLst/>
              <a:cxnLst/>
              <a:rect l="l" t="t" r="r" b="b"/>
              <a:pathLst>
                <a:path w="3829050" h="2000250">
                  <a:moveTo>
                    <a:pt x="0" y="1999868"/>
                  </a:moveTo>
                  <a:lnTo>
                    <a:pt x="3828669" y="1999868"/>
                  </a:lnTo>
                  <a:lnTo>
                    <a:pt x="3828669" y="0"/>
                  </a:lnTo>
                  <a:lnTo>
                    <a:pt x="0" y="0"/>
                  </a:lnTo>
                  <a:lnTo>
                    <a:pt x="0" y="199986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109</a:t>
            </a:fld>
            <a:endParaRPr spc="-25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4193489"/>
            <a:ext cx="861695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également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possible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vérifier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qu'une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instance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bien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issue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isinstance()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2188845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Instanciation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d’une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Affichage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l’instance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08058" y="2401379"/>
            <a:ext cx="5320030" cy="3783965"/>
            <a:chOff x="3008058" y="2401379"/>
            <a:chExt cx="5320030" cy="378396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7519" y="2410968"/>
              <a:ext cx="5300472" cy="15361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12820" y="2406142"/>
              <a:ext cx="5310505" cy="1546225"/>
            </a:xfrm>
            <a:custGeom>
              <a:avLst/>
              <a:gdLst/>
              <a:ahLst/>
              <a:cxnLst/>
              <a:rect l="l" t="t" r="r" b="b"/>
              <a:pathLst>
                <a:path w="5310505" h="1546225">
                  <a:moveTo>
                    <a:pt x="0" y="1545717"/>
                  </a:moveTo>
                  <a:lnTo>
                    <a:pt x="5309997" y="1545717"/>
                  </a:lnTo>
                  <a:lnTo>
                    <a:pt x="5309997" y="0"/>
                  </a:lnTo>
                  <a:lnTo>
                    <a:pt x="0" y="0"/>
                  </a:lnTo>
                  <a:lnTo>
                    <a:pt x="0" y="154571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7519" y="4617720"/>
              <a:ext cx="5300472" cy="15575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012820" y="4612957"/>
              <a:ext cx="5310505" cy="1567180"/>
            </a:xfrm>
            <a:custGeom>
              <a:avLst/>
              <a:gdLst/>
              <a:ahLst/>
              <a:cxnLst/>
              <a:rect l="l" t="t" r="r" b="b"/>
              <a:pathLst>
                <a:path w="5310505" h="1567179">
                  <a:moveTo>
                    <a:pt x="0" y="1567052"/>
                  </a:moveTo>
                  <a:lnTo>
                    <a:pt x="5309997" y="1567052"/>
                  </a:lnTo>
                  <a:lnTo>
                    <a:pt x="5309997" y="0"/>
                  </a:lnTo>
                  <a:lnTo>
                    <a:pt x="0" y="0"/>
                  </a:lnTo>
                  <a:lnTo>
                    <a:pt x="0" y="156705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110</a:t>
            </a:fld>
            <a:endParaRPr spc="-25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3202939"/>
            <a:ext cx="170688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de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destructeur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4041394"/>
            <a:ext cx="7391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1476758"/>
            <a:ext cx="10324465" cy="16833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Destructeur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destructeurs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lorsqu'un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détruit.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645"/>
              </a:spcBef>
              <a:buChar char="•"/>
              <a:tabLst>
                <a:tab pos="299085" algn="l"/>
                <a:tab pos="338455" algn="l"/>
              </a:tabLst>
            </a:pPr>
            <a:r>
              <a:rPr sz="1400" dirty="0">
                <a:solidFill>
                  <a:srgbClr val="555555"/>
                </a:solidFill>
                <a:latin typeface="Arial MT"/>
                <a:cs typeface="Arial MT"/>
              </a:rPr>
              <a:t>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Python,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destructeurs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aussi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nécessaires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qu'en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C++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(par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exemple),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dispose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ramasse-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miettes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gère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automatiquement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gestion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mémoire.</a:t>
            </a:r>
            <a:endParaRPr sz="1400">
              <a:latin typeface="Calibri"/>
              <a:cs typeface="Calibri"/>
            </a:endParaRPr>
          </a:p>
          <a:p>
            <a:pPr marL="299085" marR="5715" indent="-287020">
              <a:lnSpc>
                <a:spcPts val="1610"/>
              </a:lnSpc>
              <a:spcBef>
                <a:spcPts val="570"/>
              </a:spcBef>
              <a:buFont typeface="Arial MT"/>
              <a:buChar char="•"/>
              <a:tabLst>
                <a:tab pos="299085" algn="l"/>
                <a:tab pos="1421130" algn="l"/>
                <a:tab pos="192722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del</a:t>
            </a:r>
            <a:r>
              <a:rPr sz="1400" b="1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b="1" spc="-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()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destructeur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Python.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lorsque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références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l’objet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ont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été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supprimées,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c’est-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à-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dire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lorsqu’un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nettoyé.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78251" y="3363467"/>
            <a:ext cx="2478405" cy="521334"/>
          </a:xfrm>
          <a:prstGeom prst="rect">
            <a:avLst/>
          </a:prstGeom>
          <a:solidFill>
            <a:srgbClr val="D5DCE4"/>
          </a:solidFill>
          <a:ln w="9525">
            <a:solidFill>
              <a:srgbClr val="4471C4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68910" marR="1120775" indent="-79375">
              <a:lnSpc>
                <a:spcPct val="100000"/>
              </a:lnSpc>
              <a:spcBef>
                <a:spcPts val="270"/>
              </a:spcBef>
              <a:tabLst>
                <a:tab pos="540385" algn="l"/>
                <a:tab pos="93662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def </a:t>
            </a:r>
            <a:r>
              <a:rPr sz="1400" u="sng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del</a:t>
            </a:r>
            <a:r>
              <a:rPr sz="1400" u="sng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(self):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#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actions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11947" y="4428363"/>
            <a:ext cx="9239250" cy="1860550"/>
            <a:chOff x="1611947" y="4428363"/>
            <a:chExt cx="9239250" cy="186055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1536" y="4437888"/>
              <a:ext cx="4242816" cy="184099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16710" y="4433125"/>
              <a:ext cx="4252595" cy="1851025"/>
            </a:xfrm>
            <a:custGeom>
              <a:avLst/>
              <a:gdLst/>
              <a:ahLst/>
              <a:cxnLst/>
              <a:rect l="l" t="t" r="r" b="b"/>
              <a:pathLst>
                <a:path w="4252595" h="1851025">
                  <a:moveTo>
                    <a:pt x="0" y="1850517"/>
                  </a:moveTo>
                  <a:lnTo>
                    <a:pt x="4252341" y="1850517"/>
                  </a:lnTo>
                  <a:lnTo>
                    <a:pt x="4252341" y="0"/>
                  </a:lnTo>
                  <a:lnTo>
                    <a:pt x="0" y="0"/>
                  </a:lnTo>
                  <a:lnTo>
                    <a:pt x="0" y="185051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8568" y="4437888"/>
              <a:ext cx="4773168" cy="171297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063742" y="4433125"/>
              <a:ext cx="4782820" cy="1722755"/>
            </a:xfrm>
            <a:custGeom>
              <a:avLst/>
              <a:gdLst/>
              <a:ahLst/>
              <a:cxnLst/>
              <a:rect l="l" t="t" r="r" b="b"/>
              <a:pathLst>
                <a:path w="4782820" h="1722754">
                  <a:moveTo>
                    <a:pt x="0" y="1722501"/>
                  </a:moveTo>
                  <a:lnTo>
                    <a:pt x="4782693" y="1722501"/>
                  </a:lnTo>
                  <a:lnTo>
                    <a:pt x="4782693" y="0"/>
                  </a:lnTo>
                  <a:lnTo>
                    <a:pt x="0" y="0"/>
                  </a:lnTo>
                  <a:lnTo>
                    <a:pt x="0" y="172250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111</a:t>
            </a:fld>
            <a:endParaRPr spc="-25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223012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Apport</a:t>
            </a:r>
            <a:r>
              <a:rPr sz="1600" b="1" spc="-7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du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langage</a:t>
            </a:r>
            <a:r>
              <a:rPr sz="16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1438910" algn="l"/>
                <a:tab pos="1914525" algn="l"/>
              </a:tabLst>
            </a:pP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L’attribut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spécial </a:t>
            </a:r>
            <a:r>
              <a:rPr sz="1400" b="1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doc</a:t>
            </a:r>
            <a:r>
              <a:rPr sz="1400" b="1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1076" y="3128772"/>
            <a:ext cx="5767070" cy="52451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destiné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réutilisé,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faut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absolument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endParaRPr sz="14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documentation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entrées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sorties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0283" y="2678747"/>
            <a:ext cx="9538335" cy="3198495"/>
            <a:chOff x="740283" y="2678747"/>
            <a:chExt cx="9538335" cy="319849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808" y="2688336"/>
              <a:ext cx="4572000" cy="24475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5045" y="2683510"/>
              <a:ext cx="4581525" cy="2457450"/>
            </a:xfrm>
            <a:custGeom>
              <a:avLst/>
              <a:gdLst/>
              <a:ahLst/>
              <a:cxnLst/>
              <a:rect l="l" t="t" r="r" b="b"/>
              <a:pathLst>
                <a:path w="4581525" h="2457450">
                  <a:moveTo>
                    <a:pt x="0" y="2457069"/>
                  </a:moveTo>
                  <a:lnTo>
                    <a:pt x="4581525" y="2457069"/>
                  </a:lnTo>
                  <a:lnTo>
                    <a:pt x="4581525" y="0"/>
                  </a:lnTo>
                  <a:lnTo>
                    <a:pt x="0" y="0"/>
                  </a:lnTo>
                  <a:lnTo>
                    <a:pt x="0" y="245706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3167" y="4675632"/>
              <a:ext cx="5495544" cy="11917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68342" y="4670869"/>
              <a:ext cx="5505450" cy="1201420"/>
            </a:xfrm>
            <a:custGeom>
              <a:avLst/>
              <a:gdLst/>
              <a:ahLst/>
              <a:cxnLst/>
              <a:rect l="l" t="t" r="r" b="b"/>
              <a:pathLst>
                <a:path w="5505450" h="1201420">
                  <a:moveTo>
                    <a:pt x="0" y="1201293"/>
                  </a:moveTo>
                  <a:lnTo>
                    <a:pt x="5505069" y="1201293"/>
                  </a:lnTo>
                  <a:lnTo>
                    <a:pt x="5505069" y="0"/>
                  </a:lnTo>
                  <a:lnTo>
                    <a:pt x="0" y="0"/>
                  </a:lnTo>
                  <a:lnTo>
                    <a:pt x="0" y="120129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112</a:t>
            </a:fld>
            <a:endParaRPr spc="-25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3845524"/>
            <a:ext cx="4493895" cy="5861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dir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dir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aperçu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l'objet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972685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Apport</a:t>
            </a:r>
            <a:r>
              <a:rPr sz="1600" b="1" spc="-7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du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langage</a:t>
            </a:r>
            <a:r>
              <a:rPr sz="16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1438910" algn="l"/>
                <a:tab pos="1924050" algn="l"/>
              </a:tabLst>
            </a:pP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L’attribut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spécial </a:t>
            </a:r>
            <a:r>
              <a:rPr sz="1400" b="1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dict</a:t>
            </a:r>
            <a:r>
              <a:rPr sz="1400" b="1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spécial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valeurs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l'instance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75243" y="2660459"/>
            <a:ext cx="6346825" cy="3293110"/>
            <a:chOff x="2075243" y="2660459"/>
            <a:chExt cx="6346825" cy="329311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4831" y="2670048"/>
              <a:ext cx="3672840" cy="107289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80005" y="2665222"/>
              <a:ext cx="3682365" cy="1082675"/>
            </a:xfrm>
            <a:custGeom>
              <a:avLst/>
              <a:gdLst/>
              <a:ahLst/>
              <a:cxnLst/>
              <a:rect l="l" t="t" r="r" b="b"/>
              <a:pathLst>
                <a:path w="3682365" h="1082675">
                  <a:moveTo>
                    <a:pt x="0" y="1082420"/>
                  </a:moveTo>
                  <a:lnTo>
                    <a:pt x="3682365" y="1082420"/>
                  </a:lnTo>
                  <a:lnTo>
                    <a:pt x="3682365" y="0"/>
                  </a:lnTo>
                  <a:lnTo>
                    <a:pt x="0" y="0"/>
                  </a:lnTo>
                  <a:lnTo>
                    <a:pt x="0" y="108242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84831" y="4751832"/>
              <a:ext cx="6327648" cy="11917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080132" y="4747069"/>
              <a:ext cx="6337300" cy="1201420"/>
            </a:xfrm>
            <a:custGeom>
              <a:avLst/>
              <a:gdLst/>
              <a:ahLst/>
              <a:cxnLst/>
              <a:rect l="l" t="t" r="r" b="b"/>
              <a:pathLst>
                <a:path w="6337300" h="1201420">
                  <a:moveTo>
                    <a:pt x="0" y="1201293"/>
                  </a:moveTo>
                  <a:lnTo>
                    <a:pt x="6337173" y="1201293"/>
                  </a:lnTo>
                  <a:lnTo>
                    <a:pt x="6337173" y="0"/>
                  </a:lnTo>
                  <a:lnTo>
                    <a:pt x="0" y="0"/>
                  </a:lnTo>
                  <a:lnTo>
                    <a:pt x="0" y="120129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1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113</a:t>
            </a:fld>
            <a:endParaRPr spc="-25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6704330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Apport</a:t>
            </a:r>
            <a:r>
              <a:rPr sz="1600" b="1" spc="-7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du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langage</a:t>
            </a:r>
            <a:r>
              <a:rPr sz="16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Affichage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  <a:tab pos="475615" algn="l"/>
                <a:tab pos="882015" algn="l"/>
              </a:tabLst>
            </a:pPr>
            <a:r>
              <a:rPr sz="1400" b="1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str</a:t>
            </a:r>
            <a:r>
              <a:rPr sz="1400" b="1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redéfinir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l’affichage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l’instruction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print.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06042" y="2818955"/>
            <a:ext cx="9657080" cy="2854325"/>
            <a:chOff x="1106042" y="2818955"/>
            <a:chExt cx="9657080" cy="28543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567" y="2828543"/>
              <a:ext cx="5242559" cy="23195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10805" y="2823717"/>
              <a:ext cx="5252085" cy="2329180"/>
            </a:xfrm>
            <a:custGeom>
              <a:avLst/>
              <a:gdLst/>
              <a:ahLst/>
              <a:cxnLst/>
              <a:rect l="l" t="t" r="r" b="b"/>
              <a:pathLst>
                <a:path w="5252085" h="2329179">
                  <a:moveTo>
                    <a:pt x="0" y="2329052"/>
                  </a:moveTo>
                  <a:lnTo>
                    <a:pt x="5252084" y="2329052"/>
                  </a:lnTo>
                  <a:lnTo>
                    <a:pt x="5252084" y="0"/>
                  </a:lnTo>
                  <a:lnTo>
                    <a:pt x="0" y="0"/>
                  </a:lnTo>
                  <a:lnTo>
                    <a:pt x="0" y="232905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5896" y="4748783"/>
              <a:ext cx="4727448" cy="9143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021070" y="4744021"/>
              <a:ext cx="4737100" cy="923925"/>
            </a:xfrm>
            <a:custGeom>
              <a:avLst/>
              <a:gdLst/>
              <a:ahLst/>
              <a:cxnLst/>
              <a:rect l="l" t="t" r="r" b="b"/>
              <a:pathLst>
                <a:path w="4737100" h="923925">
                  <a:moveTo>
                    <a:pt x="0" y="923924"/>
                  </a:moveTo>
                  <a:lnTo>
                    <a:pt x="4736973" y="923924"/>
                  </a:lnTo>
                  <a:lnTo>
                    <a:pt x="4736973" y="0"/>
                  </a:lnTo>
                  <a:lnTo>
                    <a:pt x="0" y="0"/>
                  </a:lnTo>
                  <a:lnTo>
                    <a:pt x="0" y="92392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114</a:t>
            </a:fld>
            <a:endParaRPr spc="-25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7883525" cy="12020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Apport</a:t>
            </a:r>
            <a:r>
              <a:rPr sz="1600" b="1" spc="-7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du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langage</a:t>
            </a:r>
            <a:r>
              <a:rPr sz="16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Ajout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d'instance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64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L'ajout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depuis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l'extérieur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instance.nouvel_attribut</a:t>
            </a:r>
            <a:r>
              <a:rPr sz="1400" b="1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b="1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,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créera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nouvel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uniquement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instance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73362" y="2910458"/>
            <a:ext cx="5996305" cy="2683510"/>
            <a:chOff x="2773362" y="2910458"/>
            <a:chExt cx="5996305" cy="268351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2824" y="2919983"/>
              <a:ext cx="5977128" cy="266395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778125" y="2915221"/>
              <a:ext cx="5986780" cy="2673985"/>
            </a:xfrm>
            <a:custGeom>
              <a:avLst/>
              <a:gdLst/>
              <a:ahLst/>
              <a:cxnLst/>
              <a:rect l="l" t="t" r="r" b="b"/>
              <a:pathLst>
                <a:path w="5986780" h="2673985">
                  <a:moveTo>
                    <a:pt x="0" y="2673477"/>
                  </a:moveTo>
                  <a:lnTo>
                    <a:pt x="5986653" y="2673477"/>
                  </a:lnTo>
                  <a:lnTo>
                    <a:pt x="5986653" y="0"/>
                  </a:lnTo>
                  <a:lnTo>
                    <a:pt x="0" y="0"/>
                  </a:lnTo>
                  <a:lnTo>
                    <a:pt x="0" y="267347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115</a:t>
            </a:fld>
            <a:endParaRPr spc="-25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4395342"/>
            <a:ext cx="7391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0423525" cy="1759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Attribut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différents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d’instance.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instances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 classe.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conséquent,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l’attribut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partagée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par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objets.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  <a:tab pos="7249795" algn="l"/>
                <a:tab pos="766762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niveau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plutôt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qu’à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l’intérieur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init</a:t>
            </a:r>
            <a:r>
              <a:rPr sz="1400" b="1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().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Contrairement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d’instance,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accessibles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l’aide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d’instance.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67140" y="3340036"/>
            <a:ext cx="3564254" cy="982980"/>
            <a:chOff x="2267140" y="3340036"/>
            <a:chExt cx="3564254" cy="982980"/>
          </a:xfrm>
        </p:grpSpPr>
        <p:sp>
          <p:nvSpPr>
            <p:cNvPr id="12" name="object 12"/>
            <p:cNvSpPr/>
            <p:nvPr/>
          </p:nvSpPr>
          <p:spPr>
            <a:xfrm>
              <a:off x="2281427" y="3354323"/>
              <a:ext cx="3535679" cy="954405"/>
            </a:xfrm>
            <a:custGeom>
              <a:avLst/>
              <a:gdLst/>
              <a:ahLst/>
              <a:cxnLst/>
              <a:rect l="l" t="t" r="r" b="b"/>
              <a:pathLst>
                <a:path w="3535679" h="954404">
                  <a:moveTo>
                    <a:pt x="3535679" y="0"/>
                  </a:moveTo>
                  <a:lnTo>
                    <a:pt x="0" y="0"/>
                  </a:lnTo>
                  <a:lnTo>
                    <a:pt x="0" y="954024"/>
                  </a:lnTo>
                  <a:lnTo>
                    <a:pt x="3535679" y="954024"/>
                  </a:lnTo>
                  <a:lnTo>
                    <a:pt x="3535679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81427" y="3354323"/>
              <a:ext cx="3535679" cy="954405"/>
            </a:xfrm>
            <a:custGeom>
              <a:avLst/>
              <a:gdLst/>
              <a:ahLst/>
              <a:cxnLst/>
              <a:rect l="l" t="t" r="r" b="b"/>
              <a:pathLst>
                <a:path w="3535679" h="954404">
                  <a:moveTo>
                    <a:pt x="0" y="954024"/>
                  </a:moveTo>
                  <a:lnTo>
                    <a:pt x="3535679" y="954024"/>
                  </a:lnTo>
                  <a:lnTo>
                    <a:pt x="3535679" y="0"/>
                  </a:lnTo>
                  <a:lnTo>
                    <a:pt x="0" y="0"/>
                  </a:lnTo>
                  <a:lnTo>
                    <a:pt x="0" y="954024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58008" y="3377945"/>
            <a:ext cx="2303780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Citron: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=‘’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‘’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def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donnerForme(self,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params):</a:t>
            </a:r>
            <a:endParaRPr sz="14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Citron.forme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=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71716" y="3680459"/>
            <a:ext cx="3042285" cy="30797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attribut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statique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270442" y="3821684"/>
            <a:ext cx="4539615" cy="2646680"/>
            <a:chOff x="2270442" y="3821684"/>
            <a:chExt cx="4539615" cy="2646680"/>
          </a:xfrm>
        </p:grpSpPr>
        <p:sp>
          <p:nvSpPr>
            <p:cNvPr id="17" name="object 17"/>
            <p:cNvSpPr/>
            <p:nvPr/>
          </p:nvSpPr>
          <p:spPr>
            <a:xfrm>
              <a:off x="4451603" y="3821684"/>
              <a:ext cx="2358390" cy="342900"/>
            </a:xfrm>
            <a:custGeom>
              <a:avLst/>
              <a:gdLst/>
              <a:ahLst/>
              <a:cxnLst/>
              <a:rect l="l" t="t" r="r" b="b"/>
              <a:pathLst>
                <a:path w="2358390" h="342900">
                  <a:moveTo>
                    <a:pt x="79756" y="257556"/>
                  </a:moveTo>
                  <a:lnTo>
                    <a:pt x="0" y="310769"/>
                  </a:lnTo>
                  <a:lnTo>
                    <a:pt x="90424" y="342519"/>
                  </a:lnTo>
                  <a:lnTo>
                    <a:pt x="87091" y="315976"/>
                  </a:lnTo>
                  <a:lnTo>
                    <a:pt x="72644" y="315976"/>
                  </a:lnTo>
                  <a:lnTo>
                    <a:pt x="69087" y="287655"/>
                  </a:lnTo>
                  <a:lnTo>
                    <a:pt x="83310" y="285865"/>
                  </a:lnTo>
                  <a:lnTo>
                    <a:pt x="79756" y="257556"/>
                  </a:lnTo>
                  <a:close/>
                </a:path>
                <a:path w="2358390" h="342900">
                  <a:moveTo>
                    <a:pt x="83310" y="285865"/>
                  </a:moveTo>
                  <a:lnTo>
                    <a:pt x="69087" y="287655"/>
                  </a:lnTo>
                  <a:lnTo>
                    <a:pt x="72644" y="315976"/>
                  </a:lnTo>
                  <a:lnTo>
                    <a:pt x="86866" y="314186"/>
                  </a:lnTo>
                  <a:lnTo>
                    <a:pt x="83310" y="285865"/>
                  </a:lnTo>
                  <a:close/>
                </a:path>
                <a:path w="2358390" h="342900">
                  <a:moveTo>
                    <a:pt x="86866" y="314186"/>
                  </a:moveTo>
                  <a:lnTo>
                    <a:pt x="72644" y="315976"/>
                  </a:lnTo>
                  <a:lnTo>
                    <a:pt x="87091" y="315976"/>
                  </a:lnTo>
                  <a:lnTo>
                    <a:pt x="86866" y="314186"/>
                  </a:lnTo>
                  <a:close/>
                </a:path>
                <a:path w="2358390" h="342900">
                  <a:moveTo>
                    <a:pt x="2354834" y="0"/>
                  </a:moveTo>
                  <a:lnTo>
                    <a:pt x="83310" y="285865"/>
                  </a:lnTo>
                  <a:lnTo>
                    <a:pt x="86866" y="314186"/>
                  </a:lnTo>
                  <a:lnTo>
                    <a:pt x="2358390" y="28448"/>
                  </a:lnTo>
                  <a:lnTo>
                    <a:pt x="2354834" y="0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9903" y="4553712"/>
              <a:ext cx="3861816" cy="19050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275204" y="4548949"/>
              <a:ext cx="3871595" cy="1914525"/>
            </a:xfrm>
            <a:custGeom>
              <a:avLst/>
              <a:gdLst/>
              <a:ahLst/>
              <a:cxnLst/>
              <a:rect l="l" t="t" r="r" b="b"/>
              <a:pathLst>
                <a:path w="3871595" h="1914525">
                  <a:moveTo>
                    <a:pt x="0" y="1914525"/>
                  </a:moveTo>
                  <a:lnTo>
                    <a:pt x="3871341" y="1914525"/>
                  </a:lnTo>
                  <a:lnTo>
                    <a:pt x="3871341" y="0"/>
                  </a:lnTo>
                  <a:lnTo>
                    <a:pt x="0" y="0"/>
                  </a:lnTo>
                  <a:lnTo>
                    <a:pt x="0" y="19145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116</a:t>
            </a:fld>
            <a:endParaRPr spc="-25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6450965" cy="16833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Attribut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modification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l’attribut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l’aide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affectera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instances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299085" marR="6985" indent="-287020">
              <a:lnSpc>
                <a:spcPts val="1580"/>
              </a:lnSpc>
              <a:spcBef>
                <a:spcPts val="6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modification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l’attribut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l’aide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l’instance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n’affectera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autres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instances.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n’affectera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l’instance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modifiée.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30818" y="3398139"/>
            <a:ext cx="5109210" cy="3073400"/>
            <a:chOff x="2230818" y="3398139"/>
            <a:chExt cx="5109210" cy="30734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0279" y="3407664"/>
              <a:ext cx="5090160" cy="30540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35580" y="3402901"/>
              <a:ext cx="5099685" cy="3063875"/>
            </a:xfrm>
            <a:custGeom>
              <a:avLst/>
              <a:gdLst/>
              <a:ahLst/>
              <a:cxnLst/>
              <a:rect l="l" t="t" r="r" b="b"/>
              <a:pathLst>
                <a:path w="5099684" h="3063875">
                  <a:moveTo>
                    <a:pt x="0" y="3063621"/>
                  </a:moveTo>
                  <a:lnTo>
                    <a:pt x="5099685" y="3063621"/>
                  </a:lnTo>
                  <a:lnTo>
                    <a:pt x="5099685" y="0"/>
                  </a:lnTo>
                  <a:lnTo>
                    <a:pt x="0" y="0"/>
                  </a:lnTo>
                  <a:lnTo>
                    <a:pt x="0" y="306362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117</a:t>
            </a:fld>
            <a:endParaRPr spc="-25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2440686"/>
            <a:ext cx="10449560" cy="71945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99085" marR="8890" indent="-287020">
              <a:lnSpc>
                <a:spcPts val="1580"/>
              </a:lnSpc>
              <a:spcBef>
                <a:spcPts val="2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présentées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jusqu’à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présent,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inclut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paramètre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self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l’instance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laquelle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elle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appelée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b="1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statique</a:t>
            </a:r>
            <a:r>
              <a:rPr sz="1400" b="1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nécessite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qu’une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instance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soit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créée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appelée.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C’est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donc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n’ayant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besoin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3061929"/>
            <a:ext cx="6190615" cy="5803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600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self.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déclaration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statique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décorateur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@staticmethod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4523358"/>
            <a:ext cx="7391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1476758"/>
            <a:ext cx="10448290" cy="92075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Méthodes</a:t>
            </a:r>
            <a:r>
              <a:rPr sz="1600" b="1" spc="-8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statiques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645"/>
              </a:lnSpc>
              <a:spcBef>
                <a:spcPts val="844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Rappel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statiques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appelées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aucune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instance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 la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où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elles sont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définies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n’a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45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été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créée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826692" y="3318700"/>
            <a:ext cx="3198495" cy="1336675"/>
            <a:chOff x="7826692" y="3318700"/>
            <a:chExt cx="3198495" cy="1336675"/>
          </a:xfrm>
        </p:grpSpPr>
        <p:sp>
          <p:nvSpPr>
            <p:cNvPr id="14" name="object 14"/>
            <p:cNvSpPr/>
            <p:nvPr/>
          </p:nvSpPr>
          <p:spPr>
            <a:xfrm>
              <a:off x="7840980" y="3332988"/>
              <a:ext cx="3169920" cy="1308100"/>
            </a:xfrm>
            <a:custGeom>
              <a:avLst/>
              <a:gdLst/>
              <a:ahLst/>
              <a:cxnLst/>
              <a:rect l="l" t="t" r="r" b="b"/>
              <a:pathLst>
                <a:path w="3169920" h="1308100">
                  <a:moveTo>
                    <a:pt x="3169920" y="0"/>
                  </a:moveTo>
                  <a:lnTo>
                    <a:pt x="0" y="0"/>
                  </a:lnTo>
                  <a:lnTo>
                    <a:pt x="0" y="1307592"/>
                  </a:lnTo>
                  <a:lnTo>
                    <a:pt x="3169920" y="1307592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40980" y="3332988"/>
              <a:ext cx="3169920" cy="1308100"/>
            </a:xfrm>
            <a:custGeom>
              <a:avLst/>
              <a:gdLst/>
              <a:ahLst/>
              <a:cxnLst/>
              <a:rect l="l" t="t" r="r" b="b"/>
              <a:pathLst>
                <a:path w="3169920" h="1308100">
                  <a:moveTo>
                    <a:pt x="0" y="1307592"/>
                  </a:moveTo>
                  <a:lnTo>
                    <a:pt x="3169920" y="1307592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1307592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920355" y="3357448"/>
            <a:ext cx="125285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nom_class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78851" y="3696461"/>
            <a:ext cx="114808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@staticmethod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78851" y="3941467"/>
            <a:ext cx="2369185" cy="64262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def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nom_methode(params,</a:t>
            </a:r>
            <a:r>
              <a:rPr sz="14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...)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70815">
              <a:lnSpc>
                <a:spcPct val="100000"/>
              </a:lnSpc>
              <a:spcBef>
                <a:spcPts val="74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#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corps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41842" y="3994150"/>
            <a:ext cx="6894195" cy="2471420"/>
            <a:chOff x="2041842" y="3994150"/>
            <a:chExt cx="6894195" cy="2471420"/>
          </a:xfrm>
        </p:grpSpPr>
        <p:sp>
          <p:nvSpPr>
            <p:cNvPr id="20" name="object 20"/>
            <p:cNvSpPr/>
            <p:nvPr/>
          </p:nvSpPr>
          <p:spPr>
            <a:xfrm>
              <a:off x="7371588" y="3994150"/>
              <a:ext cx="1564640" cy="85725"/>
            </a:xfrm>
            <a:custGeom>
              <a:avLst/>
              <a:gdLst/>
              <a:ahLst/>
              <a:cxnLst/>
              <a:rect l="l" t="t" r="r" b="b"/>
              <a:pathLst>
                <a:path w="1564640" h="85725">
                  <a:moveTo>
                    <a:pt x="1478660" y="0"/>
                  </a:moveTo>
                  <a:lnTo>
                    <a:pt x="1478660" y="85725"/>
                  </a:lnTo>
                  <a:lnTo>
                    <a:pt x="1535895" y="57150"/>
                  </a:lnTo>
                  <a:lnTo>
                    <a:pt x="1493011" y="57150"/>
                  </a:lnTo>
                  <a:lnTo>
                    <a:pt x="1493011" y="28575"/>
                  </a:lnTo>
                  <a:lnTo>
                    <a:pt x="1535726" y="28575"/>
                  </a:lnTo>
                  <a:lnTo>
                    <a:pt x="1478660" y="0"/>
                  </a:lnTo>
                  <a:close/>
                </a:path>
                <a:path w="1564640" h="85725">
                  <a:moveTo>
                    <a:pt x="1478660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1478660" y="57150"/>
                  </a:lnTo>
                  <a:lnTo>
                    <a:pt x="1478660" y="28575"/>
                  </a:lnTo>
                  <a:close/>
                </a:path>
                <a:path w="1564640" h="85725">
                  <a:moveTo>
                    <a:pt x="1535726" y="28575"/>
                  </a:moveTo>
                  <a:lnTo>
                    <a:pt x="1493011" y="28575"/>
                  </a:lnTo>
                  <a:lnTo>
                    <a:pt x="1493011" y="57150"/>
                  </a:lnTo>
                  <a:lnTo>
                    <a:pt x="1535895" y="57150"/>
                  </a:lnTo>
                  <a:lnTo>
                    <a:pt x="1564385" y="42925"/>
                  </a:lnTo>
                  <a:lnTo>
                    <a:pt x="1535726" y="28575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1303" y="4636008"/>
              <a:ext cx="4602480" cy="181965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046604" y="4631245"/>
              <a:ext cx="4612005" cy="1829435"/>
            </a:xfrm>
            <a:custGeom>
              <a:avLst/>
              <a:gdLst/>
              <a:ahLst/>
              <a:cxnLst/>
              <a:rect l="l" t="t" r="r" b="b"/>
              <a:pathLst>
                <a:path w="4612005" h="1829435">
                  <a:moveTo>
                    <a:pt x="0" y="1829181"/>
                  </a:moveTo>
                  <a:lnTo>
                    <a:pt x="4612005" y="1829181"/>
                  </a:lnTo>
                  <a:lnTo>
                    <a:pt x="4612005" y="0"/>
                  </a:lnTo>
                  <a:lnTo>
                    <a:pt x="0" y="0"/>
                  </a:lnTo>
                  <a:lnTo>
                    <a:pt x="0" y="182918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03875" y="5966701"/>
              <a:ext cx="2124710" cy="210185"/>
            </a:xfrm>
            <a:custGeom>
              <a:avLst/>
              <a:gdLst/>
              <a:ahLst/>
              <a:cxnLst/>
              <a:rect l="l" t="t" r="r" b="b"/>
              <a:pathLst>
                <a:path w="2124709" h="210185">
                  <a:moveTo>
                    <a:pt x="86529" y="28488"/>
                  </a:moveTo>
                  <a:lnTo>
                    <a:pt x="84492" y="55918"/>
                  </a:lnTo>
                  <a:lnTo>
                    <a:pt x="84412" y="56990"/>
                  </a:lnTo>
                  <a:lnTo>
                    <a:pt x="2122297" y="209715"/>
                  </a:lnTo>
                  <a:lnTo>
                    <a:pt x="2124455" y="181228"/>
                  </a:lnTo>
                  <a:lnTo>
                    <a:pt x="86529" y="28488"/>
                  </a:lnTo>
                  <a:close/>
                </a:path>
                <a:path w="2124709" h="210185">
                  <a:moveTo>
                    <a:pt x="88646" y="0"/>
                  </a:moveTo>
                  <a:lnTo>
                    <a:pt x="0" y="36334"/>
                  </a:lnTo>
                  <a:lnTo>
                    <a:pt x="82296" y="85483"/>
                  </a:lnTo>
                  <a:lnTo>
                    <a:pt x="84412" y="56990"/>
                  </a:lnTo>
                  <a:lnTo>
                    <a:pt x="70103" y="55918"/>
                  </a:lnTo>
                  <a:lnTo>
                    <a:pt x="72181" y="28488"/>
                  </a:lnTo>
                  <a:lnTo>
                    <a:pt x="72262" y="27419"/>
                  </a:lnTo>
                  <a:lnTo>
                    <a:pt x="86609" y="27419"/>
                  </a:lnTo>
                  <a:lnTo>
                    <a:pt x="88646" y="0"/>
                  </a:lnTo>
                  <a:close/>
                </a:path>
                <a:path w="2124709" h="210185">
                  <a:moveTo>
                    <a:pt x="72262" y="27419"/>
                  </a:moveTo>
                  <a:lnTo>
                    <a:pt x="70103" y="55918"/>
                  </a:lnTo>
                  <a:lnTo>
                    <a:pt x="84412" y="56990"/>
                  </a:lnTo>
                  <a:lnTo>
                    <a:pt x="86529" y="28488"/>
                  </a:lnTo>
                  <a:lnTo>
                    <a:pt x="72262" y="27419"/>
                  </a:lnTo>
                  <a:close/>
                </a:path>
                <a:path w="2124709" h="210185">
                  <a:moveTo>
                    <a:pt x="86609" y="27419"/>
                  </a:moveTo>
                  <a:lnTo>
                    <a:pt x="72262" y="27419"/>
                  </a:lnTo>
                  <a:lnTo>
                    <a:pt x="86529" y="28488"/>
                  </a:lnTo>
                  <a:lnTo>
                    <a:pt x="86609" y="27419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948684" y="3918203"/>
            <a:ext cx="3377565" cy="30797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Nom_méthode</a:t>
            </a:r>
            <a:r>
              <a:rPr sz="1400" b="1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statique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118</a:t>
            </a:fld>
            <a:endParaRPr spc="-25" dirty="0"/>
          </a:p>
        </p:txBody>
      </p:sp>
      <p:sp>
        <p:nvSpPr>
          <p:cNvPr id="25" name="object 25"/>
          <p:cNvSpPr txBox="1"/>
          <p:nvPr/>
        </p:nvSpPr>
        <p:spPr>
          <a:xfrm>
            <a:off x="7307326" y="5952845"/>
            <a:ext cx="330200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statique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methode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nécessite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aucune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création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d’instance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appelée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10410825" cy="1478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Ajout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méthodes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déclarer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statique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l’extérieur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 classe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puis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l’ajouter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tant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statique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classe.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64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programme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suivant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déclare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methode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puis indique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essai_class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aussi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statique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l’aide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staticmethod.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72650" y="3065907"/>
            <a:ext cx="5847080" cy="2540000"/>
            <a:chOff x="3172650" y="3065907"/>
            <a:chExt cx="5847080" cy="25400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2112" y="3075432"/>
              <a:ext cx="5827776" cy="252069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77413" y="3070669"/>
              <a:ext cx="5837555" cy="2530475"/>
            </a:xfrm>
            <a:custGeom>
              <a:avLst/>
              <a:gdLst/>
              <a:ahLst/>
              <a:cxnLst/>
              <a:rect l="l" t="t" r="r" b="b"/>
              <a:pathLst>
                <a:path w="5837555" h="2530475">
                  <a:moveTo>
                    <a:pt x="0" y="2530220"/>
                  </a:moveTo>
                  <a:lnTo>
                    <a:pt x="5837300" y="2530220"/>
                  </a:lnTo>
                  <a:lnTo>
                    <a:pt x="5837300" y="0"/>
                  </a:lnTo>
                  <a:lnTo>
                    <a:pt x="0" y="0"/>
                  </a:lnTo>
                  <a:lnTo>
                    <a:pt x="0" y="253022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119</a:t>
            </a:fld>
            <a:endParaRPr spc="-25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8765540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Modificateur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d’accès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public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membres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déclarés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publics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facilement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accessibles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depuis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n’importe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quelle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programme.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Tous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membres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membres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publics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défaut.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21866" y="2681795"/>
            <a:ext cx="9730105" cy="2287270"/>
            <a:chOff x="1221866" y="2681795"/>
            <a:chExt cx="9730105" cy="228727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1391" y="2691383"/>
              <a:ext cx="3529584" cy="21518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26629" y="2686557"/>
              <a:ext cx="3539490" cy="2161540"/>
            </a:xfrm>
            <a:custGeom>
              <a:avLst/>
              <a:gdLst/>
              <a:ahLst/>
              <a:cxnLst/>
              <a:rect l="l" t="t" r="r" b="b"/>
              <a:pathLst>
                <a:path w="3539490" h="2161540">
                  <a:moveTo>
                    <a:pt x="0" y="2161413"/>
                  </a:moveTo>
                  <a:lnTo>
                    <a:pt x="3539109" y="2161413"/>
                  </a:lnTo>
                  <a:lnTo>
                    <a:pt x="3539109" y="0"/>
                  </a:lnTo>
                  <a:lnTo>
                    <a:pt x="0" y="0"/>
                  </a:lnTo>
                  <a:lnTo>
                    <a:pt x="0" y="21614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67684" y="3393947"/>
              <a:ext cx="1195070" cy="1560830"/>
            </a:xfrm>
            <a:custGeom>
              <a:avLst/>
              <a:gdLst/>
              <a:ahLst/>
              <a:cxnLst/>
              <a:rect l="l" t="t" r="r" b="b"/>
              <a:pathLst>
                <a:path w="1195070" h="1560829">
                  <a:moveTo>
                    <a:pt x="0" y="694944"/>
                  </a:moveTo>
                  <a:lnTo>
                    <a:pt x="74938" y="695505"/>
                  </a:lnTo>
                  <a:lnTo>
                    <a:pt x="147099" y="697144"/>
                  </a:lnTo>
                  <a:lnTo>
                    <a:pt x="215922" y="699794"/>
                  </a:lnTo>
                  <a:lnTo>
                    <a:pt x="280847" y="703388"/>
                  </a:lnTo>
                  <a:lnTo>
                    <a:pt x="341314" y="707857"/>
                  </a:lnTo>
                  <a:lnTo>
                    <a:pt x="396765" y="713136"/>
                  </a:lnTo>
                  <a:lnTo>
                    <a:pt x="446638" y="719156"/>
                  </a:lnTo>
                  <a:lnTo>
                    <a:pt x="490374" y="725850"/>
                  </a:lnTo>
                  <a:lnTo>
                    <a:pt x="557196" y="740992"/>
                  </a:lnTo>
                  <a:lnTo>
                    <a:pt x="592753" y="758023"/>
                  </a:lnTo>
                  <a:lnTo>
                    <a:pt x="597407" y="767079"/>
                  </a:lnTo>
                  <a:lnTo>
                    <a:pt x="597407" y="1055624"/>
                  </a:lnTo>
                  <a:lnTo>
                    <a:pt x="602062" y="1064680"/>
                  </a:lnTo>
                  <a:lnTo>
                    <a:pt x="637619" y="1081711"/>
                  </a:lnTo>
                  <a:lnTo>
                    <a:pt x="704441" y="1096853"/>
                  </a:lnTo>
                  <a:lnTo>
                    <a:pt x="748177" y="1103547"/>
                  </a:lnTo>
                  <a:lnTo>
                    <a:pt x="798050" y="1109567"/>
                  </a:lnTo>
                  <a:lnTo>
                    <a:pt x="853501" y="1114846"/>
                  </a:lnTo>
                  <a:lnTo>
                    <a:pt x="913968" y="1119315"/>
                  </a:lnTo>
                  <a:lnTo>
                    <a:pt x="978893" y="1122909"/>
                  </a:lnTo>
                  <a:lnTo>
                    <a:pt x="1047716" y="1125559"/>
                  </a:lnTo>
                  <a:lnTo>
                    <a:pt x="1119877" y="1127198"/>
                  </a:lnTo>
                  <a:lnTo>
                    <a:pt x="1194815" y="1127759"/>
                  </a:lnTo>
                  <a:lnTo>
                    <a:pt x="1119877" y="1128321"/>
                  </a:lnTo>
                  <a:lnTo>
                    <a:pt x="1047716" y="1129960"/>
                  </a:lnTo>
                  <a:lnTo>
                    <a:pt x="978893" y="1132610"/>
                  </a:lnTo>
                  <a:lnTo>
                    <a:pt x="913968" y="1136204"/>
                  </a:lnTo>
                  <a:lnTo>
                    <a:pt x="853501" y="1140673"/>
                  </a:lnTo>
                  <a:lnTo>
                    <a:pt x="798050" y="1145952"/>
                  </a:lnTo>
                  <a:lnTo>
                    <a:pt x="748177" y="1151972"/>
                  </a:lnTo>
                  <a:lnTo>
                    <a:pt x="704441" y="1158666"/>
                  </a:lnTo>
                  <a:lnTo>
                    <a:pt x="637619" y="1173808"/>
                  </a:lnTo>
                  <a:lnTo>
                    <a:pt x="602062" y="1190839"/>
                  </a:lnTo>
                  <a:lnTo>
                    <a:pt x="597407" y="1199895"/>
                  </a:lnTo>
                  <a:lnTo>
                    <a:pt x="597407" y="1488439"/>
                  </a:lnTo>
                  <a:lnTo>
                    <a:pt x="592753" y="1497496"/>
                  </a:lnTo>
                  <a:lnTo>
                    <a:pt x="557196" y="1514527"/>
                  </a:lnTo>
                  <a:lnTo>
                    <a:pt x="490374" y="1529669"/>
                  </a:lnTo>
                  <a:lnTo>
                    <a:pt x="446638" y="1536363"/>
                  </a:lnTo>
                  <a:lnTo>
                    <a:pt x="396765" y="1542383"/>
                  </a:lnTo>
                  <a:lnTo>
                    <a:pt x="341314" y="1547662"/>
                  </a:lnTo>
                  <a:lnTo>
                    <a:pt x="280847" y="1552131"/>
                  </a:lnTo>
                  <a:lnTo>
                    <a:pt x="215922" y="1555725"/>
                  </a:lnTo>
                  <a:lnTo>
                    <a:pt x="147099" y="1558375"/>
                  </a:lnTo>
                  <a:lnTo>
                    <a:pt x="74938" y="1560014"/>
                  </a:lnTo>
                  <a:lnTo>
                    <a:pt x="0" y="1560576"/>
                  </a:lnTo>
                </a:path>
                <a:path w="1195070" h="1560829">
                  <a:moveTo>
                    <a:pt x="0" y="0"/>
                  </a:moveTo>
                  <a:lnTo>
                    <a:pt x="81066" y="445"/>
                  </a:lnTo>
                  <a:lnTo>
                    <a:pt x="158817" y="1742"/>
                  </a:lnTo>
                  <a:lnTo>
                    <a:pt x="232540" y="3833"/>
                  </a:lnTo>
                  <a:lnTo>
                    <a:pt x="301526" y="6660"/>
                  </a:lnTo>
                  <a:lnTo>
                    <a:pt x="365061" y="10164"/>
                  </a:lnTo>
                  <a:lnTo>
                    <a:pt x="422433" y="14287"/>
                  </a:lnTo>
                  <a:lnTo>
                    <a:pt x="472932" y="18971"/>
                  </a:lnTo>
                  <a:lnTo>
                    <a:pt x="515845" y="24158"/>
                  </a:lnTo>
                  <a:lnTo>
                    <a:pt x="576068" y="35806"/>
                  </a:lnTo>
                  <a:lnTo>
                    <a:pt x="597407" y="48767"/>
                  </a:lnTo>
                  <a:lnTo>
                    <a:pt x="597407" y="206501"/>
                  </a:lnTo>
                  <a:lnTo>
                    <a:pt x="602861" y="213117"/>
                  </a:lnTo>
                  <a:lnTo>
                    <a:pt x="644354" y="225480"/>
                  </a:lnTo>
                  <a:lnTo>
                    <a:pt x="721883" y="236298"/>
                  </a:lnTo>
                  <a:lnTo>
                    <a:pt x="772382" y="240982"/>
                  </a:lnTo>
                  <a:lnTo>
                    <a:pt x="829754" y="245105"/>
                  </a:lnTo>
                  <a:lnTo>
                    <a:pt x="893289" y="248609"/>
                  </a:lnTo>
                  <a:lnTo>
                    <a:pt x="962275" y="251436"/>
                  </a:lnTo>
                  <a:lnTo>
                    <a:pt x="1035998" y="253527"/>
                  </a:lnTo>
                  <a:lnTo>
                    <a:pt x="1113749" y="254824"/>
                  </a:lnTo>
                  <a:lnTo>
                    <a:pt x="1194815" y="255269"/>
                  </a:lnTo>
                  <a:lnTo>
                    <a:pt x="1113749" y="255715"/>
                  </a:lnTo>
                  <a:lnTo>
                    <a:pt x="1035998" y="257012"/>
                  </a:lnTo>
                  <a:lnTo>
                    <a:pt x="962275" y="259103"/>
                  </a:lnTo>
                  <a:lnTo>
                    <a:pt x="893289" y="261930"/>
                  </a:lnTo>
                  <a:lnTo>
                    <a:pt x="829754" y="265434"/>
                  </a:lnTo>
                  <a:lnTo>
                    <a:pt x="772382" y="269557"/>
                  </a:lnTo>
                  <a:lnTo>
                    <a:pt x="721883" y="274241"/>
                  </a:lnTo>
                  <a:lnTo>
                    <a:pt x="678970" y="279428"/>
                  </a:lnTo>
                  <a:lnTo>
                    <a:pt x="618747" y="291076"/>
                  </a:lnTo>
                  <a:lnTo>
                    <a:pt x="597407" y="304038"/>
                  </a:lnTo>
                  <a:lnTo>
                    <a:pt x="597407" y="536447"/>
                  </a:lnTo>
                  <a:lnTo>
                    <a:pt x="591954" y="543063"/>
                  </a:lnTo>
                  <a:lnTo>
                    <a:pt x="550461" y="555426"/>
                  </a:lnTo>
                  <a:lnTo>
                    <a:pt x="472932" y="566244"/>
                  </a:lnTo>
                  <a:lnTo>
                    <a:pt x="422433" y="570928"/>
                  </a:lnTo>
                  <a:lnTo>
                    <a:pt x="365061" y="575051"/>
                  </a:lnTo>
                  <a:lnTo>
                    <a:pt x="301526" y="578555"/>
                  </a:lnTo>
                  <a:lnTo>
                    <a:pt x="232540" y="581382"/>
                  </a:lnTo>
                  <a:lnTo>
                    <a:pt x="158817" y="583473"/>
                  </a:lnTo>
                  <a:lnTo>
                    <a:pt x="81066" y="584770"/>
                  </a:lnTo>
                  <a:lnTo>
                    <a:pt x="0" y="585215"/>
                  </a:lnTo>
                </a:path>
              </a:pathLst>
            </a:custGeom>
            <a:ln w="28575">
              <a:solidFill>
                <a:srgbClr val="FF7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5951" y="3182111"/>
              <a:ext cx="3706367" cy="166116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231126" y="3177285"/>
              <a:ext cx="3716020" cy="1670685"/>
            </a:xfrm>
            <a:custGeom>
              <a:avLst/>
              <a:gdLst/>
              <a:ahLst/>
              <a:cxnLst/>
              <a:rect l="l" t="t" r="r" b="b"/>
              <a:pathLst>
                <a:path w="3716020" h="1670685">
                  <a:moveTo>
                    <a:pt x="0" y="1670685"/>
                  </a:moveTo>
                  <a:lnTo>
                    <a:pt x="3715893" y="1670685"/>
                  </a:lnTo>
                  <a:lnTo>
                    <a:pt x="3715893" y="0"/>
                  </a:lnTo>
                  <a:lnTo>
                    <a:pt x="0" y="0"/>
                  </a:lnTo>
                  <a:lnTo>
                    <a:pt x="0" y="167068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930140" y="3393947"/>
            <a:ext cx="2139950" cy="74104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2075" marR="405130">
              <a:lnSpc>
                <a:spcPct val="100000"/>
              </a:lnSpc>
              <a:spcBef>
                <a:spcPts val="2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geekName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geekAge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attributs publiques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120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4930140" y="4332732"/>
            <a:ext cx="2139950" cy="30797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publique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1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10286365" cy="1478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Modificateur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d’accès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protégé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membres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déclarés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protégés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accessibles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qu’à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dérive.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645"/>
              </a:spcBef>
              <a:buChar char="•"/>
              <a:tabLst>
                <a:tab pos="299085" algn="l"/>
                <a:tab pos="338455" algn="l"/>
              </a:tabLst>
            </a:pPr>
            <a:r>
              <a:rPr sz="1400" dirty="0">
                <a:solidFill>
                  <a:srgbClr val="555555"/>
                </a:solidFill>
                <a:latin typeface="Arial MT"/>
                <a:cs typeface="Arial MT"/>
              </a:rPr>
              <a:t>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membres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déclarées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protégées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ajoutant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seul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symbole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soulignement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«_»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avant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membre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63380" y="2876867"/>
            <a:ext cx="4012565" cy="2265680"/>
            <a:chOff x="2663380" y="2876867"/>
            <a:chExt cx="4012565" cy="226568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4951" y="2886455"/>
              <a:ext cx="3621024" cy="22463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040252" y="2881629"/>
              <a:ext cx="3630929" cy="2256155"/>
            </a:xfrm>
            <a:custGeom>
              <a:avLst/>
              <a:gdLst/>
              <a:ahLst/>
              <a:cxnLst/>
              <a:rect l="l" t="t" r="r" b="b"/>
              <a:pathLst>
                <a:path w="3630929" h="2256154">
                  <a:moveTo>
                    <a:pt x="0" y="2255901"/>
                  </a:moveTo>
                  <a:lnTo>
                    <a:pt x="3630549" y="2255901"/>
                  </a:lnTo>
                  <a:lnTo>
                    <a:pt x="3630549" y="0"/>
                  </a:lnTo>
                  <a:lnTo>
                    <a:pt x="0" y="0"/>
                  </a:lnTo>
                  <a:lnTo>
                    <a:pt x="0" y="225590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77667" y="3208019"/>
              <a:ext cx="1027430" cy="954405"/>
            </a:xfrm>
            <a:custGeom>
              <a:avLst/>
              <a:gdLst/>
              <a:ahLst/>
              <a:cxnLst/>
              <a:rect l="l" t="t" r="r" b="b"/>
              <a:pathLst>
                <a:path w="1027429" h="954404">
                  <a:moveTo>
                    <a:pt x="1027176" y="954023"/>
                  </a:moveTo>
                  <a:lnTo>
                    <a:pt x="951294" y="953162"/>
                  </a:lnTo>
                  <a:lnTo>
                    <a:pt x="878865" y="950660"/>
                  </a:lnTo>
                  <a:lnTo>
                    <a:pt x="810684" y="946640"/>
                  </a:lnTo>
                  <a:lnTo>
                    <a:pt x="747546" y="941224"/>
                  </a:lnTo>
                  <a:lnTo>
                    <a:pt x="690247" y="934535"/>
                  </a:lnTo>
                  <a:lnTo>
                    <a:pt x="639581" y="926695"/>
                  </a:lnTo>
                  <a:lnTo>
                    <a:pt x="596344" y="917826"/>
                  </a:lnTo>
                  <a:lnTo>
                    <a:pt x="535337" y="897495"/>
                  </a:lnTo>
                  <a:lnTo>
                    <a:pt x="513588" y="874521"/>
                  </a:lnTo>
                  <a:lnTo>
                    <a:pt x="513588" y="556513"/>
                  </a:lnTo>
                  <a:lnTo>
                    <a:pt x="508018" y="544758"/>
                  </a:lnTo>
                  <a:lnTo>
                    <a:pt x="465844" y="522983"/>
                  </a:lnTo>
                  <a:lnTo>
                    <a:pt x="387594" y="504340"/>
                  </a:lnTo>
                  <a:lnTo>
                    <a:pt x="336928" y="496500"/>
                  </a:lnTo>
                  <a:lnTo>
                    <a:pt x="279629" y="489811"/>
                  </a:lnTo>
                  <a:lnTo>
                    <a:pt x="216491" y="484395"/>
                  </a:lnTo>
                  <a:lnTo>
                    <a:pt x="148310" y="480375"/>
                  </a:lnTo>
                  <a:lnTo>
                    <a:pt x="75881" y="477873"/>
                  </a:lnTo>
                  <a:lnTo>
                    <a:pt x="0" y="477011"/>
                  </a:lnTo>
                  <a:lnTo>
                    <a:pt x="75881" y="476150"/>
                  </a:lnTo>
                  <a:lnTo>
                    <a:pt x="148310" y="473648"/>
                  </a:lnTo>
                  <a:lnTo>
                    <a:pt x="216491" y="469628"/>
                  </a:lnTo>
                  <a:lnTo>
                    <a:pt x="279629" y="464212"/>
                  </a:lnTo>
                  <a:lnTo>
                    <a:pt x="336928" y="457523"/>
                  </a:lnTo>
                  <a:lnTo>
                    <a:pt x="387594" y="449683"/>
                  </a:lnTo>
                  <a:lnTo>
                    <a:pt x="430831" y="440814"/>
                  </a:lnTo>
                  <a:lnTo>
                    <a:pt x="491838" y="420483"/>
                  </a:lnTo>
                  <a:lnTo>
                    <a:pt x="513588" y="397509"/>
                  </a:lnTo>
                  <a:lnTo>
                    <a:pt x="513588" y="79501"/>
                  </a:lnTo>
                  <a:lnTo>
                    <a:pt x="519157" y="67746"/>
                  </a:lnTo>
                  <a:lnTo>
                    <a:pt x="561331" y="45971"/>
                  </a:lnTo>
                  <a:lnTo>
                    <a:pt x="639581" y="27328"/>
                  </a:lnTo>
                  <a:lnTo>
                    <a:pt x="690247" y="19488"/>
                  </a:lnTo>
                  <a:lnTo>
                    <a:pt x="747546" y="12799"/>
                  </a:lnTo>
                  <a:lnTo>
                    <a:pt x="810684" y="7383"/>
                  </a:lnTo>
                  <a:lnTo>
                    <a:pt x="878865" y="3363"/>
                  </a:lnTo>
                  <a:lnTo>
                    <a:pt x="951294" y="861"/>
                  </a:lnTo>
                  <a:lnTo>
                    <a:pt x="1027176" y="0"/>
                  </a:lnTo>
                </a:path>
              </a:pathLst>
            </a:custGeom>
            <a:ln w="28574">
              <a:solidFill>
                <a:srgbClr val="FF7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1576" y="3483355"/>
            <a:ext cx="2002789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2069" marR="5080" indent="-40005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_name,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_roll,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_branch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protégés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77667" y="4241291"/>
            <a:ext cx="1027430" cy="734695"/>
          </a:xfrm>
          <a:custGeom>
            <a:avLst/>
            <a:gdLst/>
            <a:ahLst/>
            <a:cxnLst/>
            <a:rect l="l" t="t" r="r" b="b"/>
            <a:pathLst>
              <a:path w="1027429" h="734695">
                <a:moveTo>
                  <a:pt x="1027176" y="734567"/>
                </a:moveTo>
                <a:lnTo>
                  <a:pt x="951294" y="733903"/>
                </a:lnTo>
                <a:lnTo>
                  <a:pt x="878865" y="731974"/>
                </a:lnTo>
                <a:lnTo>
                  <a:pt x="810684" y="728874"/>
                </a:lnTo>
                <a:lnTo>
                  <a:pt x="747546" y="724699"/>
                </a:lnTo>
                <a:lnTo>
                  <a:pt x="690247" y="719544"/>
                </a:lnTo>
                <a:lnTo>
                  <a:pt x="639581" y="713504"/>
                </a:lnTo>
                <a:lnTo>
                  <a:pt x="596344" y="706674"/>
                </a:lnTo>
                <a:lnTo>
                  <a:pt x="535337" y="691024"/>
                </a:lnTo>
                <a:lnTo>
                  <a:pt x="513588" y="673353"/>
                </a:lnTo>
                <a:lnTo>
                  <a:pt x="513588" y="428497"/>
                </a:lnTo>
                <a:lnTo>
                  <a:pt x="508018" y="419458"/>
                </a:lnTo>
                <a:lnTo>
                  <a:pt x="465844" y="402702"/>
                </a:lnTo>
                <a:lnTo>
                  <a:pt x="387594" y="388347"/>
                </a:lnTo>
                <a:lnTo>
                  <a:pt x="336928" y="382307"/>
                </a:lnTo>
                <a:lnTo>
                  <a:pt x="279629" y="377152"/>
                </a:lnTo>
                <a:lnTo>
                  <a:pt x="216491" y="372977"/>
                </a:lnTo>
                <a:lnTo>
                  <a:pt x="148310" y="369877"/>
                </a:lnTo>
                <a:lnTo>
                  <a:pt x="75881" y="367948"/>
                </a:lnTo>
                <a:lnTo>
                  <a:pt x="0" y="367283"/>
                </a:lnTo>
                <a:lnTo>
                  <a:pt x="75881" y="366619"/>
                </a:lnTo>
                <a:lnTo>
                  <a:pt x="148310" y="364690"/>
                </a:lnTo>
                <a:lnTo>
                  <a:pt x="216491" y="361590"/>
                </a:lnTo>
                <a:lnTo>
                  <a:pt x="279629" y="357415"/>
                </a:lnTo>
                <a:lnTo>
                  <a:pt x="336928" y="352260"/>
                </a:lnTo>
                <a:lnTo>
                  <a:pt x="387594" y="346220"/>
                </a:lnTo>
                <a:lnTo>
                  <a:pt x="430831" y="339390"/>
                </a:lnTo>
                <a:lnTo>
                  <a:pt x="491838" y="323740"/>
                </a:lnTo>
                <a:lnTo>
                  <a:pt x="513588" y="306069"/>
                </a:lnTo>
                <a:lnTo>
                  <a:pt x="513588" y="61213"/>
                </a:lnTo>
                <a:lnTo>
                  <a:pt x="519157" y="52174"/>
                </a:lnTo>
                <a:lnTo>
                  <a:pt x="561331" y="35418"/>
                </a:lnTo>
                <a:lnTo>
                  <a:pt x="639581" y="21063"/>
                </a:lnTo>
                <a:lnTo>
                  <a:pt x="690247" y="15023"/>
                </a:lnTo>
                <a:lnTo>
                  <a:pt x="747546" y="9868"/>
                </a:lnTo>
                <a:lnTo>
                  <a:pt x="810684" y="5693"/>
                </a:lnTo>
                <a:lnTo>
                  <a:pt x="878865" y="2593"/>
                </a:lnTo>
                <a:lnTo>
                  <a:pt x="951294" y="664"/>
                </a:lnTo>
                <a:lnTo>
                  <a:pt x="1027176" y="0"/>
                </a:lnTo>
              </a:path>
            </a:pathLst>
          </a:custGeom>
          <a:ln w="28575">
            <a:solidFill>
              <a:srgbClr val="FF7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9241" y="4476369"/>
            <a:ext cx="10257155" cy="1962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_displayRollAndBranch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protégée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400">
              <a:latin typeface="Calibri"/>
              <a:cs typeface="Calibri"/>
            </a:endParaRPr>
          </a:p>
          <a:p>
            <a:pPr marL="358775" indent="-286385">
              <a:lnSpc>
                <a:spcPct val="100000"/>
              </a:lnSpc>
              <a:buFont typeface="Arial MT"/>
              <a:buChar char="•"/>
              <a:tabLst>
                <a:tab pos="35877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considère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Geek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dérivée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Student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alors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815975" lvl="1" indent="-286385">
              <a:lnSpc>
                <a:spcPts val="1645"/>
              </a:lnSpc>
              <a:spcBef>
                <a:spcPts val="530"/>
              </a:spcBef>
              <a:buFont typeface="Arial MT"/>
              <a:buChar char="•"/>
              <a:tabLst>
                <a:tab pos="81597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name,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_rollet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_branch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membres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protégées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et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_displayRollAndBranch()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protégée</a:t>
            </a:r>
            <a:endParaRPr sz="1400">
              <a:latin typeface="Calibri"/>
              <a:cs typeface="Calibri"/>
            </a:endParaRPr>
          </a:p>
          <a:p>
            <a:pPr marL="81597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super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Student.</a:t>
            </a:r>
            <a:endParaRPr sz="1400">
              <a:latin typeface="Calibri"/>
              <a:cs typeface="Calibri"/>
            </a:endParaRPr>
          </a:p>
          <a:p>
            <a:pPr marL="815975" lvl="1" indent="-286385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81597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displayDetails()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membre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publique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Geek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dérivée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Student,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400">
              <a:latin typeface="Calibri"/>
              <a:cs typeface="Calibri"/>
            </a:endParaRPr>
          </a:p>
          <a:p>
            <a:pPr marL="81597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displayDetails()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Geek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accède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 membres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protégées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Student.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851459" y="2876867"/>
            <a:ext cx="4323080" cy="1464310"/>
            <a:chOff x="6851459" y="2876867"/>
            <a:chExt cx="4323080" cy="146431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1047" y="2886455"/>
              <a:ext cx="4303776" cy="144475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856221" y="2881629"/>
              <a:ext cx="4313555" cy="1454785"/>
            </a:xfrm>
            <a:custGeom>
              <a:avLst/>
              <a:gdLst/>
              <a:ahLst/>
              <a:cxnLst/>
              <a:rect l="l" t="t" r="r" b="b"/>
              <a:pathLst>
                <a:path w="4313555" h="1454785">
                  <a:moveTo>
                    <a:pt x="0" y="1454277"/>
                  </a:moveTo>
                  <a:lnTo>
                    <a:pt x="4313301" y="1454277"/>
                  </a:lnTo>
                  <a:lnTo>
                    <a:pt x="4313301" y="0"/>
                  </a:lnTo>
                  <a:lnTo>
                    <a:pt x="0" y="0"/>
                  </a:lnTo>
                  <a:lnTo>
                    <a:pt x="0" y="145427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6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121</a:t>
            </a:fld>
            <a:endParaRPr spc="-25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5718759"/>
            <a:ext cx="10445115" cy="71945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99085" marR="5080" indent="-287020">
              <a:lnSpc>
                <a:spcPts val="1580"/>
              </a:lnSpc>
              <a:spcBef>
                <a:spcPts val="225"/>
              </a:spcBef>
              <a:buFont typeface="Arial MT"/>
              <a:buChar char="•"/>
              <a:tabLst>
                <a:tab pos="299085" algn="l"/>
                <a:tab pos="411861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_name,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_rollet _branch sont des membres privés, </a:t>
            </a:r>
            <a:r>
              <a:rPr sz="1400" u="sng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displayDetails()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est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 fonction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membre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privée (elle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accédée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 dans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classe)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accessPrivateFunction()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membre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publique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Geek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accessible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n’importe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où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programme.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accessPrivateFunction()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accède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aux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membres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privés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Geek.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0448290" cy="16833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Modificateur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d’accès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privé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membres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déclarés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privés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accessibles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uniquement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classe,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modificateur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d’accès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privé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modificateur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d’accès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sécurisé.</a:t>
            </a:r>
            <a:endParaRPr sz="1400">
              <a:latin typeface="Calibri"/>
              <a:cs typeface="Calibri"/>
            </a:endParaRPr>
          </a:p>
          <a:p>
            <a:pPr marL="299085" marR="5715" indent="-287020">
              <a:lnSpc>
                <a:spcPts val="1580"/>
              </a:lnSpc>
              <a:spcBef>
                <a:spcPts val="670"/>
              </a:spcBef>
              <a:buFont typeface="Arial MT"/>
              <a:buChar char="•"/>
              <a:tabLst>
                <a:tab pos="299085" algn="l"/>
                <a:tab pos="815911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membres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 déclarées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privées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 ajoutant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 double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trait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soulignement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«</a:t>
            </a:r>
            <a:r>
              <a:rPr sz="1400" u="sng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»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avant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membre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données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75563" y="3218243"/>
            <a:ext cx="8651240" cy="2345055"/>
            <a:chOff x="1075563" y="3218243"/>
            <a:chExt cx="8651240" cy="234505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088" y="3227831"/>
              <a:ext cx="2947416" cy="23256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80325" y="3223005"/>
              <a:ext cx="2957195" cy="2335530"/>
            </a:xfrm>
            <a:custGeom>
              <a:avLst/>
              <a:gdLst/>
              <a:ahLst/>
              <a:cxnLst/>
              <a:rect l="l" t="t" r="r" b="b"/>
              <a:pathLst>
                <a:path w="2957195" h="2335529">
                  <a:moveTo>
                    <a:pt x="0" y="2335149"/>
                  </a:moveTo>
                  <a:lnTo>
                    <a:pt x="2956941" y="2335149"/>
                  </a:lnTo>
                  <a:lnTo>
                    <a:pt x="2956941" y="0"/>
                  </a:lnTo>
                  <a:lnTo>
                    <a:pt x="0" y="0"/>
                  </a:lnTo>
                  <a:lnTo>
                    <a:pt x="0" y="233514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5216" y="3227831"/>
              <a:ext cx="5321808" cy="181965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90390" y="3223005"/>
              <a:ext cx="5331460" cy="1829435"/>
            </a:xfrm>
            <a:custGeom>
              <a:avLst/>
              <a:gdLst/>
              <a:ahLst/>
              <a:cxnLst/>
              <a:rect l="l" t="t" r="r" b="b"/>
              <a:pathLst>
                <a:path w="5331459" h="1829435">
                  <a:moveTo>
                    <a:pt x="0" y="1829181"/>
                  </a:moveTo>
                  <a:lnTo>
                    <a:pt x="5331333" y="1829181"/>
                  </a:lnTo>
                  <a:lnTo>
                    <a:pt x="5331333" y="0"/>
                  </a:lnTo>
                  <a:lnTo>
                    <a:pt x="0" y="0"/>
                  </a:lnTo>
                  <a:lnTo>
                    <a:pt x="0" y="182918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Codage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d’une</a:t>
            </a:r>
            <a:r>
              <a:rPr sz="1600" spc="-1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classe</a:t>
            </a:r>
            <a:endParaRPr sz="16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122</a:t>
            </a:fld>
            <a:endParaRPr spc="-25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1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6941946" y="1105280"/>
            <a:ext cx="4293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Coder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une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solution</a:t>
            </a:r>
            <a:r>
              <a:rPr sz="2400" b="1" spc="-9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orientée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objet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286639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Création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6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package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Codage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6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Intégration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concepts</a:t>
            </a:r>
            <a:r>
              <a:rPr sz="1600" b="1" spc="-6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POO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Intégration</a:t>
            </a:r>
            <a:r>
              <a:rPr sz="1600" spc="-7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9281160" cy="19640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Getter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Setter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en</a:t>
            </a:r>
            <a:r>
              <a:rPr sz="1600" b="1" spc="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Getters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Setters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souvent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utilisés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éviter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l’accès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direct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champ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classe,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c’est-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à-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dire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variables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privées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accessibles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directement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modifiées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utilisateur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externe.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Utilisation</a:t>
            </a:r>
            <a:r>
              <a:rPr sz="140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normale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obtenir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comportement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Getters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Setters</a:t>
            </a:r>
            <a:endParaRPr sz="1400">
              <a:latin typeface="Calibri"/>
              <a:cs typeface="Calibri"/>
            </a:endParaRPr>
          </a:p>
          <a:p>
            <a:pPr marL="299085" marR="5715" indent="-287020">
              <a:lnSpc>
                <a:spcPts val="1610"/>
              </a:lnSpc>
              <a:spcBef>
                <a:spcPts val="62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obtenir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propriété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Getters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Setters,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nous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définissons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get()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set(),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cela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reflètera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aucune implémentation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spéciale.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75954" y="3803522"/>
            <a:ext cx="7989570" cy="1811655"/>
            <a:chOff x="2175954" y="3803522"/>
            <a:chExt cx="7989570" cy="181165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5416" y="4059935"/>
              <a:ext cx="3910583" cy="154533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80717" y="4055173"/>
              <a:ext cx="3920490" cy="1555115"/>
            </a:xfrm>
            <a:custGeom>
              <a:avLst/>
              <a:gdLst/>
              <a:ahLst/>
              <a:cxnLst/>
              <a:rect l="l" t="t" r="r" b="b"/>
              <a:pathLst>
                <a:path w="3920490" h="1555114">
                  <a:moveTo>
                    <a:pt x="0" y="1554861"/>
                  </a:moveTo>
                  <a:lnTo>
                    <a:pt x="3920108" y="1554861"/>
                  </a:lnTo>
                  <a:lnTo>
                    <a:pt x="3920108" y="0"/>
                  </a:lnTo>
                  <a:lnTo>
                    <a:pt x="0" y="0"/>
                  </a:lnTo>
                  <a:lnTo>
                    <a:pt x="0" y="155486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8400" y="3813047"/>
              <a:ext cx="3907536" cy="17922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243574" y="3808285"/>
              <a:ext cx="3917315" cy="1802130"/>
            </a:xfrm>
            <a:custGeom>
              <a:avLst/>
              <a:gdLst/>
              <a:ahLst/>
              <a:cxnLst/>
              <a:rect l="l" t="t" r="r" b="b"/>
              <a:pathLst>
                <a:path w="3917315" h="1802129">
                  <a:moveTo>
                    <a:pt x="0" y="1801749"/>
                  </a:moveTo>
                  <a:lnTo>
                    <a:pt x="3917060" y="1801749"/>
                  </a:lnTo>
                  <a:lnTo>
                    <a:pt x="3917060" y="0"/>
                  </a:lnTo>
                  <a:lnTo>
                    <a:pt x="0" y="0"/>
                  </a:lnTo>
                  <a:lnTo>
                    <a:pt x="0" y="180174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124</a:t>
            </a:fld>
            <a:endParaRPr spc="-25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7533005" cy="239395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Getter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Setter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avec</a:t>
            </a:r>
            <a:r>
              <a:rPr sz="1600" b="1" spc="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property()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 property()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intégrée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renvoie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propriété.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propriété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trois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méthodes, getter(),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setter()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delete().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property()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trois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arguments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property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(fget,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fset,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fdel,doc)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fget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récupérer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d’attribut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fset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d’attribut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fdel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supprimer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d’attribut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doc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contenant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documentation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(docstring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voir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ultérieurement)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l’attribut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51698" y="4001642"/>
            <a:ext cx="4460875" cy="2479040"/>
            <a:chOff x="1651698" y="4001642"/>
            <a:chExt cx="4460875" cy="247904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1159" y="4011167"/>
              <a:ext cx="3700272" cy="245973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56460" y="4006405"/>
              <a:ext cx="3710304" cy="2469515"/>
            </a:xfrm>
            <a:custGeom>
              <a:avLst/>
              <a:gdLst/>
              <a:ahLst/>
              <a:cxnLst/>
              <a:rect l="l" t="t" r="r" b="b"/>
              <a:pathLst>
                <a:path w="3710304" h="2469515">
                  <a:moveTo>
                    <a:pt x="0" y="2469260"/>
                  </a:moveTo>
                  <a:lnTo>
                    <a:pt x="3709797" y="2469260"/>
                  </a:lnTo>
                  <a:lnTo>
                    <a:pt x="3709797" y="0"/>
                  </a:lnTo>
                  <a:lnTo>
                    <a:pt x="0" y="0"/>
                  </a:lnTo>
                  <a:lnTo>
                    <a:pt x="0" y="24692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10939" y="4626736"/>
              <a:ext cx="2401570" cy="638175"/>
            </a:xfrm>
            <a:custGeom>
              <a:avLst/>
              <a:gdLst/>
              <a:ahLst/>
              <a:cxnLst/>
              <a:rect l="l" t="t" r="r" b="b"/>
              <a:pathLst>
                <a:path w="2401570" h="638175">
                  <a:moveTo>
                    <a:pt x="72644" y="554608"/>
                  </a:moveTo>
                  <a:lnTo>
                    <a:pt x="0" y="616966"/>
                  </a:lnTo>
                  <a:lnTo>
                    <a:pt x="93599" y="637666"/>
                  </a:lnTo>
                  <a:lnTo>
                    <a:pt x="87479" y="613410"/>
                  </a:lnTo>
                  <a:lnTo>
                    <a:pt x="72771" y="613410"/>
                  </a:lnTo>
                  <a:lnTo>
                    <a:pt x="65786" y="585724"/>
                  </a:lnTo>
                  <a:lnTo>
                    <a:pt x="79616" y="582244"/>
                  </a:lnTo>
                  <a:lnTo>
                    <a:pt x="72644" y="554608"/>
                  </a:lnTo>
                  <a:close/>
                </a:path>
                <a:path w="2401570" h="638175">
                  <a:moveTo>
                    <a:pt x="79616" y="582244"/>
                  </a:moveTo>
                  <a:lnTo>
                    <a:pt x="65786" y="585724"/>
                  </a:lnTo>
                  <a:lnTo>
                    <a:pt x="72771" y="613410"/>
                  </a:lnTo>
                  <a:lnTo>
                    <a:pt x="86601" y="609930"/>
                  </a:lnTo>
                  <a:lnTo>
                    <a:pt x="79616" y="582244"/>
                  </a:lnTo>
                  <a:close/>
                </a:path>
                <a:path w="2401570" h="638175">
                  <a:moveTo>
                    <a:pt x="86601" y="609930"/>
                  </a:moveTo>
                  <a:lnTo>
                    <a:pt x="72771" y="613410"/>
                  </a:lnTo>
                  <a:lnTo>
                    <a:pt x="87479" y="613410"/>
                  </a:lnTo>
                  <a:lnTo>
                    <a:pt x="86601" y="609930"/>
                  </a:lnTo>
                  <a:close/>
                </a:path>
                <a:path w="2401570" h="638175">
                  <a:moveTo>
                    <a:pt x="2394204" y="0"/>
                  </a:moveTo>
                  <a:lnTo>
                    <a:pt x="79616" y="582244"/>
                  </a:lnTo>
                  <a:lnTo>
                    <a:pt x="86601" y="609930"/>
                  </a:lnTo>
                  <a:lnTo>
                    <a:pt x="2401189" y="27686"/>
                  </a:lnTo>
                  <a:lnTo>
                    <a:pt x="239420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459984" y="4866894"/>
            <a:ext cx="4349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12820" y="4007739"/>
            <a:ext cx="6290310" cy="2018664"/>
            <a:chOff x="3512820" y="4007739"/>
            <a:chExt cx="6290310" cy="2018664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1512" y="4017264"/>
              <a:ext cx="3791712" cy="199948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996686" y="4012501"/>
              <a:ext cx="3801745" cy="2009139"/>
            </a:xfrm>
            <a:custGeom>
              <a:avLst/>
              <a:gdLst/>
              <a:ahLst/>
              <a:cxnLst/>
              <a:rect l="l" t="t" r="r" b="b"/>
              <a:pathLst>
                <a:path w="3801745" h="2009139">
                  <a:moveTo>
                    <a:pt x="0" y="2009013"/>
                  </a:moveTo>
                  <a:lnTo>
                    <a:pt x="3801237" y="2009013"/>
                  </a:lnTo>
                  <a:lnTo>
                    <a:pt x="3801237" y="0"/>
                  </a:lnTo>
                  <a:lnTo>
                    <a:pt x="0" y="0"/>
                  </a:lnTo>
                  <a:lnTo>
                    <a:pt x="0" y="20090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12820" y="4602480"/>
              <a:ext cx="2748915" cy="205104"/>
            </a:xfrm>
            <a:custGeom>
              <a:avLst/>
              <a:gdLst/>
              <a:ahLst/>
              <a:cxnLst/>
              <a:rect l="l" t="t" r="r" b="b"/>
              <a:pathLst>
                <a:path w="2748915" h="205104">
                  <a:moveTo>
                    <a:pt x="86398" y="28604"/>
                  </a:moveTo>
                  <a:lnTo>
                    <a:pt x="84839" y="56261"/>
                  </a:lnTo>
                  <a:lnTo>
                    <a:pt x="84794" y="57054"/>
                  </a:lnTo>
                  <a:lnTo>
                    <a:pt x="2747009" y="204724"/>
                  </a:lnTo>
                  <a:lnTo>
                    <a:pt x="2748660" y="176276"/>
                  </a:lnTo>
                  <a:lnTo>
                    <a:pt x="86398" y="28604"/>
                  </a:lnTo>
                  <a:close/>
                </a:path>
                <a:path w="2748915" h="205104">
                  <a:moveTo>
                    <a:pt x="88010" y="0"/>
                  </a:moveTo>
                  <a:lnTo>
                    <a:pt x="0" y="38100"/>
                  </a:lnTo>
                  <a:lnTo>
                    <a:pt x="83184" y="85598"/>
                  </a:lnTo>
                  <a:lnTo>
                    <a:pt x="84794" y="57054"/>
                  </a:lnTo>
                  <a:lnTo>
                    <a:pt x="70484" y="56261"/>
                  </a:lnTo>
                  <a:lnTo>
                    <a:pt x="72090" y="28604"/>
                  </a:lnTo>
                  <a:lnTo>
                    <a:pt x="72135" y="27813"/>
                  </a:lnTo>
                  <a:lnTo>
                    <a:pt x="86442" y="27813"/>
                  </a:lnTo>
                  <a:lnTo>
                    <a:pt x="88010" y="0"/>
                  </a:lnTo>
                  <a:close/>
                </a:path>
                <a:path w="2748915" h="205104">
                  <a:moveTo>
                    <a:pt x="72135" y="27813"/>
                  </a:moveTo>
                  <a:lnTo>
                    <a:pt x="70484" y="56261"/>
                  </a:lnTo>
                  <a:lnTo>
                    <a:pt x="84794" y="57054"/>
                  </a:lnTo>
                  <a:lnTo>
                    <a:pt x="86398" y="28604"/>
                  </a:lnTo>
                  <a:lnTo>
                    <a:pt x="72135" y="27813"/>
                  </a:lnTo>
                  <a:close/>
                </a:path>
                <a:path w="2748915" h="205104">
                  <a:moveTo>
                    <a:pt x="86442" y="27813"/>
                  </a:moveTo>
                  <a:lnTo>
                    <a:pt x="72135" y="27813"/>
                  </a:lnTo>
                  <a:lnTo>
                    <a:pt x="86398" y="28604"/>
                  </a:lnTo>
                  <a:lnTo>
                    <a:pt x="86442" y="2781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125</a:t>
            </a:fld>
            <a:endParaRPr spc="-25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6645909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Utilisation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7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@property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@property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décorateur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évite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d'utiliser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setter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getter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explicites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28675" y="2553779"/>
            <a:ext cx="4786630" cy="2076450"/>
            <a:chOff x="828675" y="2553779"/>
            <a:chExt cx="4786630" cy="207645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2563368"/>
              <a:ext cx="4767072" cy="2057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33437" y="2558542"/>
              <a:ext cx="4777105" cy="2066925"/>
            </a:xfrm>
            <a:custGeom>
              <a:avLst/>
              <a:gdLst/>
              <a:ahLst/>
              <a:cxnLst/>
              <a:rect l="l" t="t" r="r" b="b"/>
              <a:pathLst>
                <a:path w="4777105" h="2066925">
                  <a:moveTo>
                    <a:pt x="0" y="2066924"/>
                  </a:moveTo>
                  <a:lnTo>
                    <a:pt x="4776597" y="2066924"/>
                  </a:lnTo>
                  <a:lnTo>
                    <a:pt x="4776597" y="0"/>
                  </a:lnTo>
                  <a:lnTo>
                    <a:pt x="0" y="0"/>
                  </a:lnTo>
                  <a:lnTo>
                    <a:pt x="0" y="206692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917691" y="4722876"/>
            <a:ext cx="5438140" cy="73787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nomcomplet()</a:t>
            </a:r>
            <a:r>
              <a:rPr sz="14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fonctionne</a:t>
            </a:r>
            <a:r>
              <a:rPr sz="14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getter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cause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décorateur</a:t>
            </a:r>
            <a:endParaRPr sz="14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@property.</a:t>
            </a:r>
            <a:endParaRPr sz="14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nomComplet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lieu de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nomcomplet()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0851" y="5670803"/>
            <a:ext cx="6099175" cy="31432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décorateur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@property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utilisé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nomcomplet()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28509" y="2553779"/>
            <a:ext cx="10335260" cy="3115945"/>
            <a:chOff x="1028509" y="2553779"/>
            <a:chExt cx="10335260" cy="3115945"/>
          </a:xfrm>
        </p:grpSpPr>
        <p:sp>
          <p:nvSpPr>
            <p:cNvPr id="17" name="object 17"/>
            <p:cNvSpPr/>
            <p:nvPr/>
          </p:nvSpPr>
          <p:spPr>
            <a:xfrm>
              <a:off x="1028496" y="4070603"/>
              <a:ext cx="4895850" cy="1599565"/>
            </a:xfrm>
            <a:custGeom>
              <a:avLst/>
              <a:gdLst/>
              <a:ahLst/>
              <a:cxnLst/>
              <a:rect l="l" t="t" r="r" b="b"/>
              <a:pathLst>
                <a:path w="4895850" h="1599564">
                  <a:moveTo>
                    <a:pt x="85737" y="85737"/>
                  </a:moveTo>
                  <a:lnTo>
                    <a:pt x="78625" y="71501"/>
                  </a:lnTo>
                  <a:lnTo>
                    <a:pt x="42875" y="0"/>
                  </a:lnTo>
                  <a:lnTo>
                    <a:pt x="0" y="85737"/>
                  </a:lnTo>
                  <a:lnTo>
                    <a:pt x="28587" y="85737"/>
                  </a:lnTo>
                  <a:lnTo>
                    <a:pt x="28587" y="1599057"/>
                  </a:lnTo>
                  <a:lnTo>
                    <a:pt x="57162" y="1599057"/>
                  </a:lnTo>
                  <a:lnTo>
                    <a:pt x="57162" y="85737"/>
                  </a:lnTo>
                  <a:lnTo>
                    <a:pt x="85737" y="85737"/>
                  </a:lnTo>
                  <a:close/>
                </a:path>
                <a:path w="4895850" h="1599564">
                  <a:moveTo>
                    <a:pt x="4895672" y="1006856"/>
                  </a:moveTo>
                  <a:lnTo>
                    <a:pt x="3674732" y="455079"/>
                  </a:lnTo>
                  <a:lnTo>
                    <a:pt x="3677386" y="449199"/>
                  </a:lnTo>
                  <a:lnTo>
                    <a:pt x="3686505" y="429006"/>
                  </a:lnTo>
                  <a:lnTo>
                    <a:pt x="3590747" y="432816"/>
                  </a:lnTo>
                  <a:lnTo>
                    <a:pt x="3651199" y="507238"/>
                  </a:lnTo>
                  <a:lnTo>
                    <a:pt x="3662972" y="481139"/>
                  </a:lnTo>
                  <a:lnTo>
                    <a:pt x="4883988" y="1032891"/>
                  </a:lnTo>
                  <a:lnTo>
                    <a:pt x="4895672" y="1006856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6168" y="2563368"/>
              <a:ext cx="5437632" cy="185927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11342" y="2558542"/>
              <a:ext cx="5447665" cy="1868805"/>
            </a:xfrm>
            <a:custGeom>
              <a:avLst/>
              <a:gdLst/>
              <a:ahLst/>
              <a:cxnLst/>
              <a:rect l="l" t="t" r="r" b="b"/>
              <a:pathLst>
                <a:path w="5447665" h="1868804">
                  <a:moveTo>
                    <a:pt x="0" y="1868804"/>
                  </a:moveTo>
                  <a:lnTo>
                    <a:pt x="5447157" y="1868804"/>
                  </a:lnTo>
                  <a:lnTo>
                    <a:pt x="5447157" y="0"/>
                  </a:lnTo>
                  <a:lnTo>
                    <a:pt x="0" y="0"/>
                  </a:lnTo>
                  <a:lnTo>
                    <a:pt x="0" y="186880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126</a:t>
            </a:fld>
            <a:endParaRPr spc="-25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Intégration</a:t>
            </a:r>
            <a:r>
              <a:rPr sz="1600" spc="-7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2998724"/>
            <a:ext cx="7391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1476758"/>
            <a:ext cx="10356215" cy="12020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Héritage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en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Rappel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3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l’héritage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capacité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 à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dériver ou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propriétés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autre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l’utiliser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fois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nécessaire.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en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36522" y="3446907"/>
            <a:ext cx="9608185" cy="2899410"/>
            <a:chOff x="1136522" y="3446907"/>
            <a:chExt cx="9608185" cy="289941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6047" y="3456432"/>
              <a:ext cx="3706367" cy="28803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41285" y="3451669"/>
              <a:ext cx="3716020" cy="2889885"/>
            </a:xfrm>
            <a:custGeom>
              <a:avLst/>
              <a:gdLst/>
              <a:ahLst/>
              <a:cxnLst/>
              <a:rect l="l" t="t" r="r" b="b"/>
              <a:pathLst>
                <a:path w="3716020" h="2889885">
                  <a:moveTo>
                    <a:pt x="0" y="2889885"/>
                  </a:moveTo>
                  <a:lnTo>
                    <a:pt x="3715892" y="2889885"/>
                  </a:lnTo>
                  <a:lnTo>
                    <a:pt x="3715892" y="0"/>
                  </a:lnTo>
                  <a:lnTo>
                    <a:pt x="0" y="0"/>
                  </a:lnTo>
                  <a:lnTo>
                    <a:pt x="0" y="288988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11068" y="5624728"/>
              <a:ext cx="1814830" cy="469900"/>
            </a:xfrm>
            <a:custGeom>
              <a:avLst/>
              <a:gdLst/>
              <a:ahLst/>
              <a:cxnLst/>
              <a:rect l="l" t="t" r="r" b="b"/>
              <a:pathLst>
                <a:path w="1814829" h="469900">
                  <a:moveTo>
                    <a:pt x="86698" y="27786"/>
                  </a:moveTo>
                  <a:lnTo>
                    <a:pt x="80054" y="55564"/>
                  </a:lnTo>
                  <a:lnTo>
                    <a:pt x="1807591" y="469773"/>
                  </a:lnTo>
                  <a:lnTo>
                    <a:pt x="1814321" y="441985"/>
                  </a:lnTo>
                  <a:lnTo>
                    <a:pt x="86698" y="27786"/>
                  </a:lnTo>
                  <a:close/>
                </a:path>
                <a:path w="1814829" h="469900">
                  <a:moveTo>
                    <a:pt x="93344" y="0"/>
                  </a:moveTo>
                  <a:lnTo>
                    <a:pt x="0" y="21691"/>
                  </a:lnTo>
                  <a:lnTo>
                    <a:pt x="73406" y="83362"/>
                  </a:lnTo>
                  <a:lnTo>
                    <a:pt x="80054" y="55564"/>
                  </a:lnTo>
                  <a:lnTo>
                    <a:pt x="66167" y="52235"/>
                  </a:lnTo>
                  <a:lnTo>
                    <a:pt x="72770" y="24447"/>
                  </a:lnTo>
                  <a:lnTo>
                    <a:pt x="87497" y="24447"/>
                  </a:lnTo>
                  <a:lnTo>
                    <a:pt x="93344" y="0"/>
                  </a:lnTo>
                  <a:close/>
                </a:path>
                <a:path w="1814829" h="469900">
                  <a:moveTo>
                    <a:pt x="72770" y="24447"/>
                  </a:moveTo>
                  <a:lnTo>
                    <a:pt x="66167" y="52235"/>
                  </a:lnTo>
                  <a:lnTo>
                    <a:pt x="80054" y="55564"/>
                  </a:lnTo>
                  <a:lnTo>
                    <a:pt x="86698" y="27786"/>
                  </a:lnTo>
                  <a:lnTo>
                    <a:pt x="72770" y="24447"/>
                  </a:lnTo>
                  <a:close/>
                </a:path>
                <a:path w="1814829" h="469900">
                  <a:moveTo>
                    <a:pt x="87497" y="24447"/>
                  </a:moveTo>
                  <a:lnTo>
                    <a:pt x="72770" y="24447"/>
                  </a:lnTo>
                  <a:lnTo>
                    <a:pt x="86698" y="27786"/>
                  </a:lnTo>
                  <a:lnTo>
                    <a:pt x="87497" y="24447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5063" y="3547872"/>
              <a:ext cx="5269992" cy="20970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460238" y="3543109"/>
              <a:ext cx="5280025" cy="2106930"/>
            </a:xfrm>
            <a:custGeom>
              <a:avLst/>
              <a:gdLst/>
              <a:ahLst/>
              <a:cxnLst/>
              <a:rect l="l" t="t" r="r" b="b"/>
              <a:pathLst>
                <a:path w="5280025" h="2106929">
                  <a:moveTo>
                    <a:pt x="0" y="2106549"/>
                  </a:moveTo>
                  <a:lnTo>
                    <a:pt x="5279517" y="2106549"/>
                  </a:lnTo>
                  <a:lnTo>
                    <a:pt x="5279517" y="0"/>
                  </a:lnTo>
                  <a:lnTo>
                    <a:pt x="0" y="0"/>
                  </a:lnTo>
                  <a:lnTo>
                    <a:pt x="0" y="210654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99430" y="5976010"/>
            <a:ext cx="22161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Student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hérite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Child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127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3717035" y="2726435"/>
            <a:ext cx="3706495" cy="33845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37185">
              <a:lnSpc>
                <a:spcPct val="100000"/>
              </a:lnSpc>
              <a:spcBef>
                <a:spcPts val="254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Class</a:t>
            </a:r>
            <a:r>
              <a:rPr sz="16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Nom_classe(Nom_SuperClass)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0139680" cy="12020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Héritage</a:t>
            </a:r>
            <a:r>
              <a:rPr sz="1600" b="1" spc="-9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unique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Rappel</a:t>
            </a:r>
            <a:r>
              <a:rPr sz="1400" b="1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L’héritage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unique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dérivée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d’hériter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propriétés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seule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parente,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permettant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ainsi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réutilisation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l’ajout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nouvelles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fonctionnalités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existant.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39571" y="3093402"/>
            <a:ext cx="9885680" cy="1875155"/>
            <a:chOff x="1139571" y="3093402"/>
            <a:chExt cx="9885680" cy="187515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9096" y="3102863"/>
              <a:ext cx="5218176" cy="162153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44333" y="3098164"/>
              <a:ext cx="5227955" cy="1631314"/>
            </a:xfrm>
            <a:custGeom>
              <a:avLst/>
              <a:gdLst/>
              <a:ahLst/>
              <a:cxnLst/>
              <a:rect l="l" t="t" r="r" b="b"/>
              <a:pathLst>
                <a:path w="5227955" h="1631314">
                  <a:moveTo>
                    <a:pt x="0" y="1631061"/>
                  </a:moveTo>
                  <a:lnTo>
                    <a:pt x="5227701" y="1631061"/>
                  </a:lnTo>
                  <a:lnTo>
                    <a:pt x="5227701" y="0"/>
                  </a:lnTo>
                  <a:lnTo>
                    <a:pt x="0" y="0"/>
                  </a:lnTo>
                  <a:lnTo>
                    <a:pt x="0" y="163106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3992" y="3139439"/>
              <a:ext cx="4221480" cy="181965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789166" y="3134613"/>
              <a:ext cx="4231005" cy="1829435"/>
            </a:xfrm>
            <a:custGeom>
              <a:avLst/>
              <a:gdLst/>
              <a:ahLst/>
              <a:cxnLst/>
              <a:rect l="l" t="t" r="r" b="b"/>
              <a:pathLst>
                <a:path w="4231005" h="1829435">
                  <a:moveTo>
                    <a:pt x="0" y="1829181"/>
                  </a:moveTo>
                  <a:lnTo>
                    <a:pt x="4231005" y="1829181"/>
                  </a:lnTo>
                  <a:lnTo>
                    <a:pt x="4231005" y="0"/>
                  </a:lnTo>
                  <a:lnTo>
                    <a:pt x="0" y="0"/>
                  </a:lnTo>
                  <a:lnTo>
                    <a:pt x="0" y="182918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128</a:t>
            </a:fld>
            <a:endParaRPr spc="-25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Intégration</a:t>
            </a:r>
            <a:r>
              <a:rPr sz="1600" spc="-7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0337800" cy="12020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Héritage</a:t>
            </a:r>
            <a:r>
              <a:rPr sz="1600" b="1" spc="-9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multiple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Rappel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Lorsqu’une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dérivée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base,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d’héritage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héritage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multiple.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l’héritage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multiple,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fonctionnalités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héritées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dérivée.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19083" y="2956115"/>
            <a:ext cx="6776720" cy="2292985"/>
            <a:chOff x="2319083" y="2956115"/>
            <a:chExt cx="6776720" cy="229298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8671" y="2965703"/>
              <a:ext cx="3380232" cy="227380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23845" y="2961004"/>
              <a:ext cx="3390265" cy="2283460"/>
            </a:xfrm>
            <a:custGeom>
              <a:avLst/>
              <a:gdLst/>
              <a:ahLst/>
              <a:cxnLst/>
              <a:rect l="l" t="t" r="r" b="b"/>
              <a:pathLst>
                <a:path w="3390265" h="2283460">
                  <a:moveTo>
                    <a:pt x="0" y="2283333"/>
                  </a:moveTo>
                  <a:lnTo>
                    <a:pt x="3389756" y="2283333"/>
                  </a:lnTo>
                  <a:lnTo>
                    <a:pt x="3389756" y="0"/>
                  </a:lnTo>
                  <a:lnTo>
                    <a:pt x="0" y="0"/>
                  </a:lnTo>
                  <a:lnTo>
                    <a:pt x="0" y="228333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7607" y="2965703"/>
              <a:ext cx="3078480" cy="17983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02781" y="2960877"/>
              <a:ext cx="3088005" cy="1807845"/>
            </a:xfrm>
            <a:custGeom>
              <a:avLst/>
              <a:gdLst/>
              <a:ahLst/>
              <a:cxnLst/>
              <a:rect l="l" t="t" r="r" b="b"/>
              <a:pathLst>
                <a:path w="3088004" h="1807845">
                  <a:moveTo>
                    <a:pt x="0" y="1807845"/>
                  </a:moveTo>
                  <a:lnTo>
                    <a:pt x="3088005" y="1807845"/>
                  </a:lnTo>
                  <a:lnTo>
                    <a:pt x="3088005" y="0"/>
                  </a:lnTo>
                  <a:lnTo>
                    <a:pt x="0" y="0"/>
                  </a:lnTo>
                  <a:lnTo>
                    <a:pt x="0" y="180784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129</a:t>
            </a:fld>
            <a:endParaRPr spc="-25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056132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Héritage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en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cascade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l’héritage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cascade,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fonctionnalités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dérivée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ensuite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héritées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nouvelle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dérivée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44434" y="2965323"/>
            <a:ext cx="8700135" cy="2802255"/>
            <a:chOff x="1444434" y="2965323"/>
            <a:chExt cx="8700135" cy="280225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3896" y="2974848"/>
              <a:ext cx="4642104" cy="27828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49197" y="2970085"/>
              <a:ext cx="4652010" cy="2792730"/>
            </a:xfrm>
            <a:custGeom>
              <a:avLst/>
              <a:gdLst/>
              <a:ahLst/>
              <a:cxnLst/>
              <a:rect l="l" t="t" r="r" b="b"/>
              <a:pathLst>
                <a:path w="4652010" h="2792729">
                  <a:moveTo>
                    <a:pt x="0" y="2792349"/>
                  </a:moveTo>
                  <a:lnTo>
                    <a:pt x="4651629" y="2792349"/>
                  </a:lnTo>
                  <a:lnTo>
                    <a:pt x="4651629" y="0"/>
                  </a:lnTo>
                  <a:lnTo>
                    <a:pt x="0" y="0"/>
                  </a:lnTo>
                  <a:lnTo>
                    <a:pt x="0" y="279234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54495" y="3011424"/>
              <a:ext cx="3880104" cy="156667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249669" y="3006598"/>
              <a:ext cx="3890010" cy="1576705"/>
            </a:xfrm>
            <a:custGeom>
              <a:avLst/>
              <a:gdLst/>
              <a:ahLst/>
              <a:cxnLst/>
              <a:rect l="l" t="t" r="r" b="b"/>
              <a:pathLst>
                <a:path w="3890009" h="1576704">
                  <a:moveTo>
                    <a:pt x="0" y="1576196"/>
                  </a:moveTo>
                  <a:lnTo>
                    <a:pt x="3889629" y="1576196"/>
                  </a:lnTo>
                  <a:lnTo>
                    <a:pt x="3889629" y="0"/>
                  </a:lnTo>
                  <a:lnTo>
                    <a:pt x="0" y="0"/>
                  </a:lnTo>
                  <a:lnTo>
                    <a:pt x="0" y="157619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130</a:t>
            </a:fld>
            <a:endParaRPr spc="-25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0086975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Chainage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constructeurs</a:t>
            </a:r>
            <a:endParaRPr sz="1600">
              <a:latin typeface="Calibri"/>
              <a:cs typeface="Calibri"/>
            </a:endParaRPr>
          </a:p>
          <a:p>
            <a:pPr marL="12700" marR="5080" indent="286385">
              <a:lnSpc>
                <a:spcPct val="131600"/>
              </a:lnSpc>
              <a:spcBef>
                <a:spcPts val="3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chaînage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technique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d’appel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mère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partir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fille 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9946" y="2828099"/>
            <a:ext cx="5895975" cy="1872614"/>
            <a:chOff x="1349946" y="2828099"/>
            <a:chExt cx="5895975" cy="1872614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9407" y="2837687"/>
              <a:ext cx="5876544" cy="185318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54708" y="2832861"/>
              <a:ext cx="5886450" cy="1863089"/>
            </a:xfrm>
            <a:custGeom>
              <a:avLst/>
              <a:gdLst/>
              <a:ahLst/>
              <a:cxnLst/>
              <a:rect l="l" t="t" r="r" b="b"/>
              <a:pathLst>
                <a:path w="5886450" h="1863089">
                  <a:moveTo>
                    <a:pt x="0" y="1862708"/>
                  </a:moveTo>
                  <a:lnTo>
                    <a:pt x="5886069" y="1862708"/>
                  </a:lnTo>
                  <a:lnTo>
                    <a:pt x="5886069" y="0"/>
                  </a:lnTo>
                  <a:lnTo>
                    <a:pt x="0" y="0"/>
                  </a:lnTo>
                  <a:lnTo>
                    <a:pt x="0" y="186270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85132" y="5091684"/>
            <a:ext cx="5455920" cy="58547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r>
              <a:rPr sz="16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6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6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6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mère</a:t>
            </a:r>
            <a:r>
              <a:rPr sz="16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6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initialiser</a:t>
            </a:r>
            <a:endParaRPr sz="16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600" b="1" spc="-20" dirty="0">
                <a:solidFill>
                  <a:srgbClr val="555555"/>
                </a:solidFill>
                <a:latin typeface="Calibri"/>
                <a:cs typeface="Calibri"/>
              </a:rPr>
              <a:t>l’attribut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hérité</a:t>
            </a:r>
            <a:r>
              <a:rPr sz="16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grandfathername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82211" y="4692396"/>
            <a:ext cx="512445" cy="621030"/>
          </a:xfrm>
          <a:custGeom>
            <a:avLst/>
            <a:gdLst/>
            <a:ahLst/>
            <a:cxnLst/>
            <a:rect l="l" t="t" r="r" b="b"/>
            <a:pathLst>
              <a:path w="512445" h="621029">
                <a:moveTo>
                  <a:pt x="65405" y="57234"/>
                </a:moveTo>
                <a:lnTo>
                  <a:pt x="43273" y="75380"/>
                </a:lnTo>
                <a:lnTo>
                  <a:pt x="490347" y="621029"/>
                </a:lnTo>
                <a:lnTo>
                  <a:pt x="512445" y="602868"/>
                </a:lnTo>
                <a:lnTo>
                  <a:pt x="65405" y="57234"/>
                </a:lnTo>
                <a:close/>
              </a:path>
              <a:path w="512445" h="621029">
                <a:moveTo>
                  <a:pt x="0" y="0"/>
                </a:moveTo>
                <a:lnTo>
                  <a:pt x="21209" y="93471"/>
                </a:lnTo>
                <a:lnTo>
                  <a:pt x="43273" y="75380"/>
                </a:lnTo>
                <a:lnTo>
                  <a:pt x="34162" y="64261"/>
                </a:lnTo>
                <a:lnTo>
                  <a:pt x="56387" y="46227"/>
                </a:lnTo>
                <a:lnTo>
                  <a:pt x="78829" y="46227"/>
                </a:lnTo>
                <a:lnTo>
                  <a:pt x="87502" y="39115"/>
                </a:lnTo>
                <a:lnTo>
                  <a:pt x="0" y="0"/>
                </a:lnTo>
                <a:close/>
              </a:path>
              <a:path w="512445" h="621029">
                <a:moveTo>
                  <a:pt x="56387" y="46227"/>
                </a:moveTo>
                <a:lnTo>
                  <a:pt x="34162" y="64261"/>
                </a:lnTo>
                <a:lnTo>
                  <a:pt x="43273" y="75380"/>
                </a:lnTo>
                <a:lnTo>
                  <a:pt x="65405" y="57234"/>
                </a:lnTo>
                <a:lnTo>
                  <a:pt x="56387" y="46227"/>
                </a:lnTo>
                <a:close/>
              </a:path>
              <a:path w="512445" h="621029">
                <a:moveTo>
                  <a:pt x="78829" y="46227"/>
                </a:moveTo>
                <a:lnTo>
                  <a:pt x="56387" y="46227"/>
                </a:lnTo>
                <a:lnTo>
                  <a:pt x="65405" y="57234"/>
                </a:lnTo>
                <a:lnTo>
                  <a:pt x="78829" y="46227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131</a:t>
            </a:fld>
            <a:endParaRPr spc="-25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602105"/>
            <a:ext cx="22548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Chainage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constructeurs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7338" y="2230691"/>
            <a:ext cx="5901690" cy="1765935"/>
            <a:chOff x="807338" y="2230691"/>
            <a:chExt cx="5901690" cy="176593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863" y="2240280"/>
              <a:ext cx="5882640" cy="174650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12101" y="2235454"/>
              <a:ext cx="5892165" cy="1756410"/>
            </a:xfrm>
            <a:custGeom>
              <a:avLst/>
              <a:gdLst/>
              <a:ahLst/>
              <a:cxnLst/>
              <a:rect l="l" t="t" r="r" b="b"/>
              <a:pathLst>
                <a:path w="5892165" h="1756410">
                  <a:moveTo>
                    <a:pt x="0" y="1756029"/>
                  </a:moveTo>
                  <a:lnTo>
                    <a:pt x="5892165" y="1756029"/>
                  </a:lnTo>
                  <a:lnTo>
                    <a:pt x="5892165" y="0"/>
                  </a:lnTo>
                  <a:lnTo>
                    <a:pt x="0" y="0"/>
                  </a:lnTo>
                  <a:lnTo>
                    <a:pt x="0" y="17560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59523" y="2994660"/>
            <a:ext cx="4517390" cy="83248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1440" marR="606425">
              <a:lnSpc>
                <a:spcPct val="100000"/>
              </a:lnSpc>
              <a:spcBef>
                <a:spcPts val="250"/>
              </a:spcBef>
            </a:pP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Appel</a:t>
            </a:r>
            <a:r>
              <a:rPr sz="16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6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6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mère</a:t>
            </a:r>
            <a:r>
              <a:rPr sz="16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555555"/>
                </a:solidFill>
                <a:latin typeface="Calibri"/>
                <a:cs typeface="Calibri"/>
              </a:rPr>
              <a:t>pour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initialiser</a:t>
            </a:r>
            <a:r>
              <a:rPr sz="16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attributs</a:t>
            </a:r>
            <a:r>
              <a:rPr sz="16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hérités</a:t>
            </a:r>
            <a:r>
              <a:rPr sz="16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fathername</a:t>
            </a:r>
            <a:r>
              <a:rPr sz="16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555555"/>
                </a:solidFill>
                <a:latin typeface="Calibri"/>
                <a:cs typeface="Calibri"/>
              </a:rPr>
              <a:t>et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grandfathername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62466" y="2996692"/>
            <a:ext cx="4737735" cy="3185160"/>
            <a:chOff x="2462466" y="2996692"/>
            <a:chExt cx="4737735" cy="3185160"/>
          </a:xfrm>
        </p:grpSpPr>
        <p:sp>
          <p:nvSpPr>
            <p:cNvPr id="16" name="object 16"/>
            <p:cNvSpPr/>
            <p:nvPr/>
          </p:nvSpPr>
          <p:spPr>
            <a:xfrm>
              <a:off x="5871972" y="2996692"/>
              <a:ext cx="993140" cy="426084"/>
            </a:xfrm>
            <a:custGeom>
              <a:avLst/>
              <a:gdLst/>
              <a:ahLst/>
              <a:cxnLst/>
              <a:rect l="l" t="t" r="r" b="b"/>
              <a:pathLst>
                <a:path w="993140" h="426085">
                  <a:moveTo>
                    <a:pt x="84727" y="26515"/>
                  </a:moveTo>
                  <a:lnTo>
                    <a:pt x="73875" y="52908"/>
                  </a:lnTo>
                  <a:lnTo>
                    <a:pt x="982218" y="426085"/>
                  </a:lnTo>
                  <a:lnTo>
                    <a:pt x="993012" y="399669"/>
                  </a:lnTo>
                  <a:lnTo>
                    <a:pt x="84727" y="26515"/>
                  </a:lnTo>
                  <a:close/>
                </a:path>
                <a:path w="993140" h="426085">
                  <a:moveTo>
                    <a:pt x="95630" y="0"/>
                  </a:moveTo>
                  <a:lnTo>
                    <a:pt x="0" y="7112"/>
                  </a:lnTo>
                  <a:lnTo>
                    <a:pt x="62991" y="79375"/>
                  </a:lnTo>
                  <a:lnTo>
                    <a:pt x="73875" y="52908"/>
                  </a:lnTo>
                  <a:lnTo>
                    <a:pt x="60705" y="47498"/>
                  </a:lnTo>
                  <a:lnTo>
                    <a:pt x="71500" y="21082"/>
                  </a:lnTo>
                  <a:lnTo>
                    <a:pt x="86962" y="21082"/>
                  </a:lnTo>
                  <a:lnTo>
                    <a:pt x="95630" y="0"/>
                  </a:lnTo>
                  <a:close/>
                </a:path>
                <a:path w="993140" h="426085">
                  <a:moveTo>
                    <a:pt x="71500" y="21082"/>
                  </a:moveTo>
                  <a:lnTo>
                    <a:pt x="60705" y="47498"/>
                  </a:lnTo>
                  <a:lnTo>
                    <a:pt x="73875" y="52908"/>
                  </a:lnTo>
                  <a:lnTo>
                    <a:pt x="84727" y="26515"/>
                  </a:lnTo>
                  <a:lnTo>
                    <a:pt x="71500" y="21082"/>
                  </a:lnTo>
                  <a:close/>
                </a:path>
                <a:path w="993140" h="426085">
                  <a:moveTo>
                    <a:pt x="86962" y="21082"/>
                  </a:moveTo>
                  <a:lnTo>
                    <a:pt x="71500" y="21082"/>
                  </a:lnTo>
                  <a:lnTo>
                    <a:pt x="84727" y="26515"/>
                  </a:lnTo>
                  <a:lnTo>
                    <a:pt x="86962" y="21082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1928" y="4370832"/>
              <a:ext cx="4718304" cy="180136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467229" y="4366069"/>
              <a:ext cx="4728210" cy="1811020"/>
            </a:xfrm>
            <a:custGeom>
              <a:avLst/>
              <a:gdLst/>
              <a:ahLst/>
              <a:cxnLst/>
              <a:rect l="l" t="t" r="r" b="b"/>
              <a:pathLst>
                <a:path w="4728209" h="1811020">
                  <a:moveTo>
                    <a:pt x="0" y="1810893"/>
                  </a:moveTo>
                  <a:lnTo>
                    <a:pt x="4727829" y="1810893"/>
                  </a:lnTo>
                  <a:lnTo>
                    <a:pt x="4727829" y="0"/>
                  </a:lnTo>
                  <a:lnTo>
                    <a:pt x="0" y="0"/>
                  </a:lnTo>
                  <a:lnTo>
                    <a:pt x="0" y="181089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132</a:t>
            </a:fld>
            <a:endParaRPr spc="-25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9329420" cy="12782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Surcharge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opérateurs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en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 Python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surcharge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d’opérateurs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vous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redéfinir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signification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d’opérateur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votre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classe.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fonctionnalité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opérateur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d’avoir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signification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différente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contexte.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Opérateurs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arithmétiques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50538" y="5164582"/>
            <a:ext cx="3760470" cy="664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Erreur!!!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Python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ne</a:t>
            </a:r>
            <a:r>
              <a:rPr sz="1400" b="1" spc="-6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savait</a:t>
            </a:r>
            <a:r>
              <a:rPr sz="14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pas</a:t>
            </a:r>
            <a:r>
              <a:rPr sz="14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comment</a:t>
            </a:r>
            <a:r>
              <a:rPr sz="14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ajouter</a:t>
            </a:r>
            <a:r>
              <a:rPr sz="14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deux</a:t>
            </a:r>
            <a:r>
              <a:rPr sz="14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objets</a:t>
            </a:r>
            <a:endParaRPr sz="14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</a:pP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Point</a:t>
            </a:r>
            <a:r>
              <a:rPr sz="14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ensemble.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03970" y="3193859"/>
            <a:ext cx="7252334" cy="1866264"/>
            <a:chOff x="2303970" y="3193859"/>
            <a:chExt cx="7252334" cy="1866264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3431" y="3203448"/>
              <a:ext cx="7232904" cy="184708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08732" y="3198622"/>
              <a:ext cx="7242809" cy="1856739"/>
            </a:xfrm>
            <a:custGeom>
              <a:avLst/>
              <a:gdLst/>
              <a:ahLst/>
              <a:cxnLst/>
              <a:rect l="l" t="t" r="r" b="b"/>
              <a:pathLst>
                <a:path w="7242809" h="1856739">
                  <a:moveTo>
                    <a:pt x="0" y="1856613"/>
                  </a:moveTo>
                  <a:lnTo>
                    <a:pt x="7242429" y="1856613"/>
                  </a:lnTo>
                  <a:lnTo>
                    <a:pt x="7242429" y="0"/>
                  </a:lnTo>
                  <a:lnTo>
                    <a:pt x="0" y="0"/>
                  </a:lnTo>
                  <a:lnTo>
                    <a:pt x="0" y="18566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133</a:t>
            </a:fld>
            <a:endParaRPr spc="-25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7153909" cy="12782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Surcharge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opérateurs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en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 Python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  <a:tab pos="5472430" algn="l"/>
                <a:tab pos="600646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surcharger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l'opérateur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+,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nous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devrons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implémenter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add </a:t>
            </a:r>
            <a:r>
              <a:rPr sz="1400" b="1" u="heavy" dirty="0">
                <a:solidFill>
                  <a:srgbClr val="555555"/>
                </a:solidFill>
                <a:uFill>
                  <a:solidFill>
                    <a:srgbClr val="545454"/>
                  </a:solidFill>
                </a:uFill>
                <a:latin typeface="Calibri"/>
                <a:cs typeface="Calibri"/>
              </a:rPr>
              <a:t>	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()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55202" y="3068954"/>
            <a:ext cx="5167630" cy="2936240"/>
            <a:chOff x="2255202" y="3068954"/>
            <a:chExt cx="5167630" cy="293624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4663" y="3078479"/>
              <a:ext cx="5148072" cy="291693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59964" y="3073717"/>
              <a:ext cx="5158105" cy="2926715"/>
            </a:xfrm>
            <a:custGeom>
              <a:avLst/>
              <a:gdLst/>
              <a:ahLst/>
              <a:cxnLst/>
              <a:rect l="l" t="t" r="r" b="b"/>
              <a:pathLst>
                <a:path w="5158105" h="2926715">
                  <a:moveTo>
                    <a:pt x="0" y="2926461"/>
                  </a:moveTo>
                  <a:lnTo>
                    <a:pt x="5157596" y="2926461"/>
                  </a:lnTo>
                  <a:lnTo>
                    <a:pt x="5157596" y="0"/>
                  </a:lnTo>
                  <a:lnTo>
                    <a:pt x="0" y="0"/>
                  </a:lnTo>
                  <a:lnTo>
                    <a:pt x="0" y="292646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70987" y="4094987"/>
              <a:ext cx="3526790" cy="890269"/>
            </a:xfrm>
            <a:custGeom>
              <a:avLst/>
              <a:gdLst/>
              <a:ahLst/>
              <a:cxnLst/>
              <a:rect l="l" t="t" r="r" b="b"/>
              <a:pathLst>
                <a:path w="3526790" h="890270">
                  <a:moveTo>
                    <a:pt x="0" y="890016"/>
                  </a:moveTo>
                  <a:lnTo>
                    <a:pt x="3526536" y="890016"/>
                  </a:lnTo>
                  <a:lnTo>
                    <a:pt x="3526536" y="0"/>
                  </a:lnTo>
                  <a:lnTo>
                    <a:pt x="0" y="0"/>
                  </a:lnTo>
                  <a:lnTo>
                    <a:pt x="0" y="890016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134</a:t>
            </a:fld>
            <a:endParaRPr spc="-25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602105"/>
            <a:ext cx="491617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Fonctions</a:t>
            </a:r>
            <a:r>
              <a:rPr sz="16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spéciales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surcharge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l'opérateur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en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039" y="2042160"/>
            <a:ext cx="8802623" cy="408432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135</a:t>
            </a:fld>
            <a:endParaRPr spc="-25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5457190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Surcharge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opérateurs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en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 Python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Opérateurs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comparaison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surcharger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opérateurs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comparaison.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18170" y="2709291"/>
            <a:ext cx="6717665" cy="3606800"/>
            <a:chOff x="1618170" y="2709291"/>
            <a:chExt cx="6717665" cy="36068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7632" y="2718816"/>
              <a:ext cx="6467856" cy="358749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22933" y="2714053"/>
              <a:ext cx="6477635" cy="3597275"/>
            </a:xfrm>
            <a:custGeom>
              <a:avLst/>
              <a:gdLst/>
              <a:ahLst/>
              <a:cxnLst/>
              <a:rect l="l" t="t" r="r" b="b"/>
              <a:pathLst>
                <a:path w="6477634" h="3597275">
                  <a:moveTo>
                    <a:pt x="0" y="3597021"/>
                  </a:moveTo>
                  <a:lnTo>
                    <a:pt x="6477380" y="3597021"/>
                  </a:lnTo>
                  <a:lnTo>
                    <a:pt x="6477380" y="0"/>
                  </a:lnTo>
                  <a:lnTo>
                    <a:pt x="0" y="0"/>
                  </a:lnTo>
                  <a:lnTo>
                    <a:pt x="0" y="359702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60804" y="3680460"/>
              <a:ext cx="5102860" cy="1082040"/>
            </a:xfrm>
            <a:custGeom>
              <a:avLst/>
              <a:gdLst/>
              <a:ahLst/>
              <a:cxnLst/>
              <a:rect l="l" t="t" r="r" b="b"/>
              <a:pathLst>
                <a:path w="5102859" h="1082039">
                  <a:moveTo>
                    <a:pt x="0" y="1082039"/>
                  </a:moveTo>
                  <a:lnTo>
                    <a:pt x="5102352" y="1082039"/>
                  </a:lnTo>
                  <a:lnTo>
                    <a:pt x="5102352" y="0"/>
                  </a:lnTo>
                  <a:lnTo>
                    <a:pt x="0" y="0"/>
                  </a:lnTo>
                  <a:lnTo>
                    <a:pt x="0" y="1082039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37148" y="3751961"/>
              <a:ext cx="2198370" cy="601980"/>
            </a:xfrm>
            <a:custGeom>
              <a:avLst/>
              <a:gdLst/>
              <a:ahLst/>
              <a:cxnLst/>
              <a:rect l="l" t="t" r="r" b="b"/>
              <a:pathLst>
                <a:path w="2198370" h="601979">
                  <a:moveTo>
                    <a:pt x="72262" y="518540"/>
                  </a:moveTo>
                  <a:lnTo>
                    <a:pt x="0" y="581532"/>
                  </a:lnTo>
                  <a:lnTo>
                    <a:pt x="93725" y="601471"/>
                  </a:lnTo>
                  <a:lnTo>
                    <a:pt x="87513" y="577469"/>
                  </a:lnTo>
                  <a:lnTo>
                    <a:pt x="72771" y="577469"/>
                  </a:lnTo>
                  <a:lnTo>
                    <a:pt x="65531" y="549782"/>
                  </a:lnTo>
                  <a:lnTo>
                    <a:pt x="79418" y="546190"/>
                  </a:lnTo>
                  <a:lnTo>
                    <a:pt x="72262" y="518540"/>
                  </a:lnTo>
                  <a:close/>
                </a:path>
                <a:path w="2198370" h="601979">
                  <a:moveTo>
                    <a:pt x="79418" y="546190"/>
                  </a:moveTo>
                  <a:lnTo>
                    <a:pt x="65531" y="549782"/>
                  </a:lnTo>
                  <a:lnTo>
                    <a:pt x="72771" y="577469"/>
                  </a:lnTo>
                  <a:lnTo>
                    <a:pt x="86588" y="573894"/>
                  </a:lnTo>
                  <a:lnTo>
                    <a:pt x="79418" y="546190"/>
                  </a:lnTo>
                  <a:close/>
                </a:path>
                <a:path w="2198370" h="601979">
                  <a:moveTo>
                    <a:pt x="86588" y="573894"/>
                  </a:moveTo>
                  <a:lnTo>
                    <a:pt x="72771" y="577469"/>
                  </a:lnTo>
                  <a:lnTo>
                    <a:pt x="87513" y="577469"/>
                  </a:lnTo>
                  <a:lnTo>
                    <a:pt x="86588" y="573894"/>
                  </a:lnTo>
                  <a:close/>
                </a:path>
                <a:path w="2198370" h="601979">
                  <a:moveTo>
                    <a:pt x="2191004" y="0"/>
                  </a:moveTo>
                  <a:lnTo>
                    <a:pt x="79418" y="546190"/>
                  </a:lnTo>
                  <a:lnTo>
                    <a:pt x="86588" y="573894"/>
                  </a:lnTo>
                  <a:lnTo>
                    <a:pt x="2198116" y="27686"/>
                  </a:lnTo>
                  <a:lnTo>
                    <a:pt x="2191004" y="0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422640" y="3483051"/>
            <a:ext cx="249872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Surcharge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de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l’opérateur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inférieur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136</a:t>
            </a:fld>
            <a:endParaRPr spc="-25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602105"/>
            <a:ext cx="493395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Fonctions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spéciales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surcharge</a:t>
            </a:r>
            <a:r>
              <a:rPr sz="16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l'opérateur</a:t>
            </a:r>
            <a:r>
              <a:rPr sz="16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en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703" y="2136648"/>
            <a:ext cx="9637776" cy="340766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137</a:t>
            </a:fld>
            <a:endParaRPr spc="-25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6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502785" cy="25736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Polymorphisme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héritage</a:t>
            </a:r>
            <a:endParaRPr sz="16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800"/>
              </a:lnSpc>
              <a:spcBef>
                <a:spcPts val="9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4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Python,</a:t>
            </a:r>
            <a:r>
              <a:rPr sz="1400" spc="4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polymorphisme</a:t>
            </a:r>
            <a:r>
              <a:rPr sz="1400" spc="48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48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enfant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 nom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que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parent.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héritage,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enfant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parent.</a:t>
            </a:r>
            <a:endParaRPr sz="1400">
              <a:latin typeface="Calibri"/>
              <a:cs typeface="Calibri"/>
            </a:endParaRPr>
          </a:p>
          <a:p>
            <a:pPr marL="296545" marR="5715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modifier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enfant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dont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hérité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parent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(redéfinition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méthode).</a:t>
            </a:r>
            <a:endParaRPr sz="1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54811" y="2145347"/>
            <a:ext cx="9242425" cy="4106545"/>
            <a:chOff x="1154811" y="2145347"/>
            <a:chExt cx="9242425" cy="410654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2615" y="2154936"/>
              <a:ext cx="3934967" cy="30845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47789" y="2150110"/>
              <a:ext cx="3944620" cy="3094355"/>
            </a:xfrm>
            <a:custGeom>
              <a:avLst/>
              <a:gdLst/>
              <a:ahLst/>
              <a:cxnLst/>
              <a:rect l="l" t="t" r="r" b="b"/>
              <a:pathLst>
                <a:path w="3944620" h="3094354">
                  <a:moveTo>
                    <a:pt x="0" y="3094101"/>
                  </a:moveTo>
                  <a:lnTo>
                    <a:pt x="3944492" y="3094101"/>
                  </a:lnTo>
                  <a:lnTo>
                    <a:pt x="3944492" y="0"/>
                  </a:lnTo>
                  <a:lnTo>
                    <a:pt x="0" y="0"/>
                  </a:lnTo>
                  <a:lnTo>
                    <a:pt x="0" y="309410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336" y="4233672"/>
              <a:ext cx="4575048" cy="20086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59573" y="4228909"/>
              <a:ext cx="4584700" cy="2018664"/>
            </a:xfrm>
            <a:custGeom>
              <a:avLst/>
              <a:gdLst/>
              <a:ahLst/>
              <a:cxnLst/>
              <a:rect l="l" t="t" r="r" b="b"/>
              <a:pathLst>
                <a:path w="4584700" h="2018664">
                  <a:moveTo>
                    <a:pt x="0" y="2018157"/>
                  </a:moveTo>
                  <a:lnTo>
                    <a:pt x="4584573" y="2018157"/>
                  </a:lnTo>
                  <a:lnTo>
                    <a:pt x="4584573" y="0"/>
                  </a:lnTo>
                  <a:lnTo>
                    <a:pt x="0" y="0"/>
                  </a:lnTo>
                  <a:lnTo>
                    <a:pt x="0" y="201815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138</a:t>
            </a:fld>
            <a:endParaRPr spc="-25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01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Coder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une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solution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orientée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objet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Intégration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concepts</a:t>
            </a:r>
            <a:r>
              <a:rPr sz="1600" spc="-60" dirty="0">
                <a:solidFill>
                  <a:srgbClr val="0058A0"/>
                </a:solidFill>
              </a:rPr>
              <a:t> </a:t>
            </a:r>
            <a:r>
              <a:rPr sz="1600" spc="-25" dirty="0">
                <a:solidFill>
                  <a:srgbClr val="0058A0"/>
                </a:solidFill>
              </a:rPr>
              <a:t>POO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0307320" cy="27260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Classe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abstraite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Rappel: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instanciées,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contiennent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abstraites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(méthodes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sans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code)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580"/>
              </a:lnSpc>
              <a:spcBef>
                <a:spcPts val="6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nécessite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 fournissent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implémentations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sinon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sous-classes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déclarées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hérite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–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ABC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3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L’objectif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principal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fournir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moyen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standardisé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tester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adhère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spécification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30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donnée</a:t>
            </a:r>
            <a:endParaRPr sz="1400">
              <a:latin typeface="Calibri"/>
              <a:cs typeface="Calibri"/>
            </a:endParaRPr>
          </a:p>
          <a:p>
            <a:pPr marL="12700" marR="2576195" indent="286385">
              <a:lnSpc>
                <a:spcPct val="1314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abstraite,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décorateur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@abstractmethod 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01050" y="4629530"/>
            <a:ext cx="8453120" cy="1217295"/>
            <a:chOff x="1801050" y="4629530"/>
            <a:chExt cx="8453120" cy="121729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0512" y="4639055"/>
              <a:ext cx="8433816" cy="119786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05813" y="4634293"/>
              <a:ext cx="8443595" cy="1207770"/>
            </a:xfrm>
            <a:custGeom>
              <a:avLst/>
              <a:gdLst/>
              <a:ahLst/>
              <a:cxnLst/>
              <a:rect l="l" t="t" r="r" b="b"/>
              <a:pathLst>
                <a:path w="8443595" h="1207770">
                  <a:moveTo>
                    <a:pt x="0" y="1207389"/>
                  </a:moveTo>
                  <a:lnTo>
                    <a:pt x="8443341" y="1207389"/>
                  </a:lnTo>
                  <a:lnTo>
                    <a:pt x="8443341" y="0"/>
                  </a:lnTo>
                  <a:lnTo>
                    <a:pt x="0" y="0"/>
                  </a:lnTo>
                  <a:lnTo>
                    <a:pt x="0" y="12073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139</a:t>
            </a:fld>
            <a:endParaRPr spc="-25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Ce</a:t>
            </a:r>
            <a:r>
              <a:rPr spc="-60" dirty="0"/>
              <a:t> </a:t>
            </a:r>
            <a:r>
              <a:rPr dirty="0"/>
              <a:t>que</a:t>
            </a:r>
            <a:r>
              <a:rPr spc="-35" dirty="0"/>
              <a:t> </a:t>
            </a:r>
            <a:r>
              <a:rPr dirty="0"/>
              <a:t>vous</a:t>
            </a:r>
            <a:r>
              <a:rPr spc="-15" dirty="0"/>
              <a:t> </a:t>
            </a:r>
            <a:r>
              <a:rPr dirty="0"/>
              <a:t>allez</a:t>
            </a:r>
            <a:r>
              <a:rPr spc="-35" dirty="0"/>
              <a:t> </a:t>
            </a:r>
            <a:r>
              <a:rPr dirty="0"/>
              <a:t>apprendre</a:t>
            </a:r>
            <a:r>
              <a:rPr spc="-55" dirty="0"/>
              <a:t> </a:t>
            </a:r>
            <a:r>
              <a:rPr dirty="0"/>
              <a:t>dans</a:t>
            </a:r>
            <a:r>
              <a:rPr spc="-40" dirty="0"/>
              <a:t> </a:t>
            </a:r>
            <a:r>
              <a:rPr dirty="0"/>
              <a:t>ce</a:t>
            </a:r>
            <a:r>
              <a:rPr spc="-35" dirty="0"/>
              <a:t> </a:t>
            </a:r>
            <a:r>
              <a:rPr dirty="0"/>
              <a:t>chapitre</a:t>
            </a:r>
            <a:r>
              <a:rPr spc="-40" dirty="0"/>
              <a:t> </a:t>
            </a:r>
            <a:r>
              <a:rPr spc="-50" dirty="0"/>
              <a:t>:</a:t>
            </a:r>
          </a:p>
          <a:p>
            <a:pPr marL="356870" marR="5080" indent="-344805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600" b="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b="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555555"/>
                </a:solidFill>
                <a:latin typeface="Calibri"/>
                <a:cs typeface="Calibri"/>
              </a:rPr>
              <a:t>structures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 de</a:t>
            </a:r>
            <a:r>
              <a:rPr sz="1600" b="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600" b="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b="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600" b="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600" b="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savoir</a:t>
            </a:r>
            <a:r>
              <a:rPr sz="1600" b="0" spc="-25" dirty="0">
                <a:solidFill>
                  <a:srgbClr val="555555"/>
                </a:solidFill>
                <a:latin typeface="Calibri"/>
                <a:cs typeface="Calibri"/>
              </a:rPr>
              <a:t> les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collections</a:t>
            </a:r>
            <a:r>
              <a:rPr sz="1600" b="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b="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b="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555555"/>
                </a:solidFill>
                <a:latin typeface="Calibri"/>
                <a:cs typeface="Calibri"/>
              </a:rPr>
              <a:t>listes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600" b="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b="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fichiers</a:t>
            </a:r>
            <a:r>
              <a:rPr sz="1600" b="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b="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600"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b="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7" name="object 7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/>
          </a:p>
        </p:txBody>
      </p:sp>
      <p:sp>
        <p:nvSpPr>
          <p:cNvPr id="10" name="object 10"/>
          <p:cNvSpPr txBox="1"/>
          <p:nvPr/>
        </p:nvSpPr>
        <p:spPr>
          <a:xfrm>
            <a:off x="7631048" y="1105280"/>
            <a:ext cx="2914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données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93277" y="6263436"/>
            <a:ext cx="12655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631048" y="1105280"/>
            <a:ext cx="2914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données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127000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Liste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Collections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Fichiers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Listes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847590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Listes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collection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commandée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modifiable.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Python,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écrites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entre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crochets.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91067" y="2596451"/>
            <a:ext cx="6548120" cy="3241040"/>
            <a:chOff x="2191067" y="2596451"/>
            <a:chExt cx="6548120" cy="324104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0655" y="2606040"/>
              <a:ext cx="4051300" cy="9017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95829" y="2601214"/>
              <a:ext cx="4060825" cy="911860"/>
            </a:xfrm>
            <a:custGeom>
              <a:avLst/>
              <a:gdLst/>
              <a:ahLst/>
              <a:cxnLst/>
              <a:rect l="l" t="t" r="r" b="b"/>
              <a:pathLst>
                <a:path w="4060825" h="911860">
                  <a:moveTo>
                    <a:pt x="0" y="911733"/>
                  </a:moveTo>
                  <a:lnTo>
                    <a:pt x="4060317" y="911733"/>
                  </a:lnTo>
                  <a:lnTo>
                    <a:pt x="4060317" y="0"/>
                  </a:lnTo>
                  <a:lnTo>
                    <a:pt x="0" y="0"/>
                  </a:lnTo>
                  <a:lnTo>
                    <a:pt x="0" y="91173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0655" y="3788664"/>
              <a:ext cx="6528816" cy="203911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95956" y="3783901"/>
              <a:ext cx="6538595" cy="2049145"/>
            </a:xfrm>
            <a:custGeom>
              <a:avLst/>
              <a:gdLst/>
              <a:ahLst/>
              <a:cxnLst/>
              <a:rect l="l" t="t" r="r" b="b"/>
              <a:pathLst>
                <a:path w="6538595" h="2049145">
                  <a:moveTo>
                    <a:pt x="0" y="2048637"/>
                  </a:moveTo>
                  <a:lnTo>
                    <a:pt x="6538341" y="2048637"/>
                  </a:lnTo>
                  <a:lnTo>
                    <a:pt x="6538341" y="0"/>
                  </a:lnTo>
                  <a:lnTo>
                    <a:pt x="0" y="0"/>
                  </a:lnTo>
                  <a:lnTo>
                    <a:pt x="0" y="204863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142</a:t>
            </a:fld>
            <a:endParaRPr spc="-25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Listes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3355339"/>
            <a:ext cx="17176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Parcours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5032628"/>
            <a:ext cx="32543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Recherche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élément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1476758"/>
            <a:ext cx="410464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Listes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Modification</a:t>
            </a:r>
            <a:r>
              <a:rPr sz="1400" b="1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élément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tableau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291651" y="2279459"/>
            <a:ext cx="7609205" cy="4131310"/>
            <a:chOff x="2291651" y="2279459"/>
            <a:chExt cx="7609205" cy="413131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1240" y="2289048"/>
              <a:ext cx="7589519" cy="78028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96541" y="2284222"/>
              <a:ext cx="7599045" cy="789940"/>
            </a:xfrm>
            <a:custGeom>
              <a:avLst/>
              <a:gdLst/>
              <a:ahLst/>
              <a:cxnLst/>
              <a:rect l="l" t="t" r="r" b="b"/>
              <a:pathLst>
                <a:path w="7599045" h="789939">
                  <a:moveTo>
                    <a:pt x="0" y="789813"/>
                  </a:moveTo>
                  <a:lnTo>
                    <a:pt x="7599045" y="789813"/>
                  </a:lnTo>
                  <a:lnTo>
                    <a:pt x="7599045" y="0"/>
                  </a:lnTo>
                  <a:lnTo>
                    <a:pt x="0" y="0"/>
                  </a:lnTo>
                  <a:lnTo>
                    <a:pt x="0" y="7898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1240" y="3742944"/>
              <a:ext cx="2743200" cy="118567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296414" y="3738118"/>
              <a:ext cx="2752725" cy="1195705"/>
            </a:xfrm>
            <a:custGeom>
              <a:avLst/>
              <a:gdLst/>
              <a:ahLst/>
              <a:cxnLst/>
              <a:rect l="l" t="t" r="r" b="b"/>
              <a:pathLst>
                <a:path w="2752725" h="1195704">
                  <a:moveTo>
                    <a:pt x="0" y="1195197"/>
                  </a:moveTo>
                  <a:lnTo>
                    <a:pt x="2752725" y="1195197"/>
                  </a:lnTo>
                  <a:lnTo>
                    <a:pt x="2752725" y="0"/>
                  </a:lnTo>
                  <a:lnTo>
                    <a:pt x="0" y="0"/>
                  </a:lnTo>
                  <a:lnTo>
                    <a:pt x="0" y="11951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01240" y="5486400"/>
              <a:ext cx="4099560" cy="9144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296541" y="5481637"/>
              <a:ext cx="4109085" cy="923925"/>
            </a:xfrm>
            <a:custGeom>
              <a:avLst/>
              <a:gdLst/>
              <a:ahLst/>
              <a:cxnLst/>
              <a:rect l="l" t="t" r="r" b="b"/>
              <a:pathLst>
                <a:path w="4109085" h="923925">
                  <a:moveTo>
                    <a:pt x="0" y="923925"/>
                  </a:moveTo>
                  <a:lnTo>
                    <a:pt x="4109084" y="923925"/>
                  </a:lnTo>
                  <a:lnTo>
                    <a:pt x="4109084" y="0"/>
                  </a:lnTo>
                  <a:lnTo>
                    <a:pt x="0" y="0"/>
                  </a:lnTo>
                  <a:lnTo>
                    <a:pt x="0" y="9239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143</a:t>
            </a:fld>
            <a:endParaRPr spc="-25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Listes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3074924"/>
            <a:ext cx="39096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append():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Ajout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élément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4751654"/>
            <a:ext cx="496506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insert():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Ajout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élément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position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1476758"/>
            <a:ext cx="415036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Listes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len():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Longueur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(fonction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len())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1530" y="2444051"/>
            <a:ext cx="4079240" cy="3646804"/>
            <a:chOff x="1831530" y="2444051"/>
            <a:chExt cx="4079240" cy="3646804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0991" y="2453640"/>
              <a:ext cx="3645407" cy="4785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36292" y="2448814"/>
              <a:ext cx="3655060" cy="488315"/>
            </a:xfrm>
            <a:custGeom>
              <a:avLst/>
              <a:gdLst/>
              <a:ahLst/>
              <a:cxnLst/>
              <a:rect l="l" t="t" r="r" b="b"/>
              <a:pathLst>
                <a:path w="3655060" h="488314">
                  <a:moveTo>
                    <a:pt x="0" y="488061"/>
                  </a:moveTo>
                  <a:lnTo>
                    <a:pt x="3654932" y="488061"/>
                  </a:lnTo>
                  <a:lnTo>
                    <a:pt x="3654932" y="0"/>
                  </a:lnTo>
                  <a:lnTo>
                    <a:pt x="0" y="0"/>
                  </a:lnTo>
                  <a:lnTo>
                    <a:pt x="0" y="48806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0991" y="3581400"/>
              <a:ext cx="3517391" cy="93573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836292" y="3576574"/>
              <a:ext cx="3527425" cy="945515"/>
            </a:xfrm>
            <a:custGeom>
              <a:avLst/>
              <a:gdLst/>
              <a:ahLst/>
              <a:cxnLst/>
              <a:rect l="l" t="t" r="r" b="b"/>
              <a:pathLst>
                <a:path w="3527425" h="945514">
                  <a:moveTo>
                    <a:pt x="0" y="945261"/>
                  </a:moveTo>
                  <a:lnTo>
                    <a:pt x="3526916" y="945261"/>
                  </a:lnTo>
                  <a:lnTo>
                    <a:pt x="3526916" y="0"/>
                  </a:lnTo>
                  <a:lnTo>
                    <a:pt x="0" y="0"/>
                  </a:lnTo>
                  <a:lnTo>
                    <a:pt x="0" y="94526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40991" y="5352288"/>
              <a:ext cx="4059935" cy="7284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836292" y="5347525"/>
              <a:ext cx="4069715" cy="738505"/>
            </a:xfrm>
            <a:custGeom>
              <a:avLst/>
              <a:gdLst/>
              <a:ahLst/>
              <a:cxnLst/>
              <a:rect l="l" t="t" r="r" b="b"/>
              <a:pathLst>
                <a:path w="4069715" h="738504">
                  <a:moveTo>
                    <a:pt x="0" y="737997"/>
                  </a:moveTo>
                  <a:lnTo>
                    <a:pt x="4069460" y="737997"/>
                  </a:lnTo>
                  <a:lnTo>
                    <a:pt x="4069460" y="0"/>
                  </a:lnTo>
                  <a:lnTo>
                    <a:pt x="0" y="0"/>
                  </a:lnTo>
                  <a:lnTo>
                    <a:pt x="0" y="7379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144</a:t>
            </a:fld>
            <a:endParaRPr spc="-25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67611"/>
            <a:ext cx="11657457" cy="5145405"/>
            <a:chOff x="0" y="1467611"/>
            <a:chExt cx="11657457" cy="5145405"/>
          </a:xfrm>
        </p:grpSpPr>
        <p:sp>
          <p:nvSpPr>
            <p:cNvPr id="4" name="object 4"/>
            <p:cNvSpPr/>
            <p:nvPr/>
          </p:nvSpPr>
          <p:spPr>
            <a:xfrm>
              <a:off x="537972" y="1467611"/>
              <a:ext cx="11119485" cy="5145405"/>
            </a:xfrm>
            <a:custGeom>
              <a:avLst/>
              <a:gdLst/>
              <a:ahLst/>
              <a:cxnLst/>
              <a:rect l="l" t="t" r="r" b="b"/>
              <a:pathLst>
                <a:path w="11119485" h="5145405">
                  <a:moveTo>
                    <a:pt x="11119104" y="0"/>
                  </a:moveTo>
                  <a:lnTo>
                    <a:pt x="0" y="0"/>
                  </a:lnTo>
                  <a:lnTo>
                    <a:pt x="0" y="5145024"/>
                  </a:lnTo>
                  <a:lnTo>
                    <a:pt x="11119104" y="5145024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7611"/>
              <a:ext cx="11119485" cy="5145405"/>
            </a:xfrm>
            <a:custGeom>
              <a:avLst/>
              <a:gdLst/>
              <a:ahLst/>
              <a:cxnLst/>
              <a:rect l="l" t="t" r="r" b="b"/>
              <a:pathLst>
                <a:path w="11119485" h="5145405">
                  <a:moveTo>
                    <a:pt x="0" y="5145024"/>
                  </a:moveTo>
                  <a:lnTo>
                    <a:pt x="11119104" y="5145024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45024"/>
                  </a:lnTo>
                  <a:close/>
                </a:path>
              </a:pathLst>
            </a:custGeom>
            <a:ln w="9525">
              <a:solidFill>
                <a:srgbClr val="9EC3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870447"/>
              <a:ext cx="536575" cy="536575"/>
            </a:xfrm>
            <a:custGeom>
              <a:avLst/>
              <a:gdLst/>
              <a:ahLst/>
              <a:cxnLst/>
              <a:rect l="l" t="t" r="r" b="b"/>
              <a:pathLst>
                <a:path w="536575" h="536575">
                  <a:moveTo>
                    <a:pt x="268224" y="0"/>
                  </a:moveTo>
                  <a:lnTo>
                    <a:pt x="220010" y="4321"/>
                  </a:lnTo>
                  <a:lnTo>
                    <a:pt x="174631" y="16781"/>
                  </a:lnTo>
                  <a:lnTo>
                    <a:pt x="132845" y="36621"/>
                  </a:lnTo>
                  <a:lnTo>
                    <a:pt x="95410" y="63083"/>
                  </a:lnTo>
                  <a:lnTo>
                    <a:pt x="63082" y="95412"/>
                  </a:lnTo>
                  <a:lnTo>
                    <a:pt x="36620" y="132847"/>
                  </a:lnTo>
                  <a:lnTo>
                    <a:pt x="16780" y="174633"/>
                  </a:lnTo>
                  <a:lnTo>
                    <a:pt x="4321" y="220011"/>
                  </a:lnTo>
                  <a:lnTo>
                    <a:pt x="0" y="268223"/>
                  </a:lnTo>
                  <a:lnTo>
                    <a:pt x="4321" y="316436"/>
                  </a:lnTo>
                  <a:lnTo>
                    <a:pt x="16780" y="361814"/>
                  </a:lnTo>
                  <a:lnTo>
                    <a:pt x="36620" y="403600"/>
                  </a:lnTo>
                  <a:lnTo>
                    <a:pt x="63082" y="441035"/>
                  </a:lnTo>
                  <a:lnTo>
                    <a:pt x="95410" y="473364"/>
                  </a:lnTo>
                  <a:lnTo>
                    <a:pt x="132845" y="499826"/>
                  </a:lnTo>
                  <a:lnTo>
                    <a:pt x="174631" y="519666"/>
                  </a:lnTo>
                  <a:lnTo>
                    <a:pt x="220010" y="532126"/>
                  </a:lnTo>
                  <a:lnTo>
                    <a:pt x="268224" y="536447"/>
                  </a:lnTo>
                  <a:lnTo>
                    <a:pt x="536448" y="536447"/>
                  </a:lnTo>
                  <a:lnTo>
                    <a:pt x="536448" y="268223"/>
                  </a:lnTo>
                  <a:lnTo>
                    <a:pt x="532126" y="220011"/>
                  </a:lnTo>
                  <a:lnTo>
                    <a:pt x="519666" y="174633"/>
                  </a:lnTo>
                  <a:lnTo>
                    <a:pt x="499826" y="132847"/>
                  </a:lnTo>
                  <a:lnTo>
                    <a:pt x="473364" y="95412"/>
                  </a:lnTo>
                  <a:lnTo>
                    <a:pt x="441036" y="63083"/>
                  </a:lnTo>
                  <a:lnTo>
                    <a:pt x="403600" y="36621"/>
                  </a:lnTo>
                  <a:lnTo>
                    <a:pt x="361814" y="16781"/>
                  </a:lnTo>
                  <a:lnTo>
                    <a:pt x="316436" y="4321"/>
                  </a:lnTo>
                  <a:lnTo>
                    <a:pt x="268224" y="0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Listes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3355339"/>
            <a:ext cx="41687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del():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Suppression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élément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4751654"/>
            <a:ext cx="331216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extend():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Fusion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deux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listes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1476758"/>
            <a:ext cx="4669155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Listes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pop():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Suppression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dernier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élément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70898" y="2331402"/>
            <a:ext cx="4438650" cy="4116070"/>
            <a:chOff x="2870898" y="2331402"/>
            <a:chExt cx="4438650" cy="411607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0359" y="2340863"/>
              <a:ext cx="4035551" cy="8747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75660" y="2336164"/>
              <a:ext cx="4045585" cy="884555"/>
            </a:xfrm>
            <a:custGeom>
              <a:avLst/>
              <a:gdLst/>
              <a:ahLst/>
              <a:cxnLst/>
              <a:rect l="l" t="t" r="r" b="b"/>
              <a:pathLst>
                <a:path w="4045584" h="884555">
                  <a:moveTo>
                    <a:pt x="0" y="884301"/>
                  </a:moveTo>
                  <a:lnTo>
                    <a:pt x="4045077" y="884301"/>
                  </a:lnTo>
                  <a:lnTo>
                    <a:pt x="4045077" y="0"/>
                  </a:lnTo>
                  <a:lnTo>
                    <a:pt x="0" y="0"/>
                  </a:lnTo>
                  <a:lnTo>
                    <a:pt x="0" y="88430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0359" y="3938015"/>
              <a:ext cx="4419599" cy="7284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875660" y="3933189"/>
              <a:ext cx="4429125" cy="738505"/>
            </a:xfrm>
            <a:custGeom>
              <a:avLst/>
              <a:gdLst/>
              <a:ahLst/>
              <a:cxnLst/>
              <a:rect l="l" t="t" r="r" b="b"/>
              <a:pathLst>
                <a:path w="4429125" h="738504">
                  <a:moveTo>
                    <a:pt x="0" y="737997"/>
                  </a:moveTo>
                  <a:lnTo>
                    <a:pt x="4429125" y="737997"/>
                  </a:lnTo>
                  <a:lnTo>
                    <a:pt x="4429125" y="0"/>
                  </a:lnTo>
                  <a:lnTo>
                    <a:pt x="0" y="0"/>
                  </a:lnTo>
                  <a:lnTo>
                    <a:pt x="0" y="7379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0359" y="5269991"/>
              <a:ext cx="3279648" cy="116738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875660" y="5265229"/>
              <a:ext cx="3289300" cy="1177290"/>
            </a:xfrm>
            <a:custGeom>
              <a:avLst/>
              <a:gdLst/>
              <a:ahLst/>
              <a:cxnLst/>
              <a:rect l="l" t="t" r="r" b="b"/>
              <a:pathLst>
                <a:path w="3289300" h="1177289">
                  <a:moveTo>
                    <a:pt x="0" y="1176908"/>
                  </a:moveTo>
                  <a:lnTo>
                    <a:pt x="3289173" y="1176908"/>
                  </a:lnTo>
                  <a:lnTo>
                    <a:pt x="3289173" y="0"/>
                  </a:lnTo>
                  <a:lnTo>
                    <a:pt x="0" y="0"/>
                  </a:lnTo>
                  <a:lnTo>
                    <a:pt x="0" y="117690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145</a:t>
            </a:fld>
            <a:endParaRPr spc="-25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Listes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66878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Listes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Autres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455" y="2194560"/>
            <a:ext cx="7083552" cy="34290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146</a:t>
            </a:fld>
            <a:endParaRPr spc="-25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 dirty="0"/>
          </a:p>
        </p:txBody>
      </p:sp>
      <p:sp>
        <p:nvSpPr>
          <p:cNvPr id="6" name="object 6"/>
          <p:cNvSpPr txBox="1"/>
          <p:nvPr/>
        </p:nvSpPr>
        <p:spPr>
          <a:xfrm>
            <a:off x="7631048" y="1105280"/>
            <a:ext cx="2914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données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129286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Collections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Fichiers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955673"/>
            <a:ext cx="4500245" cy="722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  <a:tab pos="603885" algn="l"/>
                <a:tab pos="1299210" algn="l"/>
                <a:tab pos="2213610" algn="l"/>
                <a:tab pos="2957195" algn="l"/>
                <a:tab pos="3354070" algn="l"/>
                <a:tab pos="4307840" algn="l"/>
              </a:tabLst>
            </a:pP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module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collections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contient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conteneurs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spécialisés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conteneurs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3911" y="2776727"/>
            <a:ext cx="7114032" cy="315163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148</a:t>
            </a:fld>
            <a:endParaRPr spc="-25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24127" y="4367784"/>
            <a:ext cx="8232775" cy="1329055"/>
            <a:chOff x="1024127" y="4367784"/>
            <a:chExt cx="8232775" cy="13290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4127" y="4367784"/>
              <a:ext cx="8232648" cy="132892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92396" y="5268214"/>
              <a:ext cx="899794" cy="296545"/>
            </a:xfrm>
            <a:custGeom>
              <a:avLst/>
              <a:gdLst/>
              <a:ahLst/>
              <a:cxnLst/>
              <a:rect l="l" t="t" r="r" b="b"/>
              <a:pathLst>
                <a:path w="899795" h="296545">
                  <a:moveTo>
                    <a:pt x="899668" y="238887"/>
                  </a:moveTo>
                  <a:lnTo>
                    <a:pt x="85725" y="238887"/>
                  </a:lnTo>
                  <a:lnTo>
                    <a:pt x="85725" y="210312"/>
                  </a:lnTo>
                  <a:lnTo>
                    <a:pt x="0" y="253238"/>
                  </a:lnTo>
                  <a:lnTo>
                    <a:pt x="85725" y="296037"/>
                  </a:lnTo>
                  <a:lnTo>
                    <a:pt x="85725" y="267462"/>
                  </a:lnTo>
                  <a:lnTo>
                    <a:pt x="899668" y="267462"/>
                  </a:lnTo>
                  <a:lnTo>
                    <a:pt x="899668" y="238887"/>
                  </a:lnTo>
                  <a:close/>
                </a:path>
                <a:path w="899795" h="296545">
                  <a:moveTo>
                    <a:pt x="899668" y="28575"/>
                  </a:moveTo>
                  <a:lnTo>
                    <a:pt x="85725" y="28575"/>
                  </a:lnTo>
                  <a:lnTo>
                    <a:pt x="85725" y="0"/>
                  </a:lnTo>
                  <a:lnTo>
                    <a:pt x="0" y="42926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899668" y="57150"/>
                  </a:lnTo>
                  <a:lnTo>
                    <a:pt x="899668" y="28575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98982" y="3632961"/>
            <a:ext cx="8378190" cy="441959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9085" marR="5080" indent="-287020">
              <a:lnSpc>
                <a:spcPts val="1610"/>
              </a:lnSpc>
              <a:spcBef>
                <a:spcPts val="2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namedtuple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module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collections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d'ajouter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explicites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élément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tuple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rendre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significations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claires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programme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1476758"/>
            <a:ext cx="541147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912B"/>
                </a:solidFill>
                <a:latin typeface="Calibri"/>
                <a:cs typeface="Calibri"/>
              </a:rPr>
              <a:t>Collections</a:t>
            </a:r>
            <a:r>
              <a:rPr sz="1600" b="1" spc="-25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912B"/>
                </a:solidFill>
                <a:latin typeface="Calibri"/>
                <a:cs typeface="Calibri"/>
              </a:rPr>
              <a:t>-</a:t>
            </a:r>
            <a:r>
              <a:rPr sz="1600" b="1" spc="-40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912B"/>
                </a:solidFill>
                <a:latin typeface="Calibri"/>
                <a:cs typeface="Calibri"/>
              </a:rPr>
              <a:t>namedtuple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tuple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collection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immuable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souvent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hétérogène.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014602" y="4358259"/>
          <a:ext cx="8241664" cy="1337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0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041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les</a:t>
                      </a:r>
                      <a:r>
                        <a:rPr sz="1200" b="1" spc="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champs</a:t>
                      </a:r>
                      <a:r>
                        <a:rPr sz="1200" b="1" spc="-4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sont</a:t>
                      </a:r>
                      <a:r>
                        <a:rPr sz="1200" b="1" spc="-2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accessibles</a:t>
                      </a:r>
                      <a:r>
                        <a:rPr sz="1200" b="1" spc="-1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par</a:t>
                      </a:r>
                      <a:r>
                        <a:rPr sz="1200" b="1" spc="-1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nom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28575">
                      <a:solidFill>
                        <a:srgbClr val="0058A0"/>
                      </a:solidFill>
                      <a:prstDash val="solid"/>
                    </a:lnT>
                    <a:lnB w="57150">
                      <a:solidFill>
                        <a:srgbClr val="0058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indexable</a:t>
                      </a:r>
                      <a:r>
                        <a:rPr sz="1200" b="1" spc="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comme</a:t>
                      </a:r>
                      <a:r>
                        <a:rPr sz="1200" b="1" spc="-5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les</a:t>
                      </a:r>
                      <a:r>
                        <a:rPr sz="1200" b="1" spc="-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tuples de</a:t>
                      </a:r>
                      <a:r>
                        <a:rPr sz="1200" b="1" spc="-3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r>
                        <a:rPr sz="1200" b="1" spc="-3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(11,</a:t>
                      </a:r>
                      <a:r>
                        <a:rPr sz="1200" b="1" spc="-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22)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28575">
                      <a:solidFill>
                        <a:srgbClr val="0058A0"/>
                      </a:solidFill>
                      <a:prstDash val="solid"/>
                    </a:lnR>
                    <a:lnT w="57150">
                      <a:solidFill>
                        <a:srgbClr val="0058A0"/>
                      </a:solidFill>
                      <a:prstDash val="solid"/>
                    </a:lnT>
                    <a:lnB w="9525">
                      <a:solidFill>
                        <a:srgbClr val="0058A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58A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2095500" y="2343467"/>
            <a:ext cx="3053080" cy="3709670"/>
            <a:chOff x="2095500" y="2343467"/>
            <a:chExt cx="3053080" cy="370967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2095" y="2353055"/>
              <a:ext cx="2846832" cy="7193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287396" y="2348229"/>
              <a:ext cx="2856865" cy="728980"/>
            </a:xfrm>
            <a:custGeom>
              <a:avLst/>
              <a:gdLst/>
              <a:ahLst/>
              <a:cxnLst/>
              <a:rect l="l" t="t" r="r" b="b"/>
              <a:pathLst>
                <a:path w="2856865" h="728980">
                  <a:moveTo>
                    <a:pt x="0" y="728852"/>
                  </a:moveTo>
                  <a:lnTo>
                    <a:pt x="2856356" y="728852"/>
                  </a:lnTo>
                  <a:lnTo>
                    <a:pt x="2856356" y="0"/>
                  </a:lnTo>
                  <a:lnTo>
                    <a:pt x="0" y="0"/>
                  </a:lnTo>
                  <a:lnTo>
                    <a:pt x="0" y="72885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95500" y="5752680"/>
              <a:ext cx="732790" cy="300355"/>
            </a:xfrm>
            <a:custGeom>
              <a:avLst/>
              <a:gdLst/>
              <a:ahLst/>
              <a:cxnLst/>
              <a:rect l="l" t="t" r="r" b="b"/>
              <a:pathLst>
                <a:path w="732789" h="300354">
                  <a:moveTo>
                    <a:pt x="85217" y="26705"/>
                  </a:moveTo>
                  <a:lnTo>
                    <a:pt x="75058" y="53413"/>
                  </a:lnTo>
                  <a:lnTo>
                    <a:pt x="722502" y="299910"/>
                  </a:lnTo>
                  <a:lnTo>
                    <a:pt x="732663" y="273215"/>
                  </a:lnTo>
                  <a:lnTo>
                    <a:pt x="85217" y="26705"/>
                  </a:lnTo>
                  <a:close/>
                </a:path>
                <a:path w="732789" h="300354">
                  <a:moveTo>
                    <a:pt x="95376" y="0"/>
                  </a:moveTo>
                  <a:lnTo>
                    <a:pt x="0" y="9563"/>
                  </a:lnTo>
                  <a:lnTo>
                    <a:pt x="64897" y="80124"/>
                  </a:lnTo>
                  <a:lnTo>
                    <a:pt x="75058" y="53413"/>
                  </a:lnTo>
                  <a:lnTo>
                    <a:pt x="61722" y="48336"/>
                  </a:lnTo>
                  <a:lnTo>
                    <a:pt x="71881" y="21628"/>
                  </a:lnTo>
                  <a:lnTo>
                    <a:pt x="87149" y="21628"/>
                  </a:lnTo>
                  <a:lnTo>
                    <a:pt x="95376" y="0"/>
                  </a:lnTo>
                  <a:close/>
                </a:path>
                <a:path w="732789" h="300354">
                  <a:moveTo>
                    <a:pt x="71881" y="21628"/>
                  </a:moveTo>
                  <a:lnTo>
                    <a:pt x="61722" y="48336"/>
                  </a:lnTo>
                  <a:lnTo>
                    <a:pt x="75058" y="53413"/>
                  </a:lnTo>
                  <a:lnTo>
                    <a:pt x="85217" y="26705"/>
                  </a:lnTo>
                  <a:lnTo>
                    <a:pt x="71881" y="21628"/>
                  </a:lnTo>
                  <a:close/>
                </a:path>
                <a:path w="732789" h="300354">
                  <a:moveTo>
                    <a:pt x="87149" y="21628"/>
                  </a:moveTo>
                  <a:lnTo>
                    <a:pt x="71881" y="21628"/>
                  </a:lnTo>
                  <a:lnTo>
                    <a:pt x="85217" y="26705"/>
                  </a:lnTo>
                  <a:lnTo>
                    <a:pt x="87149" y="21628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845307" y="5987796"/>
            <a:ext cx="2380615" cy="27749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lisible</a:t>
            </a:r>
            <a:r>
              <a:rPr sz="12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2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style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nom=valeur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149</a:t>
            </a:fld>
            <a:endParaRPr spc="-25" dirty="0"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4523358"/>
            <a:ext cx="4502785" cy="441959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81610" marR="5080" indent="-169545">
              <a:lnSpc>
                <a:spcPts val="1610"/>
              </a:lnSpc>
              <a:spcBef>
                <a:spcPts val="200"/>
              </a:spcBef>
              <a:buFont typeface="Arial MT"/>
              <a:buChar char="•"/>
              <a:tabLst>
                <a:tab pos="1828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_replace(key=args)</a:t>
            </a:r>
            <a:r>
              <a:rPr sz="1400" b="1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retourner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nouvelle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instance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notre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tuple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modifiée.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506595" cy="16071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912B"/>
                </a:solidFill>
                <a:latin typeface="Calibri"/>
                <a:cs typeface="Calibri"/>
              </a:rPr>
              <a:t>Collections</a:t>
            </a:r>
            <a:r>
              <a:rPr sz="1600" b="1" spc="-25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912B"/>
                </a:solidFill>
                <a:latin typeface="Calibri"/>
                <a:cs typeface="Calibri"/>
              </a:rPr>
              <a:t>-</a:t>
            </a:r>
            <a:r>
              <a:rPr sz="1600" b="1" spc="-40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912B"/>
                </a:solidFill>
                <a:latin typeface="Calibri"/>
                <a:cs typeface="Calibri"/>
              </a:rPr>
              <a:t>namedtuple</a:t>
            </a:r>
            <a:endParaRPr sz="1600">
              <a:latin typeface="Calibri"/>
              <a:cs typeface="Calibri"/>
            </a:endParaRPr>
          </a:p>
          <a:p>
            <a:pPr marL="182245" indent="-169545" algn="just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18224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_asdict()</a:t>
            </a:r>
            <a:r>
              <a:rPr sz="1400" b="1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convertir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instance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endParaRPr sz="1400">
              <a:latin typeface="Calibri"/>
              <a:cs typeface="Calibri"/>
            </a:endParaRPr>
          </a:p>
          <a:p>
            <a:pPr marL="182880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dictionnaire.</a:t>
            </a:r>
            <a:endParaRPr sz="1400">
              <a:latin typeface="Calibri"/>
              <a:cs typeface="Calibri"/>
            </a:endParaRPr>
          </a:p>
          <a:p>
            <a:pPr marL="181610" marR="5080" indent="-169545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1828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Appeler</a:t>
            </a:r>
            <a:r>
              <a:rPr sz="1400" spc="3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p._asdict()</a:t>
            </a:r>
            <a:r>
              <a:rPr sz="1400" b="1" spc="3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renvoie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4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dictionnaire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mettant</a:t>
            </a:r>
            <a:r>
              <a:rPr sz="1400" spc="3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en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chacun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deux champs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p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leurs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valeurs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correspondantes.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14866" y="3230435"/>
            <a:ext cx="5490210" cy="3049270"/>
            <a:chOff x="2614866" y="3230435"/>
            <a:chExt cx="5490210" cy="304927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4328" y="3240024"/>
              <a:ext cx="4462272" cy="10576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619629" y="3235198"/>
              <a:ext cx="4472305" cy="1067435"/>
            </a:xfrm>
            <a:custGeom>
              <a:avLst/>
              <a:gdLst/>
              <a:ahLst/>
              <a:cxnLst/>
              <a:rect l="l" t="t" r="r" b="b"/>
              <a:pathLst>
                <a:path w="4472305" h="1067435">
                  <a:moveTo>
                    <a:pt x="0" y="1067181"/>
                  </a:moveTo>
                  <a:lnTo>
                    <a:pt x="4471797" y="1067181"/>
                  </a:lnTo>
                  <a:lnTo>
                    <a:pt x="4471797" y="0"/>
                  </a:lnTo>
                  <a:lnTo>
                    <a:pt x="0" y="0"/>
                  </a:lnTo>
                  <a:lnTo>
                    <a:pt x="0" y="106718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4328" y="5212080"/>
              <a:ext cx="5471160" cy="105765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19629" y="5207317"/>
              <a:ext cx="5480685" cy="1067435"/>
            </a:xfrm>
            <a:custGeom>
              <a:avLst/>
              <a:gdLst/>
              <a:ahLst/>
              <a:cxnLst/>
              <a:rect l="l" t="t" r="r" b="b"/>
              <a:pathLst>
                <a:path w="5480684" h="1067435">
                  <a:moveTo>
                    <a:pt x="0" y="1067181"/>
                  </a:moveTo>
                  <a:lnTo>
                    <a:pt x="5480685" y="1067181"/>
                  </a:lnTo>
                  <a:lnTo>
                    <a:pt x="5480685" y="0"/>
                  </a:lnTo>
                  <a:lnTo>
                    <a:pt x="0" y="0"/>
                  </a:lnTo>
                  <a:lnTo>
                    <a:pt x="0" y="106718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150</a:t>
            </a:fld>
            <a:endParaRPr spc="-25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4502150" cy="13265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912B"/>
                </a:solidFill>
                <a:latin typeface="Calibri"/>
                <a:cs typeface="Calibri"/>
              </a:rPr>
              <a:t>Collections</a:t>
            </a:r>
            <a:r>
              <a:rPr sz="1600" b="1" spc="-25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912B"/>
                </a:solidFill>
                <a:latin typeface="Calibri"/>
                <a:cs typeface="Calibri"/>
              </a:rPr>
              <a:t>-</a:t>
            </a:r>
            <a:r>
              <a:rPr sz="1600" b="1" spc="-40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912B"/>
                </a:solidFill>
                <a:latin typeface="Calibri"/>
                <a:cs typeface="Calibri"/>
              </a:rPr>
              <a:t>namedtuple</a:t>
            </a:r>
            <a:endParaRPr sz="1600">
              <a:latin typeface="Calibri"/>
              <a:cs typeface="Calibri"/>
            </a:endParaRPr>
          </a:p>
          <a:p>
            <a:pPr marL="181610" marR="5080" indent="-169545" algn="just">
              <a:lnSpc>
                <a:spcPct val="95300"/>
              </a:lnSpc>
              <a:spcBef>
                <a:spcPts val="925"/>
              </a:spcBef>
              <a:buFont typeface="Arial MT"/>
              <a:buChar char="•"/>
              <a:tabLst>
                <a:tab pos="1828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_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mytuple._fields</a:t>
            </a:r>
            <a:r>
              <a:rPr sz="1400" b="1" spc="1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récupérer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noms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champs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notre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tuple.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veut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créer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nouveau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tuple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champs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tuple 	existant.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17002" y="2724467"/>
            <a:ext cx="9267190" cy="1049655"/>
            <a:chOff x="1417002" y="2724467"/>
            <a:chExt cx="9267190" cy="104965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6463" y="2734055"/>
              <a:ext cx="9247632" cy="10302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21764" y="2729229"/>
              <a:ext cx="9257665" cy="1040130"/>
            </a:xfrm>
            <a:custGeom>
              <a:avLst/>
              <a:gdLst/>
              <a:ahLst/>
              <a:cxnLst/>
              <a:rect l="l" t="t" r="r" b="b"/>
              <a:pathLst>
                <a:path w="9257665" h="1040129">
                  <a:moveTo>
                    <a:pt x="0" y="1039749"/>
                  </a:moveTo>
                  <a:lnTo>
                    <a:pt x="9257157" y="1039749"/>
                  </a:lnTo>
                  <a:lnTo>
                    <a:pt x="9257157" y="0"/>
                  </a:lnTo>
                  <a:lnTo>
                    <a:pt x="0" y="0"/>
                  </a:lnTo>
                  <a:lnTo>
                    <a:pt x="0" y="103974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151</a:t>
            </a:fld>
            <a:endParaRPr spc="-25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  <p:grpSp>
        <p:nvGrpSpPr>
          <p:cNvPr id="9" name="object 9"/>
          <p:cNvGrpSpPr/>
          <p:nvPr/>
        </p:nvGrpSpPr>
        <p:grpSpPr>
          <a:xfrm>
            <a:off x="1810194" y="2849435"/>
            <a:ext cx="8544560" cy="1351280"/>
            <a:chOff x="1810194" y="2849435"/>
            <a:chExt cx="8544560" cy="13512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9656" y="2859024"/>
              <a:ext cx="6486144" cy="9509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14957" y="2854198"/>
              <a:ext cx="6496050" cy="960755"/>
            </a:xfrm>
            <a:custGeom>
              <a:avLst/>
              <a:gdLst/>
              <a:ahLst/>
              <a:cxnLst/>
              <a:rect l="l" t="t" r="r" b="b"/>
              <a:pathLst>
                <a:path w="6496050" h="960754">
                  <a:moveTo>
                    <a:pt x="0" y="960501"/>
                  </a:moveTo>
                  <a:lnTo>
                    <a:pt x="6495669" y="960501"/>
                  </a:lnTo>
                  <a:lnTo>
                    <a:pt x="6495669" y="0"/>
                  </a:lnTo>
                  <a:lnTo>
                    <a:pt x="0" y="0"/>
                  </a:lnTo>
                  <a:lnTo>
                    <a:pt x="0" y="96050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76372" y="3909060"/>
              <a:ext cx="7364095" cy="277495"/>
            </a:xfrm>
            <a:custGeom>
              <a:avLst/>
              <a:gdLst/>
              <a:ahLst/>
              <a:cxnLst/>
              <a:rect l="l" t="t" r="r" b="b"/>
              <a:pathLst>
                <a:path w="7364095" h="277495">
                  <a:moveTo>
                    <a:pt x="0" y="277368"/>
                  </a:moveTo>
                  <a:lnTo>
                    <a:pt x="7363968" y="277368"/>
                  </a:lnTo>
                  <a:lnTo>
                    <a:pt x="7363968" y="0"/>
                  </a:lnTo>
                  <a:lnTo>
                    <a:pt x="0" y="0"/>
                  </a:lnTo>
                  <a:lnTo>
                    <a:pt x="0" y="277368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279" y="5434584"/>
            <a:ext cx="8068056" cy="1143000"/>
          </a:xfrm>
          <a:prstGeom prst="rect">
            <a:avLst/>
          </a:prstGeom>
        </p:spPr>
      </p:pic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33209" y="1462849"/>
          <a:ext cx="11118214" cy="5128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7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765">
                <a:tc gridSpan="3"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600" b="1" dirty="0">
                          <a:solidFill>
                            <a:srgbClr val="FF7800"/>
                          </a:solidFill>
                          <a:latin typeface="Calibri"/>
                          <a:cs typeface="Calibri"/>
                        </a:rPr>
                        <a:t>Collections</a:t>
                      </a:r>
                      <a:r>
                        <a:rPr sz="1600" b="1" spc="-25" dirty="0">
                          <a:solidFill>
                            <a:srgbClr val="FF78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78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b="1" spc="-40" dirty="0">
                          <a:solidFill>
                            <a:srgbClr val="FF78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7800"/>
                          </a:solidFill>
                          <a:latin typeface="Calibri"/>
                          <a:cs typeface="Calibri"/>
                        </a:rPr>
                        <a:t>deque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560070" indent="-286385">
                        <a:lnSpc>
                          <a:spcPct val="100000"/>
                        </a:lnSpc>
                        <a:spcBef>
                          <a:spcPts val="850"/>
                        </a:spcBef>
                        <a:buFont typeface="Arial MT"/>
                        <a:buChar char="•"/>
                        <a:tabLst>
                          <a:tab pos="560070" algn="l"/>
                        </a:tabLst>
                      </a:pP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Les</a:t>
                      </a:r>
                      <a:r>
                        <a:rPr sz="1400" spc="-3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listes</a:t>
                      </a:r>
                      <a:r>
                        <a:rPr sz="1400" spc="-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Python</a:t>
                      </a:r>
                      <a:r>
                        <a:rPr sz="1400" spc="1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sont</a:t>
                      </a:r>
                      <a:r>
                        <a:rPr sz="1400" spc="-4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une</a:t>
                      </a:r>
                      <a:r>
                        <a:rPr sz="1400" spc="-2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séquence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d'éléments</a:t>
                      </a:r>
                      <a:r>
                        <a:rPr sz="1400" spc="3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ordonnés,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mutable</a:t>
                      </a:r>
                      <a:r>
                        <a:rPr sz="1400" spc="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ou</a:t>
                      </a:r>
                      <a:r>
                        <a:rPr sz="1400" spc="-6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modifiable.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60070" marR="451484" indent="-287020">
                        <a:lnSpc>
                          <a:spcPts val="1610"/>
                        </a:lnSpc>
                        <a:spcBef>
                          <a:spcPts val="640"/>
                        </a:spcBef>
                        <a:buFont typeface="Arial MT"/>
                        <a:buChar char="•"/>
                        <a:tabLst>
                          <a:tab pos="560070" algn="l"/>
                        </a:tabLst>
                      </a:pP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Python</a:t>
                      </a:r>
                      <a:r>
                        <a:rPr sz="1400" spc="-2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peut</a:t>
                      </a:r>
                      <a:r>
                        <a:rPr sz="1400" spc="-4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ajouter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des listes</a:t>
                      </a:r>
                      <a:r>
                        <a:rPr sz="1400" spc="-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1400" spc="-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temps</a:t>
                      </a:r>
                      <a:r>
                        <a:rPr sz="1400" spc="-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constant</a:t>
                      </a:r>
                      <a:r>
                        <a:rPr sz="1400" spc="-1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mais</a:t>
                      </a:r>
                      <a:r>
                        <a:rPr sz="1400" spc="-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l'insertion</a:t>
                      </a:r>
                      <a:r>
                        <a:rPr sz="1400" spc="-3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au</a:t>
                      </a:r>
                      <a:r>
                        <a:rPr sz="1400" spc="-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début</a:t>
                      </a:r>
                      <a:r>
                        <a:rPr sz="1400" spc="-1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d'une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liste</a:t>
                      </a:r>
                      <a:r>
                        <a:rPr sz="1400" spc="-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peut</a:t>
                      </a:r>
                      <a:r>
                        <a:rPr sz="1400" spc="-3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être</a:t>
                      </a:r>
                      <a:r>
                        <a:rPr sz="1400" spc="-1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plus</a:t>
                      </a:r>
                      <a:r>
                        <a:rPr sz="1400" spc="-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lente</a:t>
                      </a:r>
                      <a:r>
                        <a:rPr sz="1400" spc="-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(le</a:t>
                      </a:r>
                      <a:r>
                        <a:rPr sz="1400" spc="-1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temps</a:t>
                      </a:r>
                      <a:r>
                        <a:rPr sz="1400" spc="-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nécessaire</a:t>
                      </a:r>
                      <a:r>
                        <a:rPr sz="1400" spc="-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augmente</a:t>
                      </a:r>
                      <a:r>
                        <a:rPr sz="1400" spc="-2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à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mesure</a:t>
                      </a:r>
                      <a:r>
                        <a:rPr sz="1400" spc="-3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sz="1400" spc="-4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400" spc="-7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liste</a:t>
                      </a:r>
                      <a:r>
                        <a:rPr sz="1400" spc="-2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s'agrandit).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736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b="1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Exemple</a:t>
                      </a:r>
                      <a:r>
                        <a:rPr sz="1400" b="1" spc="-2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1924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méthode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.insert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(index,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objet)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sur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permet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d'insérer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"Alice"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au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début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favorite_fish_list.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60070" marR="448945" indent="-287020">
                        <a:lnSpc>
                          <a:spcPts val="1610"/>
                        </a:lnSpc>
                        <a:buFont typeface="Arial MT"/>
                        <a:buChar char="•"/>
                        <a:tabLst>
                          <a:tab pos="560070" algn="l"/>
                        </a:tabLst>
                      </a:pPr>
                      <a:r>
                        <a:rPr sz="14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400" b="1" spc="8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classe</a:t>
                      </a:r>
                      <a:r>
                        <a:rPr sz="1400" b="1" spc="8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deque</a:t>
                      </a:r>
                      <a:r>
                        <a:rPr sz="1400" b="1" spc="1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du</a:t>
                      </a:r>
                      <a:r>
                        <a:rPr sz="1400" spc="9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module</a:t>
                      </a:r>
                      <a:r>
                        <a:rPr sz="1400" spc="8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collections</a:t>
                      </a:r>
                      <a:r>
                        <a:rPr sz="1400" spc="9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est</a:t>
                      </a:r>
                      <a:r>
                        <a:rPr sz="1400" spc="9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sz="1400" spc="6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objet</a:t>
                      </a:r>
                      <a:r>
                        <a:rPr sz="1400" spc="9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10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sz="1400" spc="1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liste</a:t>
                      </a:r>
                      <a:r>
                        <a:rPr sz="1400" spc="1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qui</a:t>
                      </a:r>
                      <a:r>
                        <a:rPr sz="1400" spc="9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permet</a:t>
                      </a:r>
                      <a:r>
                        <a:rPr sz="1400" spc="9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d'insérer</a:t>
                      </a:r>
                      <a:r>
                        <a:rPr sz="1400" spc="8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r>
                        <a:rPr sz="1400" spc="8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éléments</a:t>
                      </a:r>
                      <a:r>
                        <a:rPr sz="1400" spc="9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au</a:t>
                      </a:r>
                      <a:r>
                        <a:rPr sz="1400" spc="9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début</a:t>
                      </a:r>
                      <a:r>
                        <a:rPr sz="1400" spc="7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ou</a:t>
                      </a:r>
                      <a:r>
                        <a:rPr sz="1400" spc="6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à</a:t>
                      </a:r>
                      <a:r>
                        <a:rPr sz="1400" spc="10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400" spc="8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fin</a:t>
                      </a:r>
                      <a:r>
                        <a:rPr sz="1400" spc="7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d'une</a:t>
                      </a:r>
                      <a:r>
                        <a:rPr sz="1400" spc="8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séquence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avec</a:t>
                      </a:r>
                      <a:r>
                        <a:rPr sz="1400" spc="-3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une</a:t>
                      </a:r>
                      <a:r>
                        <a:rPr sz="1400" spc="-4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performance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à</a:t>
                      </a:r>
                      <a:r>
                        <a:rPr sz="1400" spc="-5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temps</a:t>
                      </a:r>
                      <a:r>
                        <a:rPr sz="1400" spc="-1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constant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(O(1)).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60070" indent="-286385">
                        <a:lnSpc>
                          <a:spcPts val="1635"/>
                        </a:lnSpc>
                        <a:spcBef>
                          <a:spcPts val="484"/>
                        </a:spcBef>
                        <a:buFont typeface="Arial MT"/>
                        <a:buChar char="•"/>
                        <a:tabLst>
                          <a:tab pos="560070" algn="l"/>
                        </a:tabLst>
                      </a:pP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O(1)</a:t>
                      </a:r>
                      <a:r>
                        <a:rPr sz="1400" spc="7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400" spc="3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signifie</a:t>
                      </a:r>
                      <a:r>
                        <a:rPr sz="1400" spc="8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sz="1400" spc="5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sz="1400" spc="7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temps</a:t>
                      </a:r>
                      <a:r>
                        <a:rPr sz="1400" spc="8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nécessaire</a:t>
                      </a:r>
                      <a:r>
                        <a:rPr sz="1400" spc="8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pour</a:t>
                      </a:r>
                      <a:r>
                        <a:rPr sz="1400" spc="5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ajouter</a:t>
                      </a:r>
                      <a:r>
                        <a:rPr sz="1400" spc="6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sz="1400" spc="6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élément</a:t>
                      </a:r>
                      <a:r>
                        <a:rPr sz="1400" spc="4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au</a:t>
                      </a:r>
                      <a:r>
                        <a:rPr sz="1400" spc="6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début</a:t>
                      </a:r>
                      <a:r>
                        <a:rPr sz="1400" spc="6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7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7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liste</a:t>
                      </a:r>
                      <a:r>
                        <a:rPr sz="1400" spc="7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n'augmentera</a:t>
                      </a:r>
                      <a:r>
                        <a:rPr sz="1400" spc="8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pas,</a:t>
                      </a:r>
                      <a:r>
                        <a:rPr sz="1400" spc="4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même</a:t>
                      </a:r>
                      <a:r>
                        <a:rPr sz="1400" spc="5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si</a:t>
                      </a:r>
                      <a:r>
                        <a:rPr sz="1400" spc="6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cette</a:t>
                      </a:r>
                      <a:r>
                        <a:rPr sz="1400" spc="7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liste</a:t>
                      </a:r>
                      <a:r>
                        <a:rPr sz="1400" spc="5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60070">
                        <a:lnSpc>
                          <a:spcPts val="1635"/>
                        </a:lnSpc>
                      </a:pP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r>
                        <a:rPr sz="1400" spc="-3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milliers</a:t>
                      </a:r>
                      <a:r>
                        <a:rPr sz="1400" spc="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ou</a:t>
                      </a:r>
                      <a:r>
                        <a:rPr sz="1400" spc="-7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r>
                        <a:rPr sz="1400" spc="-3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millions</a:t>
                      </a:r>
                      <a:r>
                        <a:rPr sz="1400" spc="15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555555"/>
                          </a:solidFill>
                          <a:latin typeface="Calibri"/>
                          <a:cs typeface="Calibri"/>
                        </a:rPr>
                        <a:t>d'éléments.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7955" marB="0">
                    <a:lnL w="9525">
                      <a:solidFill>
                        <a:srgbClr val="9EC3E7"/>
                      </a:solidFill>
                      <a:prstDash val="solid"/>
                    </a:lnL>
                    <a:lnR w="9525">
                      <a:solidFill>
                        <a:srgbClr val="9EC3E7"/>
                      </a:solidFill>
                      <a:prstDash val="solid"/>
                    </a:lnR>
                    <a:lnT w="9525">
                      <a:solidFill>
                        <a:srgbClr val="9EC3E7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C3E7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9EC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C3E7"/>
                      </a:solidFill>
                      <a:prstDash val="solid"/>
                    </a:lnR>
                    <a:lnB w="9525">
                      <a:solidFill>
                        <a:srgbClr val="9EC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3997452" y="3235451"/>
            <a:ext cx="586105" cy="683895"/>
          </a:xfrm>
          <a:custGeom>
            <a:avLst/>
            <a:gdLst/>
            <a:ahLst/>
            <a:cxnLst/>
            <a:rect l="l" t="t" r="r" b="b"/>
            <a:pathLst>
              <a:path w="586104" h="683895">
                <a:moveTo>
                  <a:pt x="66515" y="55914"/>
                </a:moveTo>
                <a:lnTo>
                  <a:pt x="44727" y="74522"/>
                </a:lnTo>
                <a:lnTo>
                  <a:pt x="564261" y="683514"/>
                </a:lnTo>
                <a:lnTo>
                  <a:pt x="586105" y="664972"/>
                </a:lnTo>
                <a:lnTo>
                  <a:pt x="66515" y="55914"/>
                </a:lnTo>
                <a:close/>
              </a:path>
              <a:path w="586104" h="683895">
                <a:moveTo>
                  <a:pt x="0" y="0"/>
                </a:moveTo>
                <a:lnTo>
                  <a:pt x="22987" y="93090"/>
                </a:lnTo>
                <a:lnTo>
                  <a:pt x="44727" y="74522"/>
                </a:lnTo>
                <a:lnTo>
                  <a:pt x="35433" y="63626"/>
                </a:lnTo>
                <a:lnTo>
                  <a:pt x="57276" y="45085"/>
                </a:lnTo>
                <a:lnTo>
                  <a:pt x="79194" y="45085"/>
                </a:lnTo>
                <a:lnTo>
                  <a:pt x="88264" y="37337"/>
                </a:lnTo>
                <a:lnTo>
                  <a:pt x="0" y="0"/>
                </a:lnTo>
                <a:close/>
              </a:path>
              <a:path w="586104" h="683895">
                <a:moveTo>
                  <a:pt x="57276" y="45085"/>
                </a:moveTo>
                <a:lnTo>
                  <a:pt x="35433" y="63626"/>
                </a:lnTo>
                <a:lnTo>
                  <a:pt x="44727" y="74522"/>
                </a:lnTo>
                <a:lnTo>
                  <a:pt x="66515" y="55914"/>
                </a:lnTo>
                <a:lnTo>
                  <a:pt x="57276" y="45085"/>
                </a:lnTo>
                <a:close/>
              </a:path>
              <a:path w="586104" h="683895">
                <a:moveTo>
                  <a:pt x="79194" y="45085"/>
                </a:moveTo>
                <a:lnTo>
                  <a:pt x="57276" y="45085"/>
                </a:lnTo>
                <a:lnTo>
                  <a:pt x="66515" y="55914"/>
                </a:lnTo>
                <a:lnTo>
                  <a:pt x="79194" y="45085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152</a:t>
            </a:fld>
            <a:endParaRPr spc="-25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4319142"/>
            <a:ext cx="4500880" cy="64643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6545" marR="5080" indent="-284480" algn="just">
              <a:lnSpc>
                <a:spcPts val="1610"/>
              </a:lnSpc>
              <a:spcBef>
                <a:spcPts val="2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pop(),</a:t>
            </a:r>
            <a:r>
              <a:rPr sz="1400" b="1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popleft()</a:t>
            </a:r>
            <a:r>
              <a:rPr sz="1400" b="1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b="1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clear():</a:t>
            </a:r>
            <a:r>
              <a:rPr sz="1400" b="1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pop()</a:t>
            </a:r>
            <a:r>
              <a:rPr sz="1400" b="1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pop(), 	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popleft()</a:t>
            </a:r>
            <a:r>
              <a:rPr sz="1400" b="1" spc="4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permettent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faire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sortir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deque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clear()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vide.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501515" cy="11258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912B"/>
                </a:solidFill>
                <a:latin typeface="Calibri"/>
                <a:cs typeface="Calibri"/>
              </a:rPr>
              <a:t>Collections</a:t>
            </a:r>
            <a:r>
              <a:rPr sz="1600" b="1" spc="-25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912B"/>
                </a:solidFill>
                <a:latin typeface="Calibri"/>
                <a:cs typeface="Calibri"/>
              </a:rPr>
              <a:t>-</a:t>
            </a:r>
            <a:r>
              <a:rPr sz="1600" b="1" spc="-40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912B"/>
                </a:solidFill>
                <a:latin typeface="Calibri"/>
                <a:cs typeface="Calibri"/>
              </a:rPr>
              <a:t>deque</a:t>
            </a:r>
            <a:endParaRPr sz="16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800"/>
              </a:lnSpc>
              <a:spcBef>
                <a:spcPts val="9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append(x),</a:t>
            </a:r>
            <a:r>
              <a:rPr sz="1400" b="1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appendleft(x):</a:t>
            </a:r>
            <a:r>
              <a:rPr sz="1400" b="1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append</a:t>
            </a:r>
            <a:r>
              <a:rPr sz="1400" b="1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ajoute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 seule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 du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côté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droit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deque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appendleft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du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côté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gauche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52154" y="2547683"/>
            <a:ext cx="7389495" cy="3777615"/>
            <a:chOff x="2252154" y="2547683"/>
            <a:chExt cx="7389495" cy="377761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1616" y="2557271"/>
              <a:ext cx="7370064" cy="12679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56917" y="2552445"/>
              <a:ext cx="7379970" cy="1277620"/>
            </a:xfrm>
            <a:custGeom>
              <a:avLst/>
              <a:gdLst/>
              <a:ahLst/>
              <a:cxnLst/>
              <a:rect l="l" t="t" r="r" b="b"/>
              <a:pathLst>
                <a:path w="7379970" h="1277620">
                  <a:moveTo>
                    <a:pt x="0" y="1277492"/>
                  </a:moveTo>
                  <a:lnTo>
                    <a:pt x="7379589" y="1277492"/>
                  </a:lnTo>
                  <a:lnTo>
                    <a:pt x="7379589" y="0"/>
                  </a:lnTo>
                  <a:lnTo>
                    <a:pt x="0" y="0"/>
                  </a:lnTo>
                  <a:lnTo>
                    <a:pt x="0" y="127749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1616" y="5081016"/>
              <a:ext cx="6544056" cy="123444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56917" y="5076253"/>
              <a:ext cx="6553834" cy="1243965"/>
            </a:xfrm>
            <a:custGeom>
              <a:avLst/>
              <a:gdLst/>
              <a:ahLst/>
              <a:cxnLst/>
              <a:rect l="l" t="t" r="r" b="b"/>
              <a:pathLst>
                <a:path w="6553834" h="1243964">
                  <a:moveTo>
                    <a:pt x="0" y="1243965"/>
                  </a:moveTo>
                  <a:lnTo>
                    <a:pt x="6553581" y="1243965"/>
                  </a:lnTo>
                  <a:lnTo>
                    <a:pt x="6553581" y="0"/>
                  </a:lnTo>
                  <a:lnTo>
                    <a:pt x="0" y="0"/>
                  </a:lnTo>
                  <a:lnTo>
                    <a:pt x="0" y="124396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153</a:t>
            </a:fld>
            <a:endParaRPr spc="-25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5361813"/>
            <a:ext cx="5415915" cy="441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6385" indent="-286385" algn="ctr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863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l'exemple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précédent on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remarque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 la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clé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10</a:t>
            </a:r>
            <a:endParaRPr sz="1400">
              <a:latin typeface="Calibri"/>
              <a:cs typeface="Calibri"/>
            </a:endParaRPr>
          </a:p>
          <a:p>
            <a:pPr marR="48260" algn="ctr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2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y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passé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avant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x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constructeur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ChainMap.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1476758"/>
            <a:ext cx="5414010" cy="18878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Collections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-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ChainMap</a:t>
            </a:r>
            <a:endParaRPr sz="1600">
              <a:latin typeface="Calibri"/>
              <a:cs typeface="Calibri"/>
            </a:endParaRPr>
          </a:p>
          <a:p>
            <a:pPr marL="297180" indent="-284480" algn="just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b="1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collections.ChainMap</a:t>
            </a:r>
            <a:r>
              <a:rPr sz="1400" b="1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linker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mappings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qu’ils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soient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gérés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seul.</a:t>
            </a:r>
            <a:endParaRPr sz="1400">
              <a:latin typeface="Calibri"/>
              <a:cs typeface="Calibri"/>
            </a:endParaRPr>
          </a:p>
          <a:p>
            <a:pPr marL="296545" marR="762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</a:t>
            </a:r>
            <a:r>
              <a:rPr sz="1400" b="1" spc="1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collections.ChainMap(*maps)</a:t>
            </a:r>
            <a:r>
              <a:rPr sz="1400" b="1" spc="1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retourne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nouvelle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ChainMap.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n’y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maps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spécifiés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ChainMap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vide.</a:t>
            </a:r>
            <a:endParaRPr sz="1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44890" y="3288347"/>
            <a:ext cx="4060825" cy="1683385"/>
            <a:chOff x="2044890" y="3288347"/>
            <a:chExt cx="4060825" cy="168338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4351" y="3297935"/>
              <a:ext cx="4041648" cy="166420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049652" y="3293109"/>
              <a:ext cx="4051300" cy="1673860"/>
            </a:xfrm>
            <a:custGeom>
              <a:avLst/>
              <a:gdLst/>
              <a:ahLst/>
              <a:cxnLst/>
              <a:rect l="l" t="t" r="r" b="b"/>
              <a:pathLst>
                <a:path w="4051300" h="1673860">
                  <a:moveTo>
                    <a:pt x="0" y="1673733"/>
                  </a:moveTo>
                  <a:lnTo>
                    <a:pt x="4051173" y="1673733"/>
                  </a:lnTo>
                  <a:lnTo>
                    <a:pt x="4051173" y="0"/>
                  </a:lnTo>
                  <a:lnTo>
                    <a:pt x="0" y="0"/>
                  </a:lnTo>
                  <a:lnTo>
                    <a:pt x="0" y="167373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154</a:t>
            </a:fld>
            <a:endParaRPr spc="-25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503420" cy="23698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Collections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-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Counter</a:t>
            </a:r>
            <a:endParaRPr sz="1600">
              <a:latin typeface="Calibri"/>
              <a:cs typeface="Calibri"/>
            </a:endParaRPr>
          </a:p>
          <a:p>
            <a:pPr marL="297180" indent="-284480" algn="just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collections.Counter</a:t>
            </a:r>
            <a:r>
              <a:rPr sz="1400" b="1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dict.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 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compter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hachable.</a:t>
            </a:r>
            <a:endParaRPr sz="1400">
              <a:latin typeface="Calibri"/>
              <a:cs typeface="Calibri"/>
            </a:endParaRPr>
          </a:p>
          <a:p>
            <a:pPr marL="296545" marR="8255" indent="-284480" algn="just">
              <a:lnSpc>
                <a:spcPts val="1580"/>
              </a:lnSpc>
              <a:spcBef>
                <a:spcPts val="6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c’est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dictionnaire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clé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éléments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leur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nombre.</a:t>
            </a:r>
            <a:endParaRPr sz="1400">
              <a:latin typeface="Calibri"/>
              <a:cs typeface="Calibri"/>
            </a:endParaRPr>
          </a:p>
          <a:p>
            <a:pPr marL="296545" marR="5715" indent="-284480" algn="just">
              <a:lnSpc>
                <a:spcPct val="95000"/>
              </a:lnSpc>
              <a:spcBef>
                <a:spcPts val="5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</a:t>
            </a:r>
            <a:r>
              <a:rPr sz="1400" spc="330" dirty="0">
                <a:solidFill>
                  <a:srgbClr val="555555"/>
                </a:solidFill>
                <a:latin typeface="Calibri"/>
                <a:cs typeface="Calibri"/>
              </a:rPr>
              <a:t>  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collections.Counter([iterable-or-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mapping])</a:t>
            </a:r>
            <a:r>
              <a:rPr sz="1400" spc="335" dirty="0">
                <a:solidFill>
                  <a:srgbClr val="555555"/>
                </a:solidFill>
                <a:latin typeface="Calibri"/>
                <a:cs typeface="Calibri"/>
              </a:rPr>
              <a:t>  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ceci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retourne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Counter.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L’argument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spécifier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ce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l’on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veut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mettre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dedans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doit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compté.</a:t>
            </a:r>
            <a:endParaRPr sz="1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3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95282" y="4120451"/>
            <a:ext cx="6861809" cy="1449070"/>
            <a:chOff x="2895282" y="4120451"/>
            <a:chExt cx="6861809" cy="144907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4744" y="4130040"/>
              <a:ext cx="6842759" cy="14295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00045" y="4125214"/>
              <a:ext cx="6852284" cy="1439545"/>
            </a:xfrm>
            <a:custGeom>
              <a:avLst/>
              <a:gdLst/>
              <a:ahLst/>
              <a:cxnLst/>
              <a:rect l="l" t="t" r="r" b="b"/>
              <a:pathLst>
                <a:path w="6852284" h="1439545">
                  <a:moveTo>
                    <a:pt x="0" y="1439037"/>
                  </a:moveTo>
                  <a:lnTo>
                    <a:pt x="6852284" y="1439037"/>
                  </a:lnTo>
                  <a:lnTo>
                    <a:pt x="6852284" y="0"/>
                  </a:lnTo>
                  <a:lnTo>
                    <a:pt x="0" y="0"/>
                  </a:lnTo>
                  <a:lnTo>
                    <a:pt x="0" y="143903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155</a:t>
            </a:fld>
            <a:endParaRPr spc="-25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3355339"/>
            <a:ext cx="59143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elements():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retourne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éléments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compteur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5032628"/>
            <a:ext cx="69246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most_common([n]):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retourne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éléments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présents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compteur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1476758"/>
            <a:ext cx="6571615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912B"/>
                </a:solidFill>
                <a:latin typeface="Calibri"/>
                <a:cs typeface="Calibri"/>
              </a:rPr>
              <a:t>Collections</a:t>
            </a:r>
            <a:r>
              <a:rPr sz="1600" b="1" spc="-25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912B"/>
                </a:solidFill>
                <a:latin typeface="Calibri"/>
                <a:cs typeface="Calibri"/>
              </a:rPr>
              <a:t>-</a:t>
            </a:r>
            <a:r>
              <a:rPr sz="1600" b="1" spc="-40" dirty="0">
                <a:solidFill>
                  <a:srgbClr val="FF912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912B"/>
                </a:solidFill>
                <a:latin typeface="Calibri"/>
                <a:cs typeface="Calibri"/>
              </a:rPr>
              <a:t>Counter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demande 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n’étant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notre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retourne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0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KeyError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12402" y="2404427"/>
            <a:ext cx="6767830" cy="3826510"/>
            <a:chOff x="2712402" y="2404427"/>
            <a:chExt cx="6767830" cy="382651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5871" y="2414015"/>
              <a:ext cx="4440935" cy="84734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81172" y="2409189"/>
              <a:ext cx="4450715" cy="857250"/>
            </a:xfrm>
            <a:custGeom>
              <a:avLst/>
              <a:gdLst/>
              <a:ahLst/>
              <a:cxnLst/>
              <a:rect l="l" t="t" r="r" b="b"/>
              <a:pathLst>
                <a:path w="4450715" h="857250">
                  <a:moveTo>
                    <a:pt x="0" y="856868"/>
                  </a:moveTo>
                  <a:lnTo>
                    <a:pt x="4450461" y="856868"/>
                  </a:lnTo>
                  <a:lnTo>
                    <a:pt x="4450461" y="0"/>
                  </a:lnTo>
                  <a:lnTo>
                    <a:pt x="0" y="0"/>
                  </a:lnTo>
                  <a:lnTo>
                    <a:pt x="0" y="85686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1863" y="3880103"/>
              <a:ext cx="6748272" cy="10332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17164" y="3875277"/>
              <a:ext cx="6758305" cy="1043305"/>
            </a:xfrm>
            <a:custGeom>
              <a:avLst/>
              <a:gdLst/>
              <a:ahLst/>
              <a:cxnLst/>
              <a:rect l="l" t="t" r="r" b="b"/>
              <a:pathLst>
                <a:path w="6758305" h="1043304">
                  <a:moveTo>
                    <a:pt x="0" y="1042797"/>
                  </a:moveTo>
                  <a:lnTo>
                    <a:pt x="6757796" y="1042797"/>
                  </a:lnTo>
                  <a:lnTo>
                    <a:pt x="6757796" y="0"/>
                  </a:lnTo>
                  <a:lnTo>
                    <a:pt x="0" y="0"/>
                  </a:lnTo>
                  <a:lnTo>
                    <a:pt x="0" y="104279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1967" y="5529072"/>
              <a:ext cx="4434839" cy="69189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787268" y="5524309"/>
              <a:ext cx="4444365" cy="701675"/>
            </a:xfrm>
            <a:custGeom>
              <a:avLst/>
              <a:gdLst/>
              <a:ahLst/>
              <a:cxnLst/>
              <a:rect l="l" t="t" r="r" b="b"/>
              <a:pathLst>
                <a:path w="4444365" h="701675">
                  <a:moveTo>
                    <a:pt x="0" y="701420"/>
                  </a:moveTo>
                  <a:lnTo>
                    <a:pt x="4444364" y="701420"/>
                  </a:lnTo>
                  <a:lnTo>
                    <a:pt x="4444364" y="0"/>
                  </a:lnTo>
                  <a:lnTo>
                    <a:pt x="0" y="0"/>
                  </a:lnTo>
                  <a:lnTo>
                    <a:pt x="0" y="70142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156</a:t>
            </a:fld>
            <a:endParaRPr spc="-25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6844030" cy="92075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Collections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-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Counter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substract([iterable</a:t>
            </a:r>
            <a:r>
              <a:rPr sz="1400" b="1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or</a:t>
            </a:r>
            <a:r>
              <a:rPr sz="1400" b="1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mapping])</a:t>
            </a:r>
            <a:r>
              <a:rPr sz="1400" b="1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soustraire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éléments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compteur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(mais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supprimer)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63634" y="3114611"/>
            <a:ext cx="5073015" cy="1022350"/>
            <a:chOff x="2663634" y="3114611"/>
            <a:chExt cx="5073015" cy="102235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3096" y="3124199"/>
              <a:ext cx="5053583" cy="100279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68397" y="3119373"/>
              <a:ext cx="5063490" cy="1012825"/>
            </a:xfrm>
            <a:custGeom>
              <a:avLst/>
              <a:gdLst/>
              <a:ahLst/>
              <a:cxnLst/>
              <a:rect l="l" t="t" r="r" b="b"/>
              <a:pathLst>
                <a:path w="5063490" h="1012825">
                  <a:moveTo>
                    <a:pt x="0" y="1012317"/>
                  </a:moveTo>
                  <a:lnTo>
                    <a:pt x="5063108" y="1012317"/>
                  </a:lnTo>
                  <a:lnTo>
                    <a:pt x="5063108" y="0"/>
                  </a:lnTo>
                  <a:lnTo>
                    <a:pt x="0" y="0"/>
                  </a:lnTo>
                  <a:lnTo>
                    <a:pt x="0" y="101231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157</a:t>
            </a:fld>
            <a:endParaRPr spc="-25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4505325" cy="318389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Collections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-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OrdredDict</a:t>
            </a:r>
            <a:endParaRPr sz="1600">
              <a:latin typeface="Calibri"/>
              <a:cs typeface="Calibri"/>
            </a:endParaRPr>
          </a:p>
          <a:p>
            <a:pPr marL="296545" marR="10160" indent="-284480" algn="just">
              <a:lnSpc>
                <a:spcPct val="95300"/>
              </a:lnSpc>
              <a:spcBef>
                <a:spcPts val="9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collections.OrderedDict</a:t>
            </a:r>
            <a:r>
              <a:rPr sz="1400" b="1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dict.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mais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ils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3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rappellent</a:t>
            </a:r>
            <a:r>
              <a:rPr sz="1400" spc="3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l’ordre</a:t>
            </a:r>
            <a:r>
              <a:rPr sz="1400" spc="3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d’entrée</a:t>
            </a:r>
            <a:r>
              <a:rPr sz="1400" spc="3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3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valeurs.</a:t>
            </a:r>
            <a:r>
              <a:rPr sz="1400" spc="3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3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3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itère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dessus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seront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retournées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l’ordre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d’ajout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notre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dict.</a:t>
            </a:r>
            <a:endParaRPr sz="1400">
              <a:latin typeface="Calibri"/>
              <a:cs typeface="Calibri"/>
            </a:endParaRPr>
          </a:p>
          <a:p>
            <a:pPr marL="297180" marR="5080" indent="-285115" algn="just">
              <a:lnSpc>
                <a:spcPct val="95300"/>
              </a:lnSpc>
              <a:spcBef>
                <a:spcPts val="6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popitem(last=True)</a:t>
            </a:r>
            <a:r>
              <a:rPr sz="1400" b="1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sortir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paire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clé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notre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dictionnaire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l’argument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last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a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‘True’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alors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pairs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seront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retournées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LIFO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sinon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ce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sera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FIFO.</a:t>
            </a:r>
            <a:endParaRPr sz="1400">
              <a:latin typeface="Calibri"/>
              <a:cs typeface="Calibri"/>
            </a:endParaRPr>
          </a:p>
          <a:p>
            <a:pPr marL="296545" marR="9525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3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3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move_to_end(key,</a:t>
            </a:r>
            <a:r>
              <a:rPr sz="1400" b="1" spc="3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last=True)</a:t>
            </a:r>
            <a:r>
              <a:rPr sz="1400" b="1" spc="3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3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3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déplacer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clé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fin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notre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dictionnaire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last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à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True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sinon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début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notre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dict.</a:t>
            </a:r>
            <a:endParaRPr sz="1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3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66682" y="4690490"/>
            <a:ext cx="6322695" cy="1400175"/>
            <a:chOff x="2666682" y="4690490"/>
            <a:chExt cx="6322695" cy="140017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6144" y="4700015"/>
              <a:ext cx="6303263" cy="13807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71445" y="4695253"/>
              <a:ext cx="6313170" cy="1390650"/>
            </a:xfrm>
            <a:custGeom>
              <a:avLst/>
              <a:gdLst/>
              <a:ahLst/>
              <a:cxnLst/>
              <a:rect l="l" t="t" r="r" b="b"/>
              <a:pathLst>
                <a:path w="6313170" h="1390650">
                  <a:moveTo>
                    <a:pt x="0" y="1390269"/>
                  </a:moveTo>
                  <a:lnTo>
                    <a:pt x="6312788" y="1390269"/>
                  </a:lnTo>
                  <a:lnTo>
                    <a:pt x="6312788" y="0"/>
                  </a:lnTo>
                  <a:lnTo>
                    <a:pt x="0" y="0"/>
                  </a:lnTo>
                  <a:lnTo>
                    <a:pt x="0" y="139026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158</a:t>
            </a:fld>
            <a:endParaRPr spc="-25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4504055" cy="318389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Collections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-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defaultdict</a:t>
            </a:r>
            <a:endParaRPr sz="1600">
              <a:latin typeface="Calibri"/>
              <a:cs typeface="Calibri"/>
            </a:endParaRPr>
          </a:p>
          <a:p>
            <a:pPr marL="296545" marR="8890" indent="-284480" algn="just">
              <a:lnSpc>
                <a:spcPct val="95800"/>
              </a:lnSpc>
              <a:spcBef>
                <a:spcPts val="9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defaultdict</a:t>
            </a:r>
            <a:r>
              <a:rPr sz="1400" b="1" spc="48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4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module</a:t>
            </a:r>
            <a:r>
              <a:rPr sz="1400" spc="4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collections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4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4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rassembler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informations</a:t>
            </a:r>
            <a:r>
              <a:rPr sz="1400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dictionnaires</a:t>
            </a:r>
            <a:r>
              <a:rPr sz="1400" spc="4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manière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rapide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concise.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defaultdict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soulève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jamais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KeyError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96545" marR="889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clé</a:t>
            </a:r>
            <a:r>
              <a:rPr sz="1400" spc="3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n'est</a:t>
            </a:r>
            <a:r>
              <a:rPr sz="1400" spc="3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3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présente,</a:t>
            </a:r>
            <a:r>
              <a:rPr sz="1400" spc="3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defaultdict</a:t>
            </a:r>
            <a:r>
              <a:rPr sz="1400" b="1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contente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d'insérer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renvoyer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remplacement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place.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400"/>
              </a:lnSpc>
              <a:spcBef>
                <a:spcPts val="6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defaultdict</a:t>
            </a:r>
            <a:r>
              <a:rPr sz="1400" b="1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comporte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différemment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dictionnaire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ordinaire.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lieu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soulever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KeyError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clé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manquante,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defaultdict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appelle</a:t>
            </a:r>
            <a:r>
              <a:rPr sz="1400" spc="315" dirty="0">
                <a:solidFill>
                  <a:srgbClr val="555555"/>
                </a:solidFill>
                <a:latin typeface="Calibri"/>
                <a:cs typeface="Calibri"/>
              </a:rPr>
              <a:t> 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remplacement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sans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argument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nouvel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objet.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l’exemple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ci-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dessous,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list()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créer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vide.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85827" y="2511107"/>
            <a:ext cx="4121785" cy="824230"/>
            <a:chOff x="5985827" y="2511107"/>
            <a:chExt cx="4121785" cy="82423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5416" y="2520696"/>
              <a:ext cx="4102608" cy="8046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90590" y="2515870"/>
              <a:ext cx="4112260" cy="814705"/>
            </a:xfrm>
            <a:custGeom>
              <a:avLst/>
              <a:gdLst/>
              <a:ahLst/>
              <a:cxnLst/>
              <a:rect l="l" t="t" r="r" b="b"/>
              <a:pathLst>
                <a:path w="4112259" h="814704">
                  <a:moveTo>
                    <a:pt x="0" y="814197"/>
                  </a:moveTo>
                  <a:lnTo>
                    <a:pt x="4112133" y="814197"/>
                  </a:lnTo>
                  <a:lnTo>
                    <a:pt x="4112133" y="0"/>
                  </a:lnTo>
                  <a:lnTo>
                    <a:pt x="0" y="0"/>
                  </a:lnTo>
                  <a:lnTo>
                    <a:pt x="0" y="81419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159</a:t>
            </a:fld>
            <a:endParaRPr spc="-25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2017395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Collections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-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defaultdict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91650" y="2008187"/>
            <a:ext cx="8251825" cy="2150110"/>
            <a:chOff x="2791650" y="2008187"/>
            <a:chExt cx="8251825" cy="215011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1112" y="2017775"/>
              <a:ext cx="6373368" cy="213055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796413" y="2012950"/>
              <a:ext cx="6383020" cy="2140585"/>
            </a:xfrm>
            <a:custGeom>
              <a:avLst/>
              <a:gdLst/>
              <a:ahLst/>
              <a:cxnLst/>
              <a:rect l="l" t="t" r="r" b="b"/>
              <a:pathLst>
                <a:path w="6383020" h="2140585">
                  <a:moveTo>
                    <a:pt x="0" y="2140077"/>
                  </a:moveTo>
                  <a:lnTo>
                    <a:pt x="6382893" y="2140077"/>
                  </a:lnTo>
                  <a:lnTo>
                    <a:pt x="6382893" y="0"/>
                  </a:lnTo>
                  <a:lnTo>
                    <a:pt x="0" y="0"/>
                  </a:lnTo>
                  <a:lnTo>
                    <a:pt x="0" y="214007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05955" y="3110483"/>
              <a:ext cx="441959" cy="436245"/>
            </a:xfrm>
            <a:custGeom>
              <a:avLst/>
              <a:gdLst/>
              <a:ahLst/>
              <a:cxnLst/>
              <a:rect l="l" t="t" r="r" b="b"/>
              <a:pathLst>
                <a:path w="441959" h="436245">
                  <a:moveTo>
                    <a:pt x="0" y="0"/>
                  </a:moveTo>
                  <a:lnTo>
                    <a:pt x="69847" y="1851"/>
                  </a:lnTo>
                  <a:lnTo>
                    <a:pt x="130509" y="7006"/>
                  </a:lnTo>
                  <a:lnTo>
                    <a:pt x="178344" y="14868"/>
                  </a:lnTo>
                  <a:lnTo>
                    <a:pt x="220979" y="36321"/>
                  </a:lnTo>
                  <a:lnTo>
                    <a:pt x="220979" y="181610"/>
                  </a:lnTo>
                  <a:lnTo>
                    <a:pt x="232245" y="193092"/>
                  </a:lnTo>
                  <a:lnTo>
                    <a:pt x="263615" y="203063"/>
                  </a:lnTo>
                  <a:lnTo>
                    <a:pt x="311450" y="210925"/>
                  </a:lnTo>
                  <a:lnTo>
                    <a:pt x="372112" y="216080"/>
                  </a:lnTo>
                  <a:lnTo>
                    <a:pt x="441960" y="217931"/>
                  </a:lnTo>
                  <a:lnTo>
                    <a:pt x="372112" y="219783"/>
                  </a:lnTo>
                  <a:lnTo>
                    <a:pt x="311450" y="224938"/>
                  </a:lnTo>
                  <a:lnTo>
                    <a:pt x="263615" y="232800"/>
                  </a:lnTo>
                  <a:lnTo>
                    <a:pt x="232245" y="242771"/>
                  </a:lnTo>
                  <a:lnTo>
                    <a:pt x="220979" y="254253"/>
                  </a:lnTo>
                  <a:lnTo>
                    <a:pt x="220979" y="399541"/>
                  </a:lnTo>
                  <a:lnTo>
                    <a:pt x="209714" y="411024"/>
                  </a:lnTo>
                  <a:lnTo>
                    <a:pt x="178344" y="420995"/>
                  </a:lnTo>
                  <a:lnTo>
                    <a:pt x="130509" y="428857"/>
                  </a:lnTo>
                  <a:lnTo>
                    <a:pt x="69847" y="434012"/>
                  </a:lnTo>
                  <a:lnTo>
                    <a:pt x="0" y="435863"/>
                  </a:lnTo>
                </a:path>
              </a:pathLst>
            </a:custGeom>
            <a:ln w="28575">
              <a:solidFill>
                <a:srgbClr val="FF7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54596" y="3162300"/>
              <a:ext cx="3975100" cy="655320"/>
            </a:xfrm>
            <a:custGeom>
              <a:avLst/>
              <a:gdLst/>
              <a:ahLst/>
              <a:cxnLst/>
              <a:rect l="l" t="t" r="r" b="b"/>
              <a:pathLst>
                <a:path w="3975100" h="655320">
                  <a:moveTo>
                    <a:pt x="0" y="307848"/>
                  </a:moveTo>
                  <a:lnTo>
                    <a:pt x="2328672" y="307848"/>
                  </a:lnTo>
                  <a:lnTo>
                    <a:pt x="2328672" y="0"/>
                  </a:lnTo>
                  <a:lnTo>
                    <a:pt x="0" y="0"/>
                  </a:lnTo>
                  <a:lnTo>
                    <a:pt x="0" y="307848"/>
                  </a:lnTo>
                  <a:close/>
                </a:path>
                <a:path w="3975100" h="655320">
                  <a:moveTo>
                    <a:pt x="804672" y="655319"/>
                  </a:moveTo>
                  <a:lnTo>
                    <a:pt x="3974592" y="655319"/>
                  </a:lnTo>
                  <a:lnTo>
                    <a:pt x="3974592" y="347472"/>
                  </a:lnTo>
                  <a:lnTo>
                    <a:pt x="804672" y="347472"/>
                  </a:lnTo>
                  <a:lnTo>
                    <a:pt x="804672" y="655319"/>
                  </a:lnTo>
                  <a:close/>
                </a:path>
              </a:pathLst>
            </a:custGeom>
            <a:ln w="28575">
              <a:solidFill>
                <a:srgbClr val="005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134606" y="3184906"/>
            <a:ext cx="3782060" cy="586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Remplissage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defaultdict</a:t>
            </a:r>
            <a:endParaRPr sz="1400">
              <a:latin typeface="Calibri"/>
              <a:cs typeface="Calibri"/>
            </a:endParaRPr>
          </a:p>
          <a:p>
            <a:pPr marL="817244">
              <a:lnSpc>
                <a:spcPct val="100000"/>
              </a:lnSpc>
              <a:spcBef>
                <a:spcPts val="106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Affichage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éléments</a:t>
            </a:r>
            <a:r>
              <a:rPr sz="1400" b="1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defaultdict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48628" y="4265676"/>
            <a:ext cx="4825365" cy="30797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clé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n’existe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alors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appeler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default_message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743201" y="3322065"/>
            <a:ext cx="7440930" cy="3119120"/>
            <a:chOff x="1743201" y="3322065"/>
            <a:chExt cx="7440930" cy="311912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1111" y="4757927"/>
              <a:ext cx="6373368" cy="167335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96412" y="4753165"/>
              <a:ext cx="6383020" cy="1683385"/>
            </a:xfrm>
            <a:custGeom>
              <a:avLst/>
              <a:gdLst/>
              <a:ahLst/>
              <a:cxnLst/>
              <a:rect l="l" t="t" r="r" b="b"/>
              <a:pathLst>
                <a:path w="6383020" h="1683385">
                  <a:moveTo>
                    <a:pt x="0" y="1682877"/>
                  </a:moveTo>
                  <a:lnTo>
                    <a:pt x="6382893" y="1682877"/>
                  </a:lnTo>
                  <a:lnTo>
                    <a:pt x="6382893" y="0"/>
                  </a:lnTo>
                  <a:lnTo>
                    <a:pt x="0" y="0"/>
                  </a:lnTo>
                  <a:lnTo>
                    <a:pt x="0" y="168287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49551" y="4074413"/>
              <a:ext cx="792480" cy="1019810"/>
            </a:xfrm>
            <a:custGeom>
              <a:avLst/>
              <a:gdLst/>
              <a:ahLst/>
              <a:cxnLst/>
              <a:rect l="l" t="t" r="r" b="b"/>
              <a:pathLst>
                <a:path w="792480" h="1019810">
                  <a:moveTo>
                    <a:pt x="0" y="0"/>
                  </a:moveTo>
                  <a:lnTo>
                    <a:pt x="0" y="198119"/>
                  </a:lnTo>
                  <a:lnTo>
                    <a:pt x="1648" y="246412"/>
                  </a:lnTo>
                  <a:lnTo>
                    <a:pt x="6532" y="294008"/>
                  </a:lnTo>
                  <a:lnTo>
                    <a:pt x="14562" y="340798"/>
                  </a:lnTo>
                  <a:lnTo>
                    <a:pt x="25648" y="386671"/>
                  </a:lnTo>
                  <a:lnTo>
                    <a:pt x="39700" y="431520"/>
                  </a:lnTo>
                  <a:lnTo>
                    <a:pt x="56627" y="475233"/>
                  </a:lnTo>
                  <a:lnTo>
                    <a:pt x="76341" y="517703"/>
                  </a:lnTo>
                  <a:lnTo>
                    <a:pt x="98749" y="558819"/>
                  </a:lnTo>
                  <a:lnTo>
                    <a:pt x="123763" y="598473"/>
                  </a:lnTo>
                  <a:lnTo>
                    <a:pt x="151293" y="636554"/>
                  </a:lnTo>
                  <a:lnTo>
                    <a:pt x="181247" y="672953"/>
                  </a:lnTo>
                  <a:lnTo>
                    <a:pt x="213537" y="707561"/>
                  </a:lnTo>
                  <a:lnTo>
                    <a:pt x="248072" y="740268"/>
                  </a:lnTo>
                  <a:lnTo>
                    <a:pt x="284762" y="770965"/>
                  </a:lnTo>
                  <a:lnTo>
                    <a:pt x="323516" y="799542"/>
                  </a:lnTo>
                  <a:lnTo>
                    <a:pt x="364246" y="825891"/>
                  </a:lnTo>
                  <a:lnTo>
                    <a:pt x="406859" y="849901"/>
                  </a:lnTo>
                  <a:lnTo>
                    <a:pt x="451268" y="871463"/>
                  </a:lnTo>
                  <a:lnTo>
                    <a:pt x="497381" y="890468"/>
                  </a:lnTo>
                  <a:lnTo>
                    <a:pt x="545108" y="906806"/>
                  </a:lnTo>
                  <a:lnTo>
                    <a:pt x="594360" y="920369"/>
                  </a:lnTo>
                  <a:lnTo>
                    <a:pt x="594360" y="1019429"/>
                  </a:lnTo>
                  <a:lnTo>
                    <a:pt x="792480" y="845058"/>
                  </a:lnTo>
                  <a:lnTo>
                    <a:pt x="594360" y="623188"/>
                  </a:lnTo>
                  <a:lnTo>
                    <a:pt x="594360" y="722249"/>
                  </a:lnTo>
                  <a:lnTo>
                    <a:pt x="545108" y="708686"/>
                  </a:lnTo>
                  <a:lnTo>
                    <a:pt x="497381" y="692348"/>
                  </a:lnTo>
                  <a:lnTo>
                    <a:pt x="451268" y="673343"/>
                  </a:lnTo>
                  <a:lnTo>
                    <a:pt x="406859" y="651781"/>
                  </a:lnTo>
                  <a:lnTo>
                    <a:pt x="364246" y="627771"/>
                  </a:lnTo>
                  <a:lnTo>
                    <a:pt x="323516" y="601422"/>
                  </a:lnTo>
                  <a:lnTo>
                    <a:pt x="284762" y="572845"/>
                  </a:lnTo>
                  <a:lnTo>
                    <a:pt x="248072" y="542148"/>
                  </a:lnTo>
                  <a:lnTo>
                    <a:pt x="213537" y="509441"/>
                  </a:lnTo>
                  <a:lnTo>
                    <a:pt x="181247" y="474833"/>
                  </a:lnTo>
                  <a:lnTo>
                    <a:pt x="151293" y="438434"/>
                  </a:lnTo>
                  <a:lnTo>
                    <a:pt x="123763" y="400353"/>
                  </a:lnTo>
                  <a:lnTo>
                    <a:pt x="98749" y="360699"/>
                  </a:lnTo>
                  <a:lnTo>
                    <a:pt x="76341" y="319583"/>
                  </a:lnTo>
                  <a:lnTo>
                    <a:pt x="56627" y="277113"/>
                  </a:lnTo>
                  <a:lnTo>
                    <a:pt x="39700" y="233400"/>
                  </a:lnTo>
                  <a:lnTo>
                    <a:pt x="25648" y="188551"/>
                  </a:lnTo>
                  <a:lnTo>
                    <a:pt x="14562" y="142678"/>
                  </a:lnTo>
                  <a:lnTo>
                    <a:pt x="6532" y="95888"/>
                  </a:lnTo>
                  <a:lnTo>
                    <a:pt x="1648" y="48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49473" y="3328415"/>
              <a:ext cx="793115" cy="845185"/>
            </a:xfrm>
            <a:custGeom>
              <a:avLst/>
              <a:gdLst/>
              <a:ahLst/>
              <a:cxnLst/>
              <a:rect l="l" t="t" r="r" b="b"/>
              <a:pathLst>
                <a:path w="793114" h="845185">
                  <a:moveTo>
                    <a:pt x="792558" y="0"/>
                  </a:moveTo>
                  <a:lnTo>
                    <a:pt x="739821" y="1635"/>
                  </a:lnTo>
                  <a:lnTo>
                    <a:pt x="687275" y="6604"/>
                  </a:lnTo>
                  <a:lnTo>
                    <a:pt x="637819" y="14326"/>
                  </a:lnTo>
                  <a:lnTo>
                    <a:pt x="589588" y="24797"/>
                  </a:lnTo>
                  <a:lnTo>
                    <a:pt x="542664" y="37917"/>
                  </a:lnTo>
                  <a:lnTo>
                    <a:pt x="497124" y="53589"/>
                  </a:lnTo>
                  <a:lnTo>
                    <a:pt x="453050" y="71714"/>
                  </a:lnTo>
                  <a:lnTo>
                    <a:pt x="410521" y="92194"/>
                  </a:lnTo>
                  <a:lnTo>
                    <a:pt x="369616" y="114931"/>
                  </a:lnTo>
                  <a:lnTo>
                    <a:pt x="330416" y="139826"/>
                  </a:lnTo>
                  <a:lnTo>
                    <a:pt x="292999" y="166782"/>
                  </a:lnTo>
                  <a:lnTo>
                    <a:pt x="257446" y="195699"/>
                  </a:lnTo>
                  <a:lnTo>
                    <a:pt x="223836" y="226481"/>
                  </a:lnTo>
                  <a:lnTo>
                    <a:pt x="192249" y="259028"/>
                  </a:lnTo>
                  <a:lnTo>
                    <a:pt x="162765" y="293243"/>
                  </a:lnTo>
                  <a:lnTo>
                    <a:pt x="135463" y="329026"/>
                  </a:lnTo>
                  <a:lnTo>
                    <a:pt x="110423" y="366280"/>
                  </a:lnTo>
                  <a:lnTo>
                    <a:pt x="87724" y="404907"/>
                  </a:lnTo>
                  <a:lnTo>
                    <a:pt x="67447" y="444809"/>
                  </a:lnTo>
                  <a:lnTo>
                    <a:pt x="49671" y="485886"/>
                  </a:lnTo>
                  <a:lnTo>
                    <a:pt x="34476" y="528042"/>
                  </a:lnTo>
                  <a:lnTo>
                    <a:pt x="21941" y="571177"/>
                  </a:lnTo>
                  <a:lnTo>
                    <a:pt x="12146" y="615193"/>
                  </a:lnTo>
                  <a:lnTo>
                    <a:pt x="5171" y="659993"/>
                  </a:lnTo>
                  <a:lnTo>
                    <a:pt x="1096" y="705477"/>
                  </a:lnTo>
                  <a:lnTo>
                    <a:pt x="0" y="751548"/>
                  </a:lnTo>
                  <a:lnTo>
                    <a:pt x="1962" y="798108"/>
                  </a:lnTo>
                  <a:lnTo>
                    <a:pt x="7063" y="845058"/>
                  </a:lnTo>
                  <a:lnTo>
                    <a:pt x="15109" y="799253"/>
                  </a:lnTo>
                  <a:lnTo>
                    <a:pt x="26008" y="754506"/>
                  </a:lnTo>
                  <a:lnTo>
                    <a:pt x="39663" y="710897"/>
                  </a:lnTo>
                  <a:lnTo>
                    <a:pt x="55979" y="668505"/>
                  </a:lnTo>
                  <a:lnTo>
                    <a:pt x="74857" y="627408"/>
                  </a:lnTo>
                  <a:lnTo>
                    <a:pt x="96203" y="587686"/>
                  </a:lnTo>
                  <a:lnTo>
                    <a:pt x="119920" y="549419"/>
                  </a:lnTo>
                  <a:lnTo>
                    <a:pt x="145912" y="512684"/>
                  </a:lnTo>
                  <a:lnTo>
                    <a:pt x="174082" y="477563"/>
                  </a:lnTo>
                  <a:lnTo>
                    <a:pt x="204334" y="444133"/>
                  </a:lnTo>
                  <a:lnTo>
                    <a:pt x="236572" y="412475"/>
                  </a:lnTo>
                  <a:lnTo>
                    <a:pt x="270699" y="382666"/>
                  </a:lnTo>
                  <a:lnTo>
                    <a:pt x="306620" y="354788"/>
                  </a:lnTo>
                  <a:lnTo>
                    <a:pt x="344237" y="328917"/>
                  </a:lnTo>
                  <a:lnTo>
                    <a:pt x="383455" y="305135"/>
                  </a:lnTo>
                  <a:lnTo>
                    <a:pt x="424178" y="283520"/>
                  </a:lnTo>
                  <a:lnTo>
                    <a:pt x="466309" y="264151"/>
                  </a:lnTo>
                  <a:lnTo>
                    <a:pt x="509751" y="247108"/>
                  </a:lnTo>
                  <a:lnTo>
                    <a:pt x="554408" y="232469"/>
                  </a:lnTo>
                  <a:lnTo>
                    <a:pt x="600185" y="220315"/>
                  </a:lnTo>
                  <a:lnTo>
                    <a:pt x="646985" y="210723"/>
                  </a:lnTo>
                  <a:lnTo>
                    <a:pt x="694711" y="203774"/>
                  </a:lnTo>
                  <a:lnTo>
                    <a:pt x="743268" y="199546"/>
                  </a:lnTo>
                  <a:lnTo>
                    <a:pt x="792558" y="198120"/>
                  </a:lnTo>
                  <a:lnTo>
                    <a:pt x="792558" y="0"/>
                  </a:lnTo>
                  <a:close/>
                </a:path>
              </a:pathLst>
            </a:custGeom>
            <a:solidFill>
              <a:srgbClr val="375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49551" y="3328415"/>
              <a:ext cx="792480" cy="1765935"/>
            </a:xfrm>
            <a:custGeom>
              <a:avLst/>
              <a:gdLst/>
              <a:ahLst/>
              <a:cxnLst/>
              <a:rect l="l" t="t" r="r" b="b"/>
              <a:pathLst>
                <a:path w="792480" h="1765935">
                  <a:moveTo>
                    <a:pt x="0" y="745998"/>
                  </a:moveTo>
                  <a:lnTo>
                    <a:pt x="1648" y="794290"/>
                  </a:lnTo>
                  <a:lnTo>
                    <a:pt x="6532" y="841886"/>
                  </a:lnTo>
                  <a:lnTo>
                    <a:pt x="14562" y="888676"/>
                  </a:lnTo>
                  <a:lnTo>
                    <a:pt x="25648" y="934549"/>
                  </a:lnTo>
                  <a:lnTo>
                    <a:pt x="39700" y="979398"/>
                  </a:lnTo>
                  <a:lnTo>
                    <a:pt x="56627" y="1023112"/>
                  </a:lnTo>
                  <a:lnTo>
                    <a:pt x="76341" y="1065581"/>
                  </a:lnTo>
                  <a:lnTo>
                    <a:pt x="98749" y="1106697"/>
                  </a:lnTo>
                  <a:lnTo>
                    <a:pt x="123763" y="1146351"/>
                  </a:lnTo>
                  <a:lnTo>
                    <a:pt x="151293" y="1184432"/>
                  </a:lnTo>
                  <a:lnTo>
                    <a:pt x="181247" y="1220831"/>
                  </a:lnTo>
                  <a:lnTo>
                    <a:pt x="213537" y="1255439"/>
                  </a:lnTo>
                  <a:lnTo>
                    <a:pt x="248072" y="1288146"/>
                  </a:lnTo>
                  <a:lnTo>
                    <a:pt x="284762" y="1318843"/>
                  </a:lnTo>
                  <a:lnTo>
                    <a:pt x="323516" y="1347420"/>
                  </a:lnTo>
                  <a:lnTo>
                    <a:pt x="364246" y="1373769"/>
                  </a:lnTo>
                  <a:lnTo>
                    <a:pt x="406859" y="1397779"/>
                  </a:lnTo>
                  <a:lnTo>
                    <a:pt x="451268" y="1419341"/>
                  </a:lnTo>
                  <a:lnTo>
                    <a:pt x="497381" y="1438346"/>
                  </a:lnTo>
                  <a:lnTo>
                    <a:pt x="545108" y="1454684"/>
                  </a:lnTo>
                  <a:lnTo>
                    <a:pt x="594360" y="1468247"/>
                  </a:lnTo>
                  <a:lnTo>
                    <a:pt x="594360" y="1369187"/>
                  </a:lnTo>
                  <a:lnTo>
                    <a:pt x="792480" y="1591056"/>
                  </a:lnTo>
                  <a:lnTo>
                    <a:pt x="594360" y="1765427"/>
                  </a:lnTo>
                  <a:lnTo>
                    <a:pt x="594360" y="1666367"/>
                  </a:lnTo>
                  <a:lnTo>
                    <a:pt x="545108" y="1652804"/>
                  </a:lnTo>
                  <a:lnTo>
                    <a:pt x="497381" y="1636466"/>
                  </a:lnTo>
                  <a:lnTo>
                    <a:pt x="451268" y="1617461"/>
                  </a:lnTo>
                  <a:lnTo>
                    <a:pt x="406859" y="1595899"/>
                  </a:lnTo>
                  <a:lnTo>
                    <a:pt x="364246" y="1571889"/>
                  </a:lnTo>
                  <a:lnTo>
                    <a:pt x="323516" y="1545540"/>
                  </a:lnTo>
                  <a:lnTo>
                    <a:pt x="284762" y="1516963"/>
                  </a:lnTo>
                  <a:lnTo>
                    <a:pt x="248072" y="1486266"/>
                  </a:lnTo>
                  <a:lnTo>
                    <a:pt x="213537" y="1453559"/>
                  </a:lnTo>
                  <a:lnTo>
                    <a:pt x="181247" y="1418951"/>
                  </a:lnTo>
                  <a:lnTo>
                    <a:pt x="151293" y="1382552"/>
                  </a:lnTo>
                  <a:lnTo>
                    <a:pt x="123763" y="1344471"/>
                  </a:lnTo>
                  <a:lnTo>
                    <a:pt x="98749" y="1304817"/>
                  </a:lnTo>
                  <a:lnTo>
                    <a:pt x="76341" y="1263701"/>
                  </a:lnTo>
                  <a:lnTo>
                    <a:pt x="56627" y="1221232"/>
                  </a:lnTo>
                  <a:lnTo>
                    <a:pt x="39700" y="1177518"/>
                  </a:lnTo>
                  <a:lnTo>
                    <a:pt x="25648" y="1132669"/>
                  </a:lnTo>
                  <a:lnTo>
                    <a:pt x="14562" y="1086796"/>
                  </a:lnTo>
                  <a:lnTo>
                    <a:pt x="6532" y="1040006"/>
                  </a:lnTo>
                  <a:lnTo>
                    <a:pt x="1648" y="992410"/>
                  </a:lnTo>
                  <a:lnTo>
                    <a:pt x="0" y="944118"/>
                  </a:lnTo>
                  <a:lnTo>
                    <a:pt x="0" y="745998"/>
                  </a:lnTo>
                  <a:lnTo>
                    <a:pt x="1559" y="698821"/>
                  </a:lnTo>
                  <a:lnTo>
                    <a:pt x="6175" y="652424"/>
                  </a:lnTo>
                  <a:lnTo>
                    <a:pt x="13754" y="606894"/>
                  </a:lnTo>
                  <a:lnTo>
                    <a:pt x="24205" y="562318"/>
                  </a:lnTo>
                  <a:lnTo>
                    <a:pt x="37433" y="518784"/>
                  </a:lnTo>
                  <a:lnTo>
                    <a:pt x="53346" y="476380"/>
                  </a:lnTo>
                  <a:lnTo>
                    <a:pt x="71852" y="435191"/>
                  </a:lnTo>
                  <a:lnTo>
                    <a:pt x="92857" y="395307"/>
                  </a:lnTo>
                  <a:lnTo>
                    <a:pt x="116269" y="356814"/>
                  </a:lnTo>
                  <a:lnTo>
                    <a:pt x="141994" y="319799"/>
                  </a:lnTo>
                  <a:lnTo>
                    <a:pt x="169941" y="284351"/>
                  </a:lnTo>
                  <a:lnTo>
                    <a:pt x="200015" y="250557"/>
                  </a:lnTo>
                  <a:lnTo>
                    <a:pt x="232124" y="218503"/>
                  </a:lnTo>
                  <a:lnTo>
                    <a:pt x="266175" y="188278"/>
                  </a:lnTo>
                  <a:lnTo>
                    <a:pt x="302076" y="159968"/>
                  </a:lnTo>
                  <a:lnTo>
                    <a:pt x="339733" y="133662"/>
                  </a:lnTo>
                  <a:lnTo>
                    <a:pt x="379054" y="109446"/>
                  </a:lnTo>
                  <a:lnTo>
                    <a:pt x="419945" y="87408"/>
                  </a:lnTo>
                  <a:lnTo>
                    <a:pt x="462314" y="67635"/>
                  </a:lnTo>
                  <a:lnTo>
                    <a:pt x="506069" y="50216"/>
                  </a:lnTo>
                  <a:lnTo>
                    <a:pt x="551115" y="35236"/>
                  </a:lnTo>
                  <a:lnTo>
                    <a:pt x="597361" y="22784"/>
                  </a:lnTo>
                  <a:lnTo>
                    <a:pt x="644713" y="12947"/>
                  </a:lnTo>
                  <a:lnTo>
                    <a:pt x="693079" y="5812"/>
                  </a:lnTo>
                  <a:lnTo>
                    <a:pt x="742365" y="1467"/>
                  </a:lnTo>
                  <a:lnTo>
                    <a:pt x="792480" y="0"/>
                  </a:lnTo>
                  <a:lnTo>
                    <a:pt x="792480" y="198120"/>
                  </a:lnTo>
                  <a:lnTo>
                    <a:pt x="743189" y="199546"/>
                  </a:lnTo>
                  <a:lnTo>
                    <a:pt x="694633" y="203774"/>
                  </a:lnTo>
                  <a:lnTo>
                    <a:pt x="646906" y="210723"/>
                  </a:lnTo>
                  <a:lnTo>
                    <a:pt x="600107" y="220315"/>
                  </a:lnTo>
                  <a:lnTo>
                    <a:pt x="554330" y="232469"/>
                  </a:lnTo>
                  <a:lnTo>
                    <a:pt x="509672" y="247108"/>
                  </a:lnTo>
                  <a:lnTo>
                    <a:pt x="466230" y="264151"/>
                  </a:lnTo>
                  <a:lnTo>
                    <a:pt x="424100" y="283520"/>
                  </a:lnTo>
                  <a:lnTo>
                    <a:pt x="383377" y="305135"/>
                  </a:lnTo>
                  <a:lnTo>
                    <a:pt x="344159" y="328917"/>
                  </a:lnTo>
                  <a:lnTo>
                    <a:pt x="306541" y="354788"/>
                  </a:lnTo>
                  <a:lnTo>
                    <a:pt x="270621" y="382666"/>
                  </a:lnTo>
                  <a:lnTo>
                    <a:pt x="236493" y="412475"/>
                  </a:lnTo>
                  <a:lnTo>
                    <a:pt x="204255" y="444133"/>
                  </a:lnTo>
                  <a:lnTo>
                    <a:pt x="174003" y="477563"/>
                  </a:lnTo>
                  <a:lnTo>
                    <a:pt x="145833" y="512684"/>
                  </a:lnTo>
                  <a:lnTo>
                    <a:pt x="119842" y="549419"/>
                  </a:lnTo>
                  <a:lnTo>
                    <a:pt x="96125" y="587686"/>
                  </a:lnTo>
                  <a:lnTo>
                    <a:pt x="74779" y="627408"/>
                  </a:lnTo>
                  <a:lnTo>
                    <a:pt x="55900" y="668505"/>
                  </a:lnTo>
                  <a:lnTo>
                    <a:pt x="39585" y="710897"/>
                  </a:lnTo>
                  <a:lnTo>
                    <a:pt x="25930" y="754506"/>
                  </a:lnTo>
                  <a:lnTo>
                    <a:pt x="15031" y="799253"/>
                  </a:lnTo>
                  <a:lnTo>
                    <a:pt x="6985" y="845058"/>
                  </a:lnTo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07363" y="5234940"/>
            <a:ext cx="1490980" cy="524510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89535" marR="186690">
              <a:lnSpc>
                <a:spcPct val="100000"/>
              </a:lnSpc>
              <a:spcBef>
                <a:spcPts val="30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Utilisation</a:t>
            </a:r>
            <a:r>
              <a:rPr sz="1400" b="1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la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lambda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160</a:t>
            </a:fld>
            <a:endParaRPr spc="-25"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3913377"/>
            <a:ext cx="52368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pouvons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également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utiliser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l'objet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Set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défaut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749427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Collections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-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defaultdict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Lorsque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fournie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défaut,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défaut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retournée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zéro.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36914" y="2761043"/>
            <a:ext cx="7057390" cy="2875280"/>
            <a:chOff x="2236914" y="2761043"/>
            <a:chExt cx="7057390" cy="287528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7119" y="2770631"/>
              <a:ext cx="4273296" cy="88696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622293" y="2765805"/>
              <a:ext cx="4283075" cy="896619"/>
            </a:xfrm>
            <a:custGeom>
              <a:avLst/>
              <a:gdLst/>
              <a:ahLst/>
              <a:cxnLst/>
              <a:rect l="l" t="t" r="r" b="b"/>
              <a:pathLst>
                <a:path w="4283075" h="896620">
                  <a:moveTo>
                    <a:pt x="0" y="896493"/>
                  </a:moveTo>
                  <a:lnTo>
                    <a:pt x="4282821" y="896493"/>
                  </a:lnTo>
                  <a:lnTo>
                    <a:pt x="4282821" y="0"/>
                  </a:lnTo>
                  <a:lnTo>
                    <a:pt x="0" y="0"/>
                  </a:lnTo>
                  <a:lnTo>
                    <a:pt x="0" y="89649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6375" y="4483607"/>
              <a:ext cx="7037832" cy="11429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41676" y="4478845"/>
              <a:ext cx="7047865" cy="1152525"/>
            </a:xfrm>
            <a:custGeom>
              <a:avLst/>
              <a:gdLst/>
              <a:ahLst/>
              <a:cxnLst/>
              <a:rect l="l" t="t" r="r" b="b"/>
              <a:pathLst>
                <a:path w="7047865" h="1152525">
                  <a:moveTo>
                    <a:pt x="0" y="1152524"/>
                  </a:moveTo>
                  <a:lnTo>
                    <a:pt x="7047357" y="1152524"/>
                  </a:lnTo>
                  <a:lnTo>
                    <a:pt x="7047357" y="0"/>
                  </a:lnTo>
                  <a:lnTo>
                    <a:pt x="0" y="0"/>
                  </a:lnTo>
                  <a:lnTo>
                    <a:pt x="0" y="1152524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Collections</a:t>
            </a:r>
            <a:endParaRPr sz="16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161</a:t>
            </a:fld>
            <a:endParaRPr spc="-25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2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631048" y="1105280"/>
            <a:ext cx="2914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Manipuler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données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127000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Collections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Fichiers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Fichiers</a:t>
            </a:r>
            <a:endParaRPr sz="1600"/>
          </a:p>
        </p:txBody>
      </p:sp>
      <p:sp>
        <p:nvSpPr>
          <p:cNvPr id="10" name="object 10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/>
              <a:t>Utilisation</a:t>
            </a:r>
            <a:r>
              <a:rPr spc="-50" dirty="0"/>
              <a:t> </a:t>
            </a:r>
            <a:r>
              <a:rPr dirty="0"/>
              <a:t>des</a:t>
            </a:r>
            <a:r>
              <a:rPr spc="-60" dirty="0"/>
              <a:t> </a:t>
            </a:r>
            <a:r>
              <a:rPr spc="-10" dirty="0"/>
              <a:t>fichiers</a:t>
            </a: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</a:rPr>
              <a:t>Python</a:t>
            </a:r>
            <a:r>
              <a:rPr sz="1400" spc="180" dirty="0">
                <a:solidFill>
                  <a:srgbClr val="555555"/>
                </a:solidFill>
              </a:rPr>
              <a:t> </a:t>
            </a:r>
            <a:r>
              <a:rPr sz="1400" dirty="0">
                <a:solidFill>
                  <a:srgbClr val="555555"/>
                </a:solidFill>
              </a:rPr>
              <a:t>a</a:t>
            </a:r>
            <a:r>
              <a:rPr sz="1400" spc="195" dirty="0">
                <a:solidFill>
                  <a:srgbClr val="555555"/>
                </a:solidFill>
              </a:rPr>
              <a:t> </a:t>
            </a:r>
            <a:r>
              <a:rPr sz="1400" dirty="0">
                <a:solidFill>
                  <a:srgbClr val="555555"/>
                </a:solidFill>
              </a:rPr>
              <a:t>plusieurs</a:t>
            </a:r>
            <a:r>
              <a:rPr sz="1400" spc="185" dirty="0">
                <a:solidFill>
                  <a:srgbClr val="555555"/>
                </a:solidFill>
              </a:rPr>
              <a:t> </a:t>
            </a:r>
            <a:r>
              <a:rPr sz="1400" dirty="0">
                <a:solidFill>
                  <a:srgbClr val="555555"/>
                </a:solidFill>
              </a:rPr>
              <a:t>fonctions</a:t>
            </a:r>
            <a:r>
              <a:rPr sz="1400" spc="185" dirty="0">
                <a:solidFill>
                  <a:srgbClr val="555555"/>
                </a:solidFill>
              </a:rPr>
              <a:t> </a:t>
            </a:r>
            <a:r>
              <a:rPr sz="1400" dirty="0">
                <a:solidFill>
                  <a:srgbClr val="555555"/>
                </a:solidFill>
              </a:rPr>
              <a:t>pour</a:t>
            </a:r>
            <a:r>
              <a:rPr sz="1400" spc="190" dirty="0">
                <a:solidFill>
                  <a:srgbClr val="555555"/>
                </a:solidFill>
              </a:rPr>
              <a:t> </a:t>
            </a:r>
            <a:r>
              <a:rPr sz="1400" dirty="0">
                <a:solidFill>
                  <a:srgbClr val="555555"/>
                </a:solidFill>
              </a:rPr>
              <a:t>créer,</a:t>
            </a:r>
            <a:r>
              <a:rPr sz="1400" spc="210" dirty="0">
                <a:solidFill>
                  <a:srgbClr val="555555"/>
                </a:solidFill>
              </a:rPr>
              <a:t> </a:t>
            </a:r>
            <a:r>
              <a:rPr sz="1400" dirty="0">
                <a:solidFill>
                  <a:srgbClr val="555555"/>
                </a:solidFill>
              </a:rPr>
              <a:t>lire,</a:t>
            </a:r>
            <a:r>
              <a:rPr sz="1400" spc="215" dirty="0">
                <a:solidFill>
                  <a:srgbClr val="555555"/>
                </a:solidFill>
              </a:rPr>
              <a:t> </a:t>
            </a:r>
            <a:r>
              <a:rPr sz="1400" dirty="0">
                <a:solidFill>
                  <a:srgbClr val="555555"/>
                </a:solidFill>
              </a:rPr>
              <a:t>mettre</a:t>
            </a:r>
            <a:r>
              <a:rPr sz="1400" spc="180" dirty="0">
                <a:solidFill>
                  <a:srgbClr val="555555"/>
                </a:solidFill>
              </a:rPr>
              <a:t> </a:t>
            </a:r>
            <a:r>
              <a:rPr sz="1400" spc="-50" dirty="0">
                <a:solidFill>
                  <a:srgbClr val="555555"/>
                </a:solidFill>
              </a:rPr>
              <a:t>à</a:t>
            </a:r>
            <a:endParaRPr sz="1400"/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</a:rPr>
              <a:t>jour</a:t>
            </a:r>
            <a:r>
              <a:rPr sz="1400" spc="-55" dirty="0">
                <a:solidFill>
                  <a:srgbClr val="555555"/>
                </a:solidFill>
              </a:rPr>
              <a:t> </a:t>
            </a:r>
            <a:r>
              <a:rPr sz="1400" dirty="0">
                <a:solidFill>
                  <a:srgbClr val="555555"/>
                </a:solidFill>
              </a:rPr>
              <a:t>et</a:t>
            </a:r>
            <a:r>
              <a:rPr sz="1400" spc="-45" dirty="0">
                <a:solidFill>
                  <a:srgbClr val="555555"/>
                </a:solidFill>
              </a:rPr>
              <a:t> </a:t>
            </a:r>
            <a:r>
              <a:rPr sz="1400" dirty="0">
                <a:solidFill>
                  <a:srgbClr val="555555"/>
                </a:solidFill>
              </a:rPr>
              <a:t>supprimer</a:t>
            </a:r>
            <a:r>
              <a:rPr sz="1400" spc="-15" dirty="0">
                <a:solidFill>
                  <a:srgbClr val="555555"/>
                </a:solidFill>
              </a:rPr>
              <a:t> </a:t>
            </a:r>
            <a:r>
              <a:rPr sz="1400" dirty="0">
                <a:solidFill>
                  <a:srgbClr val="555555"/>
                </a:solidFill>
              </a:rPr>
              <a:t>des</a:t>
            </a:r>
            <a:r>
              <a:rPr sz="1400" spc="-40" dirty="0">
                <a:solidFill>
                  <a:srgbClr val="555555"/>
                </a:solidFill>
              </a:rPr>
              <a:t> </a:t>
            </a:r>
            <a:r>
              <a:rPr sz="1400" dirty="0">
                <a:solidFill>
                  <a:srgbClr val="555555"/>
                </a:solidFill>
              </a:rPr>
              <a:t>fichiers</a:t>
            </a:r>
            <a:r>
              <a:rPr sz="1400" spc="-25" dirty="0">
                <a:solidFill>
                  <a:srgbClr val="555555"/>
                </a:solidFill>
              </a:rPr>
              <a:t> </a:t>
            </a:r>
            <a:r>
              <a:rPr sz="1400" spc="-10" dirty="0">
                <a:solidFill>
                  <a:srgbClr val="555555"/>
                </a:solidFill>
              </a:rPr>
              <a:t>texte.</a:t>
            </a:r>
            <a:endParaRPr sz="1400"/>
          </a:p>
          <a:p>
            <a:pPr marL="299085" marR="7620" indent="-287020">
              <a:lnSpc>
                <a:spcPts val="1580"/>
              </a:lnSpc>
              <a:spcBef>
                <a:spcPts val="6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clé</a:t>
            </a:r>
            <a:r>
              <a:rPr sz="1400" b="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b="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travailler</a:t>
            </a:r>
            <a:r>
              <a:rPr sz="1400" b="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b="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fichiers</a:t>
            </a:r>
            <a:r>
              <a:rPr sz="1400" b="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b="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555555"/>
                </a:solidFill>
                <a:latin typeface="Calibri"/>
                <a:cs typeface="Calibri"/>
              </a:rPr>
              <a:t>Python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555555"/>
                </a:solidFill>
                <a:latin typeface="Calibri"/>
                <a:cs typeface="Calibri"/>
              </a:rPr>
              <a:t>open().</a:t>
            </a:r>
            <a:endParaRPr sz="1400">
              <a:latin typeface="Calibri"/>
              <a:cs typeface="Calibri"/>
            </a:endParaRPr>
          </a:p>
          <a:p>
            <a:pPr marL="756285" marR="5080" lvl="1" indent="-287020">
              <a:lnSpc>
                <a:spcPts val="1610"/>
              </a:lnSpc>
              <a:spcBef>
                <a:spcPts val="61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prend</a:t>
            </a:r>
            <a:r>
              <a:rPr sz="1400" spc="3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deux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paramètres;</a:t>
            </a:r>
            <a:r>
              <a:rPr sz="1400" spc="3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b="1" spc="3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3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b="1" spc="3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et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mode.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ts val="1645"/>
              </a:lnSpc>
              <a:spcBef>
                <a:spcPts val="459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existe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quatre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(modes)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différentes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endParaRPr sz="1400">
              <a:latin typeface="Calibri"/>
              <a:cs typeface="Calibri"/>
            </a:endParaRPr>
          </a:p>
          <a:p>
            <a:pPr marL="756285">
              <a:lnSpc>
                <a:spcPts val="1645"/>
              </a:lnSpc>
            </a:pP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ouvrir</a:t>
            </a:r>
            <a:r>
              <a:rPr sz="1400" b="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555555"/>
                </a:solidFill>
                <a:latin typeface="Calibri"/>
                <a:cs typeface="Calibri"/>
              </a:rPr>
              <a:t>fichier:</a:t>
            </a:r>
            <a:endParaRPr sz="1400">
              <a:latin typeface="Calibri"/>
              <a:cs typeface="Calibri"/>
            </a:endParaRPr>
          </a:p>
          <a:p>
            <a:pPr marL="1213485" lvl="2" indent="-286385">
              <a:lnSpc>
                <a:spcPts val="1630"/>
              </a:lnSpc>
              <a:spcBef>
                <a:spcPts val="525"/>
              </a:spcBef>
              <a:buFont typeface="Arial MT"/>
              <a:buChar char="•"/>
              <a:tabLst>
                <a:tab pos="12134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"r"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-Lecture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-Par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défaut.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Ouvre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endParaRPr sz="1400">
              <a:latin typeface="Calibri"/>
              <a:cs typeface="Calibri"/>
            </a:endParaRPr>
          </a:p>
          <a:p>
            <a:pPr marL="1213485">
              <a:lnSpc>
                <a:spcPts val="1630"/>
              </a:lnSpc>
            </a:pP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lecture,</a:t>
            </a:r>
            <a:r>
              <a:rPr sz="1400" b="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erreur</a:t>
            </a:r>
            <a:r>
              <a:rPr sz="1400" b="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b="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b="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n'existe</a:t>
            </a:r>
            <a:r>
              <a:rPr sz="1400" b="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spc="-25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endParaRPr sz="1400">
              <a:latin typeface="Calibri"/>
              <a:cs typeface="Calibri"/>
            </a:endParaRPr>
          </a:p>
          <a:p>
            <a:pPr marL="1213485" marR="6350" lvl="2" indent="-287020">
              <a:lnSpc>
                <a:spcPts val="1610"/>
              </a:lnSpc>
              <a:spcBef>
                <a:spcPts val="645"/>
              </a:spcBef>
              <a:buFont typeface="Arial MT"/>
              <a:buChar char="•"/>
              <a:tabLst>
                <a:tab pos="12134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"a"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-Ajouter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-Ouvre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ajouter,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crée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s'il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n'existe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endParaRPr sz="1400">
              <a:latin typeface="Calibri"/>
              <a:cs typeface="Calibri"/>
            </a:endParaRPr>
          </a:p>
          <a:p>
            <a:pPr marL="1213485" lvl="2" indent="-286385">
              <a:lnSpc>
                <a:spcPts val="1645"/>
              </a:lnSpc>
              <a:spcBef>
                <a:spcPts val="459"/>
              </a:spcBef>
              <a:buFont typeface="Arial MT"/>
              <a:buChar char="•"/>
              <a:tabLst>
                <a:tab pos="12134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"w"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-Écrire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-Ouvre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l'écriture,</a:t>
            </a:r>
            <a:endParaRPr sz="1400">
              <a:latin typeface="Calibri"/>
              <a:cs typeface="Calibri"/>
            </a:endParaRPr>
          </a:p>
          <a:p>
            <a:pPr marL="1213485">
              <a:lnSpc>
                <a:spcPts val="1645"/>
              </a:lnSpc>
            </a:pP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crée</a:t>
            </a:r>
            <a:r>
              <a:rPr sz="1400" b="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b="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s'il</a:t>
            </a:r>
            <a:r>
              <a:rPr sz="1400" b="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n'existe</a:t>
            </a:r>
            <a:r>
              <a:rPr sz="1400" b="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spc="-25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endParaRPr sz="1400">
              <a:latin typeface="Calibri"/>
              <a:cs typeface="Calibri"/>
            </a:endParaRPr>
          </a:p>
          <a:p>
            <a:pPr marL="1213485" lvl="2" indent="-286385">
              <a:lnSpc>
                <a:spcPts val="1630"/>
              </a:lnSpc>
              <a:spcBef>
                <a:spcPts val="525"/>
              </a:spcBef>
              <a:buFont typeface="Arial MT"/>
              <a:buChar char="•"/>
              <a:tabLst>
                <a:tab pos="12134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"x"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-Créer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-Crée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spécifié,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renvoie</a:t>
            </a:r>
            <a:endParaRPr sz="1400">
              <a:latin typeface="Calibri"/>
              <a:cs typeface="Calibri"/>
            </a:endParaRPr>
          </a:p>
          <a:p>
            <a:pPr marL="1213485">
              <a:lnSpc>
                <a:spcPts val="1630"/>
              </a:lnSpc>
            </a:pP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erreur</a:t>
            </a:r>
            <a:r>
              <a:rPr sz="1400" b="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b="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b="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555555"/>
                </a:solidFill>
                <a:latin typeface="Calibri"/>
                <a:cs typeface="Calibri"/>
              </a:rPr>
              <a:t>existe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6458" y="1952370"/>
            <a:ext cx="19818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Ouvrir et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lire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53658" y="2164765"/>
            <a:ext cx="5240655" cy="78803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ouvrir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fichier,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utilisez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open()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intégrée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30"/>
              </a:lnSpc>
              <a:spcBef>
                <a:spcPts val="5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open()</a:t>
            </a:r>
            <a:r>
              <a:rPr sz="1400" b="1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renvoie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fichier,</a:t>
            </a:r>
            <a:r>
              <a:rPr sz="1400" spc="3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30"/>
              </a:lnSpc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read()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lire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contenu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96458" y="3833876"/>
            <a:ext cx="36995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Renvoyez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5</a:t>
            </a:r>
            <a:r>
              <a:rPr sz="14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premiers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caractères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098347" y="3166427"/>
            <a:ext cx="2609850" cy="1842135"/>
            <a:chOff x="7098347" y="3166427"/>
            <a:chExt cx="2609850" cy="184213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07935" y="3176015"/>
              <a:ext cx="2590800" cy="50596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103109" y="3171189"/>
              <a:ext cx="2600325" cy="515620"/>
            </a:xfrm>
            <a:custGeom>
              <a:avLst/>
              <a:gdLst/>
              <a:ahLst/>
              <a:cxnLst/>
              <a:rect l="l" t="t" r="r" b="b"/>
              <a:pathLst>
                <a:path w="2600325" h="515620">
                  <a:moveTo>
                    <a:pt x="0" y="515493"/>
                  </a:moveTo>
                  <a:lnTo>
                    <a:pt x="2600325" y="515493"/>
                  </a:lnTo>
                  <a:lnTo>
                    <a:pt x="2600325" y="0"/>
                  </a:lnTo>
                  <a:lnTo>
                    <a:pt x="0" y="0"/>
                  </a:lnTo>
                  <a:lnTo>
                    <a:pt x="0" y="51549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7935" y="4407407"/>
              <a:ext cx="2590800" cy="5913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103109" y="4402581"/>
              <a:ext cx="2600325" cy="601345"/>
            </a:xfrm>
            <a:custGeom>
              <a:avLst/>
              <a:gdLst/>
              <a:ahLst/>
              <a:cxnLst/>
              <a:rect l="l" t="t" r="r" b="b"/>
              <a:pathLst>
                <a:path w="2600325" h="601345">
                  <a:moveTo>
                    <a:pt x="0" y="600837"/>
                  </a:moveTo>
                  <a:lnTo>
                    <a:pt x="2600325" y="600837"/>
                  </a:lnTo>
                  <a:lnTo>
                    <a:pt x="2600325" y="0"/>
                  </a:lnTo>
                  <a:lnTo>
                    <a:pt x="0" y="0"/>
                  </a:lnTo>
                  <a:lnTo>
                    <a:pt x="0" y="60083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163</a:t>
            </a:fld>
            <a:endParaRPr spc="-25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3006649"/>
            <a:ext cx="7252334" cy="5867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Ecrire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écrire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existant,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vous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devez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ajouter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open():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5241925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Utilisation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fichiers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Vous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pouvez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renvoyer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utilisant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readline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():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80371" y="2416619"/>
            <a:ext cx="4804410" cy="3999865"/>
            <a:chOff x="3480371" y="2416619"/>
            <a:chExt cx="4804410" cy="399986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3712" y="2426208"/>
              <a:ext cx="2654808" cy="67360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48886" y="2421382"/>
              <a:ext cx="2664460" cy="683260"/>
            </a:xfrm>
            <a:custGeom>
              <a:avLst/>
              <a:gdLst/>
              <a:ahLst/>
              <a:cxnLst/>
              <a:rect l="l" t="t" r="r" b="b"/>
              <a:pathLst>
                <a:path w="2664459" h="683260">
                  <a:moveTo>
                    <a:pt x="0" y="683133"/>
                  </a:moveTo>
                  <a:lnTo>
                    <a:pt x="2664333" y="683133"/>
                  </a:lnTo>
                  <a:lnTo>
                    <a:pt x="2664333" y="0"/>
                  </a:lnTo>
                  <a:lnTo>
                    <a:pt x="0" y="0"/>
                  </a:lnTo>
                  <a:lnTo>
                    <a:pt x="0" y="68313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9960" y="3797808"/>
              <a:ext cx="4785360" cy="260908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485134" y="3793045"/>
              <a:ext cx="4794885" cy="2618740"/>
            </a:xfrm>
            <a:custGeom>
              <a:avLst/>
              <a:gdLst/>
              <a:ahLst/>
              <a:cxnLst/>
              <a:rect l="l" t="t" r="r" b="b"/>
              <a:pathLst>
                <a:path w="4794884" h="2618740">
                  <a:moveTo>
                    <a:pt x="0" y="2618613"/>
                  </a:moveTo>
                  <a:lnTo>
                    <a:pt x="4794885" y="2618613"/>
                  </a:lnTo>
                  <a:lnTo>
                    <a:pt x="4794885" y="0"/>
                  </a:lnTo>
                  <a:lnTo>
                    <a:pt x="0" y="0"/>
                  </a:lnTo>
                  <a:lnTo>
                    <a:pt x="0" y="26186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Fichiers</a:t>
            </a:r>
            <a:endParaRPr sz="16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164</a:t>
            </a:fld>
            <a:endParaRPr spc="-25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3564686"/>
            <a:ext cx="7863840" cy="5867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Supprimer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supprimer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fichier,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vous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devez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importer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module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exécuter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os.remove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():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6355715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Utilisation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fichiers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Fermer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recommandé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toujours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fermer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lorsque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vous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avez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terminé.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27715" y="3023171"/>
            <a:ext cx="2981960" cy="2226310"/>
            <a:chOff x="4327715" y="3023171"/>
            <a:chExt cx="2981960" cy="222631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7304" y="3032759"/>
              <a:ext cx="2962655" cy="71323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32478" y="3027933"/>
              <a:ext cx="2972435" cy="723265"/>
            </a:xfrm>
            <a:custGeom>
              <a:avLst/>
              <a:gdLst/>
              <a:ahLst/>
              <a:cxnLst/>
              <a:rect l="l" t="t" r="r" b="b"/>
              <a:pathLst>
                <a:path w="2972434" h="723264">
                  <a:moveTo>
                    <a:pt x="0" y="722757"/>
                  </a:moveTo>
                  <a:lnTo>
                    <a:pt x="2972180" y="722757"/>
                  </a:lnTo>
                  <a:lnTo>
                    <a:pt x="2972180" y="0"/>
                  </a:lnTo>
                  <a:lnTo>
                    <a:pt x="0" y="0"/>
                  </a:lnTo>
                  <a:lnTo>
                    <a:pt x="0" y="72275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7304" y="4550663"/>
              <a:ext cx="2962655" cy="68884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32478" y="4545837"/>
              <a:ext cx="2972435" cy="698500"/>
            </a:xfrm>
            <a:custGeom>
              <a:avLst/>
              <a:gdLst/>
              <a:ahLst/>
              <a:cxnLst/>
              <a:rect l="l" t="t" r="r" b="b"/>
              <a:pathLst>
                <a:path w="2972434" h="698500">
                  <a:moveTo>
                    <a:pt x="0" y="698373"/>
                  </a:moveTo>
                  <a:lnTo>
                    <a:pt x="2972180" y="698373"/>
                  </a:lnTo>
                  <a:lnTo>
                    <a:pt x="2972180" y="0"/>
                  </a:lnTo>
                  <a:lnTo>
                    <a:pt x="0" y="0"/>
                  </a:lnTo>
                  <a:lnTo>
                    <a:pt x="0" y="69837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Fichiers</a:t>
            </a:r>
            <a:endParaRPr sz="16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165</a:t>
            </a:fld>
            <a:endParaRPr spc="-25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955673"/>
            <a:ext cx="4505960" cy="420179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296545" marR="5715" indent="-284480" algn="just">
              <a:lnSpc>
                <a:spcPct val="95300"/>
              </a:lnSpc>
              <a:spcBef>
                <a:spcPts val="1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3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existe</a:t>
            </a:r>
            <a:r>
              <a:rPr sz="1400" spc="4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différents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formats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standards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stockage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données.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recommandé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favoriser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ces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formats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car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existe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déjà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modules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permettant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simplifier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leur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utilisation.</a:t>
            </a:r>
            <a:endParaRPr sz="1400">
              <a:latin typeface="Calibri"/>
              <a:cs typeface="Calibri"/>
            </a:endParaRPr>
          </a:p>
          <a:p>
            <a:pPr marL="297180" marR="5080" indent="-285115" algn="just">
              <a:lnSpc>
                <a:spcPct val="95400"/>
              </a:lnSpc>
              <a:spcBef>
                <a:spcPts val="6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Comma-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separated</a:t>
            </a:r>
            <a:r>
              <a:rPr sz="1400" b="1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values</a:t>
            </a:r>
            <a:r>
              <a:rPr sz="1400" b="1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(CSV)</a:t>
            </a:r>
            <a:r>
              <a:rPr sz="1400" b="1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format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permettant de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stocker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tableaux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 fichier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texte.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représentée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texte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colonne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séparée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séparateur</a:t>
            </a:r>
            <a:r>
              <a:rPr sz="1400" b="1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(virgule, 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point-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virgule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…).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champs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texte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également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délimités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guillemets.</a:t>
            </a:r>
            <a:endParaRPr sz="1400">
              <a:latin typeface="Calibri"/>
              <a:cs typeface="Calibri"/>
            </a:endParaRPr>
          </a:p>
          <a:p>
            <a:pPr marL="296545" marR="889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Lorsqu'un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champ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contient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lui-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guillemets,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ils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doublés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afin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considérés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début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champ.</a:t>
            </a:r>
            <a:endParaRPr sz="1400">
              <a:latin typeface="Calibri"/>
              <a:cs typeface="Calibri"/>
            </a:endParaRPr>
          </a:p>
          <a:p>
            <a:pPr marL="296545" marR="762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champ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contient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signe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pouvant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utilisé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séparateur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colonne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(virgule,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point-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virgule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…)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séparateur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ligne,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guillemets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donc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obligatoires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afin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signe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soit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confondu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avec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séparateur.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602105"/>
            <a:ext cx="99949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Format</a:t>
            </a:r>
            <a:r>
              <a:rPr sz="1600" b="1" spc="-8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CSV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6458" y="2233041"/>
            <a:ext cx="29527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sous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tableau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6458" y="4190187"/>
            <a:ext cx="318198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sous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CSV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9944" y="2761488"/>
            <a:ext cx="3581400" cy="94183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411467" y="4735067"/>
            <a:ext cx="2840990" cy="1015365"/>
          </a:xfrm>
          <a:prstGeom prst="rect">
            <a:avLst/>
          </a:prstGeom>
          <a:solidFill>
            <a:srgbClr val="D0CECE"/>
          </a:solidFill>
          <a:ln w="9525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170" marR="931544">
              <a:lnSpc>
                <a:spcPct val="100000"/>
              </a:lnSpc>
              <a:spcBef>
                <a:spcPts val="290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Nom;Prénom;Age "Dubois";"Marie";29 "Duval";"Julien</a:t>
            </a:r>
            <a:r>
              <a:rPr sz="1200" b="1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""Paul""";47 Jacquet;Bernard;51 Martin;"Lucie;Clara";14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166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Fichiers</a:t>
            </a:r>
            <a:endParaRPr sz="160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6182" y="4751654"/>
            <a:ext cx="965136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également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possible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lire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obtenir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dictionnaire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contenant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utilisant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DictReader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lieu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reader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8465820" cy="12782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Format</a:t>
            </a:r>
            <a:r>
              <a:rPr sz="1600" b="1" spc="-8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CSV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module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csv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simplifier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l'utilisation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CSV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Lecture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CSV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lire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CSV,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faut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ouvrir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flux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lecture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ouvrir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flux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lecteur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CSV.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82762" y="2742755"/>
            <a:ext cx="8629650" cy="963930"/>
            <a:chOff x="1782762" y="2742755"/>
            <a:chExt cx="8629650" cy="9639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2224" y="2752343"/>
              <a:ext cx="8610600" cy="94487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787525" y="2747517"/>
              <a:ext cx="8620125" cy="954405"/>
            </a:xfrm>
            <a:custGeom>
              <a:avLst/>
              <a:gdLst/>
              <a:ahLst/>
              <a:cxnLst/>
              <a:rect l="l" t="t" r="r" b="b"/>
              <a:pathLst>
                <a:path w="8620125" h="954404">
                  <a:moveTo>
                    <a:pt x="0" y="954404"/>
                  </a:moveTo>
                  <a:lnTo>
                    <a:pt x="8620125" y="954404"/>
                  </a:lnTo>
                  <a:lnTo>
                    <a:pt x="8620125" y="0"/>
                  </a:lnTo>
                  <a:lnTo>
                    <a:pt x="0" y="0"/>
                  </a:lnTo>
                  <a:lnTo>
                    <a:pt x="0" y="95440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90636" y="3701922"/>
            <a:ext cx="2822575" cy="1057910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['Nom</a:t>
            </a:r>
            <a:r>
              <a:rPr sz="12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',</a:t>
            </a:r>
            <a:r>
              <a:rPr sz="12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'Prenom',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'Age']</a:t>
            </a:r>
            <a:endParaRPr sz="12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['Dubois',</a:t>
            </a:r>
            <a:r>
              <a:rPr sz="12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'Marie',</a:t>
            </a:r>
            <a:r>
              <a:rPr sz="12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'29']</a:t>
            </a:r>
            <a:endParaRPr sz="12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['Duval',</a:t>
            </a:r>
            <a:r>
              <a:rPr sz="12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'Julien</a:t>
            </a:r>
            <a:r>
              <a:rPr sz="12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"Paul"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',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'47']</a:t>
            </a:r>
            <a:endParaRPr sz="12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['Jacquet',</a:t>
            </a:r>
            <a:r>
              <a:rPr sz="12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'Bernard',</a:t>
            </a:r>
            <a:r>
              <a:rPr sz="12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'51']</a:t>
            </a:r>
            <a:endParaRPr sz="12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['Martin',</a:t>
            </a:r>
            <a:r>
              <a:rPr sz="12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'Lucie;Clara',</a:t>
            </a:r>
            <a:r>
              <a:rPr sz="12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'14’]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82762" y="5364098"/>
            <a:ext cx="4490720" cy="1076960"/>
            <a:chOff x="1782762" y="5364098"/>
            <a:chExt cx="4490720" cy="107696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2224" y="5373623"/>
              <a:ext cx="4471416" cy="10576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87525" y="5368861"/>
              <a:ext cx="4481195" cy="1067435"/>
            </a:xfrm>
            <a:custGeom>
              <a:avLst/>
              <a:gdLst/>
              <a:ahLst/>
              <a:cxnLst/>
              <a:rect l="l" t="t" r="r" b="b"/>
              <a:pathLst>
                <a:path w="4481195" h="1067435">
                  <a:moveTo>
                    <a:pt x="0" y="1067181"/>
                  </a:moveTo>
                  <a:lnTo>
                    <a:pt x="4480941" y="1067181"/>
                  </a:lnTo>
                  <a:lnTo>
                    <a:pt x="4480941" y="0"/>
                  </a:lnTo>
                  <a:lnTo>
                    <a:pt x="0" y="0"/>
                  </a:lnTo>
                  <a:lnTo>
                    <a:pt x="0" y="106718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96811" y="5487923"/>
            <a:ext cx="3883660" cy="832485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{‘Nom</a:t>
            </a:r>
            <a:r>
              <a:rPr sz="12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':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'Dubois',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'Prenom':</a:t>
            </a:r>
            <a:r>
              <a:rPr sz="12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'Marie',</a:t>
            </a:r>
            <a:r>
              <a:rPr sz="12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'Age':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'29'}</a:t>
            </a:r>
            <a:endParaRPr sz="12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{'Nom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':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'Duval',</a:t>
            </a:r>
            <a:r>
              <a:rPr sz="12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'Prenom':</a:t>
            </a:r>
            <a:r>
              <a:rPr sz="12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'Julien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"Paul"</a:t>
            </a:r>
            <a:r>
              <a:rPr sz="12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',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'Age':</a:t>
            </a:r>
            <a:r>
              <a:rPr sz="12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'47'}</a:t>
            </a:r>
            <a:endParaRPr sz="12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{'Nom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':</a:t>
            </a:r>
            <a:r>
              <a:rPr sz="12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'Jacquet',</a:t>
            </a:r>
            <a:r>
              <a:rPr sz="12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'Prenom':</a:t>
            </a:r>
            <a:r>
              <a:rPr sz="12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'Bernard',</a:t>
            </a:r>
            <a:r>
              <a:rPr sz="12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'Age':</a:t>
            </a:r>
            <a:r>
              <a:rPr sz="12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'51'}</a:t>
            </a:r>
            <a:endParaRPr sz="12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{‘Nom</a:t>
            </a:r>
            <a:r>
              <a:rPr sz="12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':</a:t>
            </a:r>
            <a:r>
              <a:rPr sz="12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'Martin',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'Prenom':</a:t>
            </a:r>
            <a:r>
              <a:rPr sz="12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'Lucie;Clara',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'Age':</a:t>
            </a:r>
            <a:r>
              <a:rPr sz="12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555555"/>
                </a:solidFill>
                <a:latin typeface="Calibri"/>
                <a:cs typeface="Calibri"/>
              </a:rPr>
              <a:t>'14'}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167</a:t>
            </a:fld>
            <a:endParaRPr spc="-25" dirty="0"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Fichiers</a:t>
            </a:r>
            <a:endParaRPr sz="160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7743825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Format</a:t>
            </a:r>
            <a:r>
              <a:rPr sz="1600" b="1" spc="-8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CSV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Écriture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CSV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l'instar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lecture,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ouvre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flux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d'écriture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ouvre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écrivain CSV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partir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flux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21218" y="2706179"/>
            <a:ext cx="8861425" cy="1445895"/>
            <a:chOff x="1621218" y="2706179"/>
            <a:chExt cx="8861425" cy="144589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0679" y="2715768"/>
              <a:ext cx="8842248" cy="142646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25980" y="2710942"/>
              <a:ext cx="8851900" cy="1436370"/>
            </a:xfrm>
            <a:custGeom>
              <a:avLst/>
              <a:gdLst/>
              <a:ahLst/>
              <a:cxnLst/>
              <a:rect l="l" t="t" r="r" b="b"/>
              <a:pathLst>
                <a:path w="8851900" h="1436370">
                  <a:moveTo>
                    <a:pt x="0" y="1435988"/>
                  </a:moveTo>
                  <a:lnTo>
                    <a:pt x="8851773" y="1435988"/>
                  </a:lnTo>
                  <a:lnTo>
                    <a:pt x="8851773" y="0"/>
                  </a:lnTo>
                  <a:lnTo>
                    <a:pt x="0" y="0"/>
                  </a:lnTo>
                  <a:lnTo>
                    <a:pt x="0" y="143598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32204" y="4396740"/>
            <a:ext cx="2920365" cy="1018540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Nom;Prénom;Téléphone</a:t>
            </a:r>
            <a:endParaRPr sz="1200">
              <a:latin typeface="Calibri"/>
              <a:cs typeface="Calibri"/>
            </a:endParaRPr>
          </a:p>
          <a:p>
            <a:pPr marL="91440" marR="527685">
              <a:lnSpc>
                <a:spcPct val="100000"/>
              </a:lnSpc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Dubois;Marie;0198546372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Duval;"Julien</a:t>
            </a:r>
            <a:r>
              <a:rPr sz="12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""Paul""";0399741052 Jacquet;Bernard;0200749685 Martin;"Julie;Clara";0399731590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168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Fichiers</a:t>
            </a:r>
            <a:endParaRPr sz="160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476758"/>
            <a:ext cx="10676890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Format</a:t>
            </a:r>
            <a:r>
              <a:rPr sz="1600" b="1" spc="-8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CSV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également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possible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d'écrire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fournissant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dictionnaire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condition que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dictionnaire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possède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clés.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faut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également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fournir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clés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dictionnaires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l'argument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fieldnames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72778" y="2818955"/>
            <a:ext cx="6475095" cy="1863089"/>
            <a:chOff x="2672778" y="2818955"/>
            <a:chExt cx="6475095" cy="1863089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2240" y="2828543"/>
              <a:ext cx="6455664" cy="184403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77541" y="2823717"/>
              <a:ext cx="6465570" cy="1853564"/>
            </a:xfrm>
            <a:custGeom>
              <a:avLst/>
              <a:gdLst/>
              <a:ahLst/>
              <a:cxnLst/>
              <a:rect l="l" t="t" r="r" b="b"/>
              <a:pathLst>
                <a:path w="6465570" h="1853564">
                  <a:moveTo>
                    <a:pt x="0" y="1853564"/>
                  </a:moveTo>
                  <a:lnTo>
                    <a:pt x="6465188" y="1853564"/>
                  </a:lnTo>
                  <a:lnTo>
                    <a:pt x="6465188" y="0"/>
                  </a:lnTo>
                  <a:lnTo>
                    <a:pt x="0" y="0"/>
                  </a:lnTo>
                  <a:lnTo>
                    <a:pt x="0" y="185356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08148" y="4808220"/>
            <a:ext cx="3331845" cy="1198245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reference;quantite;produit;prixUnitaire</a:t>
            </a:r>
            <a:endParaRPr sz="1200">
              <a:latin typeface="Calibri"/>
              <a:cs typeface="Calibri"/>
            </a:endParaRPr>
          </a:p>
          <a:p>
            <a:pPr marL="91440" marR="1551940">
              <a:lnSpc>
                <a:spcPct val="100000"/>
              </a:lnSpc>
            </a:pP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F452CP;41;cahier;1.6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D857BL;18;stylo</a:t>
            </a:r>
            <a:r>
              <a:rPr sz="12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bleu;0.95 </a:t>
            </a:r>
            <a:r>
              <a:rPr sz="1200" b="1" dirty="0">
                <a:solidFill>
                  <a:srgbClr val="555555"/>
                </a:solidFill>
                <a:latin typeface="Calibri"/>
                <a:cs typeface="Calibri"/>
              </a:rPr>
              <a:t>D857NO;18;stylo</a:t>
            </a:r>
            <a:r>
              <a:rPr sz="12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55555"/>
                </a:solidFill>
                <a:latin typeface="Calibri"/>
                <a:cs typeface="Calibri"/>
              </a:rPr>
              <a:t>noir;0.95 GF955K;4;équerre;5.1 RT42AX;13;compas;5.25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169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0" y="0"/>
            <a:ext cx="0" cy="4372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err="1"/>
              <a:t>Copyriht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Fichiers</a:t>
            </a:r>
            <a:endParaRPr sz="160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170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798982" y="1955673"/>
            <a:ext cx="4502150" cy="2781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7180" indent="-284480" algn="just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format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JavaScript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Object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Notation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(JSON) est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issu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notation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langage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JavaScript.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s'agit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aujourd'hui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format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très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répandu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permettant</a:t>
            </a:r>
            <a:r>
              <a:rPr sz="1400" spc="4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stocker</a:t>
            </a:r>
            <a:r>
              <a:rPr sz="14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48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4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sous</a:t>
            </a:r>
            <a:r>
              <a:rPr sz="1400" spc="45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4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forme 	structurée.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comporte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associations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clés</a:t>
            </a:r>
            <a:r>
              <a:rPr sz="1400" b="1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→</a:t>
            </a:r>
            <a:r>
              <a:rPr sz="1400" b="1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valeurs</a:t>
            </a:r>
            <a:r>
              <a:rPr sz="1400" b="1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(à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l'instar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dictionnaires),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ainsi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listes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ordonnées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valeurs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(comme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Python).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autre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association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clés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→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valeurs,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valeurs,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entier,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réel,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caractères,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booléen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nulle.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similaire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dictionnaires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Python.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602105"/>
            <a:ext cx="11144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Format</a:t>
            </a:r>
            <a:r>
              <a:rPr sz="1600" b="1" spc="-8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JSON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6458" y="1952370"/>
            <a:ext cx="20872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JSON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72300" y="2671572"/>
            <a:ext cx="3343910" cy="2914015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90170">
              <a:lnSpc>
                <a:spcPts val="1180"/>
              </a:lnSpc>
              <a:spcBef>
                <a:spcPts val="125"/>
              </a:spcBef>
            </a:pPr>
            <a:r>
              <a:rPr sz="1050" b="1" spc="-50" dirty="0">
                <a:solidFill>
                  <a:srgbClr val="555555"/>
                </a:solidFill>
                <a:latin typeface="Calibri"/>
                <a:cs typeface="Calibri"/>
              </a:rPr>
              <a:t>{</a:t>
            </a:r>
            <a:endParaRPr sz="1050">
              <a:latin typeface="Calibri"/>
              <a:cs typeface="Calibri"/>
            </a:endParaRPr>
          </a:p>
          <a:p>
            <a:pPr marL="212090">
              <a:lnSpc>
                <a:spcPts val="1105"/>
              </a:lnSpc>
            </a:pP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"Dijon":{</a:t>
            </a:r>
            <a:endParaRPr sz="1050">
              <a:latin typeface="Calibri"/>
              <a:cs typeface="Calibri"/>
            </a:endParaRPr>
          </a:p>
          <a:p>
            <a:pPr marL="1004569" marR="476250">
              <a:lnSpc>
                <a:spcPts val="1110"/>
              </a:lnSpc>
              <a:spcBef>
                <a:spcPts val="80"/>
              </a:spcBef>
            </a:pP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"nomDepartement":</a:t>
            </a:r>
            <a:r>
              <a:rPr sz="105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555555"/>
                </a:solidFill>
                <a:latin typeface="Calibri"/>
                <a:cs typeface="Calibri"/>
              </a:rPr>
              <a:t>"Côte</a:t>
            </a:r>
            <a:r>
              <a:rPr sz="1050" b="1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d'Or", "codePostal":</a:t>
            </a:r>
            <a:r>
              <a:rPr sz="1050" b="1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21000, "population":</a:t>
            </a:r>
            <a:r>
              <a:rPr sz="105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spc="-50" dirty="0">
                <a:solidFill>
                  <a:srgbClr val="555555"/>
                </a:solidFill>
                <a:latin typeface="Calibri"/>
                <a:cs typeface="Calibri"/>
              </a:rPr>
              <a:t>{</a:t>
            </a:r>
            <a:endParaRPr sz="1050">
              <a:latin typeface="Calibri"/>
              <a:cs typeface="Calibri"/>
            </a:endParaRPr>
          </a:p>
          <a:p>
            <a:pPr marL="1918970">
              <a:lnSpc>
                <a:spcPts val="990"/>
              </a:lnSpc>
            </a:pPr>
            <a:r>
              <a:rPr sz="1050" b="1" dirty="0">
                <a:solidFill>
                  <a:srgbClr val="555555"/>
                </a:solidFill>
                <a:latin typeface="Calibri"/>
                <a:cs typeface="Calibri"/>
              </a:rPr>
              <a:t>"2006":</a:t>
            </a:r>
            <a:r>
              <a:rPr sz="105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151504,</a:t>
            </a:r>
            <a:endParaRPr sz="1050">
              <a:latin typeface="Calibri"/>
              <a:cs typeface="Calibri"/>
            </a:endParaRPr>
          </a:p>
          <a:p>
            <a:pPr marL="1918970">
              <a:lnSpc>
                <a:spcPts val="1090"/>
              </a:lnSpc>
            </a:pPr>
            <a:r>
              <a:rPr sz="1050" b="1" dirty="0">
                <a:solidFill>
                  <a:srgbClr val="555555"/>
                </a:solidFill>
                <a:latin typeface="Calibri"/>
                <a:cs typeface="Calibri"/>
              </a:rPr>
              <a:t>"2011":</a:t>
            </a:r>
            <a:r>
              <a:rPr sz="105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151672,</a:t>
            </a:r>
            <a:endParaRPr sz="1050">
              <a:latin typeface="Calibri"/>
              <a:cs typeface="Calibri"/>
            </a:endParaRPr>
          </a:p>
          <a:p>
            <a:pPr marL="1918970">
              <a:lnSpc>
                <a:spcPts val="1105"/>
              </a:lnSpc>
            </a:pPr>
            <a:r>
              <a:rPr sz="1050" b="1" dirty="0">
                <a:solidFill>
                  <a:srgbClr val="555555"/>
                </a:solidFill>
                <a:latin typeface="Calibri"/>
                <a:cs typeface="Calibri"/>
              </a:rPr>
              <a:t>"2014":</a:t>
            </a:r>
            <a:r>
              <a:rPr sz="105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153668</a:t>
            </a:r>
            <a:endParaRPr sz="1050">
              <a:latin typeface="Calibri"/>
              <a:cs typeface="Calibri"/>
            </a:endParaRPr>
          </a:p>
          <a:p>
            <a:pPr marL="1004569">
              <a:lnSpc>
                <a:spcPts val="1105"/>
              </a:lnSpc>
            </a:pPr>
            <a:r>
              <a:rPr sz="1050" b="1" spc="-50" dirty="0">
                <a:solidFill>
                  <a:srgbClr val="555555"/>
                </a:solidFill>
                <a:latin typeface="Calibri"/>
                <a:cs typeface="Calibri"/>
              </a:rPr>
              <a:t>}</a:t>
            </a:r>
            <a:endParaRPr sz="1050">
              <a:latin typeface="Calibri"/>
              <a:cs typeface="Calibri"/>
            </a:endParaRPr>
          </a:p>
          <a:p>
            <a:pPr marL="212090">
              <a:lnSpc>
                <a:spcPts val="1105"/>
              </a:lnSpc>
            </a:pPr>
            <a:r>
              <a:rPr sz="1050" b="1" spc="-25" dirty="0">
                <a:solidFill>
                  <a:srgbClr val="555555"/>
                </a:solidFill>
                <a:latin typeface="Calibri"/>
                <a:cs typeface="Calibri"/>
              </a:rPr>
              <a:t>},</a:t>
            </a:r>
            <a:endParaRPr sz="1050">
              <a:latin typeface="Calibri"/>
              <a:cs typeface="Calibri"/>
            </a:endParaRPr>
          </a:p>
          <a:p>
            <a:pPr marL="212090">
              <a:lnSpc>
                <a:spcPts val="1105"/>
              </a:lnSpc>
            </a:pP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"Troyes":{</a:t>
            </a:r>
            <a:endParaRPr sz="1050">
              <a:latin typeface="Calibri"/>
              <a:cs typeface="Calibri"/>
            </a:endParaRPr>
          </a:p>
          <a:p>
            <a:pPr marL="1004569" marR="711200">
              <a:lnSpc>
                <a:spcPct val="86800"/>
              </a:lnSpc>
              <a:spcBef>
                <a:spcPts val="90"/>
              </a:spcBef>
            </a:pP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"nomDepartement":</a:t>
            </a:r>
            <a:r>
              <a:rPr sz="1050" b="1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"Aube", "codePostal":</a:t>
            </a:r>
            <a:r>
              <a:rPr sz="1050" b="1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10000, "population":</a:t>
            </a:r>
            <a:r>
              <a:rPr sz="105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spc="-50" dirty="0">
                <a:solidFill>
                  <a:srgbClr val="555555"/>
                </a:solidFill>
                <a:latin typeface="Calibri"/>
                <a:cs typeface="Calibri"/>
              </a:rPr>
              <a:t>{</a:t>
            </a:r>
            <a:endParaRPr sz="1050">
              <a:latin typeface="Calibri"/>
              <a:cs typeface="Calibri"/>
            </a:endParaRPr>
          </a:p>
          <a:p>
            <a:pPr marL="1918970">
              <a:lnSpc>
                <a:spcPts val="1025"/>
              </a:lnSpc>
            </a:pPr>
            <a:r>
              <a:rPr sz="1050" b="1" dirty="0">
                <a:solidFill>
                  <a:srgbClr val="555555"/>
                </a:solidFill>
                <a:latin typeface="Calibri"/>
                <a:cs typeface="Calibri"/>
              </a:rPr>
              <a:t>"2006":</a:t>
            </a:r>
            <a:r>
              <a:rPr sz="105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61344,</a:t>
            </a:r>
            <a:endParaRPr sz="1050">
              <a:latin typeface="Calibri"/>
              <a:cs typeface="Calibri"/>
            </a:endParaRPr>
          </a:p>
          <a:p>
            <a:pPr marL="1918970">
              <a:lnSpc>
                <a:spcPts val="1105"/>
              </a:lnSpc>
            </a:pPr>
            <a:r>
              <a:rPr sz="1050" b="1" dirty="0">
                <a:solidFill>
                  <a:srgbClr val="555555"/>
                </a:solidFill>
                <a:latin typeface="Calibri"/>
                <a:cs typeface="Calibri"/>
              </a:rPr>
              <a:t>"2011":</a:t>
            </a:r>
            <a:r>
              <a:rPr sz="105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60013,</a:t>
            </a:r>
            <a:endParaRPr sz="1050">
              <a:latin typeface="Calibri"/>
              <a:cs typeface="Calibri"/>
            </a:endParaRPr>
          </a:p>
          <a:p>
            <a:pPr marL="1918970">
              <a:lnSpc>
                <a:spcPts val="1105"/>
              </a:lnSpc>
            </a:pPr>
            <a:r>
              <a:rPr sz="1050" b="1" dirty="0">
                <a:solidFill>
                  <a:srgbClr val="555555"/>
                </a:solidFill>
                <a:latin typeface="Calibri"/>
                <a:cs typeface="Calibri"/>
              </a:rPr>
              <a:t>"2014":</a:t>
            </a:r>
            <a:r>
              <a:rPr sz="105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555555"/>
                </a:solidFill>
                <a:latin typeface="Calibri"/>
                <a:cs typeface="Calibri"/>
              </a:rPr>
              <a:t>60750</a:t>
            </a:r>
            <a:endParaRPr sz="1050">
              <a:latin typeface="Calibri"/>
              <a:cs typeface="Calibri"/>
            </a:endParaRPr>
          </a:p>
          <a:p>
            <a:pPr marL="1004569">
              <a:lnSpc>
                <a:spcPts val="1095"/>
              </a:lnSpc>
            </a:pPr>
            <a:r>
              <a:rPr sz="1050" b="1" spc="-50" dirty="0">
                <a:solidFill>
                  <a:srgbClr val="555555"/>
                </a:solidFill>
                <a:latin typeface="Calibri"/>
                <a:cs typeface="Calibri"/>
              </a:rPr>
              <a:t>}</a:t>
            </a:r>
            <a:endParaRPr sz="1050">
              <a:latin typeface="Calibri"/>
              <a:cs typeface="Calibri"/>
            </a:endParaRPr>
          </a:p>
          <a:p>
            <a:pPr marL="212090">
              <a:lnSpc>
                <a:spcPts val="1090"/>
              </a:lnSpc>
            </a:pPr>
            <a:r>
              <a:rPr sz="1050" b="1" spc="-50" dirty="0">
                <a:solidFill>
                  <a:srgbClr val="555555"/>
                </a:solidFill>
                <a:latin typeface="Calibri"/>
                <a:cs typeface="Calibri"/>
              </a:rPr>
              <a:t>}</a:t>
            </a:r>
            <a:endParaRPr sz="1050">
              <a:latin typeface="Calibri"/>
              <a:cs typeface="Calibri"/>
            </a:endParaRPr>
          </a:p>
          <a:p>
            <a:pPr marL="90170">
              <a:lnSpc>
                <a:spcPts val="1180"/>
              </a:lnSpc>
            </a:pPr>
            <a:r>
              <a:rPr sz="1050" b="1" spc="-50" dirty="0">
                <a:solidFill>
                  <a:srgbClr val="555555"/>
                </a:solidFill>
                <a:latin typeface="Calibri"/>
                <a:cs typeface="Calibri"/>
              </a:rPr>
              <a:t>}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Fichiers</a:t>
            </a:r>
            <a:endParaRPr sz="160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4403689"/>
            <a:ext cx="10128885" cy="106807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Écrire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JSON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ts val="1645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dumps(variable,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sort_keys=False)</a:t>
            </a:r>
            <a:r>
              <a:rPr sz="140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transforme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dictionnaire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texte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JSON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fournissant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en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argument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endParaRPr sz="1400">
              <a:latin typeface="Calibri"/>
              <a:cs typeface="Calibri"/>
            </a:endParaRPr>
          </a:p>
          <a:p>
            <a:pPr marL="7562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variable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transformer.</a:t>
            </a:r>
            <a:endParaRPr sz="1400">
              <a:latin typeface="Calibri"/>
              <a:cs typeface="Calibri"/>
            </a:endParaRPr>
          </a:p>
          <a:p>
            <a:pPr marL="796290" lvl="1" indent="-326390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79629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variable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sort_keys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trier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clés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l'ordre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alphabétique.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0240645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Format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JSON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Lire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JSON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loads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(texteJSON)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décoder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texte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JSON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passé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argument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transformer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dictionnaire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liste.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40674" y="2581211"/>
            <a:ext cx="7545070" cy="3896360"/>
            <a:chOff x="1840674" y="2581211"/>
            <a:chExt cx="7545070" cy="389636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0615" y="2590799"/>
              <a:ext cx="3291839" cy="9631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75916" y="2585973"/>
              <a:ext cx="3301365" cy="972819"/>
            </a:xfrm>
            <a:custGeom>
              <a:avLst/>
              <a:gdLst/>
              <a:ahLst/>
              <a:cxnLst/>
              <a:rect l="l" t="t" r="r" b="b"/>
              <a:pathLst>
                <a:path w="3301365" h="972820">
                  <a:moveTo>
                    <a:pt x="0" y="972692"/>
                  </a:moveTo>
                  <a:lnTo>
                    <a:pt x="3301364" y="972692"/>
                  </a:lnTo>
                  <a:lnTo>
                    <a:pt x="3301364" y="0"/>
                  </a:lnTo>
                  <a:lnTo>
                    <a:pt x="0" y="0"/>
                  </a:lnTo>
                  <a:lnTo>
                    <a:pt x="0" y="97269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0135" y="5553455"/>
              <a:ext cx="7525511" cy="9144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45436" y="5548693"/>
              <a:ext cx="7535545" cy="923925"/>
            </a:xfrm>
            <a:custGeom>
              <a:avLst/>
              <a:gdLst/>
              <a:ahLst/>
              <a:cxnLst/>
              <a:rect l="l" t="t" r="r" b="b"/>
              <a:pathLst>
                <a:path w="7535545" h="923925">
                  <a:moveTo>
                    <a:pt x="0" y="923925"/>
                  </a:moveTo>
                  <a:lnTo>
                    <a:pt x="7535036" y="923925"/>
                  </a:lnTo>
                  <a:lnTo>
                    <a:pt x="7535036" y="0"/>
                  </a:lnTo>
                  <a:lnTo>
                    <a:pt x="0" y="0"/>
                  </a:lnTo>
                  <a:lnTo>
                    <a:pt x="0" y="9239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851660" y="3656076"/>
            <a:ext cx="6099175" cy="646430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75"/>
              </a:spcBef>
            </a:pPr>
            <a:r>
              <a:rPr sz="1200" spc="-20" dirty="0">
                <a:latin typeface="Calibri"/>
                <a:cs typeface="Calibri"/>
              </a:rPr>
              <a:t>{'Troyes':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{'population':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{'2006':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61344,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'2011':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60013,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'2014':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60750},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'codePostal':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10000,</a:t>
            </a:r>
            <a:endParaRPr sz="12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'nomDepartement':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'Aube'},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'Dijon':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{'population':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{'2006':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151504,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'2011':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151672,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'2014':</a:t>
            </a:r>
            <a:endParaRPr sz="12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153668},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'codePostal': </a:t>
            </a:r>
            <a:r>
              <a:rPr sz="1200" dirty="0">
                <a:latin typeface="Calibri"/>
                <a:cs typeface="Calibri"/>
              </a:rPr>
              <a:t>21000,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'nomDepartement':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"Côte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d'Or"}}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171</a:t>
            </a:fld>
            <a:endParaRPr spc="-25" dirty="0"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02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Manipuler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données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Fichiers</a:t>
            </a:r>
            <a:endParaRPr sz="160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0479" y="2358897"/>
            <a:ext cx="4896485" cy="161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que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apprendre</a:t>
            </a:r>
            <a:r>
              <a:rPr sz="18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chapitre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Connaitre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expressions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régulières</a:t>
            </a:r>
            <a:endParaRPr sz="16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fonctions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expressions</a:t>
            </a:r>
            <a:r>
              <a:rPr sz="16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régulières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à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savoir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recherche,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division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de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substitution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7" name="object 7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3</a:t>
            </a:r>
            <a:endParaRPr sz="2800"/>
          </a:p>
        </p:txBody>
      </p:sp>
      <p:sp>
        <p:nvSpPr>
          <p:cNvPr id="10" name="object 10"/>
          <p:cNvSpPr txBox="1"/>
          <p:nvPr/>
        </p:nvSpPr>
        <p:spPr>
          <a:xfrm>
            <a:off x="6978522" y="1105280"/>
            <a:ext cx="4222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Utiliser</a:t>
            </a:r>
            <a:r>
              <a:rPr sz="2400" b="1" spc="-9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7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expressions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régulières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93277" y="6263436"/>
            <a:ext cx="12655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3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6978522" y="1105280"/>
            <a:ext cx="4222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Utiliser</a:t>
            </a:r>
            <a:r>
              <a:rPr sz="2400" b="1" spc="-9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7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expressions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régulières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3672204" cy="6654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Création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expressions</a:t>
            </a:r>
            <a:r>
              <a:rPr sz="1600" b="1" spc="-7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régulières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Manipulation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 des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expressions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régulières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174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03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Utiliser les</a:t>
            </a:r>
            <a:r>
              <a:rPr spc="-10" dirty="0">
                <a:solidFill>
                  <a:srgbClr val="0058A0"/>
                </a:solidFill>
              </a:rPr>
              <a:t> expressions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régulières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Création</a:t>
            </a:r>
            <a:r>
              <a:rPr sz="1600" spc="-1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expressions</a:t>
            </a:r>
            <a:r>
              <a:rPr sz="1600" spc="-8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régulières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1085494" y="2159584"/>
            <a:ext cx="421322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3115" algn="l"/>
                <a:tab pos="1774825" algn="l"/>
                <a:tab pos="2113280" algn="l"/>
                <a:tab pos="2774315" algn="l"/>
                <a:tab pos="3950970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générale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permettant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décrire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abstraitement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2299258"/>
            <a:ext cx="4501515" cy="106553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605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éléments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textuels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expression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régulière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gauche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droite.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64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constitue</a:t>
            </a:r>
            <a:r>
              <a:rPr sz="1400" spc="4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qu'on</a:t>
            </a:r>
            <a:r>
              <a:rPr sz="1400" spc="4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appelle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traditionnellement</a:t>
            </a:r>
            <a:r>
              <a:rPr sz="1400" spc="43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motif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recherche.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98950" y="3403803"/>
            <a:ext cx="100203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45"/>
              </a:lnSpc>
              <a:spcBef>
                <a:spcPts val="9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contexte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endParaRPr sz="1400">
              <a:latin typeface="Calibri"/>
              <a:cs typeface="Calibri"/>
            </a:endParaRPr>
          </a:p>
          <a:p>
            <a:pPr marL="52069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significations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3403803"/>
            <a:ext cx="4507230" cy="181483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97180" marR="1087755" indent="-285115" algn="just">
              <a:lnSpc>
                <a:spcPct val="95800"/>
              </a:lnSpc>
              <a:spcBef>
                <a:spcPts val="16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Elles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utilisent</a:t>
            </a:r>
            <a:r>
              <a:rPr sz="1400" spc="3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six</a:t>
            </a:r>
            <a:r>
              <a:rPr sz="1400" b="1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symboles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qui,</a:t>
            </a:r>
            <a:r>
              <a:rPr sz="1400" spc="3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expressions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régulières,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acquièrent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les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2700" algn="just">
              <a:lnSpc>
                <a:spcPts val="1645"/>
              </a:lnSpc>
              <a:spcBef>
                <a:spcPts val="50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1.</a:t>
            </a:r>
            <a:r>
              <a:rPr sz="1400" b="1" spc="45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point</a:t>
            </a:r>
            <a:r>
              <a:rPr sz="1400" b="1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r>
              <a:rPr sz="1400" b="1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représente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seule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instance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n'importe</a:t>
            </a:r>
            <a:endParaRPr sz="1400">
              <a:latin typeface="Calibri"/>
              <a:cs typeface="Calibri"/>
            </a:endParaRPr>
          </a:p>
          <a:p>
            <a:pPr marL="356870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quel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caractère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sauf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caractère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ligne.</a:t>
            </a:r>
            <a:endParaRPr sz="1400">
              <a:latin typeface="Calibri"/>
              <a:cs typeface="Calibri"/>
            </a:endParaRPr>
          </a:p>
          <a:p>
            <a:pPr marL="12700" marR="5080" algn="just">
              <a:lnSpc>
                <a:spcPct val="95100"/>
              </a:lnSpc>
              <a:spcBef>
                <a:spcPts val="61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l'expression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t.c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représente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combinaisons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trois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lettres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commençant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«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»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finissant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«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»,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tic,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tac,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tqc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t9c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6458" y="1952370"/>
            <a:ext cx="5702300" cy="3820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ts val="1645"/>
              </a:lnSpc>
              <a:spcBef>
                <a:spcPts val="90"/>
              </a:spcBef>
              <a:buAutoNum type="arabicPeriod" startAt="2"/>
              <a:tabLst>
                <a:tab pos="356870" algn="l"/>
                <a:tab pos="237807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3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paire</a:t>
            </a:r>
            <a:r>
              <a:rPr sz="1400" b="1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crochets</a:t>
            </a:r>
            <a:r>
              <a:rPr sz="1400" b="1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[</a:t>
            </a:r>
            <a:r>
              <a:rPr sz="1400" b="1" spc="3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]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représente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occurrence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quelconque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endParaRPr sz="1400">
              <a:latin typeface="Calibri"/>
              <a:cs typeface="Calibri"/>
            </a:endParaRPr>
          </a:p>
          <a:p>
            <a:pPr marL="356870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caractères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qu'elle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contient.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580"/>
              </a:lnSpc>
              <a:spcBef>
                <a:spcPts val="66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[aeiouy]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représente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voyelle,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Duran[dt]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désigne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Durand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ou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Durant.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Entre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crochets,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noter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intervalle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utilisant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tiret.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30"/>
              </a:lnSpc>
              <a:spcBef>
                <a:spcPts val="53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[0-9]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représente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chiffres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0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9,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[a-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zA-Z]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représente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lettre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minuscule ou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majuscule.</a:t>
            </a:r>
            <a:endParaRPr sz="1400">
              <a:latin typeface="Calibri"/>
              <a:cs typeface="Calibri"/>
            </a:endParaRPr>
          </a:p>
          <a:p>
            <a:pPr marL="756285" marR="298450" lvl="1" indent="-287020">
              <a:lnSpc>
                <a:spcPts val="1610"/>
              </a:lnSpc>
              <a:spcBef>
                <a:spcPts val="64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utiliser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l'accent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circonflexe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première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position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crochets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indiquer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contraire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45"/>
              </a:lnSpc>
              <a:spcBef>
                <a:spcPts val="459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[^a-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z]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représente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autre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chose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qu'une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lettre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minuscule, et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[^'"]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n'est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ni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apostrophe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ni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guillemet.</a:t>
            </a:r>
            <a:endParaRPr sz="1400">
              <a:latin typeface="Calibri"/>
              <a:cs typeface="Calibri"/>
            </a:endParaRPr>
          </a:p>
          <a:p>
            <a:pPr marL="356870" indent="-344170">
              <a:lnSpc>
                <a:spcPts val="1630"/>
              </a:lnSpc>
              <a:spcBef>
                <a:spcPts val="530"/>
              </a:spcBef>
              <a:buAutoNum type="arabicPeriod" startAt="3"/>
              <a:tabLst>
                <a:tab pos="356870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l'astérisque</a:t>
            </a:r>
            <a:r>
              <a:rPr sz="1400" b="1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*</a:t>
            </a:r>
            <a:r>
              <a:rPr sz="1400" b="1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45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quantificateur,</a:t>
            </a:r>
            <a:r>
              <a:rPr sz="1400" spc="4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4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signifie</a:t>
            </a:r>
            <a:r>
              <a:rPr sz="14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aucune</a:t>
            </a:r>
            <a:r>
              <a:rPr sz="1400" spc="48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4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endParaRPr sz="1400">
              <a:latin typeface="Calibri"/>
              <a:cs typeface="Calibri"/>
            </a:endParaRPr>
          </a:p>
          <a:p>
            <a:pPr marL="356870" algn="just">
              <a:lnSpc>
                <a:spcPts val="163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occurrences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caractère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l'élément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précède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immédiatement.</a:t>
            </a:r>
            <a:endParaRPr sz="1400">
              <a:latin typeface="Calibri"/>
              <a:cs typeface="Calibri"/>
            </a:endParaRPr>
          </a:p>
          <a:p>
            <a:pPr marL="12700" marR="12065" algn="just">
              <a:lnSpc>
                <a:spcPct val="95000"/>
              </a:lnSpc>
              <a:spcBef>
                <a:spcPts val="61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L'expression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ab*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signifie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lettre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suivie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zéro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plusieurs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lettres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b,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ab,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abbb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[A-Z]*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correspond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zéro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plusieurs lettres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majuscules.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982" y="1476758"/>
            <a:ext cx="450215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Expressions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régulières</a:t>
            </a:r>
            <a:r>
              <a:rPr sz="16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base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  <a:tab pos="667385" algn="l"/>
                <a:tab pos="1649730" algn="l"/>
                <a:tab pos="2503170" algn="l"/>
                <a:tab pos="3457575" algn="l"/>
                <a:tab pos="3872229" algn="l"/>
              </a:tabLst>
            </a:pP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expressions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régulières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fournissent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notation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175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03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Utiliser les</a:t>
            </a:r>
            <a:r>
              <a:rPr spc="-10" dirty="0">
                <a:solidFill>
                  <a:srgbClr val="0058A0"/>
                </a:solidFill>
              </a:rPr>
              <a:t> expressions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régulières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Création</a:t>
            </a:r>
            <a:r>
              <a:rPr sz="1600" spc="-1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expressions</a:t>
            </a:r>
            <a:r>
              <a:rPr sz="1600" spc="-8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régulières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503420" cy="326009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Expressions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régulières</a:t>
            </a:r>
            <a:r>
              <a:rPr sz="16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base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ts val="1645"/>
              </a:lnSpc>
              <a:spcBef>
                <a:spcPts val="844"/>
              </a:spcBef>
              <a:buAutoNum type="arabicPeriod" startAt="4"/>
              <a:tabLst>
                <a:tab pos="356870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l'accent</a:t>
            </a:r>
            <a:r>
              <a:rPr sz="1400" b="1" spc="4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circonflexe</a:t>
            </a:r>
            <a:r>
              <a:rPr sz="1400" b="1" spc="43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^</a:t>
            </a:r>
            <a:r>
              <a:rPr sz="1400" b="1" spc="4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4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4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ancre.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4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indique</a:t>
            </a:r>
            <a:r>
              <a:rPr sz="14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endParaRPr sz="1400">
              <a:latin typeface="Calibri"/>
              <a:cs typeface="Calibri"/>
            </a:endParaRPr>
          </a:p>
          <a:p>
            <a:pPr marL="356870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l'expression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suit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trouve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en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début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ligne.</a:t>
            </a:r>
            <a:endParaRPr sz="1400">
              <a:latin typeface="Calibri"/>
              <a:cs typeface="Calibri"/>
            </a:endParaRPr>
          </a:p>
          <a:p>
            <a:pPr marL="12700" marR="7620">
              <a:lnSpc>
                <a:spcPts val="1580"/>
              </a:lnSpc>
              <a:spcBef>
                <a:spcPts val="67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l'expression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^Depuis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indique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l'on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recherche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commençant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Depuis.</a:t>
            </a:r>
            <a:endParaRPr sz="1400">
              <a:latin typeface="Calibri"/>
              <a:cs typeface="Calibri"/>
            </a:endParaRPr>
          </a:p>
          <a:p>
            <a:pPr marL="356870" marR="5080" indent="-344805">
              <a:lnSpc>
                <a:spcPts val="1610"/>
              </a:lnSpc>
              <a:spcBef>
                <a:spcPts val="610"/>
              </a:spcBef>
              <a:buAutoNum type="arabicPeriod" startAt="5"/>
              <a:tabLst>
                <a:tab pos="356870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symbole</a:t>
            </a:r>
            <a:r>
              <a:rPr sz="1400" b="1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dollar</a:t>
            </a:r>
            <a:r>
              <a:rPr sz="1400" b="1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$</a:t>
            </a:r>
            <a:r>
              <a:rPr sz="1400" b="1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aussi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ancre.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indique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que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l'expression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précède se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trouve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ligne.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45"/>
              </a:lnSpc>
              <a:spcBef>
                <a:spcPts val="459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L'expression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suivante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:$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indique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 l'on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recherche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terminant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«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».</a:t>
            </a:r>
            <a:endParaRPr sz="1400">
              <a:latin typeface="Calibri"/>
              <a:cs typeface="Calibri"/>
            </a:endParaRPr>
          </a:p>
          <a:p>
            <a:pPr marL="356870" indent="-344170">
              <a:lnSpc>
                <a:spcPts val="1630"/>
              </a:lnSpc>
              <a:spcBef>
                <a:spcPts val="525"/>
              </a:spcBef>
              <a:buAutoNum type="arabicPeriod" startAt="6"/>
              <a:tabLst>
                <a:tab pos="356870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contre-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oblique</a:t>
            </a:r>
            <a:r>
              <a:rPr sz="1400" b="1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\</a:t>
            </a:r>
            <a:r>
              <a:rPr sz="1400" b="1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d'échapper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signification</a:t>
            </a:r>
            <a:endParaRPr sz="1400">
              <a:latin typeface="Calibri"/>
              <a:cs typeface="Calibri"/>
            </a:endParaRPr>
          </a:p>
          <a:p>
            <a:pPr marL="356870">
              <a:lnSpc>
                <a:spcPts val="159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métacaractères.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Ainsi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\.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désigne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véritable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point,</a:t>
            </a:r>
            <a:endParaRPr sz="1400">
              <a:latin typeface="Calibri"/>
              <a:cs typeface="Calibri"/>
            </a:endParaRPr>
          </a:p>
          <a:p>
            <a:pPr marL="356870">
              <a:lnSpc>
                <a:spcPts val="161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\*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astérisque,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\^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accent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circonflexe,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$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dollar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endParaRPr sz="1400">
              <a:latin typeface="Calibri"/>
              <a:cs typeface="Calibri"/>
            </a:endParaRPr>
          </a:p>
          <a:p>
            <a:pPr marL="356870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\\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contre-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oblique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6458" y="1473456"/>
            <a:ext cx="5565775" cy="341249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Expressions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régulières</a:t>
            </a:r>
            <a:r>
              <a:rPr sz="1600" b="1" spc="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étendues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ajoutent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cinq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symboles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significations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suivantes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814069" marR="171450" lvl="1" indent="-344805">
              <a:lnSpc>
                <a:spcPct val="95000"/>
              </a:lnSpc>
              <a:spcBef>
                <a:spcPts val="615"/>
              </a:spcBef>
              <a:buAutoNum type="arabicPeriod"/>
              <a:tabLst>
                <a:tab pos="814069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paire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parenthèses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(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):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utilisée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fois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former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des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motifs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délimiter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sous-expressions,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ce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qui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permettra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d'extraire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des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caractères.</a:t>
            </a:r>
            <a:endParaRPr sz="1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L'expression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(to)*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désignera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to,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tototo,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etc.</a:t>
            </a:r>
            <a:endParaRPr sz="1400">
              <a:latin typeface="Calibri"/>
              <a:cs typeface="Calibri"/>
            </a:endParaRPr>
          </a:p>
          <a:p>
            <a:pPr marL="814069" marR="5080" lvl="1" indent="-344805">
              <a:lnSpc>
                <a:spcPct val="95100"/>
              </a:lnSpc>
              <a:spcBef>
                <a:spcPts val="610"/>
              </a:spcBef>
              <a:buAutoNum type="arabicPeriod" startAt="2"/>
              <a:tabLst>
                <a:tab pos="814069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signe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+: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quantificateur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*,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mais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signifie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occurrences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caractère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l'élément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précède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immédiatement.</a:t>
            </a:r>
            <a:endParaRPr sz="1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L'expression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ab+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signifie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lettre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suivie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endParaRPr sz="1400">
              <a:latin typeface="Calibri"/>
              <a:cs typeface="Calibri"/>
            </a:endParaRPr>
          </a:p>
          <a:p>
            <a:pPr marL="814069" lvl="1" indent="-344170">
              <a:lnSpc>
                <a:spcPts val="1645"/>
              </a:lnSpc>
              <a:spcBef>
                <a:spcPts val="505"/>
              </a:spcBef>
              <a:buAutoNum type="arabicPeriod" startAt="3"/>
              <a:tabLst>
                <a:tab pos="814069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point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d'interrogation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 ?: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signifie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zéro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instance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814069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l'expression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précède.</a:t>
            </a:r>
            <a:endParaRPr sz="1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2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écran(s)?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désigne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écran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écrans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176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03</a:t>
            </a:r>
            <a:r>
              <a:rPr spc="-4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5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Utiliser</a:t>
            </a:r>
            <a:r>
              <a:rPr spc="-1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expressions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régulières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Création</a:t>
            </a:r>
            <a:r>
              <a:rPr sz="1600" spc="-1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expressions</a:t>
            </a:r>
            <a:r>
              <a:rPr sz="1600" spc="-7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régulières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1256182" y="1955673"/>
            <a:ext cx="3487420" cy="6464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56870" marR="5080" indent="-344805" algn="just">
              <a:lnSpc>
                <a:spcPct val="95800"/>
              </a:lnSpc>
              <a:spcBef>
                <a:spcPts val="16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4.</a:t>
            </a:r>
            <a:r>
              <a:rPr sz="1400" b="1" spc="45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paire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d'accolades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{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}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précise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nombre d'occurrences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permises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motif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précède.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6182" y="2641854"/>
            <a:ext cx="3999865" cy="441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645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[0-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9]{2,5}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attend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entre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deux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cinq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nombres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décimaux.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3738" y="3126739"/>
            <a:ext cx="3510915" cy="84772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299085" marR="5080" indent="-287020">
              <a:lnSpc>
                <a:spcPct val="95300"/>
              </a:lnSpc>
              <a:spcBef>
                <a:spcPts val="1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variantes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disponibles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[0-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9]{2,}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signifie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minimum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deux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occurrences d'entiers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décimaux et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[0-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9]{2}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deux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occurrences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exactement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6182" y="4013961"/>
            <a:ext cx="3362325" cy="441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645"/>
              </a:lnSpc>
              <a:spcBef>
                <a:spcPts val="90"/>
              </a:spcBef>
              <a:tabLst>
                <a:tab pos="356870" algn="l"/>
              </a:tabLst>
            </a:pP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5.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la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barre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verticale |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représente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choix</a:t>
            </a:r>
            <a:endParaRPr sz="1400">
              <a:latin typeface="Calibri"/>
              <a:cs typeface="Calibri"/>
            </a:endParaRPr>
          </a:p>
          <a:p>
            <a:pPr marL="356870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multiples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sous-motif.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6182" y="4498975"/>
            <a:ext cx="3830954" cy="6432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17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L'expression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Duran[d|t] peut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aussi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s'écrire (Durand|Durant).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pourrait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utiliser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l'expression (lu|ma|me|je|ve|sa|di)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l'écriture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date.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982" y="1602105"/>
            <a:ext cx="27184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Expressions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régulières</a:t>
            </a:r>
            <a:r>
              <a:rPr sz="1600" b="1" spc="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étendues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96458" y="1693925"/>
            <a:ext cx="5696585" cy="44195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9085" marR="5080" indent="-287020">
              <a:lnSpc>
                <a:spcPts val="1610"/>
              </a:lnSpc>
              <a:spcBef>
                <a:spcPts val="204"/>
              </a:spcBef>
              <a:buFont typeface="Arial MT"/>
              <a:buChar char="•"/>
              <a:tabLst>
                <a:tab pos="299085" algn="l"/>
                <a:tab pos="600710" algn="l"/>
                <a:tab pos="1329690" algn="l"/>
                <a:tab pos="2112645" algn="l"/>
                <a:tab pos="3033395" algn="l"/>
                <a:tab pos="3579495" algn="l"/>
                <a:tab pos="4030345" algn="l"/>
                <a:tab pos="4558030" algn="l"/>
                <a:tab pos="4914900" algn="l"/>
              </a:tabLst>
            </a:pP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étendue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comprend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aussi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série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séquences d'échappement</a:t>
            </a:r>
            <a:r>
              <a:rPr sz="1400" b="1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3658" y="2112719"/>
            <a:ext cx="3533775" cy="421576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symbole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d'échappement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séquence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contrôle escape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\f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saut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page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\r :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retour-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chariot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3845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tabulation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horizontale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3845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\v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tabulation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verticale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\d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entiers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caractères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d'espacement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\w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caractères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alphanumériques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\b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délimiteurs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début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\D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négation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\d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négation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\W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négation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 la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\w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\B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négation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\b.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3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6978522" y="1105280"/>
            <a:ext cx="4222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Utiliser</a:t>
            </a:r>
            <a:r>
              <a:rPr sz="2400" b="1" spc="-9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7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expressions</a:t>
            </a:r>
            <a:r>
              <a:rPr sz="24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régulières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3762375" cy="6654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Création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expressions régulières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Manipulation</a:t>
            </a:r>
            <a:r>
              <a:rPr sz="1600" b="1" spc="1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1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expressions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régulières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03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Utiliser les</a:t>
            </a:r>
            <a:r>
              <a:rPr spc="-10" dirty="0">
                <a:solidFill>
                  <a:srgbClr val="0058A0"/>
                </a:solidFill>
              </a:rPr>
              <a:t> expressions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régulières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Manipulation</a:t>
            </a:r>
            <a:r>
              <a:rPr sz="1600" spc="1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1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expressions</a:t>
            </a:r>
            <a:r>
              <a:rPr sz="1600" spc="-1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régulières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955673"/>
            <a:ext cx="4498975" cy="20948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module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d'utiliser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expressions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régulières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scripts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Python.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scripts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devront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donc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comporter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import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re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compilation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regex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Python:</a:t>
            </a:r>
            <a:endParaRPr sz="1400">
              <a:latin typeface="Calibri"/>
              <a:cs typeface="Calibri"/>
            </a:endParaRPr>
          </a:p>
          <a:p>
            <a:pPr marL="756285" marR="67310" lvl="1" indent="-287020">
              <a:lnSpc>
                <a:spcPct val="95400"/>
              </a:lnSpc>
              <a:spcBef>
                <a:spcPts val="61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initialiser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expression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régulière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avec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Python, il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compiler,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surtout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si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vous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serez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amené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l’utiliser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fois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au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long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programme.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faire,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faut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utiliser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la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compile()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6458" y="1952370"/>
            <a:ext cx="5694680" cy="300990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6545" marR="5080" indent="-284480" algn="just">
              <a:lnSpc>
                <a:spcPts val="1610"/>
              </a:lnSpc>
              <a:spcBef>
                <a:spcPts val="20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Grâce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jeu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d'options</a:t>
            </a:r>
            <a:r>
              <a:rPr sz="1400" spc="3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compilation,</a:t>
            </a:r>
            <a:r>
              <a:rPr sz="1400" spc="3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</a:t>
            </a:r>
            <a:r>
              <a:rPr sz="1400" spc="3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piloter</a:t>
            </a:r>
            <a:r>
              <a:rPr sz="1400" spc="3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comportement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expressions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régulières.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utilise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cela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 	syntaxe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(?…)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drapeaux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ASCII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(Unicode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défaut)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sensible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casse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ts val="163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utilisent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locale,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c'est-à-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dire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endParaRPr sz="1400">
              <a:latin typeface="Calibri"/>
              <a:cs typeface="Calibri"/>
            </a:endParaRPr>
          </a:p>
          <a:p>
            <a:pPr marL="756285">
              <a:lnSpc>
                <a:spcPts val="1630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particularités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pays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multilignes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ts val="163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</a:t>
            </a:r>
            <a:r>
              <a:rPr sz="14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modifie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comportement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métacaractère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point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endParaRPr sz="1400">
              <a:latin typeface="Calibri"/>
              <a:cs typeface="Calibri"/>
            </a:endParaRPr>
          </a:p>
          <a:p>
            <a:pPr marL="756285">
              <a:lnSpc>
                <a:spcPts val="1630"/>
              </a:lnSpc>
            </a:pP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représentera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alors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aussi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saut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Unicode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(par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défaut)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x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verbeux.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6458" y="1598802"/>
            <a:ext cx="238506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Les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options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compilation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65835" y="4355147"/>
            <a:ext cx="9831070" cy="1833245"/>
            <a:chOff x="965835" y="4355147"/>
            <a:chExt cx="9831070" cy="183324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5360" y="4364735"/>
              <a:ext cx="4148328" cy="35661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0597" y="4359909"/>
              <a:ext cx="4157979" cy="366395"/>
            </a:xfrm>
            <a:custGeom>
              <a:avLst/>
              <a:gdLst/>
              <a:ahLst/>
              <a:cxnLst/>
              <a:rect l="l" t="t" r="r" b="b"/>
              <a:pathLst>
                <a:path w="4157979" h="366395">
                  <a:moveTo>
                    <a:pt x="0" y="366140"/>
                  </a:moveTo>
                  <a:lnTo>
                    <a:pt x="4157853" y="366140"/>
                  </a:lnTo>
                  <a:lnTo>
                    <a:pt x="4157853" y="0"/>
                  </a:lnTo>
                  <a:lnTo>
                    <a:pt x="0" y="0"/>
                  </a:lnTo>
                  <a:lnTo>
                    <a:pt x="0" y="36614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6816" y="5242559"/>
              <a:ext cx="5020055" cy="93573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761989" y="5237797"/>
              <a:ext cx="5029835" cy="945515"/>
            </a:xfrm>
            <a:custGeom>
              <a:avLst/>
              <a:gdLst/>
              <a:ahLst/>
              <a:cxnLst/>
              <a:rect l="l" t="t" r="r" b="b"/>
              <a:pathLst>
                <a:path w="5029834" h="945514">
                  <a:moveTo>
                    <a:pt x="0" y="945261"/>
                  </a:moveTo>
                  <a:lnTo>
                    <a:pt x="5029581" y="945261"/>
                  </a:lnTo>
                  <a:lnTo>
                    <a:pt x="5029581" y="0"/>
                  </a:lnTo>
                  <a:lnTo>
                    <a:pt x="0" y="0"/>
                  </a:lnTo>
                  <a:lnTo>
                    <a:pt x="0" y="94526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178</a:t>
            </a:fld>
            <a:endParaRPr spc="-25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632585"/>
            <a:ext cx="88715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18224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module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‘re’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propose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ensemble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rechercher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3870401"/>
            <a:ext cx="10483850" cy="720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245" indent="-169545">
              <a:lnSpc>
                <a:spcPts val="1635"/>
              </a:lnSpc>
              <a:spcBef>
                <a:spcPts val="95"/>
              </a:spcBef>
              <a:buFont typeface="Arial MT"/>
              <a:buChar char="•"/>
              <a:tabLst>
                <a:tab pos="18224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b="1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findall()</a:t>
            </a:r>
            <a:r>
              <a:rPr sz="1400" b="1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renvoie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contenant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correspondances.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contient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correspondances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l’ordre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où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endParaRPr sz="1400">
              <a:latin typeface="Calibri"/>
              <a:cs typeface="Calibri"/>
            </a:endParaRPr>
          </a:p>
          <a:p>
            <a:pPr marL="182880">
              <a:lnSpc>
                <a:spcPts val="163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trouvées.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aucune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n’est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trouvée,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renvoyée.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70304" y="1975104"/>
            <a:ext cx="8851900" cy="4441825"/>
            <a:chOff x="1670304" y="1975104"/>
            <a:chExt cx="8851900" cy="44418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304" y="1975104"/>
              <a:ext cx="8851392" cy="17038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9544" y="4501896"/>
              <a:ext cx="5410200" cy="19050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4845" y="4497133"/>
              <a:ext cx="5419725" cy="1914525"/>
            </a:xfrm>
            <a:custGeom>
              <a:avLst/>
              <a:gdLst/>
              <a:ahLst/>
              <a:cxnLst/>
              <a:rect l="l" t="t" r="r" b="b"/>
              <a:pathLst>
                <a:path w="5419725" h="1914525">
                  <a:moveTo>
                    <a:pt x="0" y="1914524"/>
                  </a:moveTo>
                  <a:lnTo>
                    <a:pt x="5419725" y="1914524"/>
                  </a:lnTo>
                  <a:lnTo>
                    <a:pt x="5419725" y="0"/>
                  </a:lnTo>
                  <a:lnTo>
                    <a:pt x="0" y="0"/>
                  </a:lnTo>
                  <a:lnTo>
                    <a:pt x="0" y="191452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03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Utiliser les</a:t>
            </a:r>
            <a:r>
              <a:rPr spc="-10" dirty="0">
                <a:solidFill>
                  <a:srgbClr val="0058A0"/>
                </a:solidFill>
              </a:rPr>
              <a:t> expressions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régulières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Manipulation</a:t>
            </a:r>
            <a:r>
              <a:rPr sz="1600" spc="1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1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expressions</a:t>
            </a:r>
            <a:r>
              <a:rPr sz="1600" spc="-1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régulières</a:t>
            </a:r>
            <a:endParaRPr sz="160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179</a:t>
            </a:fld>
            <a:endParaRPr spc="-25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1745945"/>
            <a:ext cx="10493375" cy="140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indent="-285115" algn="just">
              <a:lnSpc>
                <a:spcPts val="1645"/>
              </a:lnSpc>
              <a:spcBef>
                <a:spcPts val="95"/>
              </a:spcBef>
              <a:buFont typeface="Arial MT"/>
              <a:buChar char="•"/>
              <a:tabLst>
                <a:tab pos="29781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search()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recherche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correspondance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renvoie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Match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s’il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existe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correspondance.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S’il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y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correspondance,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seule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première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occurrence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renvoyée:</a:t>
            </a:r>
            <a:endParaRPr sz="1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2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Extraction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simple</a:t>
            </a:r>
            <a:endParaRPr sz="1400">
              <a:latin typeface="Calibri"/>
              <a:cs typeface="Calibri"/>
            </a:endParaRPr>
          </a:p>
          <a:p>
            <a:pPr marL="297180" marR="5080" indent="-285115" algn="just">
              <a:lnSpc>
                <a:spcPts val="161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variable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expression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reçoit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compilée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l'expression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régulière,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Puis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applique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motif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compilé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search()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qui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retourne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première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position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motif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Nameage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l'affecte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variable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ages.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Enfin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affiche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correspondance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complète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(en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donnant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d'argument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group())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982" y="4245407"/>
            <a:ext cx="10495280" cy="78803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Extraction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sous-groupes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580"/>
              </a:lnSpc>
              <a:spcBef>
                <a:spcPts val="66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d’affiner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l'affichage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résultat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modifiant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l'expression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régulière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recherche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façon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pouvoir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capturer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éléments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du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motif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27058" y="3227387"/>
            <a:ext cx="3829050" cy="1037590"/>
            <a:chOff x="2627058" y="3227387"/>
            <a:chExt cx="3829050" cy="103759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6519" y="3236975"/>
              <a:ext cx="3810000" cy="101803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631820" y="3232150"/>
              <a:ext cx="3819525" cy="1028065"/>
            </a:xfrm>
            <a:custGeom>
              <a:avLst/>
              <a:gdLst/>
              <a:ahLst/>
              <a:cxnLst/>
              <a:rect l="l" t="t" r="r" b="b"/>
              <a:pathLst>
                <a:path w="3819525" h="1028064">
                  <a:moveTo>
                    <a:pt x="0" y="1027557"/>
                  </a:moveTo>
                  <a:lnTo>
                    <a:pt x="3819525" y="1027557"/>
                  </a:lnTo>
                  <a:lnTo>
                    <a:pt x="3819525" y="0"/>
                  </a:lnTo>
                  <a:lnTo>
                    <a:pt x="0" y="0"/>
                  </a:lnTo>
                  <a:lnTo>
                    <a:pt x="0" y="102755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591300" y="3707891"/>
            <a:ext cx="4142740" cy="30797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4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Recherche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un,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deux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trois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entiers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décimaux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27058" y="3820414"/>
            <a:ext cx="7614920" cy="2489835"/>
            <a:chOff x="2627058" y="3820414"/>
            <a:chExt cx="7614920" cy="2489835"/>
          </a:xfrm>
        </p:grpSpPr>
        <p:sp>
          <p:nvSpPr>
            <p:cNvPr id="16" name="object 16"/>
            <p:cNvSpPr/>
            <p:nvPr/>
          </p:nvSpPr>
          <p:spPr>
            <a:xfrm>
              <a:off x="5932931" y="3820414"/>
              <a:ext cx="660400" cy="85725"/>
            </a:xfrm>
            <a:custGeom>
              <a:avLst/>
              <a:gdLst/>
              <a:ahLst/>
              <a:cxnLst/>
              <a:rect l="l" t="t" r="r" b="b"/>
              <a:pathLst>
                <a:path w="660400" h="85725">
                  <a:moveTo>
                    <a:pt x="85725" y="0"/>
                  </a:moveTo>
                  <a:lnTo>
                    <a:pt x="0" y="42925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71500" y="57150"/>
                  </a:lnTo>
                  <a:lnTo>
                    <a:pt x="71437" y="42925"/>
                  </a:lnTo>
                  <a:lnTo>
                    <a:pt x="71373" y="28575"/>
                  </a:lnTo>
                  <a:lnTo>
                    <a:pt x="85725" y="28575"/>
                  </a:lnTo>
                  <a:lnTo>
                    <a:pt x="85725" y="0"/>
                  </a:lnTo>
                  <a:close/>
                </a:path>
                <a:path w="660400" h="85725">
                  <a:moveTo>
                    <a:pt x="85725" y="28575"/>
                  </a:moveTo>
                  <a:lnTo>
                    <a:pt x="71373" y="28575"/>
                  </a:lnTo>
                  <a:lnTo>
                    <a:pt x="71437" y="42925"/>
                  </a:lnTo>
                  <a:lnTo>
                    <a:pt x="71500" y="57150"/>
                  </a:lnTo>
                  <a:lnTo>
                    <a:pt x="85725" y="57150"/>
                  </a:lnTo>
                  <a:lnTo>
                    <a:pt x="85725" y="28575"/>
                  </a:lnTo>
                  <a:close/>
                </a:path>
                <a:path w="660400" h="85725">
                  <a:moveTo>
                    <a:pt x="659891" y="28575"/>
                  </a:moveTo>
                  <a:lnTo>
                    <a:pt x="85725" y="28575"/>
                  </a:lnTo>
                  <a:lnTo>
                    <a:pt x="85725" y="57150"/>
                  </a:lnTo>
                  <a:lnTo>
                    <a:pt x="659891" y="57150"/>
                  </a:lnTo>
                  <a:lnTo>
                    <a:pt x="659891" y="28575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6519" y="4925568"/>
              <a:ext cx="3810000" cy="137464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631820" y="4920805"/>
              <a:ext cx="3819525" cy="1384300"/>
            </a:xfrm>
            <a:custGeom>
              <a:avLst/>
              <a:gdLst/>
              <a:ahLst/>
              <a:cxnLst/>
              <a:rect l="l" t="t" r="r" b="b"/>
              <a:pathLst>
                <a:path w="3819525" h="1384300">
                  <a:moveTo>
                    <a:pt x="0" y="1384172"/>
                  </a:moveTo>
                  <a:lnTo>
                    <a:pt x="3819525" y="1384172"/>
                  </a:lnTo>
                  <a:lnTo>
                    <a:pt x="3819525" y="0"/>
                  </a:lnTo>
                  <a:lnTo>
                    <a:pt x="0" y="0"/>
                  </a:lnTo>
                  <a:lnTo>
                    <a:pt x="0" y="138417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9775" y="5160264"/>
              <a:ext cx="3642360" cy="92659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584949" y="5155501"/>
              <a:ext cx="3651885" cy="936625"/>
            </a:xfrm>
            <a:custGeom>
              <a:avLst/>
              <a:gdLst/>
              <a:ahLst/>
              <a:cxnLst/>
              <a:rect l="l" t="t" r="r" b="b"/>
              <a:pathLst>
                <a:path w="3651884" h="936625">
                  <a:moveTo>
                    <a:pt x="0" y="936117"/>
                  </a:moveTo>
                  <a:lnTo>
                    <a:pt x="3651884" y="936117"/>
                  </a:lnTo>
                  <a:lnTo>
                    <a:pt x="3651884" y="0"/>
                  </a:lnTo>
                  <a:lnTo>
                    <a:pt x="0" y="0"/>
                  </a:lnTo>
                  <a:lnTo>
                    <a:pt x="0" y="93611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03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Utiliser les</a:t>
            </a:r>
            <a:r>
              <a:rPr spc="-10" dirty="0">
                <a:solidFill>
                  <a:srgbClr val="0058A0"/>
                </a:solidFill>
              </a:rPr>
              <a:t> expressions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régulières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Manipulation</a:t>
            </a:r>
            <a:r>
              <a:rPr sz="1600" spc="1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1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expressions</a:t>
            </a:r>
            <a:r>
              <a:rPr sz="1600" spc="-1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régulières</a:t>
            </a:r>
            <a:endParaRPr sz="160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180</a:t>
            </a:fld>
            <a:endParaRPr spc="-25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03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Utiliser les</a:t>
            </a:r>
            <a:r>
              <a:rPr spc="-10" dirty="0">
                <a:solidFill>
                  <a:srgbClr val="0058A0"/>
                </a:solidFill>
              </a:rPr>
              <a:t> expressions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régulières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Manipulation</a:t>
            </a:r>
            <a:r>
              <a:rPr sz="1600" spc="1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1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expressions</a:t>
            </a:r>
            <a:r>
              <a:rPr sz="1600" spc="-1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régulières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662430"/>
            <a:ext cx="10462895" cy="176276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9085" marR="5080" indent="-287020">
              <a:lnSpc>
                <a:spcPts val="1610"/>
              </a:lnSpc>
              <a:spcBef>
                <a:spcPts val="20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possède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nommer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parties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motif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délimitées</a:t>
            </a:r>
            <a:r>
              <a:rPr sz="140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parenthèses,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qu'on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appelle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motif nominatif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création d'un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motif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nominatif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(?P&lt;nom_du_motif&gt;)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permettant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s'y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référer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(?P=nom_du_motif)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Extraction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sous-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groupes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nommés</a:t>
            </a:r>
            <a:endParaRPr sz="1400">
              <a:latin typeface="Calibri"/>
              <a:cs typeface="Calibri"/>
            </a:endParaRPr>
          </a:p>
          <a:p>
            <a:pPr marL="1213485" marR="668020" lvl="2" indent="-287020">
              <a:lnSpc>
                <a:spcPts val="1580"/>
              </a:lnSpc>
              <a:spcBef>
                <a:spcPts val="665"/>
              </a:spcBef>
              <a:buFont typeface="Arial MT"/>
              <a:buChar char="•"/>
              <a:tabLst>
                <a:tab pos="12134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groupdict()</a:t>
            </a:r>
            <a:r>
              <a:rPr sz="1400" b="1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renvoie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comportant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sous-groupes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trouvés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(ce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nécessite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nommer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sous-groupes).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4521250"/>
            <a:ext cx="8171180" cy="58102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 split()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renvoie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liste où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été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divisée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L’exemple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divise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espace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trouvé.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‘\s’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utilisé pour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faire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correspondre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espaces.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60842" y="3489515"/>
            <a:ext cx="8891905" cy="2839085"/>
            <a:chOff x="1660842" y="3489515"/>
            <a:chExt cx="8891905" cy="283908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303" y="3499104"/>
              <a:ext cx="5535168" cy="100584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65604" y="3494278"/>
              <a:ext cx="5544820" cy="1015365"/>
            </a:xfrm>
            <a:custGeom>
              <a:avLst/>
              <a:gdLst/>
              <a:ahLst/>
              <a:cxnLst/>
              <a:rect l="l" t="t" r="r" b="b"/>
              <a:pathLst>
                <a:path w="5544820" h="1015364">
                  <a:moveTo>
                    <a:pt x="0" y="1015365"/>
                  </a:moveTo>
                  <a:lnTo>
                    <a:pt x="5544693" y="1015365"/>
                  </a:lnTo>
                  <a:lnTo>
                    <a:pt x="5544693" y="0"/>
                  </a:lnTo>
                  <a:lnTo>
                    <a:pt x="0" y="0"/>
                  </a:lnTo>
                  <a:lnTo>
                    <a:pt x="0" y="101536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9791" y="3642360"/>
              <a:ext cx="3063240" cy="59131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474965" y="3637534"/>
              <a:ext cx="3072765" cy="601345"/>
            </a:xfrm>
            <a:custGeom>
              <a:avLst/>
              <a:gdLst/>
              <a:ahLst/>
              <a:cxnLst/>
              <a:rect l="l" t="t" r="r" b="b"/>
              <a:pathLst>
                <a:path w="3072765" h="601345">
                  <a:moveTo>
                    <a:pt x="0" y="600837"/>
                  </a:moveTo>
                  <a:lnTo>
                    <a:pt x="3072764" y="600837"/>
                  </a:lnTo>
                  <a:lnTo>
                    <a:pt x="3072764" y="0"/>
                  </a:lnTo>
                  <a:lnTo>
                    <a:pt x="0" y="0"/>
                  </a:lnTo>
                  <a:lnTo>
                    <a:pt x="0" y="60083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7735" y="5346192"/>
              <a:ext cx="5782056" cy="9723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693036" y="5341429"/>
              <a:ext cx="5791835" cy="982344"/>
            </a:xfrm>
            <a:custGeom>
              <a:avLst/>
              <a:gdLst/>
              <a:ahLst/>
              <a:cxnLst/>
              <a:rect l="l" t="t" r="r" b="b"/>
              <a:pathLst>
                <a:path w="5791834" h="982345">
                  <a:moveTo>
                    <a:pt x="0" y="981836"/>
                  </a:moveTo>
                  <a:lnTo>
                    <a:pt x="5791580" y="981836"/>
                  </a:lnTo>
                  <a:lnTo>
                    <a:pt x="5791580" y="0"/>
                  </a:lnTo>
                  <a:lnTo>
                    <a:pt x="0" y="0"/>
                  </a:lnTo>
                  <a:lnTo>
                    <a:pt x="0" y="98183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181</a:t>
            </a:fld>
            <a:endParaRPr spc="-25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03</a:t>
            </a:r>
            <a:r>
              <a:rPr spc="-3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Utiliser les</a:t>
            </a:r>
            <a:r>
              <a:rPr spc="-10" dirty="0">
                <a:solidFill>
                  <a:srgbClr val="0058A0"/>
                </a:solidFill>
              </a:rPr>
              <a:t> expressions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régulières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Manipulation</a:t>
            </a:r>
            <a:r>
              <a:rPr sz="1600" spc="10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1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expressions</a:t>
            </a:r>
            <a:r>
              <a:rPr sz="1600" spc="-1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régulières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698568"/>
            <a:ext cx="6676390" cy="58737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contrôler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d’occurrences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en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spécifiant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maxsplit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maxsplit=1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3377148"/>
            <a:ext cx="5692775" cy="5861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fonction sub()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remplace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correspondances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par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texte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votre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choix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Remplacer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espace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tiret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‘-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‘: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5052917"/>
            <a:ext cx="6819900" cy="58737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 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contrôler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remplacements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spécifiant 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count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count=2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26474" y="2358707"/>
            <a:ext cx="6346825" cy="4112895"/>
            <a:chOff x="2526474" y="2358707"/>
            <a:chExt cx="6346825" cy="411289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5935" y="2368296"/>
              <a:ext cx="5334000" cy="8808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531236" y="2363470"/>
              <a:ext cx="5343525" cy="890905"/>
            </a:xfrm>
            <a:custGeom>
              <a:avLst/>
              <a:gdLst/>
              <a:ahLst/>
              <a:cxnLst/>
              <a:rect l="l" t="t" r="r" b="b"/>
              <a:pathLst>
                <a:path w="5343525" h="890904">
                  <a:moveTo>
                    <a:pt x="0" y="890397"/>
                  </a:moveTo>
                  <a:lnTo>
                    <a:pt x="5343524" y="890397"/>
                  </a:lnTo>
                  <a:lnTo>
                    <a:pt x="5343524" y="0"/>
                  </a:lnTo>
                  <a:lnTo>
                    <a:pt x="0" y="0"/>
                  </a:lnTo>
                  <a:lnTo>
                    <a:pt x="0" y="8903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5935" y="4050792"/>
              <a:ext cx="6327648" cy="10668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531236" y="4045966"/>
              <a:ext cx="6337300" cy="1076325"/>
            </a:xfrm>
            <a:custGeom>
              <a:avLst/>
              <a:gdLst/>
              <a:ahLst/>
              <a:cxnLst/>
              <a:rect l="l" t="t" r="r" b="b"/>
              <a:pathLst>
                <a:path w="6337300" h="1076325">
                  <a:moveTo>
                    <a:pt x="0" y="1076324"/>
                  </a:moveTo>
                  <a:lnTo>
                    <a:pt x="6337172" y="1076324"/>
                  </a:lnTo>
                  <a:lnTo>
                    <a:pt x="6337172" y="0"/>
                  </a:lnTo>
                  <a:lnTo>
                    <a:pt x="0" y="0"/>
                  </a:lnTo>
                  <a:lnTo>
                    <a:pt x="0" y="107632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711" y="5647944"/>
              <a:ext cx="4952999" cy="81381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644012" y="5643181"/>
              <a:ext cx="4962525" cy="823594"/>
            </a:xfrm>
            <a:custGeom>
              <a:avLst/>
              <a:gdLst/>
              <a:ahLst/>
              <a:cxnLst/>
              <a:rect l="l" t="t" r="r" b="b"/>
              <a:pathLst>
                <a:path w="4962525" h="823595">
                  <a:moveTo>
                    <a:pt x="0" y="823340"/>
                  </a:moveTo>
                  <a:lnTo>
                    <a:pt x="4962525" y="823340"/>
                  </a:lnTo>
                  <a:lnTo>
                    <a:pt x="4962525" y="0"/>
                  </a:lnTo>
                  <a:lnTo>
                    <a:pt x="0" y="0"/>
                  </a:lnTo>
                  <a:lnTo>
                    <a:pt x="0" y="82334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182</a:t>
            </a:fld>
            <a:endParaRPr spc="-25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3078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0479" y="2358897"/>
            <a:ext cx="4808855" cy="1451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que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apprendre</a:t>
            </a:r>
            <a:r>
              <a:rPr sz="18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chapitre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Identifier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différents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d’erreurs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Connaitre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principaux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d’exceptions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Maitriser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gestion des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 en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143" y="6132576"/>
            <a:ext cx="2161540" cy="719455"/>
            <a:chOff x="8010143" y="6132576"/>
            <a:chExt cx="2161540" cy="719455"/>
          </a:xfrm>
        </p:grpSpPr>
        <p:sp>
          <p:nvSpPr>
            <p:cNvPr id="7" name="object 7"/>
            <p:cNvSpPr/>
            <p:nvPr/>
          </p:nvSpPr>
          <p:spPr>
            <a:xfrm>
              <a:off x="8010143" y="6132576"/>
              <a:ext cx="2161540" cy="719455"/>
            </a:xfrm>
            <a:custGeom>
              <a:avLst/>
              <a:gdLst/>
              <a:ahLst/>
              <a:cxnLst/>
              <a:rect l="l" t="t" r="r" b="b"/>
              <a:pathLst>
                <a:path w="2161540" h="719454">
                  <a:moveTo>
                    <a:pt x="2041144" y="0"/>
                  </a:moveTo>
                  <a:lnTo>
                    <a:pt x="119887" y="0"/>
                  </a:lnTo>
                  <a:lnTo>
                    <a:pt x="73241" y="9420"/>
                  </a:lnTo>
                  <a:lnTo>
                    <a:pt x="35131" y="35112"/>
                  </a:lnTo>
                  <a:lnTo>
                    <a:pt x="9427" y="73219"/>
                  </a:lnTo>
                  <a:lnTo>
                    <a:pt x="0" y="119888"/>
                  </a:lnTo>
                  <a:lnTo>
                    <a:pt x="0" y="719327"/>
                  </a:lnTo>
                  <a:lnTo>
                    <a:pt x="2161031" y="719327"/>
                  </a:lnTo>
                  <a:lnTo>
                    <a:pt x="2161031" y="119888"/>
                  </a:lnTo>
                  <a:lnTo>
                    <a:pt x="2151604" y="73219"/>
                  </a:lnTo>
                  <a:lnTo>
                    <a:pt x="2125900" y="35112"/>
                  </a:lnTo>
                  <a:lnTo>
                    <a:pt x="2087790" y="9420"/>
                  </a:lnTo>
                  <a:lnTo>
                    <a:pt x="2041144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927" y="6269736"/>
              <a:ext cx="402335" cy="39624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/>
          </a:p>
        </p:txBody>
      </p:sp>
      <p:sp>
        <p:nvSpPr>
          <p:cNvPr id="10" name="object 10"/>
          <p:cNvSpPr txBox="1"/>
          <p:nvPr/>
        </p:nvSpPr>
        <p:spPr>
          <a:xfrm>
            <a:off x="7396353" y="1105280"/>
            <a:ext cx="33864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Administrer</a:t>
            </a:r>
            <a:r>
              <a:rPr sz="2400" b="1" spc="-8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exceptions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96325" y="6263436"/>
            <a:ext cx="1264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05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405496" y="1105280"/>
            <a:ext cx="3368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Administrer</a:t>
            </a:r>
            <a:r>
              <a:rPr sz="2400" b="1" spc="-8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1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exceptions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324739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Types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d’erreur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expérimentation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Gestion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185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Types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spc="-20" dirty="0">
                <a:solidFill>
                  <a:srgbClr val="0058A0"/>
                </a:solidFill>
              </a:rPr>
              <a:t>d’erreur</a:t>
            </a:r>
            <a:r>
              <a:rPr sz="1600" spc="-1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et</a:t>
            </a:r>
            <a:r>
              <a:rPr sz="1600" spc="-2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expérimentation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2236469"/>
            <a:ext cx="7391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3632961"/>
            <a:ext cx="4504690" cy="201866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6545" marR="9525" indent="-284480" algn="just">
              <a:lnSpc>
                <a:spcPts val="1610"/>
              </a:lnSpc>
              <a:spcBef>
                <a:spcPts val="2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L'analyseur</a:t>
            </a:r>
            <a:r>
              <a:rPr sz="1400" spc="3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indique</a:t>
            </a:r>
            <a:r>
              <a:rPr sz="1400" spc="3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3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spc="3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incriminée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3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affiche</a:t>
            </a:r>
            <a:r>
              <a:rPr sz="1400" spc="3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petite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«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flèche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»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pointant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vers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premier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endroit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 où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l'erreur 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été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détectée.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ct val="100000"/>
              </a:lnSpc>
              <a:spcBef>
                <a:spcPts val="464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L'erreur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causée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symbole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placé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avant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flèche.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400"/>
              </a:lnSpc>
              <a:spcBef>
                <a:spcPts val="6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exemple,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flèche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print()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il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manque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deux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points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(':')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juste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avant.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fichier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numéro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affichés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vous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permettre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localiser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facilement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l'erreur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lorsque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provient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d'un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script.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1476758"/>
            <a:ext cx="4457700" cy="716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Erreurs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</a:t>
            </a:r>
            <a:r>
              <a:rPr sz="16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syntaxe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erreurs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d'analyse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48027" y="2339339"/>
            <a:ext cx="3209925" cy="1015365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75"/>
              </a:spcBef>
            </a:pPr>
            <a:r>
              <a:rPr sz="1200" dirty="0">
                <a:latin typeface="Calibri"/>
                <a:cs typeface="Calibri"/>
              </a:rPr>
              <a:t>&gt;&gt;&gt;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while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True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print('Hello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world')</a:t>
            </a:r>
            <a:endParaRPr sz="1200">
              <a:latin typeface="Calibri"/>
              <a:cs typeface="Calibri"/>
            </a:endParaRPr>
          </a:p>
          <a:p>
            <a:pPr marL="15938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File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"&lt;stdin&gt;",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22987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while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True</a:t>
            </a:r>
            <a:r>
              <a:rPr sz="1200" spc="-10" dirty="0">
                <a:latin typeface="Calibri"/>
                <a:cs typeface="Calibri"/>
              </a:rPr>
              <a:t> print('Hello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world')</a:t>
            </a:r>
            <a:endParaRPr sz="1200">
              <a:latin typeface="Calibri"/>
              <a:cs typeface="Calibri"/>
            </a:endParaRPr>
          </a:p>
          <a:p>
            <a:pPr marL="753745">
              <a:lnSpc>
                <a:spcPct val="100000"/>
              </a:lnSpc>
            </a:pPr>
            <a:r>
              <a:rPr sz="1200" b="1" spc="-50" dirty="0">
                <a:solidFill>
                  <a:srgbClr val="C00000"/>
                </a:solidFill>
                <a:latin typeface="Calibri"/>
                <a:cs typeface="Calibri"/>
              </a:rPr>
              <a:t>^</a:t>
            </a:r>
            <a:endParaRPr sz="12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C00000"/>
                </a:solidFill>
                <a:latin typeface="Calibri"/>
                <a:cs typeface="Calibri"/>
              </a:rPr>
              <a:t>SyntaxError:</a:t>
            </a:r>
            <a:r>
              <a:rPr sz="12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C00000"/>
                </a:solidFill>
                <a:latin typeface="Calibri"/>
                <a:cs typeface="Calibri"/>
              </a:rPr>
              <a:t>invalid</a:t>
            </a:r>
            <a:r>
              <a:rPr sz="12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C00000"/>
                </a:solidFill>
                <a:latin typeface="Calibri"/>
                <a:cs typeface="Calibri"/>
              </a:rPr>
              <a:t>syntax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186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Types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spc="-20" dirty="0">
                <a:solidFill>
                  <a:srgbClr val="0058A0"/>
                </a:solidFill>
              </a:rPr>
              <a:t>d’erreur</a:t>
            </a:r>
            <a:r>
              <a:rPr sz="1600" spc="-1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et</a:t>
            </a:r>
            <a:r>
              <a:rPr sz="1600" spc="-2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expérimentation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5209413"/>
            <a:ext cx="4505960" cy="84772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296545" marR="5080" indent="-284480" algn="just">
              <a:lnSpc>
                <a:spcPct val="95300"/>
              </a:lnSpc>
              <a:spcBef>
                <a:spcPts val="1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 dernière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ligne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message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d'erreur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indique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 qui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s'est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passé.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différents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indiqué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message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40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indiqué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l'exemple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ZeroDivisionError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1602105"/>
            <a:ext cx="4503420" cy="2448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Exceptions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600">
              <a:latin typeface="Calibri"/>
              <a:cs typeface="Calibri"/>
            </a:endParaRPr>
          </a:p>
          <a:p>
            <a:pPr marL="296545" marR="5715" indent="-284480" algn="just">
              <a:lnSpc>
                <a:spcPct val="95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instruction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2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expression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est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syntaxiquement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correcte,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générer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erreur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exécution.</a:t>
            </a:r>
            <a:endParaRPr sz="1400">
              <a:latin typeface="Calibri"/>
              <a:cs typeface="Calibri"/>
            </a:endParaRPr>
          </a:p>
          <a:p>
            <a:pPr marL="296545" marR="8890" indent="-284480" algn="just">
              <a:lnSpc>
                <a:spcPts val="1610"/>
              </a:lnSpc>
              <a:spcBef>
                <a:spcPts val="64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erreurs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détectées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durant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l'exécution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appelées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toujours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fatales</a:t>
            </a:r>
            <a:endParaRPr sz="1400">
              <a:latin typeface="Calibri"/>
              <a:cs typeface="Calibri"/>
            </a:endParaRPr>
          </a:p>
          <a:p>
            <a:pPr marL="297180" marR="5080" indent="-285115" algn="just">
              <a:lnSpc>
                <a:spcPct val="958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plupart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r>
              <a:rPr sz="1400" b="1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toutefois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prises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en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charge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programmes,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génère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messages 	d'erreurs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celui-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4627" y="4216908"/>
            <a:ext cx="3904615" cy="832485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latin typeface="Calibri"/>
                <a:cs typeface="Calibri"/>
              </a:rPr>
              <a:t>&gt;&gt;&gt;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10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*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(1/0)</a:t>
            </a:r>
            <a:endParaRPr sz="1200">
              <a:latin typeface="Calibri"/>
              <a:cs typeface="Calibri"/>
            </a:endParaRPr>
          </a:p>
          <a:p>
            <a:pPr marL="89535" marR="1640839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Traceback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(most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recent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last): </a:t>
            </a:r>
            <a:r>
              <a:rPr sz="1200" dirty="0">
                <a:latin typeface="Calibri"/>
                <a:cs typeface="Calibri"/>
              </a:rPr>
              <a:t>File</a:t>
            </a:r>
            <a:r>
              <a:rPr sz="1200" spc="-10" dirty="0">
                <a:latin typeface="Calibri"/>
                <a:cs typeface="Calibri"/>
              </a:rPr>
              <a:t> "&lt;stdin&gt;",</a:t>
            </a:r>
            <a:r>
              <a:rPr sz="1200" dirty="0">
                <a:latin typeface="Calibri"/>
                <a:cs typeface="Calibri"/>
              </a:rPr>
              <a:t> line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1, in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&lt;module&gt; </a:t>
            </a:r>
            <a:r>
              <a:rPr sz="1200" b="1" spc="-10" dirty="0">
                <a:solidFill>
                  <a:srgbClr val="C00000"/>
                </a:solidFill>
                <a:latin typeface="Calibri"/>
                <a:cs typeface="Calibri"/>
              </a:rPr>
              <a:t>ZeroDivisionError:</a:t>
            </a:r>
            <a:r>
              <a:rPr sz="1200" b="1" dirty="0">
                <a:solidFill>
                  <a:srgbClr val="C00000"/>
                </a:solidFill>
                <a:latin typeface="Calibri"/>
                <a:cs typeface="Calibri"/>
              </a:rPr>
              <a:t> division</a:t>
            </a:r>
            <a:r>
              <a:rPr sz="12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sz="12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C00000"/>
                </a:solidFill>
                <a:latin typeface="Calibri"/>
                <a:cs typeface="Calibri"/>
              </a:rPr>
              <a:t>zero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405496" y="1105280"/>
            <a:ext cx="3368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Administrer</a:t>
            </a:r>
            <a:r>
              <a:rPr sz="2400" b="1" spc="-8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1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exceptions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321183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d’erreur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expérimentation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Types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exceptions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Gestion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Types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2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grpSp>
        <p:nvGrpSpPr>
          <p:cNvPr id="10" name="object 10"/>
          <p:cNvGrpSpPr/>
          <p:nvPr/>
        </p:nvGrpSpPr>
        <p:grpSpPr>
          <a:xfrm>
            <a:off x="4483353" y="3322065"/>
            <a:ext cx="5447665" cy="805180"/>
            <a:chOff x="4483353" y="3322065"/>
            <a:chExt cx="5447665" cy="805180"/>
          </a:xfrm>
        </p:grpSpPr>
        <p:sp>
          <p:nvSpPr>
            <p:cNvPr id="11" name="object 11"/>
            <p:cNvSpPr/>
            <p:nvPr/>
          </p:nvSpPr>
          <p:spPr>
            <a:xfrm>
              <a:off x="4489703" y="3328415"/>
              <a:ext cx="5434965" cy="792480"/>
            </a:xfrm>
            <a:custGeom>
              <a:avLst/>
              <a:gdLst/>
              <a:ahLst/>
              <a:cxnLst/>
              <a:rect l="l" t="t" r="r" b="b"/>
              <a:pathLst>
                <a:path w="5434965" h="792479">
                  <a:moveTo>
                    <a:pt x="5302504" y="0"/>
                  </a:moveTo>
                  <a:lnTo>
                    <a:pt x="0" y="0"/>
                  </a:lnTo>
                  <a:lnTo>
                    <a:pt x="0" y="792480"/>
                  </a:lnTo>
                  <a:lnTo>
                    <a:pt x="5302504" y="792480"/>
                  </a:lnTo>
                  <a:lnTo>
                    <a:pt x="5344233" y="785741"/>
                  </a:lnTo>
                  <a:lnTo>
                    <a:pt x="5380488" y="766982"/>
                  </a:lnTo>
                  <a:lnTo>
                    <a:pt x="5409086" y="738384"/>
                  </a:lnTo>
                  <a:lnTo>
                    <a:pt x="5427845" y="702129"/>
                  </a:lnTo>
                  <a:lnTo>
                    <a:pt x="5434584" y="660400"/>
                  </a:lnTo>
                  <a:lnTo>
                    <a:pt x="5434584" y="132080"/>
                  </a:lnTo>
                  <a:lnTo>
                    <a:pt x="5427845" y="90350"/>
                  </a:lnTo>
                  <a:lnTo>
                    <a:pt x="5409086" y="54095"/>
                  </a:lnTo>
                  <a:lnTo>
                    <a:pt x="5380488" y="25497"/>
                  </a:lnTo>
                  <a:lnTo>
                    <a:pt x="5344233" y="6738"/>
                  </a:lnTo>
                  <a:lnTo>
                    <a:pt x="5302504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89703" y="3328415"/>
              <a:ext cx="5434965" cy="792480"/>
            </a:xfrm>
            <a:custGeom>
              <a:avLst/>
              <a:gdLst/>
              <a:ahLst/>
              <a:cxnLst/>
              <a:rect l="l" t="t" r="r" b="b"/>
              <a:pathLst>
                <a:path w="5434965" h="792479">
                  <a:moveTo>
                    <a:pt x="5434584" y="132080"/>
                  </a:moveTo>
                  <a:lnTo>
                    <a:pt x="5434584" y="660400"/>
                  </a:lnTo>
                  <a:lnTo>
                    <a:pt x="5427845" y="702129"/>
                  </a:lnTo>
                  <a:lnTo>
                    <a:pt x="5409086" y="738384"/>
                  </a:lnTo>
                  <a:lnTo>
                    <a:pt x="5380488" y="766982"/>
                  </a:lnTo>
                  <a:lnTo>
                    <a:pt x="5344233" y="785741"/>
                  </a:lnTo>
                  <a:lnTo>
                    <a:pt x="5302504" y="792480"/>
                  </a:lnTo>
                  <a:lnTo>
                    <a:pt x="0" y="792480"/>
                  </a:lnTo>
                  <a:lnTo>
                    <a:pt x="0" y="0"/>
                  </a:lnTo>
                  <a:lnTo>
                    <a:pt x="5302504" y="0"/>
                  </a:lnTo>
                  <a:lnTo>
                    <a:pt x="5344233" y="6738"/>
                  </a:lnTo>
                  <a:lnTo>
                    <a:pt x="5380488" y="25497"/>
                  </a:lnTo>
                  <a:lnTo>
                    <a:pt x="5409086" y="54095"/>
                  </a:lnTo>
                  <a:lnTo>
                    <a:pt x="5427845" y="90350"/>
                  </a:lnTo>
                  <a:lnTo>
                    <a:pt x="5434584" y="132080"/>
                  </a:lnTo>
                  <a:close/>
                </a:path>
              </a:pathLst>
            </a:custGeom>
            <a:ln w="12700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98982" y="1662430"/>
            <a:ext cx="10766425" cy="205041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9085" marR="5080" indent="-287020">
              <a:lnSpc>
                <a:spcPts val="1610"/>
              </a:lnSpc>
              <a:spcBef>
                <a:spcPts val="20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Python,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détectées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durant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l’exécution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script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appelées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correspondent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 un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état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“exceptionnel”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du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script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analyse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d’erreur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déclenché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possède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nombreuses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d’exceptions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natives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instance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objet)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créée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 classe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d’exception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natives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BaseException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Quatre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d’exception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dérivent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BaseException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savoir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4053840" marR="1976755" lvl="1" indent="-114935">
              <a:lnSpc>
                <a:spcPts val="1560"/>
              </a:lnSpc>
              <a:spcBef>
                <a:spcPts val="765"/>
              </a:spcBef>
              <a:buFont typeface="Arial MT"/>
              <a:buChar char="•"/>
              <a:tabLst>
                <a:tab pos="4055110" algn="l"/>
              </a:tabLst>
            </a:pP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intégrées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non-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exit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système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dérivées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26210" y="3425697"/>
            <a:ext cx="3070225" cy="601345"/>
            <a:chOff x="1426210" y="3425697"/>
            <a:chExt cx="3070225" cy="601345"/>
          </a:xfrm>
        </p:grpSpPr>
        <p:sp>
          <p:nvSpPr>
            <p:cNvPr id="15" name="object 15"/>
            <p:cNvSpPr/>
            <p:nvPr/>
          </p:nvSpPr>
          <p:spPr>
            <a:xfrm>
              <a:off x="1432560" y="3432047"/>
              <a:ext cx="3057525" cy="588645"/>
            </a:xfrm>
            <a:custGeom>
              <a:avLst/>
              <a:gdLst/>
              <a:ahLst/>
              <a:cxnLst/>
              <a:rect l="l" t="t" r="r" b="b"/>
              <a:pathLst>
                <a:path w="3057525" h="588645">
                  <a:moveTo>
                    <a:pt x="2959100" y="0"/>
                  </a:moveTo>
                  <a:lnTo>
                    <a:pt x="98043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490219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3" y="588263"/>
                  </a:lnTo>
                  <a:lnTo>
                    <a:pt x="2959100" y="588263"/>
                  </a:lnTo>
                  <a:lnTo>
                    <a:pt x="2997243" y="580552"/>
                  </a:lnTo>
                  <a:lnTo>
                    <a:pt x="3028410" y="559530"/>
                  </a:lnTo>
                  <a:lnTo>
                    <a:pt x="3049432" y="528363"/>
                  </a:lnTo>
                  <a:lnTo>
                    <a:pt x="3057143" y="490219"/>
                  </a:lnTo>
                  <a:lnTo>
                    <a:pt x="3057143" y="98043"/>
                  </a:lnTo>
                  <a:lnTo>
                    <a:pt x="3049432" y="59900"/>
                  </a:lnTo>
                  <a:lnTo>
                    <a:pt x="3028410" y="28733"/>
                  </a:lnTo>
                  <a:lnTo>
                    <a:pt x="2997243" y="7711"/>
                  </a:lnTo>
                  <a:lnTo>
                    <a:pt x="29591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32560" y="3432047"/>
              <a:ext cx="3057525" cy="588645"/>
            </a:xfrm>
            <a:custGeom>
              <a:avLst/>
              <a:gdLst/>
              <a:ahLst/>
              <a:cxnLst/>
              <a:rect l="l" t="t" r="r" b="b"/>
              <a:pathLst>
                <a:path w="3057525" h="588645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3" y="0"/>
                  </a:lnTo>
                  <a:lnTo>
                    <a:pt x="2959100" y="0"/>
                  </a:lnTo>
                  <a:lnTo>
                    <a:pt x="2997243" y="7711"/>
                  </a:lnTo>
                  <a:lnTo>
                    <a:pt x="3028410" y="28733"/>
                  </a:lnTo>
                  <a:lnTo>
                    <a:pt x="3049432" y="59900"/>
                  </a:lnTo>
                  <a:lnTo>
                    <a:pt x="3057143" y="98043"/>
                  </a:lnTo>
                  <a:lnTo>
                    <a:pt x="3057143" y="490219"/>
                  </a:lnTo>
                  <a:lnTo>
                    <a:pt x="3049432" y="528363"/>
                  </a:lnTo>
                  <a:lnTo>
                    <a:pt x="3028410" y="559530"/>
                  </a:lnTo>
                  <a:lnTo>
                    <a:pt x="2997243" y="580552"/>
                  </a:lnTo>
                  <a:lnTo>
                    <a:pt x="2959100" y="588263"/>
                  </a:lnTo>
                  <a:lnTo>
                    <a:pt x="98043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19"/>
                  </a:lnTo>
                  <a:lnTo>
                    <a:pt x="0" y="980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530855" y="3565601"/>
            <a:ext cx="85788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Exception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83353" y="4163314"/>
            <a:ext cx="5447665" cy="802640"/>
            <a:chOff x="4483353" y="4163314"/>
            <a:chExt cx="5447665" cy="802640"/>
          </a:xfrm>
        </p:grpSpPr>
        <p:sp>
          <p:nvSpPr>
            <p:cNvPr id="19" name="object 19"/>
            <p:cNvSpPr/>
            <p:nvPr/>
          </p:nvSpPr>
          <p:spPr>
            <a:xfrm>
              <a:off x="4489703" y="4169664"/>
              <a:ext cx="5434965" cy="789940"/>
            </a:xfrm>
            <a:custGeom>
              <a:avLst/>
              <a:gdLst/>
              <a:ahLst/>
              <a:cxnLst/>
              <a:rect l="l" t="t" r="r" b="b"/>
              <a:pathLst>
                <a:path w="5434965" h="789939">
                  <a:moveTo>
                    <a:pt x="5303012" y="0"/>
                  </a:moveTo>
                  <a:lnTo>
                    <a:pt x="0" y="0"/>
                  </a:lnTo>
                  <a:lnTo>
                    <a:pt x="0" y="789432"/>
                  </a:lnTo>
                  <a:lnTo>
                    <a:pt x="5303012" y="789432"/>
                  </a:lnTo>
                  <a:lnTo>
                    <a:pt x="5344590" y="782722"/>
                  </a:lnTo>
                  <a:lnTo>
                    <a:pt x="5380707" y="764040"/>
                  </a:lnTo>
                  <a:lnTo>
                    <a:pt x="5409192" y="735555"/>
                  </a:lnTo>
                  <a:lnTo>
                    <a:pt x="5427874" y="699438"/>
                  </a:lnTo>
                  <a:lnTo>
                    <a:pt x="5434584" y="657860"/>
                  </a:lnTo>
                  <a:lnTo>
                    <a:pt x="5434584" y="131572"/>
                  </a:lnTo>
                  <a:lnTo>
                    <a:pt x="5427874" y="89993"/>
                  </a:lnTo>
                  <a:lnTo>
                    <a:pt x="5409192" y="53876"/>
                  </a:lnTo>
                  <a:lnTo>
                    <a:pt x="5380707" y="25391"/>
                  </a:lnTo>
                  <a:lnTo>
                    <a:pt x="5344590" y="6709"/>
                  </a:lnTo>
                  <a:lnTo>
                    <a:pt x="5303012" y="0"/>
                  </a:lnTo>
                  <a:close/>
                </a:path>
              </a:pathLst>
            </a:custGeom>
            <a:solidFill>
              <a:srgbClr val="D0EAD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89703" y="4169664"/>
              <a:ext cx="5434965" cy="789940"/>
            </a:xfrm>
            <a:custGeom>
              <a:avLst/>
              <a:gdLst/>
              <a:ahLst/>
              <a:cxnLst/>
              <a:rect l="l" t="t" r="r" b="b"/>
              <a:pathLst>
                <a:path w="5434965" h="789939">
                  <a:moveTo>
                    <a:pt x="5434584" y="131572"/>
                  </a:moveTo>
                  <a:lnTo>
                    <a:pt x="5434584" y="657860"/>
                  </a:lnTo>
                  <a:lnTo>
                    <a:pt x="5427874" y="699438"/>
                  </a:lnTo>
                  <a:lnTo>
                    <a:pt x="5409192" y="735555"/>
                  </a:lnTo>
                  <a:lnTo>
                    <a:pt x="5380707" y="764040"/>
                  </a:lnTo>
                  <a:lnTo>
                    <a:pt x="5344590" y="782722"/>
                  </a:lnTo>
                  <a:lnTo>
                    <a:pt x="5303012" y="789432"/>
                  </a:lnTo>
                  <a:lnTo>
                    <a:pt x="0" y="789432"/>
                  </a:lnTo>
                  <a:lnTo>
                    <a:pt x="0" y="0"/>
                  </a:lnTo>
                  <a:lnTo>
                    <a:pt x="5303012" y="0"/>
                  </a:lnTo>
                  <a:lnTo>
                    <a:pt x="5344590" y="6709"/>
                  </a:lnTo>
                  <a:lnTo>
                    <a:pt x="5380707" y="25391"/>
                  </a:lnTo>
                  <a:lnTo>
                    <a:pt x="5409192" y="53876"/>
                  </a:lnTo>
                  <a:lnTo>
                    <a:pt x="5427874" y="89993"/>
                  </a:lnTo>
                  <a:lnTo>
                    <a:pt x="5434584" y="131572"/>
                  </a:lnTo>
                  <a:close/>
                </a:path>
              </a:pathLst>
            </a:custGeom>
            <a:ln w="12700">
              <a:solidFill>
                <a:srgbClr val="D0E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726051" y="3700094"/>
            <a:ext cx="4784090" cy="1162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635" indent="-114935">
              <a:lnSpc>
                <a:spcPts val="1610"/>
              </a:lnSpc>
              <a:spcBef>
                <a:spcPts val="95"/>
              </a:spcBef>
              <a:buFont typeface="Arial MT"/>
              <a:buChar char="•"/>
              <a:tabLst>
                <a:tab pos="127635" algn="l"/>
              </a:tabLst>
            </a:pP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l'utilisateur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doivent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également</a:t>
            </a:r>
            <a:endParaRPr sz="1400">
              <a:latin typeface="Calibri"/>
              <a:cs typeface="Calibri"/>
            </a:endParaRPr>
          </a:p>
          <a:p>
            <a:pPr marL="128270">
              <a:lnSpc>
                <a:spcPts val="1610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dérivées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endParaRPr sz="1400">
              <a:latin typeface="Calibri"/>
              <a:cs typeface="Calibri"/>
            </a:endParaRPr>
          </a:p>
          <a:p>
            <a:pPr marL="127000" marR="41910" indent="-114935">
              <a:lnSpc>
                <a:spcPct val="92200"/>
              </a:lnSpc>
              <a:spcBef>
                <a:spcPts val="1090"/>
              </a:spcBef>
              <a:buFont typeface="Arial MT"/>
              <a:buChar char="•"/>
              <a:tabLst>
                <a:tab pos="12827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Déclenchée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sys.exit()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associée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entier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simple,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spécifie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l'état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sortie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système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(passé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la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exit()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C)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26210" y="4239514"/>
            <a:ext cx="3070225" cy="650240"/>
            <a:chOff x="1426210" y="4239514"/>
            <a:chExt cx="3070225" cy="650240"/>
          </a:xfrm>
        </p:grpSpPr>
        <p:sp>
          <p:nvSpPr>
            <p:cNvPr id="23" name="object 23"/>
            <p:cNvSpPr/>
            <p:nvPr/>
          </p:nvSpPr>
          <p:spPr>
            <a:xfrm>
              <a:off x="1432560" y="4245864"/>
              <a:ext cx="3057525" cy="637540"/>
            </a:xfrm>
            <a:custGeom>
              <a:avLst/>
              <a:gdLst/>
              <a:ahLst/>
              <a:cxnLst/>
              <a:rect l="l" t="t" r="r" b="b"/>
              <a:pathLst>
                <a:path w="3057525" h="637539">
                  <a:moveTo>
                    <a:pt x="2950972" y="0"/>
                  </a:moveTo>
                  <a:lnTo>
                    <a:pt x="106172" y="0"/>
                  </a:lnTo>
                  <a:lnTo>
                    <a:pt x="64829" y="8338"/>
                  </a:lnTo>
                  <a:lnTo>
                    <a:pt x="31083" y="31083"/>
                  </a:lnTo>
                  <a:lnTo>
                    <a:pt x="8338" y="64829"/>
                  </a:lnTo>
                  <a:lnTo>
                    <a:pt x="0" y="106172"/>
                  </a:lnTo>
                  <a:lnTo>
                    <a:pt x="0" y="530860"/>
                  </a:lnTo>
                  <a:lnTo>
                    <a:pt x="8338" y="572202"/>
                  </a:lnTo>
                  <a:lnTo>
                    <a:pt x="31083" y="605948"/>
                  </a:lnTo>
                  <a:lnTo>
                    <a:pt x="64829" y="628693"/>
                  </a:lnTo>
                  <a:lnTo>
                    <a:pt x="106172" y="637032"/>
                  </a:lnTo>
                  <a:lnTo>
                    <a:pt x="2950972" y="637032"/>
                  </a:lnTo>
                  <a:lnTo>
                    <a:pt x="2992314" y="628693"/>
                  </a:lnTo>
                  <a:lnTo>
                    <a:pt x="3026060" y="605948"/>
                  </a:lnTo>
                  <a:lnTo>
                    <a:pt x="3048805" y="572202"/>
                  </a:lnTo>
                  <a:lnTo>
                    <a:pt x="3057143" y="530860"/>
                  </a:lnTo>
                  <a:lnTo>
                    <a:pt x="3057143" y="106172"/>
                  </a:lnTo>
                  <a:lnTo>
                    <a:pt x="3048805" y="64829"/>
                  </a:lnTo>
                  <a:lnTo>
                    <a:pt x="3026060" y="31083"/>
                  </a:lnTo>
                  <a:lnTo>
                    <a:pt x="2992314" y="8338"/>
                  </a:lnTo>
                  <a:lnTo>
                    <a:pt x="2950972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32560" y="4245864"/>
              <a:ext cx="3057525" cy="637540"/>
            </a:xfrm>
            <a:custGeom>
              <a:avLst/>
              <a:gdLst/>
              <a:ahLst/>
              <a:cxnLst/>
              <a:rect l="l" t="t" r="r" b="b"/>
              <a:pathLst>
                <a:path w="3057525" h="637539">
                  <a:moveTo>
                    <a:pt x="0" y="106172"/>
                  </a:moveTo>
                  <a:lnTo>
                    <a:pt x="8338" y="64829"/>
                  </a:lnTo>
                  <a:lnTo>
                    <a:pt x="31083" y="31083"/>
                  </a:lnTo>
                  <a:lnTo>
                    <a:pt x="64829" y="8338"/>
                  </a:lnTo>
                  <a:lnTo>
                    <a:pt x="106172" y="0"/>
                  </a:lnTo>
                  <a:lnTo>
                    <a:pt x="2950972" y="0"/>
                  </a:lnTo>
                  <a:lnTo>
                    <a:pt x="2992314" y="8338"/>
                  </a:lnTo>
                  <a:lnTo>
                    <a:pt x="3026060" y="31083"/>
                  </a:lnTo>
                  <a:lnTo>
                    <a:pt x="3048805" y="64829"/>
                  </a:lnTo>
                  <a:lnTo>
                    <a:pt x="3057143" y="106172"/>
                  </a:lnTo>
                  <a:lnTo>
                    <a:pt x="3057143" y="530860"/>
                  </a:lnTo>
                  <a:lnTo>
                    <a:pt x="3048805" y="572202"/>
                  </a:lnTo>
                  <a:lnTo>
                    <a:pt x="3026060" y="605948"/>
                  </a:lnTo>
                  <a:lnTo>
                    <a:pt x="2992314" y="628693"/>
                  </a:lnTo>
                  <a:lnTo>
                    <a:pt x="2950972" y="637032"/>
                  </a:lnTo>
                  <a:lnTo>
                    <a:pt x="106172" y="637032"/>
                  </a:lnTo>
                  <a:lnTo>
                    <a:pt x="64829" y="628693"/>
                  </a:lnTo>
                  <a:lnTo>
                    <a:pt x="31083" y="605948"/>
                  </a:lnTo>
                  <a:lnTo>
                    <a:pt x="8338" y="572202"/>
                  </a:lnTo>
                  <a:lnTo>
                    <a:pt x="0" y="530860"/>
                  </a:lnTo>
                  <a:lnTo>
                    <a:pt x="0" y="1061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487548" y="4406646"/>
            <a:ext cx="9493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SystemExit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483353" y="5004561"/>
            <a:ext cx="5447665" cy="802640"/>
            <a:chOff x="4483353" y="5004561"/>
            <a:chExt cx="5447665" cy="802640"/>
          </a:xfrm>
        </p:grpSpPr>
        <p:sp>
          <p:nvSpPr>
            <p:cNvPr id="27" name="object 27"/>
            <p:cNvSpPr/>
            <p:nvPr/>
          </p:nvSpPr>
          <p:spPr>
            <a:xfrm>
              <a:off x="4489703" y="5010911"/>
              <a:ext cx="5434965" cy="789940"/>
            </a:xfrm>
            <a:custGeom>
              <a:avLst/>
              <a:gdLst/>
              <a:ahLst/>
              <a:cxnLst/>
              <a:rect l="l" t="t" r="r" b="b"/>
              <a:pathLst>
                <a:path w="5434965" h="789939">
                  <a:moveTo>
                    <a:pt x="5303012" y="0"/>
                  </a:moveTo>
                  <a:lnTo>
                    <a:pt x="0" y="0"/>
                  </a:lnTo>
                  <a:lnTo>
                    <a:pt x="0" y="789432"/>
                  </a:lnTo>
                  <a:lnTo>
                    <a:pt x="5303012" y="789432"/>
                  </a:lnTo>
                  <a:lnTo>
                    <a:pt x="5344590" y="782724"/>
                  </a:lnTo>
                  <a:lnTo>
                    <a:pt x="5380707" y="764047"/>
                  </a:lnTo>
                  <a:lnTo>
                    <a:pt x="5409192" y="735566"/>
                  </a:lnTo>
                  <a:lnTo>
                    <a:pt x="5427874" y="699448"/>
                  </a:lnTo>
                  <a:lnTo>
                    <a:pt x="5434584" y="657860"/>
                  </a:lnTo>
                  <a:lnTo>
                    <a:pt x="5434584" y="131571"/>
                  </a:lnTo>
                  <a:lnTo>
                    <a:pt x="5427874" y="89993"/>
                  </a:lnTo>
                  <a:lnTo>
                    <a:pt x="5409192" y="53876"/>
                  </a:lnTo>
                  <a:lnTo>
                    <a:pt x="5380707" y="25391"/>
                  </a:lnTo>
                  <a:lnTo>
                    <a:pt x="5344590" y="6709"/>
                  </a:lnTo>
                  <a:lnTo>
                    <a:pt x="5303012" y="0"/>
                  </a:lnTo>
                  <a:close/>
                </a:path>
              </a:pathLst>
            </a:custGeom>
            <a:solidFill>
              <a:srgbClr val="D4E2C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89703" y="5010911"/>
              <a:ext cx="5434965" cy="789940"/>
            </a:xfrm>
            <a:custGeom>
              <a:avLst/>
              <a:gdLst/>
              <a:ahLst/>
              <a:cxnLst/>
              <a:rect l="l" t="t" r="r" b="b"/>
              <a:pathLst>
                <a:path w="5434965" h="789939">
                  <a:moveTo>
                    <a:pt x="5434584" y="131571"/>
                  </a:moveTo>
                  <a:lnTo>
                    <a:pt x="5434584" y="657860"/>
                  </a:lnTo>
                  <a:lnTo>
                    <a:pt x="5427874" y="699448"/>
                  </a:lnTo>
                  <a:lnTo>
                    <a:pt x="5409192" y="735566"/>
                  </a:lnTo>
                  <a:lnTo>
                    <a:pt x="5380707" y="764047"/>
                  </a:lnTo>
                  <a:lnTo>
                    <a:pt x="5344590" y="782724"/>
                  </a:lnTo>
                  <a:lnTo>
                    <a:pt x="5303012" y="789432"/>
                  </a:lnTo>
                  <a:lnTo>
                    <a:pt x="0" y="789432"/>
                  </a:lnTo>
                  <a:lnTo>
                    <a:pt x="0" y="0"/>
                  </a:lnTo>
                  <a:lnTo>
                    <a:pt x="5303012" y="0"/>
                  </a:lnTo>
                  <a:lnTo>
                    <a:pt x="5344590" y="6709"/>
                  </a:lnTo>
                  <a:lnTo>
                    <a:pt x="5380707" y="25391"/>
                  </a:lnTo>
                  <a:lnTo>
                    <a:pt x="5409192" y="53876"/>
                  </a:lnTo>
                  <a:lnTo>
                    <a:pt x="5427874" y="89993"/>
                  </a:lnTo>
                  <a:lnTo>
                    <a:pt x="5434584" y="131571"/>
                  </a:lnTo>
                  <a:close/>
                </a:path>
              </a:pathLst>
            </a:custGeom>
            <a:ln w="12700">
              <a:solidFill>
                <a:srgbClr val="D4E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726051" y="5267071"/>
            <a:ext cx="45777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635" indent="-11493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12763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Levée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lorsque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méthode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close()</a:t>
            </a:r>
            <a:r>
              <a:rPr sz="1400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générateur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appelée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26210" y="5047234"/>
            <a:ext cx="3070225" cy="716915"/>
            <a:chOff x="1426210" y="5047234"/>
            <a:chExt cx="3070225" cy="716915"/>
          </a:xfrm>
        </p:grpSpPr>
        <p:sp>
          <p:nvSpPr>
            <p:cNvPr id="31" name="object 31"/>
            <p:cNvSpPr/>
            <p:nvPr/>
          </p:nvSpPr>
          <p:spPr>
            <a:xfrm>
              <a:off x="1432560" y="5053584"/>
              <a:ext cx="3057525" cy="704215"/>
            </a:xfrm>
            <a:custGeom>
              <a:avLst/>
              <a:gdLst/>
              <a:ahLst/>
              <a:cxnLst/>
              <a:rect l="l" t="t" r="r" b="b"/>
              <a:pathLst>
                <a:path w="3057525" h="704214">
                  <a:moveTo>
                    <a:pt x="2939795" y="0"/>
                  </a:moveTo>
                  <a:lnTo>
                    <a:pt x="117348" y="0"/>
                  </a:lnTo>
                  <a:lnTo>
                    <a:pt x="71687" y="9227"/>
                  </a:lnTo>
                  <a:lnTo>
                    <a:pt x="34385" y="34385"/>
                  </a:lnTo>
                  <a:lnTo>
                    <a:pt x="9227" y="71687"/>
                  </a:lnTo>
                  <a:lnTo>
                    <a:pt x="0" y="117348"/>
                  </a:lnTo>
                  <a:lnTo>
                    <a:pt x="0" y="586740"/>
                  </a:lnTo>
                  <a:lnTo>
                    <a:pt x="9227" y="632416"/>
                  </a:lnTo>
                  <a:lnTo>
                    <a:pt x="34385" y="669717"/>
                  </a:lnTo>
                  <a:lnTo>
                    <a:pt x="71687" y="694866"/>
                  </a:lnTo>
                  <a:lnTo>
                    <a:pt x="117348" y="704088"/>
                  </a:lnTo>
                  <a:lnTo>
                    <a:pt x="2939795" y="704088"/>
                  </a:lnTo>
                  <a:lnTo>
                    <a:pt x="2985456" y="694866"/>
                  </a:lnTo>
                  <a:lnTo>
                    <a:pt x="3022758" y="669717"/>
                  </a:lnTo>
                  <a:lnTo>
                    <a:pt x="3047916" y="632416"/>
                  </a:lnTo>
                  <a:lnTo>
                    <a:pt x="3057143" y="586740"/>
                  </a:lnTo>
                  <a:lnTo>
                    <a:pt x="3057143" y="117348"/>
                  </a:lnTo>
                  <a:lnTo>
                    <a:pt x="3047916" y="71687"/>
                  </a:lnTo>
                  <a:lnTo>
                    <a:pt x="3022758" y="34385"/>
                  </a:lnTo>
                  <a:lnTo>
                    <a:pt x="2985456" y="9227"/>
                  </a:lnTo>
                  <a:lnTo>
                    <a:pt x="2939795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32560" y="5053584"/>
              <a:ext cx="3057525" cy="704215"/>
            </a:xfrm>
            <a:custGeom>
              <a:avLst/>
              <a:gdLst/>
              <a:ahLst/>
              <a:cxnLst/>
              <a:rect l="l" t="t" r="r" b="b"/>
              <a:pathLst>
                <a:path w="3057525" h="704214">
                  <a:moveTo>
                    <a:pt x="0" y="117348"/>
                  </a:moveTo>
                  <a:lnTo>
                    <a:pt x="9227" y="71687"/>
                  </a:lnTo>
                  <a:lnTo>
                    <a:pt x="34385" y="34385"/>
                  </a:lnTo>
                  <a:lnTo>
                    <a:pt x="71687" y="9227"/>
                  </a:lnTo>
                  <a:lnTo>
                    <a:pt x="117348" y="0"/>
                  </a:lnTo>
                  <a:lnTo>
                    <a:pt x="2939795" y="0"/>
                  </a:lnTo>
                  <a:lnTo>
                    <a:pt x="2985456" y="9227"/>
                  </a:lnTo>
                  <a:lnTo>
                    <a:pt x="3022758" y="34385"/>
                  </a:lnTo>
                  <a:lnTo>
                    <a:pt x="3047916" y="71687"/>
                  </a:lnTo>
                  <a:lnTo>
                    <a:pt x="3057143" y="117348"/>
                  </a:lnTo>
                  <a:lnTo>
                    <a:pt x="3057143" y="586740"/>
                  </a:lnTo>
                  <a:lnTo>
                    <a:pt x="3047916" y="632416"/>
                  </a:lnTo>
                  <a:lnTo>
                    <a:pt x="3022758" y="669717"/>
                  </a:lnTo>
                  <a:lnTo>
                    <a:pt x="2985456" y="694866"/>
                  </a:lnTo>
                  <a:lnTo>
                    <a:pt x="2939795" y="704088"/>
                  </a:lnTo>
                  <a:lnTo>
                    <a:pt x="117348" y="704088"/>
                  </a:lnTo>
                  <a:lnTo>
                    <a:pt x="71687" y="694866"/>
                  </a:lnTo>
                  <a:lnTo>
                    <a:pt x="34385" y="669717"/>
                  </a:lnTo>
                  <a:lnTo>
                    <a:pt x="9227" y="632416"/>
                  </a:lnTo>
                  <a:lnTo>
                    <a:pt x="0" y="586740"/>
                  </a:lnTo>
                  <a:lnTo>
                    <a:pt x="0" y="1173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359532" y="5246573"/>
            <a:ext cx="120523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GeneratorExit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426210" y="5845809"/>
            <a:ext cx="3070225" cy="582930"/>
            <a:chOff x="1426210" y="5845809"/>
            <a:chExt cx="3070225" cy="582930"/>
          </a:xfrm>
        </p:grpSpPr>
        <p:sp>
          <p:nvSpPr>
            <p:cNvPr id="35" name="object 35"/>
            <p:cNvSpPr/>
            <p:nvPr/>
          </p:nvSpPr>
          <p:spPr>
            <a:xfrm>
              <a:off x="1432560" y="5852159"/>
              <a:ext cx="3057525" cy="570230"/>
            </a:xfrm>
            <a:custGeom>
              <a:avLst/>
              <a:gdLst/>
              <a:ahLst/>
              <a:cxnLst/>
              <a:rect l="l" t="t" r="r" b="b"/>
              <a:pathLst>
                <a:path w="3057525" h="570229">
                  <a:moveTo>
                    <a:pt x="2962148" y="0"/>
                  </a:moveTo>
                  <a:lnTo>
                    <a:pt x="94996" y="0"/>
                  </a:lnTo>
                  <a:lnTo>
                    <a:pt x="58025" y="7465"/>
                  </a:lnTo>
                  <a:lnTo>
                    <a:pt x="27828" y="27824"/>
                  </a:lnTo>
                  <a:lnTo>
                    <a:pt x="7467" y="58019"/>
                  </a:lnTo>
                  <a:lnTo>
                    <a:pt x="0" y="94995"/>
                  </a:lnTo>
                  <a:lnTo>
                    <a:pt x="0" y="474979"/>
                  </a:lnTo>
                  <a:lnTo>
                    <a:pt x="7467" y="511956"/>
                  </a:lnTo>
                  <a:lnTo>
                    <a:pt x="27828" y="542151"/>
                  </a:lnTo>
                  <a:lnTo>
                    <a:pt x="58025" y="562510"/>
                  </a:lnTo>
                  <a:lnTo>
                    <a:pt x="94996" y="569975"/>
                  </a:lnTo>
                  <a:lnTo>
                    <a:pt x="2962148" y="569975"/>
                  </a:lnTo>
                  <a:lnTo>
                    <a:pt x="2999118" y="562510"/>
                  </a:lnTo>
                  <a:lnTo>
                    <a:pt x="3029315" y="542151"/>
                  </a:lnTo>
                  <a:lnTo>
                    <a:pt x="3049676" y="511956"/>
                  </a:lnTo>
                  <a:lnTo>
                    <a:pt x="3057143" y="474979"/>
                  </a:lnTo>
                  <a:lnTo>
                    <a:pt x="3057143" y="94995"/>
                  </a:lnTo>
                  <a:lnTo>
                    <a:pt x="3049676" y="58019"/>
                  </a:lnTo>
                  <a:lnTo>
                    <a:pt x="3029315" y="27824"/>
                  </a:lnTo>
                  <a:lnTo>
                    <a:pt x="2999118" y="7465"/>
                  </a:lnTo>
                  <a:lnTo>
                    <a:pt x="296214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32560" y="5852159"/>
              <a:ext cx="3057525" cy="570230"/>
            </a:xfrm>
            <a:custGeom>
              <a:avLst/>
              <a:gdLst/>
              <a:ahLst/>
              <a:cxnLst/>
              <a:rect l="l" t="t" r="r" b="b"/>
              <a:pathLst>
                <a:path w="3057525" h="570229">
                  <a:moveTo>
                    <a:pt x="0" y="94995"/>
                  </a:moveTo>
                  <a:lnTo>
                    <a:pt x="7467" y="58019"/>
                  </a:lnTo>
                  <a:lnTo>
                    <a:pt x="27828" y="27824"/>
                  </a:lnTo>
                  <a:lnTo>
                    <a:pt x="58025" y="7465"/>
                  </a:lnTo>
                  <a:lnTo>
                    <a:pt x="94996" y="0"/>
                  </a:lnTo>
                  <a:lnTo>
                    <a:pt x="2962148" y="0"/>
                  </a:lnTo>
                  <a:lnTo>
                    <a:pt x="2999118" y="7465"/>
                  </a:lnTo>
                  <a:lnTo>
                    <a:pt x="3029315" y="27824"/>
                  </a:lnTo>
                  <a:lnTo>
                    <a:pt x="3049676" y="58019"/>
                  </a:lnTo>
                  <a:lnTo>
                    <a:pt x="3057143" y="94995"/>
                  </a:lnTo>
                  <a:lnTo>
                    <a:pt x="3057143" y="474979"/>
                  </a:lnTo>
                  <a:lnTo>
                    <a:pt x="3049676" y="511956"/>
                  </a:lnTo>
                  <a:lnTo>
                    <a:pt x="3029315" y="542151"/>
                  </a:lnTo>
                  <a:lnTo>
                    <a:pt x="2999118" y="562510"/>
                  </a:lnTo>
                  <a:lnTo>
                    <a:pt x="2962148" y="569975"/>
                  </a:lnTo>
                  <a:lnTo>
                    <a:pt x="94996" y="569975"/>
                  </a:lnTo>
                  <a:lnTo>
                    <a:pt x="58025" y="562510"/>
                  </a:lnTo>
                  <a:lnTo>
                    <a:pt x="27828" y="542151"/>
                  </a:lnTo>
                  <a:lnTo>
                    <a:pt x="7467" y="511956"/>
                  </a:lnTo>
                  <a:lnTo>
                    <a:pt x="0" y="474979"/>
                  </a:lnTo>
                  <a:lnTo>
                    <a:pt x="0" y="949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161158" y="5979058"/>
            <a:ext cx="160210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KeyBoradInterrupt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13834" y="5848858"/>
            <a:ext cx="5447665" cy="549275"/>
            <a:chOff x="4513834" y="5848858"/>
            <a:chExt cx="5447665" cy="549275"/>
          </a:xfrm>
        </p:grpSpPr>
        <p:sp>
          <p:nvSpPr>
            <p:cNvPr id="39" name="object 39"/>
            <p:cNvSpPr/>
            <p:nvPr/>
          </p:nvSpPr>
          <p:spPr>
            <a:xfrm>
              <a:off x="4520184" y="5855208"/>
              <a:ext cx="5434965" cy="536575"/>
            </a:xfrm>
            <a:custGeom>
              <a:avLst/>
              <a:gdLst/>
              <a:ahLst/>
              <a:cxnLst/>
              <a:rect l="l" t="t" r="r" b="b"/>
              <a:pathLst>
                <a:path w="5434965" h="536575">
                  <a:moveTo>
                    <a:pt x="5345175" y="0"/>
                  </a:moveTo>
                  <a:lnTo>
                    <a:pt x="0" y="0"/>
                  </a:lnTo>
                  <a:lnTo>
                    <a:pt x="0" y="536447"/>
                  </a:lnTo>
                  <a:lnTo>
                    <a:pt x="5345175" y="536447"/>
                  </a:lnTo>
                  <a:lnTo>
                    <a:pt x="5379987" y="529421"/>
                  </a:lnTo>
                  <a:lnTo>
                    <a:pt x="5408406" y="510260"/>
                  </a:lnTo>
                  <a:lnTo>
                    <a:pt x="5427561" y="481841"/>
                  </a:lnTo>
                  <a:lnTo>
                    <a:pt x="5434584" y="447039"/>
                  </a:lnTo>
                  <a:lnTo>
                    <a:pt x="5434584" y="89407"/>
                  </a:lnTo>
                  <a:lnTo>
                    <a:pt x="5427561" y="54606"/>
                  </a:lnTo>
                  <a:lnTo>
                    <a:pt x="5408406" y="26187"/>
                  </a:lnTo>
                  <a:lnTo>
                    <a:pt x="5379987" y="7026"/>
                  </a:lnTo>
                  <a:lnTo>
                    <a:pt x="5345175" y="0"/>
                  </a:lnTo>
                  <a:close/>
                </a:path>
              </a:pathLst>
            </a:custGeom>
            <a:solidFill>
              <a:srgbClr val="D4E2C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20184" y="5855208"/>
              <a:ext cx="5434965" cy="536575"/>
            </a:xfrm>
            <a:custGeom>
              <a:avLst/>
              <a:gdLst/>
              <a:ahLst/>
              <a:cxnLst/>
              <a:rect l="l" t="t" r="r" b="b"/>
              <a:pathLst>
                <a:path w="5434965" h="536575">
                  <a:moveTo>
                    <a:pt x="5434584" y="89407"/>
                  </a:moveTo>
                  <a:lnTo>
                    <a:pt x="5434584" y="447039"/>
                  </a:lnTo>
                  <a:lnTo>
                    <a:pt x="5427561" y="481841"/>
                  </a:lnTo>
                  <a:lnTo>
                    <a:pt x="5408406" y="510260"/>
                  </a:lnTo>
                  <a:lnTo>
                    <a:pt x="5379987" y="529421"/>
                  </a:lnTo>
                  <a:lnTo>
                    <a:pt x="5345175" y="536447"/>
                  </a:lnTo>
                  <a:lnTo>
                    <a:pt x="0" y="536447"/>
                  </a:lnTo>
                  <a:lnTo>
                    <a:pt x="0" y="0"/>
                  </a:lnTo>
                  <a:lnTo>
                    <a:pt x="5345175" y="0"/>
                  </a:lnTo>
                  <a:lnTo>
                    <a:pt x="5379987" y="7026"/>
                  </a:lnTo>
                  <a:lnTo>
                    <a:pt x="5408406" y="26187"/>
                  </a:lnTo>
                  <a:lnTo>
                    <a:pt x="5427561" y="54606"/>
                  </a:lnTo>
                  <a:lnTo>
                    <a:pt x="5434584" y="89407"/>
                  </a:lnTo>
                  <a:close/>
                </a:path>
              </a:pathLst>
            </a:custGeom>
            <a:ln w="12700">
              <a:solidFill>
                <a:srgbClr val="D4E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526534" y="5949492"/>
            <a:ext cx="5374005" cy="430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235" indent="-114935">
              <a:lnSpc>
                <a:spcPts val="1595"/>
              </a:lnSpc>
              <a:spcBef>
                <a:spcPts val="95"/>
              </a:spcBef>
              <a:buFont typeface="Arial MT"/>
              <a:buChar char="•"/>
              <a:tabLst>
                <a:tab pos="35623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Levée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lorsque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l'utilisateur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appuie sur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touche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d'interruption</a:t>
            </a:r>
            <a:endParaRPr sz="1400">
              <a:latin typeface="Calibri"/>
              <a:cs typeface="Calibri"/>
            </a:endParaRPr>
          </a:p>
          <a:p>
            <a:pPr marL="357505">
              <a:lnSpc>
                <a:spcPts val="159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(normalement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Control-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Delete)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188</a:t>
            </a:fld>
            <a:endParaRPr spc="-25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spc="-10" dirty="0">
                <a:solidFill>
                  <a:srgbClr val="0058A0"/>
                </a:solidFill>
              </a:rPr>
              <a:t>Types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25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2236469"/>
            <a:ext cx="4501515" cy="35921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9085" marR="5080" indent="-287020">
              <a:lnSpc>
                <a:spcPts val="1610"/>
              </a:lnSpc>
              <a:spcBef>
                <a:spcPts val="20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y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également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d’autres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d’exception</a:t>
            </a:r>
            <a:r>
              <a:rPr sz="140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dérivent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telles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que:</a:t>
            </a:r>
            <a:endParaRPr sz="1400">
              <a:latin typeface="Calibri"/>
              <a:cs typeface="Calibri"/>
            </a:endParaRPr>
          </a:p>
          <a:p>
            <a:pPr marL="756285" marR="35560" lvl="1" indent="-287020">
              <a:lnSpc>
                <a:spcPct val="95400"/>
              </a:lnSpc>
              <a:spcBef>
                <a:spcPts val="53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ArithmeticError</a:t>
            </a:r>
            <a:r>
              <a:rPr sz="1400" b="1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pour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natives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levées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diverses erreurs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arithmétiques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notamment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OverflowError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ZeroDivisionError</a:t>
            </a:r>
            <a:r>
              <a:rPr sz="1400" b="1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Floatin gPointError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 marL="756285" marR="45720" lvl="1" indent="-287020">
              <a:lnSpc>
                <a:spcPct val="95300"/>
              </a:lnSpc>
              <a:spcBef>
                <a:spcPts val="61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LookupError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les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levées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lorsqu’une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clé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un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index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utilisé sur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tableau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correspondances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où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séquence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invalide.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nombreuses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dérivent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ensuite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classes.</a:t>
            </a:r>
            <a:endParaRPr sz="1400">
              <a:latin typeface="Calibri"/>
              <a:cs typeface="Calibri"/>
            </a:endParaRPr>
          </a:p>
          <a:p>
            <a:pPr marL="299085" marR="5080" indent="-287020" algn="just">
              <a:lnSpc>
                <a:spcPct val="95300"/>
              </a:lnSpc>
              <a:spcBef>
                <a:spcPts val="605"/>
              </a:spcBef>
              <a:buFont typeface="Arial MT"/>
              <a:buChar char="•"/>
              <a:tabLst>
                <a:tab pos="299085" algn="l"/>
                <a:tab pos="33655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En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l’erreur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rencontrée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l’analyseur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Python,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exception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appartenant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telle</a:t>
            </a:r>
            <a:r>
              <a:rPr sz="1400" spc="3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400" spc="3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telle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 exception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créé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renvoyé.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intercepté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manipulé.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5079" y="1941576"/>
            <a:ext cx="4517135" cy="414527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189</a:t>
            </a:fld>
            <a:endParaRPr spc="-25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-1"/>
            <a:ext cx="6489422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38" rIns="0" bIns="0" rtlCol="0">
            <a:spAutoFit/>
          </a:bodyPr>
          <a:lstStyle/>
          <a:p>
            <a:pPr marL="7969884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4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396353" y="1105280"/>
            <a:ext cx="33864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Administrer</a:t>
            </a:r>
            <a:r>
              <a:rPr sz="2400" b="1" spc="-8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42"/>
                </a:solidFill>
                <a:latin typeface="Calibri"/>
                <a:cs typeface="Calibri"/>
              </a:rPr>
              <a:t>exceptions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479" y="2824429"/>
            <a:ext cx="3172460" cy="98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d’erreur</a:t>
            </a:r>
            <a:r>
              <a:rPr sz="16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expérimentation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endParaRPr sz="1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6870" algn="l"/>
              </a:tabLst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Gestion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exceptions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Gestion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641850" cy="22929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Détection</a:t>
            </a:r>
            <a:r>
              <a:rPr sz="16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et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traitement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exceptions</a:t>
            </a:r>
            <a:r>
              <a:rPr sz="16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en</a:t>
            </a:r>
            <a:r>
              <a:rPr sz="16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 marL="297180" indent="-284480" algn="just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détecter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exceptions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plaçant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instructions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générer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try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existe 2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formes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d’expressions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try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mutuellement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exclusives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(on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employer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qu’une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fois)</a:t>
            </a:r>
            <a:r>
              <a:rPr sz="14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try-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b="1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et 	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try-finally.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000"/>
              </a:lnSpc>
              <a:spcBef>
                <a:spcPts val="6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instruction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try</a:t>
            </a:r>
            <a:r>
              <a:rPr sz="1400" b="1" spc="48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b="1" spc="4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b="1" spc="1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accompagnée</a:t>
            </a:r>
            <a:r>
              <a:rPr sz="1400" b="1" spc="9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b="1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ou 	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b="1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clauses</a:t>
            </a:r>
            <a:r>
              <a:rPr sz="1400" b="1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seule</a:t>
            </a:r>
            <a:r>
              <a:rPr sz="1400" b="1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clause</a:t>
            </a:r>
            <a:r>
              <a:rPr sz="1400" b="1" spc="4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finally</a:t>
            </a:r>
            <a:r>
              <a:rPr sz="1400" b="1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ou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combinaison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try-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except-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finally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6458" y="1952370"/>
            <a:ext cx="7391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6458" y="2233041"/>
            <a:ext cx="5696585" cy="112839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96545" marR="6350" indent="-284480" algn="just">
              <a:lnSpc>
                <a:spcPct val="95000"/>
              </a:lnSpc>
              <a:spcBef>
                <a:spcPts val="17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souhaite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calculer</a:t>
            </a:r>
            <a:r>
              <a:rPr sz="1400" spc="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l’âge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saisi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l’utilisateur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soustrayant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année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naissance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2016.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cela,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faut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convertir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variable 	birthyear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int.</a:t>
            </a: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ts val="1610"/>
              </a:lnSpc>
              <a:spcBef>
                <a:spcPts val="64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3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conversion</a:t>
            </a:r>
            <a:r>
              <a:rPr sz="1400" spc="3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3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échouer</a:t>
            </a:r>
            <a:r>
              <a:rPr sz="1400" spc="3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3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3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chaine</a:t>
            </a:r>
            <a:r>
              <a:rPr sz="1400" spc="3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caractères</a:t>
            </a:r>
            <a:r>
              <a:rPr sz="1400" spc="3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entrée</a:t>
            </a:r>
            <a:r>
              <a:rPr sz="1400" spc="3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par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l'utilisateur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n'est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nombre.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215578" y="4169283"/>
            <a:ext cx="5670550" cy="1732280"/>
            <a:chOff x="2215578" y="4169283"/>
            <a:chExt cx="5670550" cy="173228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5040" y="4178808"/>
              <a:ext cx="5650992" cy="17129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20341" y="4174045"/>
              <a:ext cx="5661025" cy="1722755"/>
            </a:xfrm>
            <a:custGeom>
              <a:avLst/>
              <a:gdLst/>
              <a:ahLst/>
              <a:cxnLst/>
              <a:rect l="l" t="t" r="r" b="b"/>
              <a:pathLst>
                <a:path w="5661025" h="1722754">
                  <a:moveTo>
                    <a:pt x="0" y="1722501"/>
                  </a:moveTo>
                  <a:lnTo>
                    <a:pt x="5660516" y="1722501"/>
                  </a:lnTo>
                  <a:lnTo>
                    <a:pt x="5660516" y="0"/>
                  </a:lnTo>
                  <a:lnTo>
                    <a:pt x="0" y="0"/>
                  </a:lnTo>
                  <a:lnTo>
                    <a:pt x="0" y="172250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191</a:t>
            </a:fld>
            <a:endParaRPr spc="-25"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Gestion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4228846" y="4193489"/>
            <a:ext cx="1070610" cy="43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ts val="1635"/>
              </a:lnSpc>
              <a:spcBef>
                <a:spcPts val="95"/>
              </a:spcBef>
              <a:tabLst>
                <a:tab pos="563880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s'est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passée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3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s'exécuter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4193489"/>
            <a:ext cx="4502785" cy="15341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97180" marR="1148715" indent="-285115" algn="just">
              <a:lnSpc>
                <a:spcPct val="95100"/>
              </a:lnSpc>
              <a:spcBef>
                <a:spcPts val="17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3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premier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cas,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conversion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normalement,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try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donc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intégralement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sans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erreur.</a:t>
            </a:r>
            <a:endParaRPr sz="1400">
              <a:latin typeface="Calibri"/>
              <a:cs typeface="Calibri"/>
            </a:endParaRPr>
          </a:p>
          <a:p>
            <a:pPr marL="297180" marR="5080" indent="-285115" algn="just">
              <a:lnSpc>
                <a:spcPct val="95300"/>
              </a:lnSpc>
              <a:spcBef>
                <a:spcPts val="6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second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cas,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produit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try,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conversion.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L'exécution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 s'arrête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donc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immédiatement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passe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spc="16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except,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avant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 	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continuer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également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après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l'instruction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try-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1602105"/>
            <a:ext cx="18637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Instruction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 try-except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24550" y="1952370"/>
            <a:ext cx="54102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1er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cas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24550" y="2233041"/>
            <a:ext cx="5467985" cy="44195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9085" marR="5080" indent="-287020">
              <a:lnSpc>
                <a:spcPts val="1610"/>
              </a:lnSpc>
              <a:spcBef>
                <a:spcPts val="20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l'utilisateur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entre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 nombre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entier,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l'exécution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passe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sans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erreur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âge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calculé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affiché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24550" y="3833876"/>
            <a:ext cx="7086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2ème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cas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24550" y="4113987"/>
            <a:ext cx="5466080" cy="43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ts val="1635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3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l'utilisateur</a:t>
            </a:r>
            <a:r>
              <a:rPr sz="1400" spc="3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entre</a:t>
            </a:r>
            <a:r>
              <a:rPr sz="1400" spc="3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3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chaine</a:t>
            </a:r>
            <a:r>
              <a:rPr sz="1400" spc="3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3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caractères</a:t>
            </a:r>
            <a:r>
              <a:rPr sz="1400" spc="3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quelconque,</a:t>
            </a:r>
            <a:r>
              <a:rPr sz="1400" spc="3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3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3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représente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entier,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un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message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d'erreur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affiché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67715" y="2212403"/>
            <a:ext cx="4859655" cy="1595120"/>
            <a:chOff x="767715" y="2212403"/>
            <a:chExt cx="4859655" cy="159512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240" y="2221992"/>
              <a:ext cx="4840224" cy="157581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72477" y="2217166"/>
              <a:ext cx="4850130" cy="1585595"/>
            </a:xfrm>
            <a:custGeom>
              <a:avLst/>
              <a:gdLst/>
              <a:ahLst/>
              <a:cxnLst/>
              <a:rect l="l" t="t" r="r" b="b"/>
              <a:pathLst>
                <a:path w="4850130" h="1585595">
                  <a:moveTo>
                    <a:pt x="0" y="1585341"/>
                  </a:moveTo>
                  <a:lnTo>
                    <a:pt x="4849749" y="1585341"/>
                  </a:lnTo>
                  <a:lnTo>
                    <a:pt x="4849749" y="0"/>
                  </a:lnTo>
                  <a:lnTo>
                    <a:pt x="0" y="0"/>
                  </a:lnTo>
                  <a:lnTo>
                    <a:pt x="0" y="158534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139940" y="3119627"/>
            <a:ext cx="2798445" cy="646430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5"/>
              </a:spcBef>
            </a:pPr>
            <a:r>
              <a:rPr sz="1200" dirty="0">
                <a:latin typeface="Calibri"/>
                <a:cs typeface="Calibri"/>
              </a:rPr>
              <a:t>Année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naissance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?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1994</a:t>
            </a:r>
            <a:endParaRPr sz="12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200" spc="-20" dirty="0">
                <a:latin typeface="Calibri"/>
                <a:cs typeface="Calibri"/>
              </a:rPr>
              <a:t>Tu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22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ans.</a:t>
            </a:r>
            <a:endParaRPr sz="12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Fin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du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programme.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192</a:t>
            </a:fld>
            <a:endParaRPr spc="-25" dirty="0"/>
          </a:p>
        </p:txBody>
      </p:sp>
      <p:sp>
        <p:nvSpPr>
          <p:cNvPr id="21" name="object 21"/>
          <p:cNvSpPr txBox="1"/>
          <p:nvPr/>
        </p:nvSpPr>
        <p:spPr>
          <a:xfrm>
            <a:off x="7139940" y="4875276"/>
            <a:ext cx="3374390" cy="646430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2075" marR="1197610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latin typeface="Calibri"/>
                <a:cs typeface="Calibri"/>
              </a:rPr>
              <a:t>Année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naissance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?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deux</a:t>
            </a:r>
            <a:r>
              <a:rPr sz="1200" spc="50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Erreur,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veuillez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entrer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nombre. </a:t>
            </a:r>
            <a:r>
              <a:rPr sz="1200" dirty="0">
                <a:latin typeface="Calibri"/>
                <a:cs typeface="Calibri"/>
              </a:rPr>
              <a:t>Fin du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programme.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Gestion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5089718"/>
            <a:ext cx="4777740" cy="5861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récupère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donc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l'objet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Exception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variable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except,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affiche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valeur.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1476758"/>
            <a:ext cx="5737860" cy="16833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Type</a:t>
            </a:r>
            <a:r>
              <a:rPr sz="1600" b="1" spc="-7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Exception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Lorsqu'on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l'instruction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try-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b="1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capture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erreurs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survenir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try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correspondant.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580"/>
              </a:lnSpc>
              <a:spcBef>
                <a:spcPts val="6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exception</a:t>
            </a:r>
            <a:r>
              <a:rPr sz="1400" b="1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représentée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objet,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instance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classe Exception.</a:t>
            </a:r>
            <a:endParaRPr sz="140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3845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peut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récupérer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précisant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variable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après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88274" y="3300539"/>
            <a:ext cx="4182745" cy="1662430"/>
            <a:chOff x="1688274" y="3300539"/>
            <a:chExt cx="4182745" cy="166243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7735" y="3310128"/>
              <a:ext cx="4163567" cy="16428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93036" y="3305302"/>
              <a:ext cx="4173220" cy="1652905"/>
            </a:xfrm>
            <a:custGeom>
              <a:avLst/>
              <a:gdLst/>
              <a:ahLst/>
              <a:cxnLst/>
              <a:rect l="l" t="t" r="r" b="b"/>
              <a:pathLst>
                <a:path w="4173220" h="1652904">
                  <a:moveTo>
                    <a:pt x="0" y="1652397"/>
                  </a:moveTo>
                  <a:lnTo>
                    <a:pt x="4173092" y="1652397"/>
                  </a:lnTo>
                  <a:lnTo>
                    <a:pt x="4173092" y="0"/>
                  </a:lnTo>
                  <a:lnTo>
                    <a:pt x="0" y="0"/>
                  </a:lnTo>
                  <a:lnTo>
                    <a:pt x="0" y="16523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193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Gestion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4193489"/>
            <a:ext cx="878967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fournit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00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b,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aura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division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zéro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produit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ZeroDivisionError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1476758"/>
            <a:ext cx="8670290" cy="9975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Type</a:t>
            </a:r>
            <a:r>
              <a:rPr sz="1600" b="1" spc="-7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Exception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Exemples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d'exécution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révèlent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deux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d'erreurs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différents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fournit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nombre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entier,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pourra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converti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int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ValueError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produit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43138" y="2517203"/>
            <a:ext cx="8705850" cy="3811270"/>
            <a:chOff x="1743138" y="2517203"/>
            <a:chExt cx="8705850" cy="381127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952" y="4727448"/>
              <a:ext cx="3584448" cy="149352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850126" y="4722685"/>
              <a:ext cx="3594100" cy="1503045"/>
            </a:xfrm>
            <a:custGeom>
              <a:avLst/>
              <a:gdLst/>
              <a:ahLst/>
              <a:cxnLst/>
              <a:rect l="l" t="t" r="r" b="b"/>
              <a:pathLst>
                <a:path w="3594100" h="1503045">
                  <a:moveTo>
                    <a:pt x="0" y="1503045"/>
                  </a:moveTo>
                  <a:lnTo>
                    <a:pt x="3593973" y="1503045"/>
                  </a:lnTo>
                  <a:lnTo>
                    <a:pt x="3593973" y="0"/>
                  </a:lnTo>
                  <a:lnTo>
                    <a:pt x="0" y="0"/>
                  </a:lnTo>
                  <a:lnTo>
                    <a:pt x="0" y="150304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600" y="2526792"/>
              <a:ext cx="3456432" cy="151485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47901" y="2521966"/>
              <a:ext cx="3466465" cy="1524635"/>
            </a:xfrm>
            <a:custGeom>
              <a:avLst/>
              <a:gdLst/>
              <a:ahLst/>
              <a:cxnLst/>
              <a:rect l="l" t="t" r="r" b="b"/>
              <a:pathLst>
                <a:path w="3466465" h="1524635">
                  <a:moveTo>
                    <a:pt x="0" y="1524380"/>
                  </a:moveTo>
                  <a:lnTo>
                    <a:pt x="3465957" y="1524380"/>
                  </a:lnTo>
                  <a:lnTo>
                    <a:pt x="3465957" y="0"/>
                  </a:lnTo>
                  <a:lnTo>
                    <a:pt x="0" y="0"/>
                  </a:lnTo>
                  <a:lnTo>
                    <a:pt x="0" y="152438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2600" y="4727448"/>
              <a:ext cx="3456432" cy="159105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747901" y="4722685"/>
              <a:ext cx="3466465" cy="1600835"/>
            </a:xfrm>
            <a:custGeom>
              <a:avLst/>
              <a:gdLst/>
              <a:ahLst/>
              <a:cxnLst/>
              <a:rect l="l" t="t" r="r" b="b"/>
              <a:pathLst>
                <a:path w="3466465" h="1600835">
                  <a:moveTo>
                    <a:pt x="0" y="1600581"/>
                  </a:moveTo>
                  <a:lnTo>
                    <a:pt x="3465957" y="1600581"/>
                  </a:lnTo>
                  <a:lnTo>
                    <a:pt x="3465957" y="0"/>
                  </a:lnTo>
                  <a:lnTo>
                    <a:pt x="0" y="0"/>
                  </a:lnTo>
                  <a:lnTo>
                    <a:pt x="0" y="1600581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194</a:t>
            </a:fld>
            <a:endParaRPr spc="-25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Gestion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10590530" cy="14789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Capture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d’erreur</a:t>
            </a:r>
            <a:r>
              <a:rPr sz="16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spécifique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d'erreur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donc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spécifique.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d’associer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try,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exécuter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différent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l'erreur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capturée.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580"/>
              </a:lnSpc>
              <a:spcBef>
                <a:spcPts val="66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Lorsqu'une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 produit,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parcourus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l'un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après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l'autre,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premier au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dernier,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jusqu'à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trouver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corresponde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l'erreur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capturée.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6458" y="3445706"/>
            <a:ext cx="5697220" cy="231648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64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Lorsqu'une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</a:t>
            </a:r>
            <a:r>
              <a:rPr sz="1400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4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produit</a:t>
            </a:r>
            <a:r>
              <a:rPr sz="1400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43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4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try</a:t>
            </a:r>
            <a:r>
              <a:rPr sz="1400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l'un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4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blocs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 seulement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sera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exécuté,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selon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l'erreur 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s'est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produite.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dernier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là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prendre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autres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erreurs.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5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Lorsqu'une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</a:t>
            </a:r>
            <a:r>
              <a:rPr sz="1400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4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produit</a:t>
            </a:r>
            <a:r>
              <a:rPr sz="1400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43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4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try</a:t>
            </a:r>
            <a:r>
              <a:rPr sz="1400" spc="4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l'un</a:t>
            </a:r>
            <a:r>
              <a:rPr sz="1400" spc="4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4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blocs</a:t>
            </a:r>
            <a:r>
              <a:rPr sz="1400" spc="4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seulement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exécuté,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selon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l'erreur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qui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s'est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produite.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dernier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là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prendre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toutes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autres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erreurs.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ts val="1645"/>
              </a:lnSpc>
              <a:spcBef>
                <a:spcPts val="5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L'ordre</a:t>
            </a:r>
            <a:r>
              <a:rPr sz="1400" b="1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b="1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blocs</a:t>
            </a:r>
            <a:r>
              <a:rPr sz="1400" b="1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b="1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b="1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très</a:t>
            </a:r>
            <a:r>
              <a:rPr sz="1400" b="1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important</a:t>
            </a:r>
            <a:r>
              <a:rPr sz="1400" b="1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b="1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b="1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faut</a:t>
            </a:r>
            <a:r>
              <a:rPr sz="1400" b="1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b="1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classer</a:t>
            </a:r>
            <a:r>
              <a:rPr sz="1400" b="1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b="1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spécifique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au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général,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celui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défaut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devant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venir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dernier.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43850" y="3492627"/>
            <a:ext cx="4045585" cy="2479040"/>
            <a:chOff x="1343850" y="3492627"/>
            <a:chExt cx="4045585" cy="247904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3312" y="3502152"/>
              <a:ext cx="4026408" cy="245973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48613" y="3497389"/>
              <a:ext cx="4036060" cy="2469515"/>
            </a:xfrm>
            <a:custGeom>
              <a:avLst/>
              <a:gdLst/>
              <a:ahLst/>
              <a:cxnLst/>
              <a:rect l="l" t="t" r="r" b="b"/>
              <a:pathLst>
                <a:path w="4036060" h="2469515">
                  <a:moveTo>
                    <a:pt x="0" y="2469261"/>
                  </a:moveTo>
                  <a:lnTo>
                    <a:pt x="4035933" y="2469261"/>
                  </a:lnTo>
                  <a:lnTo>
                    <a:pt x="4035933" y="0"/>
                  </a:lnTo>
                  <a:lnTo>
                    <a:pt x="0" y="0"/>
                  </a:lnTo>
                  <a:lnTo>
                    <a:pt x="0" y="2469261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195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Gestion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502785" cy="16071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Gestionnaire</a:t>
            </a:r>
            <a:r>
              <a:rPr sz="1600" b="1" spc="-7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d'erreur</a:t>
            </a:r>
            <a:r>
              <a:rPr sz="1600" b="1" spc="-7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partagé</a:t>
            </a:r>
            <a:endParaRPr sz="16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800"/>
              </a:lnSpc>
              <a:spcBef>
                <a:spcPts val="9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d'exécuter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différents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400" spc="1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d'erreur,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listant</a:t>
            </a:r>
            <a:r>
              <a:rPr sz="1400" spc="1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tuple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après</a:t>
            </a:r>
            <a:r>
              <a:rPr sz="1400" spc="1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1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mot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réservé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ts val="1645"/>
              </a:lnSpc>
              <a:spcBef>
                <a:spcPts val="505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souhaite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exécuter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299085" algn="just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conversion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division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zéro,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faudrait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écrire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98778" y="3419411"/>
            <a:ext cx="4365625" cy="1680210"/>
            <a:chOff x="898778" y="3419411"/>
            <a:chExt cx="4365625" cy="168021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303" y="3428999"/>
              <a:ext cx="4346448" cy="16611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03541" y="3424173"/>
              <a:ext cx="4356100" cy="1670685"/>
            </a:xfrm>
            <a:custGeom>
              <a:avLst/>
              <a:gdLst/>
              <a:ahLst/>
              <a:cxnLst/>
              <a:rect l="l" t="t" r="r" b="b"/>
              <a:pathLst>
                <a:path w="4356100" h="1670685">
                  <a:moveTo>
                    <a:pt x="0" y="1670684"/>
                  </a:moveTo>
                  <a:lnTo>
                    <a:pt x="4355973" y="1670684"/>
                  </a:lnTo>
                  <a:lnTo>
                    <a:pt x="4355973" y="0"/>
                  </a:lnTo>
                  <a:lnTo>
                    <a:pt x="0" y="0"/>
                  </a:lnTo>
                  <a:lnTo>
                    <a:pt x="0" y="167068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196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Gestion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502785" cy="18116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Bloc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finally</a:t>
            </a:r>
            <a:endParaRPr sz="16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400"/>
              </a:lnSpc>
              <a:spcBef>
                <a:spcPts val="92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réservé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finally</a:t>
            </a:r>
            <a:r>
              <a:rPr sz="1400" b="1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d'introduire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2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qui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sera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exécuté</a:t>
            </a:r>
            <a:r>
              <a:rPr sz="140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soit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après</a:t>
            </a:r>
            <a:r>
              <a:rPr sz="1400" spc="25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try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soit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exécuté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complètement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sans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erreur,</a:t>
            </a:r>
            <a:r>
              <a:rPr sz="1400" spc="2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soit</a:t>
            </a:r>
            <a:r>
              <a:rPr sz="1400" spc="2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après</a:t>
            </a:r>
            <a:r>
              <a:rPr sz="1400" spc="2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avoir</a:t>
            </a:r>
            <a:r>
              <a:rPr sz="1400" spc="2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exécuté</a:t>
            </a:r>
            <a:r>
              <a:rPr sz="1400" spc="2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b="1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correspondant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2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l'erreur</a:t>
            </a:r>
            <a:r>
              <a:rPr sz="1400" spc="2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2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s'est</a:t>
            </a:r>
            <a:r>
              <a:rPr sz="140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produite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l'exécution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try.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obtient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ainsi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instruction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try-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except-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finally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6458" y="1952370"/>
            <a:ext cx="5694680" cy="441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Si</a:t>
            </a:r>
            <a:r>
              <a:rPr sz="1400" spc="1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l'utilisateur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fournit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valeurs</a:t>
            </a:r>
            <a:r>
              <a:rPr sz="1400" spc="1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correctes</a:t>
            </a:r>
            <a:r>
              <a:rPr sz="1400" spc="1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pour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l’affichage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est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le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latin typeface="Calibri"/>
                <a:cs typeface="Calibri"/>
              </a:rPr>
              <a:t>suivant</a:t>
            </a:r>
            <a:r>
              <a:rPr sz="1400" spc="-50" dirty="0">
                <a:latin typeface="Calibri"/>
                <a:cs typeface="Calibri"/>
              </a:rPr>
              <a:t> 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6458" y="3833876"/>
            <a:ext cx="38931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Si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erreur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produit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l’affichage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est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suivant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42035" y="2426080"/>
            <a:ext cx="8958580" cy="3091180"/>
            <a:chOff x="1042035" y="2426080"/>
            <a:chExt cx="8958580" cy="309118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1560" y="3727703"/>
              <a:ext cx="3992879" cy="176783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46797" y="3722877"/>
              <a:ext cx="4002404" cy="1777364"/>
            </a:xfrm>
            <a:custGeom>
              <a:avLst/>
              <a:gdLst/>
              <a:ahLst/>
              <a:cxnLst/>
              <a:rect l="l" t="t" r="r" b="b"/>
              <a:pathLst>
                <a:path w="4002404" h="1777364">
                  <a:moveTo>
                    <a:pt x="0" y="1777365"/>
                  </a:moveTo>
                  <a:lnTo>
                    <a:pt x="4002404" y="1777365"/>
                  </a:lnTo>
                  <a:lnTo>
                    <a:pt x="4002404" y="0"/>
                  </a:lnTo>
                  <a:lnTo>
                    <a:pt x="0" y="0"/>
                  </a:lnTo>
                  <a:lnTo>
                    <a:pt x="0" y="177736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43416" y="2429255"/>
              <a:ext cx="954405" cy="3084830"/>
            </a:xfrm>
            <a:custGeom>
              <a:avLst/>
              <a:gdLst/>
              <a:ahLst/>
              <a:cxnLst/>
              <a:rect l="l" t="t" r="r" b="b"/>
              <a:pathLst>
                <a:path w="954404" h="3084829">
                  <a:moveTo>
                    <a:pt x="0" y="0"/>
                  </a:moveTo>
                  <a:lnTo>
                    <a:pt x="77362" y="1039"/>
                  </a:lnTo>
                  <a:lnTo>
                    <a:pt x="150754" y="4049"/>
                  </a:lnTo>
                  <a:lnTo>
                    <a:pt x="219193" y="8867"/>
                  </a:lnTo>
                  <a:lnTo>
                    <a:pt x="281696" y="15329"/>
                  </a:lnTo>
                  <a:lnTo>
                    <a:pt x="337280" y="23272"/>
                  </a:lnTo>
                  <a:lnTo>
                    <a:pt x="384962" y="32534"/>
                  </a:lnTo>
                  <a:lnTo>
                    <a:pt x="423759" y="42951"/>
                  </a:lnTo>
                  <a:lnTo>
                    <a:pt x="470767" y="66598"/>
                  </a:lnTo>
                  <a:lnTo>
                    <a:pt x="477011" y="79502"/>
                  </a:lnTo>
                  <a:lnTo>
                    <a:pt x="477011" y="1462786"/>
                  </a:lnTo>
                  <a:lnTo>
                    <a:pt x="483256" y="1475689"/>
                  </a:lnTo>
                  <a:lnTo>
                    <a:pt x="530264" y="1499336"/>
                  </a:lnTo>
                  <a:lnTo>
                    <a:pt x="569061" y="1509753"/>
                  </a:lnTo>
                  <a:lnTo>
                    <a:pt x="616743" y="1519015"/>
                  </a:lnTo>
                  <a:lnTo>
                    <a:pt x="672327" y="1526958"/>
                  </a:lnTo>
                  <a:lnTo>
                    <a:pt x="734830" y="1533420"/>
                  </a:lnTo>
                  <a:lnTo>
                    <a:pt x="803269" y="1538238"/>
                  </a:lnTo>
                  <a:lnTo>
                    <a:pt x="876661" y="1541248"/>
                  </a:lnTo>
                  <a:lnTo>
                    <a:pt x="954024" y="1542288"/>
                  </a:lnTo>
                  <a:lnTo>
                    <a:pt x="876661" y="1543327"/>
                  </a:lnTo>
                  <a:lnTo>
                    <a:pt x="803269" y="1546337"/>
                  </a:lnTo>
                  <a:lnTo>
                    <a:pt x="734830" y="1551155"/>
                  </a:lnTo>
                  <a:lnTo>
                    <a:pt x="672327" y="1557617"/>
                  </a:lnTo>
                  <a:lnTo>
                    <a:pt x="616743" y="1565560"/>
                  </a:lnTo>
                  <a:lnTo>
                    <a:pt x="569061" y="1574822"/>
                  </a:lnTo>
                  <a:lnTo>
                    <a:pt x="530264" y="1585239"/>
                  </a:lnTo>
                  <a:lnTo>
                    <a:pt x="483256" y="1608886"/>
                  </a:lnTo>
                  <a:lnTo>
                    <a:pt x="477011" y="1621790"/>
                  </a:lnTo>
                  <a:lnTo>
                    <a:pt x="477011" y="3005074"/>
                  </a:lnTo>
                  <a:lnTo>
                    <a:pt x="470767" y="3017977"/>
                  </a:lnTo>
                  <a:lnTo>
                    <a:pt x="423759" y="3041624"/>
                  </a:lnTo>
                  <a:lnTo>
                    <a:pt x="384962" y="3052041"/>
                  </a:lnTo>
                  <a:lnTo>
                    <a:pt x="337280" y="3061303"/>
                  </a:lnTo>
                  <a:lnTo>
                    <a:pt x="281696" y="3069246"/>
                  </a:lnTo>
                  <a:lnTo>
                    <a:pt x="219193" y="3075708"/>
                  </a:lnTo>
                  <a:lnTo>
                    <a:pt x="150754" y="3080526"/>
                  </a:lnTo>
                  <a:lnTo>
                    <a:pt x="77362" y="3083536"/>
                  </a:lnTo>
                  <a:lnTo>
                    <a:pt x="0" y="3084576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97523" y="2528316"/>
            <a:ext cx="2002789" cy="1201420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1200" dirty="0">
                <a:latin typeface="Calibri"/>
                <a:cs typeface="Calibri"/>
              </a:rPr>
              <a:t>Début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du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calcul.</a:t>
            </a:r>
            <a:endParaRPr sz="12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?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6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b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?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Résultat </a:t>
            </a:r>
            <a:r>
              <a:rPr sz="1200" dirty="0">
                <a:latin typeface="Calibri"/>
                <a:cs typeface="Calibri"/>
              </a:rPr>
              <a:t>: </a:t>
            </a:r>
            <a:r>
              <a:rPr sz="1200" spc="-20" dirty="0">
                <a:latin typeface="Calibri"/>
                <a:cs typeface="Calibri"/>
              </a:rPr>
              <a:t>0.25</a:t>
            </a:r>
            <a:endParaRPr sz="12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Nettoyage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mémoire.</a:t>
            </a:r>
            <a:endParaRPr sz="12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Fin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du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calcul.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197</a:t>
            </a:fld>
            <a:endParaRPr spc="-25" dirty="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097523" y="4314444"/>
            <a:ext cx="2002789" cy="1201420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latin typeface="Calibri"/>
                <a:cs typeface="Calibri"/>
              </a:rPr>
              <a:t>Début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du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calcul.</a:t>
            </a:r>
            <a:endParaRPr sz="12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?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6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 marL="90805" marR="149923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b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?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0 </a:t>
            </a:r>
            <a:r>
              <a:rPr sz="1200" spc="-35" dirty="0">
                <a:latin typeface="Calibri"/>
                <a:cs typeface="Calibri"/>
              </a:rPr>
              <a:t>Erreur.</a:t>
            </a:r>
            <a:endParaRPr sz="12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Nettoyage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mémoire.</a:t>
            </a:r>
            <a:endParaRPr sz="12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Fin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du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calcul.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22789" y="3628135"/>
            <a:ext cx="1211580" cy="664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2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cas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le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bloch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finally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a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été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exécuté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Gestion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955673"/>
            <a:ext cx="4501515" cy="722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générer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programme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grâce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l'instruction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raise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suffit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fait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simplement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d'utiliser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réservé</a:t>
            </a:r>
            <a:r>
              <a:rPr sz="1400" spc="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raise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18538" y="2641854"/>
            <a:ext cx="3281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référence</a:t>
            </a:r>
            <a:r>
              <a:rPr sz="1400" spc="3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vers</a:t>
            </a:r>
            <a:r>
              <a:rPr sz="1400" spc="3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3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r>
              <a:rPr sz="1400" spc="3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représentant</a:t>
            </a:r>
            <a:r>
              <a:rPr sz="1400" spc="3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2641854"/>
            <a:ext cx="1143635" cy="722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>
              <a:lnSpc>
                <a:spcPts val="1645"/>
              </a:lnSpc>
              <a:spcBef>
                <a:spcPts val="9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suivi</a:t>
            </a:r>
            <a:r>
              <a:rPr sz="1400" spc="40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5081396"/>
            <a:ext cx="4500245" cy="441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</a:t>
            </a:r>
            <a:r>
              <a:rPr sz="1400" spc="4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4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strictement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négatif,</a:t>
            </a:r>
            <a:r>
              <a:rPr sz="1400" spc="4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9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exception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ArithmeticError</a:t>
            </a:r>
            <a:r>
              <a:rPr sz="1400" b="1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générée.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8982" y="1602105"/>
            <a:ext cx="170815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Génération</a:t>
            </a:r>
            <a:r>
              <a:rPr sz="16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d'erreur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96458" y="1952370"/>
            <a:ext cx="5701030" cy="441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programme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suivant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capturer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spécifiquement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l'exception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ArithmeticError</a:t>
            </a:r>
            <a:r>
              <a:rPr sz="1400" b="1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lors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l’appel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fact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99947" y="2855531"/>
            <a:ext cx="10004425" cy="1979295"/>
            <a:chOff x="1099947" y="2855531"/>
            <a:chExt cx="10004425" cy="197929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9472" y="3429000"/>
              <a:ext cx="3026664" cy="139598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04709" y="3424174"/>
              <a:ext cx="3036570" cy="1405890"/>
            </a:xfrm>
            <a:custGeom>
              <a:avLst/>
              <a:gdLst/>
              <a:ahLst/>
              <a:cxnLst/>
              <a:rect l="l" t="t" r="r" b="b"/>
              <a:pathLst>
                <a:path w="3036570" h="1405889">
                  <a:moveTo>
                    <a:pt x="0" y="1405508"/>
                  </a:moveTo>
                  <a:lnTo>
                    <a:pt x="3036189" y="1405508"/>
                  </a:lnTo>
                  <a:lnTo>
                    <a:pt x="3036189" y="0"/>
                  </a:lnTo>
                  <a:lnTo>
                    <a:pt x="0" y="0"/>
                  </a:lnTo>
                  <a:lnTo>
                    <a:pt x="0" y="140550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2865120"/>
              <a:ext cx="4998720" cy="139598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91174" y="2860294"/>
              <a:ext cx="5008245" cy="1405890"/>
            </a:xfrm>
            <a:custGeom>
              <a:avLst/>
              <a:gdLst/>
              <a:ahLst/>
              <a:cxnLst/>
              <a:rect l="l" t="t" r="r" b="b"/>
              <a:pathLst>
                <a:path w="5008245" h="1405889">
                  <a:moveTo>
                    <a:pt x="0" y="1405509"/>
                  </a:moveTo>
                  <a:lnTo>
                    <a:pt x="5008245" y="1405509"/>
                  </a:lnTo>
                  <a:lnTo>
                    <a:pt x="5008245" y="0"/>
                  </a:lnTo>
                  <a:lnTo>
                    <a:pt x="0" y="0"/>
                  </a:lnTo>
                  <a:lnTo>
                    <a:pt x="0" y="140550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198</a:t>
            </a:fld>
            <a:endParaRPr spc="-25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2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Administrer</a:t>
            </a:r>
            <a:r>
              <a:rPr spc="-1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5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Gestion</a:t>
            </a:r>
            <a:r>
              <a:rPr sz="1600" spc="-3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3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955673"/>
            <a:ext cx="4500245" cy="923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ts val="1645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parfois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pratique</a:t>
            </a:r>
            <a:r>
              <a:rPr sz="140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</a:t>
            </a:r>
            <a:r>
              <a:rPr sz="140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lisible</a:t>
            </a:r>
            <a:r>
              <a:rPr sz="1400" spc="2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2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nos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ts val="1645"/>
              </a:lnSpc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propres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d’exceptions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580"/>
              </a:lnSpc>
              <a:spcBef>
                <a:spcPts val="67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cela,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suffit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nouvelle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hérite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Exception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2922524"/>
            <a:ext cx="7391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4041394"/>
            <a:ext cx="4502785" cy="439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99085" marR="5080" indent="-287020">
              <a:lnSpc>
                <a:spcPts val="1590"/>
              </a:lnSpc>
              <a:spcBef>
                <a:spcPts val="219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tout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simplement</a:t>
            </a:r>
            <a:r>
              <a:rPr sz="140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vide</a:t>
            </a:r>
            <a:r>
              <a:rPr sz="14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puisque</a:t>
            </a:r>
            <a:r>
              <a:rPr sz="14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son</a:t>
            </a:r>
            <a:r>
              <a:rPr sz="1400" spc="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corps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n'est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constitué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l'instruction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pass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1602105"/>
            <a:ext cx="21971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Créer</a:t>
            </a:r>
            <a:r>
              <a:rPr sz="16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un</a:t>
            </a:r>
            <a:r>
              <a:rPr sz="16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type</a:t>
            </a:r>
            <a:r>
              <a:rPr sz="16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d'exception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6458" y="1952370"/>
            <a:ext cx="7391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Exemple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96458" y="2233041"/>
            <a:ext cx="5695315" cy="6432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96545" marR="5080" indent="-284480" algn="just">
              <a:lnSpc>
                <a:spcPct val="95000"/>
              </a:lnSpc>
              <a:spcBef>
                <a:spcPts val="17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Définissons</a:t>
            </a:r>
            <a:r>
              <a:rPr sz="1400" spc="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trinomialroots</a:t>
            </a:r>
            <a:r>
              <a:rPr sz="1400" b="1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calcule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renvoie</a:t>
            </a:r>
            <a:r>
              <a:rPr sz="140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racines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trinôme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second</a:t>
            </a:r>
            <a:r>
              <a:rPr sz="14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degré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forme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ax2+bx+c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1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génère</a:t>
            </a:r>
            <a:r>
              <a:rPr sz="1400" spc="1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une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erreur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lorsqu'il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n'y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racine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réelle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00530" y="3331019"/>
            <a:ext cx="9410065" cy="2485390"/>
            <a:chOff x="1200530" y="3331019"/>
            <a:chExt cx="9410065" cy="248539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0055" y="3340608"/>
              <a:ext cx="3791712" cy="39319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05293" y="3335782"/>
              <a:ext cx="3801745" cy="403225"/>
            </a:xfrm>
            <a:custGeom>
              <a:avLst/>
              <a:gdLst/>
              <a:ahLst/>
              <a:cxnLst/>
              <a:rect l="l" t="t" r="r" b="b"/>
              <a:pathLst>
                <a:path w="3801745" h="403225">
                  <a:moveTo>
                    <a:pt x="0" y="402716"/>
                  </a:moveTo>
                  <a:lnTo>
                    <a:pt x="3801237" y="402716"/>
                  </a:lnTo>
                  <a:lnTo>
                    <a:pt x="3801237" y="0"/>
                  </a:lnTo>
                  <a:lnTo>
                    <a:pt x="0" y="0"/>
                  </a:lnTo>
                  <a:lnTo>
                    <a:pt x="0" y="4027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0127" y="3429000"/>
              <a:ext cx="3480816" cy="237744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115302" y="3424237"/>
              <a:ext cx="3490595" cy="2386965"/>
            </a:xfrm>
            <a:custGeom>
              <a:avLst/>
              <a:gdLst/>
              <a:ahLst/>
              <a:cxnLst/>
              <a:rect l="l" t="t" r="r" b="b"/>
              <a:pathLst>
                <a:path w="3490595" h="2386965">
                  <a:moveTo>
                    <a:pt x="0" y="2386965"/>
                  </a:moveTo>
                  <a:lnTo>
                    <a:pt x="3490340" y="2386965"/>
                  </a:lnTo>
                  <a:lnTo>
                    <a:pt x="3490340" y="0"/>
                  </a:lnTo>
                  <a:lnTo>
                    <a:pt x="0" y="0"/>
                  </a:lnTo>
                  <a:lnTo>
                    <a:pt x="0" y="238696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78452" y="5137403"/>
            <a:ext cx="2505710" cy="307975"/>
          </a:xfrm>
          <a:prstGeom prst="rect">
            <a:avLst/>
          </a:prstGeom>
          <a:ln w="28575">
            <a:solidFill>
              <a:srgbClr val="0058A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sz="1400" dirty="0">
                <a:latin typeface="Calibri"/>
                <a:cs typeface="Calibri"/>
              </a:rPr>
              <a:t>Lever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exception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avec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raise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41922" y="4381500"/>
            <a:ext cx="1115695" cy="760730"/>
          </a:xfrm>
          <a:custGeom>
            <a:avLst/>
            <a:gdLst/>
            <a:ahLst/>
            <a:cxnLst/>
            <a:rect l="l" t="t" r="r" b="b"/>
            <a:pathLst>
              <a:path w="1115695" h="760729">
                <a:moveTo>
                  <a:pt x="1036459" y="36171"/>
                </a:moveTo>
                <a:lnTo>
                  <a:pt x="0" y="736981"/>
                </a:lnTo>
                <a:lnTo>
                  <a:pt x="16001" y="760602"/>
                </a:lnTo>
                <a:lnTo>
                  <a:pt x="1052422" y="59820"/>
                </a:lnTo>
                <a:lnTo>
                  <a:pt x="1036459" y="36171"/>
                </a:lnTo>
                <a:close/>
              </a:path>
              <a:path w="1115695" h="760729">
                <a:moveTo>
                  <a:pt x="1099587" y="28193"/>
                </a:moveTo>
                <a:lnTo>
                  <a:pt x="1048257" y="28193"/>
                </a:lnTo>
                <a:lnTo>
                  <a:pt x="1064259" y="51816"/>
                </a:lnTo>
                <a:lnTo>
                  <a:pt x="1052422" y="59820"/>
                </a:lnTo>
                <a:lnTo>
                  <a:pt x="1068451" y="83566"/>
                </a:lnTo>
                <a:lnTo>
                  <a:pt x="1099587" y="28193"/>
                </a:lnTo>
                <a:close/>
              </a:path>
              <a:path w="1115695" h="760729">
                <a:moveTo>
                  <a:pt x="1048257" y="28193"/>
                </a:moveTo>
                <a:lnTo>
                  <a:pt x="1036459" y="36171"/>
                </a:lnTo>
                <a:lnTo>
                  <a:pt x="1052422" y="59820"/>
                </a:lnTo>
                <a:lnTo>
                  <a:pt x="1064259" y="51816"/>
                </a:lnTo>
                <a:lnTo>
                  <a:pt x="1048257" y="28193"/>
                </a:lnTo>
                <a:close/>
              </a:path>
              <a:path w="1115695" h="760729">
                <a:moveTo>
                  <a:pt x="1115441" y="0"/>
                </a:moveTo>
                <a:lnTo>
                  <a:pt x="1020445" y="12445"/>
                </a:lnTo>
                <a:lnTo>
                  <a:pt x="1036459" y="36171"/>
                </a:lnTo>
                <a:lnTo>
                  <a:pt x="1048257" y="28193"/>
                </a:lnTo>
                <a:lnTo>
                  <a:pt x="1099587" y="28193"/>
                </a:lnTo>
                <a:lnTo>
                  <a:pt x="1115441" y="0"/>
                </a:lnTo>
                <a:close/>
              </a:path>
            </a:pathLst>
          </a:custGeom>
          <a:solidFill>
            <a:srgbClr val="0058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199</a:t>
            </a:fld>
            <a:endParaRPr spc="-25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5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Administrer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2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Gestion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4051629"/>
            <a:ext cx="6557645" cy="86169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l’exemple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précédent,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pourrait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utile de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connaitre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valeur du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discriminant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Lorsqu'aucune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racine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réelle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n'existe.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cela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faut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ajouter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variable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d'instance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accesseur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classe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NoRootException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66419" y="2785427"/>
            <a:ext cx="8385809" cy="1235710"/>
            <a:chOff x="1066419" y="2785427"/>
            <a:chExt cx="8385809" cy="123571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944" y="2795015"/>
              <a:ext cx="3773424" cy="121615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71181" y="2790189"/>
              <a:ext cx="3783329" cy="1226185"/>
            </a:xfrm>
            <a:custGeom>
              <a:avLst/>
              <a:gdLst/>
              <a:ahLst/>
              <a:cxnLst/>
              <a:rect l="l" t="t" r="r" b="b"/>
              <a:pathLst>
                <a:path w="3783329" h="1226185">
                  <a:moveTo>
                    <a:pt x="0" y="1225677"/>
                  </a:moveTo>
                  <a:lnTo>
                    <a:pt x="3782949" y="1225677"/>
                  </a:lnTo>
                  <a:lnTo>
                    <a:pt x="3782949" y="0"/>
                  </a:lnTo>
                  <a:lnTo>
                    <a:pt x="0" y="0"/>
                  </a:lnTo>
                  <a:lnTo>
                    <a:pt x="0" y="122567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53100" y="2823971"/>
              <a:ext cx="3694429" cy="307975"/>
            </a:xfrm>
            <a:custGeom>
              <a:avLst/>
              <a:gdLst/>
              <a:ahLst/>
              <a:cxnLst/>
              <a:rect l="l" t="t" r="r" b="b"/>
              <a:pathLst>
                <a:path w="3694429" h="307975">
                  <a:moveTo>
                    <a:pt x="0" y="307848"/>
                  </a:moveTo>
                  <a:lnTo>
                    <a:pt x="3694176" y="307848"/>
                  </a:lnTo>
                  <a:lnTo>
                    <a:pt x="3694176" y="0"/>
                  </a:lnTo>
                  <a:lnTo>
                    <a:pt x="0" y="0"/>
                  </a:lnTo>
                  <a:lnTo>
                    <a:pt x="0" y="3078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98982" y="1476758"/>
            <a:ext cx="10714990" cy="160972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Exception</a:t>
            </a:r>
            <a:r>
              <a:rPr sz="1600" b="1" spc="-8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paramétrée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Lorsqu'on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appelle la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trinomialroots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donc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pouvoir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utiliser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l'instruction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try-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attraper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erreur,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lorsqu'elle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survient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ts val="1610"/>
              </a:lnSpc>
              <a:spcBef>
                <a:spcPts val="64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Essayons,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exemple,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calculer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d'afficher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racines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réelles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trinôme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x+2.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cela,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appelle</a:t>
            </a:r>
            <a:r>
              <a:rPr sz="1400" spc="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donc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trinomialroots</a:t>
            </a:r>
            <a:r>
              <a:rPr sz="140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lui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passant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paramètres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1,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0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2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puisque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x+2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correspond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a=1,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b=0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c=2</a:t>
            </a:r>
            <a:endParaRPr sz="1400">
              <a:latin typeface="Calibri"/>
              <a:cs typeface="Calibri"/>
            </a:endParaRPr>
          </a:p>
          <a:p>
            <a:pPr marL="5045075">
              <a:lnSpc>
                <a:spcPct val="100000"/>
              </a:lnSpc>
              <a:spcBef>
                <a:spcPts val="1490"/>
              </a:spcBef>
            </a:pP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Attraper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exception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try-except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182050" y="3117723"/>
            <a:ext cx="8221345" cy="3210560"/>
            <a:chOff x="2182050" y="3117723"/>
            <a:chExt cx="8221345" cy="3210560"/>
          </a:xfrm>
        </p:grpSpPr>
        <p:sp>
          <p:nvSpPr>
            <p:cNvPr id="17" name="object 17"/>
            <p:cNvSpPr/>
            <p:nvPr/>
          </p:nvSpPr>
          <p:spPr>
            <a:xfrm>
              <a:off x="4058411" y="3117723"/>
              <a:ext cx="1697989" cy="314960"/>
            </a:xfrm>
            <a:custGeom>
              <a:avLst/>
              <a:gdLst/>
              <a:ahLst/>
              <a:cxnLst/>
              <a:rect l="l" t="t" r="r" b="b"/>
              <a:pathLst>
                <a:path w="1697989" h="314960">
                  <a:moveTo>
                    <a:pt x="77850" y="229997"/>
                  </a:moveTo>
                  <a:lnTo>
                    <a:pt x="0" y="286003"/>
                  </a:lnTo>
                  <a:lnTo>
                    <a:pt x="91439" y="314705"/>
                  </a:lnTo>
                  <a:lnTo>
                    <a:pt x="87283" y="288798"/>
                  </a:lnTo>
                  <a:lnTo>
                    <a:pt x="72771" y="288798"/>
                  </a:lnTo>
                  <a:lnTo>
                    <a:pt x="68325" y="260476"/>
                  </a:lnTo>
                  <a:lnTo>
                    <a:pt x="82379" y="258224"/>
                  </a:lnTo>
                  <a:lnTo>
                    <a:pt x="77850" y="229997"/>
                  </a:lnTo>
                  <a:close/>
                </a:path>
                <a:path w="1697989" h="314960">
                  <a:moveTo>
                    <a:pt x="82379" y="258224"/>
                  </a:moveTo>
                  <a:lnTo>
                    <a:pt x="68325" y="260476"/>
                  </a:lnTo>
                  <a:lnTo>
                    <a:pt x="72771" y="288798"/>
                  </a:lnTo>
                  <a:lnTo>
                    <a:pt x="86919" y="286529"/>
                  </a:lnTo>
                  <a:lnTo>
                    <a:pt x="82379" y="258224"/>
                  </a:lnTo>
                  <a:close/>
                </a:path>
                <a:path w="1697989" h="314960">
                  <a:moveTo>
                    <a:pt x="86919" y="286529"/>
                  </a:moveTo>
                  <a:lnTo>
                    <a:pt x="72771" y="288798"/>
                  </a:lnTo>
                  <a:lnTo>
                    <a:pt x="87283" y="288798"/>
                  </a:lnTo>
                  <a:lnTo>
                    <a:pt x="86919" y="286529"/>
                  </a:lnTo>
                  <a:close/>
                </a:path>
                <a:path w="1697989" h="314960">
                  <a:moveTo>
                    <a:pt x="1693545" y="0"/>
                  </a:moveTo>
                  <a:lnTo>
                    <a:pt x="82379" y="258224"/>
                  </a:lnTo>
                  <a:lnTo>
                    <a:pt x="86835" y="286003"/>
                  </a:lnTo>
                  <a:lnTo>
                    <a:pt x="86919" y="286529"/>
                  </a:lnTo>
                  <a:lnTo>
                    <a:pt x="1697989" y="28193"/>
                  </a:lnTo>
                  <a:lnTo>
                    <a:pt x="1693545" y="0"/>
                  </a:lnTo>
                  <a:close/>
                </a:path>
              </a:pathLst>
            </a:custGeom>
            <a:solidFill>
              <a:srgbClr val="0058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1512" y="5013960"/>
              <a:ext cx="3063240" cy="11887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86813" y="5009197"/>
              <a:ext cx="3072765" cy="1198245"/>
            </a:xfrm>
            <a:custGeom>
              <a:avLst/>
              <a:gdLst/>
              <a:ahLst/>
              <a:cxnLst/>
              <a:rect l="l" t="t" r="r" b="b"/>
              <a:pathLst>
                <a:path w="3072765" h="1198245">
                  <a:moveTo>
                    <a:pt x="0" y="1198245"/>
                  </a:moveTo>
                  <a:lnTo>
                    <a:pt x="3072765" y="1198245"/>
                  </a:lnTo>
                  <a:lnTo>
                    <a:pt x="3072765" y="0"/>
                  </a:lnTo>
                  <a:lnTo>
                    <a:pt x="0" y="0"/>
                  </a:lnTo>
                  <a:lnTo>
                    <a:pt x="0" y="119824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0959" y="3465576"/>
              <a:ext cx="2712720" cy="285292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76134" y="3460813"/>
              <a:ext cx="2722245" cy="2862580"/>
            </a:xfrm>
            <a:custGeom>
              <a:avLst/>
              <a:gdLst/>
              <a:ahLst/>
              <a:cxnLst/>
              <a:rect l="l" t="t" r="r" b="b"/>
              <a:pathLst>
                <a:path w="2722245" h="2862579">
                  <a:moveTo>
                    <a:pt x="0" y="2862453"/>
                  </a:moveTo>
                  <a:lnTo>
                    <a:pt x="2722245" y="2862453"/>
                  </a:lnTo>
                  <a:lnTo>
                    <a:pt x="2722245" y="0"/>
                  </a:lnTo>
                  <a:lnTo>
                    <a:pt x="0" y="0"/>
                  </a:lnTo>
                  <a:lnTo>
                    <a:pt x="0" y="286245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02879" y="4154424"/>
              <a:ext cx="2468880" cy="609600"/>
            </a:xfrm>
            <a:custGeom>
              <a:avLst/>
              <a:gdLst/>
              <a:ahLst/>
              <a:cxnLst/>
              <a:rect l="l" t="t" r="r" b="b"/>
              <a:pathLst>
                <a:path w="2468879" h="609600">
                  <a:moveTo>
                    <a:pt x="2468879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2468879" y="609600"/>
                  </a:lnTo>
                  <a:lnTo>
                    <a:pt x="2468879" y="0"/>
                  </a:lnTo>
                  <a:close/>
                </a:path>
              </a:pathLst>
            </a:custGeom>
            <a:solidFill>
              <a:srgbClr val="4471C4">
                <a:alpha val="3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02879" y="4154424"/>
              <a:ext cx="2468880" cy="609600"/>
            </a:xfrm>
            <a:custGeom>
              <a:avLst/>
              <a:gdLst/>
              <a:ahLst/>
              <a:cxnLst/>
              <a:rect l="l" t="t" r="r" b="b"/>
              <a:pathLst>
                <a:path w="2468879" h="609600">
                  <a:moveTo>
                    <a:pt x="0" y="609600"/>
                  </a:moveTo>
                  <a:lnTo>
                    <a:pt x="2468879" y="609600"/>
                  </a:lnTo>
                  <a:lnTo>
                    <a:pt x="2468879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200</a:t>
            </a:fld>
            <a:endParaRPr spc="-25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5059679"/>
            <a:ext cx="536575" cy="1079500"/>
          </a:xfrm>
          <a:prstGeom prst="rect">
            <a:avLst/>
          </a:prstGeom>
          <a:solidFill>
            <a:srgbClr val="0058A0"/>
          </a:solidFill>
        </p:spPr>
        <p:txBody>
          <a:bodyPr vert="vert270" wrap="square" lIns="0" tIns="9461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45"/>
              </a:spcBef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058A0"/>
                </a:solidFill>
              </a:rPr>
              <a:t>04</a:t>
            </a:r>
            <a:r>
              <a:rPr spc="-4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-</a:t>
            </a:r>
            <a:r>
              <a:rPr spc="-50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Administrer</a:t>
            </a:r>
            <a:r>
              <a:rPr spc="-35" dirty="0">
                <a:solidFill>
                  <a:srgbClr val="0058A0"/>
                </a:solidFill>
              </a:rPr>
              <a:t> </a:t>
            </a:r>
            <a:r>
              <a:rPr dirty="0">
                <a:solidFill>
                  <a:srgbClr val="0058A0"/>
                </a:solidFill>
              </a:rPr>
              <a:t>les</a:t>
            </a:r>
            <a:r>
              <a:rPr spc="-20" dirty="0">
                <a:solidFill>
                  <a:srgbClr val="0058A0"/>
                </a:solidFill>
              </a:rPr>
              <a:t> </a:t>
            </a:r>
            <a:r>
              <a:rPr spc="-10" dirty="0">
                <a:solidFill>
                  <a:srgbClr val="0058A0"/>
                </a:solidFill>
              </a:rPr>
              <a:t>exceptions</a:t>
            </a:r>
          </a:p>
          <a:p>
            <a:pPr marL="2286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0058A0"/>
                </a:solidFill>
              </a:rPr>
              <a:t>Gestion</a:t>
            </a:r>
            <a:r>
              <a:rPr sz="1600" spc="-45" dirty="0">
                <a:solidFill>
                  <a:srgbClr val="0058A0"/>
                </a:solidFill>
              </a:rPr>
              <a:t> </a:t>
            </a:r>
            <a:r>
              <a:rPr sz="1600" dirty="0">
                <a:solidFill>
                  <a:srgbClr val="0058A0"/>
                </a:solidFill>
              </a:rPr>
              <a:t>des</a:t>
            </a:r>
            <a:r>
              <a:rPr sz="1600" spc="-40" dirty="0">
                <a:solidFill>
                  <a:srgbClr val="0058A0"/>
                </a:solidFill>
              </a:rPr>
              <a:t> </a:t>
            </a:r>
            <a:r>
              <a:rPr sz="1600" spc="-10" dirty="0">
                <a:solidFill>
                  <a:srgbClr val="0058A0"/>
                </a:solidFill>
              </a:rPr>
              <a:t>exceptions</a:t>
            </a:r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798982" y="1476758"/>
            <a:ext cx="4504690" cy="11258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FF7800"/>
                </a:solidFill>
                <a:latin typeface="Calibri"/>
                <a:cs typeface="Calibri"/>
              </a:rPr>
              <a:t>Exception</a:t>
            </a:r>
            <a:r>
              <a:rPr sz="1600" b="1" spc="-8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7800"/>
                </a:solidFill>
                <a:latin typeface="Calibri"/>
                <a:cs typeface="Calibri"/>
              </a:rPr>
              <a:t>paramétrée</a:t>
            </a:r>
            <a:endParaRPr sz="16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95800"/>
              </a:lnSpc>
              <a:spcBef>
                <a:spcPts val="91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possible de récupérer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 valeur du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discriminant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dans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except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partir</a:t>
            </a:r>
            <a:r>
              <a:rPr sz="140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l'objet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représentant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l'exception 	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s'est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produite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50403" y="2861627"/>
            <a:ext cx="7389495" cy="3359785"/>
            <a:chOff x="1450403" y="2861627"/>
            <a:chExt cx="7389495" cy="335978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9992" y="2871215"/>
              <a:ext cx="3179064" cy="334060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55166" y="2866453"/>
              <a:ext cx="3188970" cy="3350260"/>
            </a:xfrm>
            <a:custGeom>
              <a:avLst/>
              <a:gdLst/>
              <a:ahLst/>
              <a:cxnLst/>
              <a:rect l="l" t="t" r="r" b="b"/>
              <a:pathLst>
                <a:path w="3188970" h="3350260">
                  <a:moveTo>
                    <a:pt x="0" y="3350133"/>
                  </a:moveTo>
                  <a:lnTo>
                    <a:pt x="3188589" y="3350133"/>
                  </a:lnTo>
                  <a:lnTo>
                    <a:pt x="3188589" y="0"/>
                  </a:lnTo>
                  <a:lnTo>
                    <a:pt x="0" y="0"/>
                  </a:lnTo>
                  <a:lnTo>
                    <a:pt x="0" y="335013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8136" y="2871215"/>
              <a:ext cx="3931919" cy="149351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93310" y="2866389"/>
              <a:ext cx="3941445" cy="1503045"/>
            </a:xfrm>
            <a:custGeom>
              <a:avLst/>
              <a:gdLst/>
              <a:ahLst/>
              <a:cxnLst/>
              <a:rect l="l" t="t" r="r" b="b"/>
              <a:pathLst>
                <a:path w="3941445" h="1503045">
                  <a:moveTo>
                    <a:pt x="0" y="1503044"/>
                  </a:moveTo>
                  <a:lnTo>
                    <a:pt x="3941445" y="1503044"/>
                  </a:lnTo>
                  <a:lnTo>
                    <a:pt x="3941445" y="0"/>
                  </a:lnTo>
                  <a:lnTo>
                    <a:pt x="0" y="0"/>
                  </a:lnTo>
                  <a:lnTo>
                    <a:pt x="0" y="150304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201</a:t>
            </a:fld>
            <a:endParaRPr spc="-25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EC634A-A36E-3CA8-04E1-A5B034B51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7A63F-C241-4404-9972-321D22827E34}" type="datetimeyyyy">
              <a:rPr lang="fr-FR" smtClean="0"/>
              <a:t>2025</a:t>
            </a:fld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6B6D848-FBF5-B8E5-81C2-C3C3809533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202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3DEE8A0-588F-1F2F-8838-DEA0F8304D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Titre du cours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9102E2D-DC11-F088-43C5-6F2713D593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/>
              <a:t>pedagogie@caplogy.com</a:t>
            </a:r>
          </a:p>
        </p:txBody>
      </p:sp>
    </p:spTree>
    <p:extLst>
      <p:ext uri="{BB962C8B-B14F-4D97-AF65-F5344CB8AC3E}">
        <p14:creationId xmlns:p14="http://schemas.microsoft.com/office/powerpoint/2010/main" val="8706279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15809</Words>
  <Application>Microsoft Office PowerPoint</Application>
  <PresentationFormat>Grand écran</PresentationFormat>
  <Paragraphs>2342</Paragraphs>
  <Slides>202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202</vt:i4>
      </vt:variant>
    </vt:vector>
  </HeadingPairs>
  <TitlesOfParts>
    <vt:vector size="210" baseType="lpstr">
      <vt:lpstr>Aptos</vt:lpstr>
      <vt:lpstr>Arial</vt:lpstr>
      <vt:lpstr>Arial MT</vt:lpstr>
      <vt:lpstr>Calibri</vt:lpstr>
      <vt:lpstr>Georgia</vt:lpstr>
      <vt:lpstr>Times New Roman</vt:lpstr>
      <vt:lpstr>Wingdings</vt:lpstr>
      <vt:lpstr>Thème Office</vt:lpstr>
      <vt:lpstr>Chapitre 2 Poo</vt:lpstr>
      <vt:lpstr>Nouvelle section</vt:lpstr>
      <vt:lpstr>SOMMAIRE</vt:lpstr>
      <vt:lpstr>PARTIE 1</vt:lpstr>
      <vt:lpstr>Présentation PowerPoint</vt:lpstr>
      <vt:lpstr>01 - Introduire la POO Introduction à la programmation Orientée Objet</vt:lpstr>
      <vt:lpstr>01 - Introduire la POO Introduction à la programmation Orientée Objet</vt:lpstr>
      <vt:lpstr>01 - Introduire la POO Introduction à la programmation Orientée Objet</vt:lpstr>
      <vt:lpstr>01 - Introduire la POO Introduction à la programmation Orientée Objet</vt:lpstr>
      <vt:lpstr>01 - Introduire la POO Introduction à la programmation Orientée Objet</vt:lpstr>
      <vt:lpstr>CHAPITRE 1</vt:lpstr>
      <vt:lpstr>01 - Introduire la POO Brève historique de l’évolution des POO</vt:lpstr>
      <vt:lpstr>01 - Introduire la POO Brève historique de l’évolution des POO</vt:lpstr>
      <vt:lpstr>01 - Introduire la POO Brève historique de l’évolution des POO</vt:lpstr>
      <vt:lpstr>01 - Introduire la POO Brève historique de l’évolution des POO</vt:lpstr>
      <vt:lpstr>CHAPITRE 1</vt:lpstr>
      <vt:lpstr>01 - Introduire la POO Connaissance des avantages de la POO par rapport aux autres paradigmes</vt:lpstr>
      <vt:lpstr>CHAPITRE 2</vt:lpstr>
      <vt:lpstr>CHAPITRE 2</vt:lpstr>
      <vt:lpstr>02 - Définir une classe Définition d’une classe</vt:lpstr>
      <vt:lpstr>CHAPITRE 2</vt:lpstr>
      <vt:lpstr>02 - Définir une classe Modélisation d’une classe</vt:lpstr>
      <vt:lpstr>CHAPITRE 2</vt:lpstr>
      <vt:lpstr>02 - Définir une classe Composantes d’une classe</vt:lpstr>
      <vt:lpstr>02 - Définir une classe Composantes d’une classe</vt:lpstr>
      <vt:lpstr>02 - Définir une classe Composantes d’une classe</vt:lpstr>
      <vt:lpstr>02 - Définir une classe Composantes d’une classe</vt:lpstr>
      <vt:lpstr>02 - Définir une classe Composantes d’une classe</vt:lpstr>
      <vt:lpstr>CHAPITRE 3</vt:lpstr>
      <vt:lpstr>CHAPITRE 3</vt:lpstr>
      <vt:lpstr>03 - Créer un objet Définition d’un objet</vt:lpstr>
      <vt:lpstr>03 - Créer un objet Définition d’un objet</vt:lpstr>
      <vt:lpstr>03 - Créer un objet Définition d’un objet</vt:lpstr>
      <vt:lpstr>03 - Créer un objet Définition d’un objet</vt:lpstr>
      <vt:lpstr>03 - Créer un objet Définition d’un objet</vt:lpstr>
      <vt:lpstr>03 - Créer un objet Définition d’un objet</vt:lpstr>
      <vt:lpstr>CHAPITRE 3</vt:lpstr>
      <vt:lpstr>03 - Créer un objet Instanciation</vt:lpstr>
      <vt:lpstr>CHAPITRE 3</vt:lpstr>
      <vt:lpstr>03 - Créer un objet Destruction explicite d’un objet</vt:lpstr>
      <vt:lpstr>CHAPITRE 4</vt:lpstr>
      <vt:lpstr>CHAPITRE 4</vt:lpstr>
      <vt:lpstr>04 - Connaitre l’encapsulation Principe de l’encapsulation</vt:lpstr>
      <vt:lpstr>04 - Connaitre l’encapsulation Principe de l’encapsulation</vt:lpstr>
      <vt:lpstr>CHAPITRE 4</vt:lpstr>
      <vt:lpstr>04 - Connaitre l’encapsulation Modificateurs et accesseurs (getters, setters, …)</vt:lpstr>
      <vt:lpstr>CHAPITRE 5</vt:lpstr>
      <vt:lpstr>CHAPITRE 5</vt:lpstr>
      <vt:lpstr>05 - Manipuler les méthodes Définition d’une méthode</vt:lpstr>
      <vt:lpstr>CHAPITRE 5</vt:lpstr>
      <vt:lpstr>05 - Manipuler les méthodes Visibilité d’une méthode</vt:lpstr>
      <vt:lpstr>CHAPITRE 5</vt:lpstr>
      <vt:lpstr>05 - Manipuler les méthodes Paramètres d’une méthode</vt:lpstr>
      <vt:lpstr>CHAPITRE 5</vt:lpstr>
      <vt:lpstr>05 - Manipuler les méthodes Appel d’une méthode</vt:lpstr>
      <vt:lpstr>CHAPITRE 5</vt:lpstr>
      <vt:lpstr>05 - Manipuler les méthodes Méthodes de classe</vt:lpstr>
      <vt:lpstr>PARTIE 2</vt:lpstr>
      <vt:lpstr>CHAPITRE 1</vt:lpstr>
      <vt:lpstr>CHAPITRE 1</vt:lpstr>
      <vt:lpstr>01 - Définir l’héritage Principe de l’héritage</vt:lpstr>
      <vt:lpstr>01 - Définir l’héritage Principe de l’héritage</vt:lpstr>
      <vt:lpstr>01 - Définir l’héritage Principe de l’héritage</vt:lpstr>
      <vt:lpstr>01 - Définir l’héritage Principe de l’héritage</vt:lpstr>
      <vt:lpstr>CHAPITRE 1</vt:lpstr>
      <vt:lpstr>01 - Définir l’héritage Types d’héritage</vt:lpstr>
      <vt:lpstr>01 - Définir l’héritage Types d’héritage</vt:lpstr>
      <vt:lpstr>CHAPITRE 1</vt:lpstr>
      <vt:lpstr>01 - Définir l’héritage Surcharge des constructeurs et chaînage</vt:lpstr>
      <vt:lpstr>01 - Définir l’héritage Surcharge des constructeurs et chaînage</vt:lpstr>
      <vt:lpstr>CHAPITRE 1</vt:lpstr>
      <vt:lpstr>01 - Définir l’héritage Visibilité des attributs et des méthodes de la classe fille</vt:lpstr>
      <vt:lpstr>CHAPITRE 2</vt:lpstr>
      <vt:lpstr>CHAPITRE 2</vt:lpstr>
      <vt:lpstr>02 - Définir le polymorphisme Principe du polymorphisme</vt:lpstr>
      <vt:lpstr>02 - Définir le polymorphisme Principe de polymorphisme</vt:lpstr>
      <vt:lpstr>CHAPITRE 2</vt:lpstr>
      <vt:lpstr>02 - Définir le polymorphisme Redéfinition des méthodes</vt:lpstr>
      <vt:lpstr>02 - Définir le polymorphisme Redéfinition des méthodes</vt:lpstr>
      <vt:lpstr>CHAPITRE 2</vt:lpstr>
      <vt:lpstr>02 - Définir le polymorphisme Surcharge des méthodes</vt:lpstr>
      <vt:lpstr>CHAPITRE 3</vt:lpstr>
      <vt:lpstr>CHAPITRE 3</vt:lpstr>
      <vt:lpstr>03 - Caractériser l’abstraction Principes</vt:lpstr>
      <vt:lpstr>CHAPITRE 3</vt:lpstr>
      <vt:lpstr>03 - Caractériser l’abstraction Classes abstraites</vt:lpstr>
      <vt:lpstr>03 - Caractériser l’abstraction Classes abstraites</vt:lpstr>
      <vt:lpstr>CHAPITRE 3</vt:lpstr>
      <vt:lpstr>03 - Caractériser l’abstraction Méthodes abstraites</vt:lpstr>
      <vt:lpstr>CHAPITRE 4</vt:lpstr>
      <vt:lpstr>CHAPITRE 4</vt:lpstr>
      <vt:lpstr>04 - Manipuler les interfaces Définition des interfaces</vt:lpstr>
      <vt:lpstr>CHAPITRE 4</vt:lpstr>
      <vt:lpstr>04 - Manipuler les interfaces Utilité des interfaces</vt:lpstr>
      <vt:lpstr>CHAPITRE 4</vt:lpstr>
      <vt:lpstr>04 - Manipuler les interfaces Implémentation des interfaces</vt:lpstr>
      <vt:lpstr>04 - Manipuler les interfaces Implémentation des interfaces</vt:lpstr>
      <vt:lpstr>PARTIE 3</vt:lpstr>
      <vt:lpstr>CHAPITRE 1</vt:lpstr>
      <vt:lpstr>CHAPITRE 1</vt:lpstr>
      <vt:lpstr>01 - Coder une solution orientée objet Création d’un package</vt:lpstr>
      <vt:lpstr>01 - Coder une solution orientée objet Création d’un package</vt:lpstr>
      <vt:lpstr>CHAPITRE 1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01 - Coder une solution orientée objet Codage d’une classe</vt:lpstr>
      <vt:lpstr>CHAPITRE 1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01 - Coder une solution orientée objet Intégration des concepts POO</vt:lpstr>
      <vt:lpstr>CHAPITRE 2</vt:lpstr>
      <vt:lpstr>CHAPITRE 2</vt:lpstr>
      <vt:lpstr>02 - Manipuler les données Listes</vt:lpstr>
      <vt:lpstr>02 - Manipuler les données Listes</vt:lpstr>
      <vt:lpstr>02 - Manipuler les données Listes</vt:lpstr>
      <vt:lpstr>02 - Manipuler les données Listes</vt:lpstr>
      <vt:lpstr>02 - Manipuler les données Listes</vt:lpstr>
      <vt:lpstr>CHAPITRE 2</vt:lpstr>
      <vt:lpstr>02 - Manipuler les données Collections</vt:lpstr>
      <vt:lpstr>02 - Manipuler les données Collections</vt:lpstr>
      <vt:lpstr>02 - Manipuler les données Collections</vt:lpstr>
      <vt:lpstr>02 - Manipuler les données Collections</vt:lpstr>
      <vt:lpstr>02 - Manipuler les données Collections</vt:lpstr>
      <vt:lpstr>02 - Manipuler les données Collections</vt:lpstr>
      <vt:lpstr>02 - Manipuler les données Collections</vt:lpstr>
      <vt:lpstr>02 - Manipuler les données Collections</vt:lpstr>
      <vt:lpstr>02 - Manipuler les données Collections</vt:lpstr>
      <vt:lpstr>02 - Manipuler les données Collections</vt:lpstr>
      <vt:lpstr>02 - Manipuler les données Collections</vt:lpstr>
      <vt:lpstr>02 - Manipuler les données Collections</vt:lpstr>
      <vt:lpstr>02 - Manipuler les données Collections</vt:lpstr>
      <vt:lpstr>02 - Manipuler les données Collections</vt:lpstr>
      <vt:lpstr>CHAPITRE 2</vt:lpstr>
      <vt:lpstr>02 - Manipuler les données Fichiers</vt:lpstr>
      <vt:lpstr>02 - Manipuler les données Fichiers</vt:lpstr>
      <vt:lpstr>02 - Manipuler les données Fichiers</vt:lpstr>
      <vt:lpstr>02 - Manipuler les données Fichiers</vt:lpstr>
      <vt:lpstr>02 - Manipuler les données Fichiers</vt:lpstr>
      <vt:lpstr>02 - Manipuler les données Fichiers</vt:lpstr>
      <vt:lpstr>02 - Manipuler les données Fichiers</vt:lpstr>
      <vt:lpstr>02 - Manipuler les données Fichiers</vt:lpstr>
      <vt:lpstr>02 - Manipuler les données Fichiers</vt:lpstr>
      <vt:lpstr>CHAPITRE 3</vt:lpstr>
      <vt:lpstr>CHAPITRE 3</vt:lpstr>
      <vt:lpstr>03 - Utiliser les expressions régulières Création des expressions régulières</vt:lpstr>
      <vt:lpstr>03 - Utiliser les expressions régulières Création des expressions régulières</vt:lpstr>
      <vt:lpstr>03 - Utiliser les expressions régulières Création des expressions régulières</vt:lpstr>
      <vt:lpstr>CHAPITRE 3</vt:lpstr>
      <vt:lpstr>03 - Utiliser les expressions régulières Manipulation des expressions régulières</vt:lpstr>
      <vt:lpstr>03 - Utiliser les expressions régulières Manipulation des expressions régulières</vt:lpstr>
      <vt:lpstr>03 - Utiliser les expressions régulières Manipulation des expressions régulières</vt:lpstr>
      <vt:lpstr>03 - Utiliser les expressions régulières Manipulation des expressions régulières</vt:lpstr>
      <vt:lpstr>03 - Utiliser les expressions régulières Manipulation des expressions régulières</vt:lpstr>
      <vt:lpstr>CHAPITRE 4</vt:lpstr>
      <vt:lpstr>CHAPITRE 4</vt:lpstr>
      <vt:lpstr>04 - Administrer les exceptions Types d’erreur et expérimentation</vt:lpstr>
      <vt:lpstr>04 - Administrer les exceptions Types d’erreur et expérimentation</vt:lpstr>
      <vt:lpstr>CHAPITRE 4</vt:lpstr>
      <vt:lpstr>04 - Administrer les exceptions Types des exceptions</vt:lpstr>
      <vt:lpstr>04 - Administrer les exceptions Types des exceptions</vt:lpstr>
      <vt:lpstr>CHAPITRE 4</vt:lpstr>
      <vt:lpstr>04 - Administrer les exceptions Gestion des exceptions</vt:lpstr>
      <vt:lpstr>04 - Administrer les exceptions Gestion des exceptions</vt:lpstr>
      <vt:lpstr>04 - Administrer les exceptions Gestion des exceptions</vt:lpstr>
      <vt:lpstr>04 - Administrer les exceptions Gestion des exceptions</vt:lpstr>
      <vt:lpstr>04 - Administrer les exceptions Gestion des exceptions</vt:lpstr>
      <vt:lpstr>04 - Administrer les exceptions Gestion des exceptions</vt:lpstr>
      <vt:lpstr>04 - Administrer les exceptions Gestion des exceptions</vt:lpstr>
      <vt:lpstr>04 - Administrer les exceptions Gestion des exceptions</vt:lpstr>
      <vt:lpstr>04 - Administrer les exceptions Gestion des exceptions</vt:lpstr>
      <vt:lpstr>04 - Administrer les exceptions Gestion des exceptions</vt:lpstr>
      <vt:lpstr>04 - Administrer les exceptions Gestion des exceptions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Racha HACHEM</dc:creator>
  <cp:lastModifiedBy>ammar djebabla</cp:lastModifiedBy>
  <cp:revision>131</cp:revision>
  <dcterms:created xsi:type="dcterms:W3CDTF">2025-01-24T08:49:55Z</dcterms:created>
  <dcterms:modified xsi:type="dcterms:W3CDTF">2025-11-04T11:05:17Z</dcterms:modified>
</cp:coreProperties>
</file>